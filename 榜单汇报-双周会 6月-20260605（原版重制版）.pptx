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rawings/drawing1.xml" ContentType="application/vnd.openxmlformats-officedocument.drawingml.chartshap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14999171" r:id="rId2"/>
    <p:sldId id="14998990" r:id="rId3"/>
    <p:sldId id="15716240" r:id="rId4"/>
    <p:sldId id="15716238" r:id="rId5"/>
    <p:sldId id="15716265" r:id="rId6"/>
    <p:sldId id="15716260" r:id="rId7"/>
    <p:sldId id="14998928" r:id="rId8"/>
    <p:sldId id="15716218" r:id="rId9"/>
    <p:sldId id="14999219" r:id="rId10"/>
    <p:sldId id="15716256" r:id="rId11"/>
    <p:sldId id="15716259" r:id="rId12"/>
    <p:sldId id="15716261" r:id="rId13"/>
    <p:sldId id="492" r:id="rId14"/>
    <p:sldId id="14999216" r:id="rId15"/>
    <p:sldId id="15716262" r:id="rId16"/>
    <p:sldId id="15716258" r:id="rId17"/>
    <p:sldId id="14999217" r:id="rId18"/>
    <p:sldId id="15716264" r:id="rId19"/>
    <p:sldId id="15716246" r:id="rId20"/>
    <p:sldId id="15716263" r:id="rId21"/>
    <p:sldId id="15716221" r:id="rId22"/>
    <p:sldId id="15716245" r:id="rId23"/>
    <p:sldId id="15716254" r:id="rId24"/>
    <p:sldId id="15716241" r:id="rId25"/>
    <p:sldId id="15716250" r:id="rId26"/>
    <p:sldId id="15716251" r:id="rId27"/>
    <p:sldId id="15716252" r:id="rId28"/>
    <p:sldId id="15716253" r:id="rId29"/>
    <p:sldId id="15716249" r:id="rId30"/>
    <p:sldId id="15716255" r:id="rId31"/>
    <p:sldId id="15716247" r:id="rId32"/>
    <p:sldId id="14999179" r:id="rId33"/>
    <p:sldId id="15716222" r:id="rId34"/>
    <p:sldId id="15716233" r:id="rId35"/>
    <p:sldId id="15716239" r:id="rId36"/>
  </p:sldIdLst>
  <p:sldSz cx="9144000" cy="5143500" type="screen16x9"/>
  <p:notesSz cx="7104063" cy="10234613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正文" id="{F0977A69-A7A4-2A4D-B3D3-A38B1C7EA371}">
          <p14:sldIdLst>
            <p14:sldId id="14999171"/>
            <p14:sldId id="14998990"/>
            <p14:sldId id="15716240"/>
            <p14:sldId id="15716238"/>
            <p14:sldId id="15716265"/>
            <p14:sldId id="15716260"/>
            <p14:sldId id="14998928"/>
            <p14:sldId id="15716218"/>
            <p14:sldId id="14999219"/>
            <p14:sldId id="15716256"/>
            <p14:sldId id="15716259"/>
            <p14:sldId id="15716261"/>
            <p14:sldId id="492"/>
            <p14:sldId id="14999216"/>
            <p14:sldId id="15716262"/>
            <p14:sldId id="15716258"/>
            <p14:sldId id="14999217"/>
            <p14:sldId id="15716264"/>
            <p14:sldId id="15716246"/>
            <p14:sldId id="15716263"/>
            <p14:sldId id="15716221"/>
            <p14:sldId id="15716245"/>
          </p14:sldIdLst>
        </p14:section>
        <p14:section name="备注" id="{434DFA73-2E08-514A-BCEA-E728BA305965}">
          <p14:sldIdLst>
            <p14:sldId id="15716254"/>
            <p14:sldId id="15716241"/>
            <p14:sldId id="15716250"/>
            <p14:sldId id="15716251"/>
            <p14:sldId id="15716252"/>
            <p14:sldId id="15716253"/>
            <p14:sldId id="15716249"/>
            <p14:sldId id="15716255"/>
            <p14:sldId id="15716247"/>
            <p14:sldId id="14999179"/>
            <p14:sldId id="15716222"/>
            <p14:sldId id="15716233"/>
            <p14:sldId id="15716239"/>
          </p14:sldIdLst>
        </p14:section>
      </p14:sectionLst>
    </p:ext>
    <p:ext uri="{EFAFB233-063F-42B5-8137-9DF3F51BA10A}">
      <p15:sldGuideLst xmlns:p15="http://schemas.microsoft.com/office/powerpoint/2012/main">
        <p15:guide id="1" pos="1701" userDrawn="1">
          <p15:clr>
            <a:srgbClr val="A4A3A4"/>
          </p15:clr>
        </p15:guide>
        <p15:guide id="2" orient="horz" pos="2346" userDrawn="1">
          <p15:clr>
            <a:srgbClr val="A4A3A4"/>
          </p15:clr>
        </p15:guide>
        <p15:guide id="3" orient="horz" pos="1688" userDrawn="1">
          <p15:clr>
            <a:srgbClr val="A4A3A4"/>
          </p15:clr>
        </p15:guide>
        <p15:guide id="4" pos="5670" userDrawn="1">
          <p15:clr>
            <a:srgbClr val="A4A3A4"/>
          </p15:clr>
        </p15:guide>
        <p15:guide id="5" orient="horz" pos="1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yohann" initials="wy" lastIdx="1" clrIdx="0"/>
  <p:cmAuthor id="2" name="Luke Lu" initials="L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7B00"/>
    <a:srgbClr val="D1001B"/>
    <a:srgbClr val="FFFBEB"/>
    <a:srgbClr val="FFF9DD"/>
    <a:srgbClr val="FFFBF3"/>
    <a:srgbClr val="FFD74C"/>
    <a:srgbClr val="FFE366"/>
    <a:srgbClr val="F4C7CB"/>
    <a:srgbClr val="000000"/>
    <a:srgbClr val="FF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2" autoAdjust="0"/>
    <p:restoredTop sz="78547" autoAdjust="0"/>
  </p:normalViewPr>
  <p:slideViewPr>
    <p:cSldViewPr snapToGrid="0" showGuides="1">
      <p:cViewPr>
        <p:scale>
          <a:sx n="100" d="100"/>
          <a:sy n="100" d="100"/>
        </p:scale>
        <p:origin x="1748" y="72"/>
      </p:cViewPr>
      <p:guideLst>
        <p:guide pos="1701"/>
        <p:guide orient="horz" pos="2346"/>
        <p:guide orient="horz" pos="1688"/>
        <p:guide pos="5670"/>
        <p:guide orient="horz" pos="1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48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tags" Target="tags/tag1.xml"/><Relationship Id="rId40" Type="http://schemas.openxmlformats.org/officeDocument/2006/relationships/commentAuthors" Target="commentAuthors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Relationship Id="rId4" Type="http://schemas.openxmlformats.org/officeDocument/2006/relationships/chartUserShapes" Target="../drawings/drawing1.xm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01778048328735"/>
          <c:y val="1.9174376183365916E-2"/>
          <c:w val="0.80108237898053947"/>
          <c:h val="0.87889452457552764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qv-cxr</c:v>
                </c:pt>
              </c:strCache>
            </c:strRef>
          </c:tx>
          <c:spPr>
            <a:solidFill>
              <a:srgbClr val="FFF1B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4006350-6309-4CA7-8F57-F89DCCB529D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FD20-4541-AC22-BF5984557F4A}"/>
                </c:ext>
              </c:extLst>
            </c:dLbl>
            <c:dLbl>
              <c:idx val="1"/>
              <c:layout>
                <c:manualLayout>
                  <c:x val="-7.6544491427689237E-2"/>
                  <c:y val="-1.3963992690344615E-2"/>
                </c:manualLayout>
              </c:layout>
              <c:tx>
                <c:rich>
                  <a:bodyPr/>
                  <a:lstStyle/>
                  <a:p>
                    <a:fld id="{D2B663F5-AEBB-411B-BAF4-6BDEC56A021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FD20-4541-AC22-BF5984557F4A}"/>
                </c:ext>
              </c:extLst>
            </c:dLbl>
            <c:dLbl>
              <c:idx val="2"/>
              <c:layout>
                <c:manualLayout>
                  <c:x val="-6.9780665955620422E-2"/>
                  <c:y val="1.0472994517758332E-2"/>
                </c:manualLayout>
              </c:layout>
              <c:tx>
                <c:rich>
                  <a:bodyPr/>
                  <a:lstStyle/>
                  <a:p>
                    <a:fld id="{BA7B7542-74CD-4C33-B398-FCB311F474A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FD20-4541-AC22-BF5984557F4A}"/>
                </c:ext>
              </c:extLst>
            </c:dLbl>
            <c:dLbl>
              <c:idx val="3"/>
              <c:layout>
                <c:manualLayout>
                  <c:x val="-7.6615889681352842E-2"/>
                  <c:y val="-2.0945989035516952E-2"/>
                </c:manualLayout>
              </c:layout>
              <c:tx>
                <c:rich>
                  <a:bodyPr/>
                  <a:lstStyle/>
                  <a:p>
                    <a:fld id="{F2CD0A04-DB94-4C38-8F52-0DE0800A4F1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FD20-4541-AC22-BF5984557F4A}"/>
                </c:ext>
              </c:extLst>
            </c:dLbl>
            <c:dLbl>
              <c:idx val="4"/>
              <c:layout>
                <c:manualLayout>
                  <c:x val="-0.10009664263620897"/>
                  <c:y val="1.047299451775846E-2"/>
                </c:manualLayout>
              </c:layout>
              <c:tx>
                <c:rich>
                  <a:bodyPr/>
                  <a:lstStyle/>
                  <a:p>
                    <a:fld id="{A3A20E9E-6865-47A7-BA61-8FCEB0198A3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FD20-4541-AC22-BF5984557F4A}"/>
                </c:ext>
              </c:extLst>
            </c:dLbl>
            <c:dLbl>
              <c:idx val="5"/>
              <c:layout>
                <c:manualLayout>
                  <c:x val="-8.124147654370327E-2"/>
                  <c:y val="5.5127534134814561E-3"/>
                </c:manualLayout>
              </c:layout>
              <c:tx>
                <c:rich>
                  <a:bodyPr/>
                  <a:lstStyle/>
                  <a:p>
                    <a:fld id="{22B98B33-B092-4272-B873-A3850B25881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FD20-4541-AC22-BF5984557F4A}"/>
                </c:ext>
              </c:extLst>
            </c:dLbl>
            <c:dLbl>
              <c:idx val="6"/>
              <c:layout>
                <c:manualLayout>
                  <c:x val="-8.5397874881978503E-2"/>
                  <c:y val="3.1006660934465992E-4"/>
                </c:manualLayout>
              </c:layout>
              <c:tx>
                <c:rich>
                  <a:bodyPr/>
                  <a:lstStyle/>
                  <a:p>
                    <a:fld id="{5CF140C9-8320-45A2-B592-2ECF613BEC26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FD20-4541-AC22-BF5984557F4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7F3E13BB-576B-4BF4-85BE-0FA861380AD7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FD20-4541-AC22-BF5984557F4A}"/>
                </c:ext>
              </c:extLst>
            </c:dLbl>
            <c:dLbl>
              <c:idx val="8"/>
              <c:layout>
                <c:manualLayout>
                  <c:x val="-8.5329026565945681E-2"/>
                  <c:y val="-2.0945989035516921E-2"/>
                </c:manualLayout>
              </c:layout>
              <c:tx>
                <c:rich>
                  <a:bodyPr/>
                  <a:lstStyle/>
                  <a:p>
                    <a:fld id="{FBBC9C13-084F-402B-BF73-32D6BACA453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FD20-4541-AC22-BF5984557F4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C7F0BE09-C3A4-4571-A953-1DADF7CF4780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FD20-4541-AC22-BF5984557F4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8110B054-A0BA-4A5C-93C1-1BEAE905347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FD20-4541-AC22-BF5984557F4A}"/>
                </c:ext>
              </c:extLst>
            </c:dLbl>
            <c:dLbl>
              <c:idx val="11"/>
              <c:layout>
                <c:manualLayout>
                  <c:x val="-9.2218494419461491E-2"/>
                  <c:y val="-1.047299451775846E-2"/>
                </c:manualLayout>
              </c:layout>
              <c:tx>
                <c:rich>
                  <a:bodyPr/>
                  <a:lstStyle/>
                  <a:p>
                    <a:fld id="{801FFB46-5935-46D0-93D0-B738BD6F743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FD20-4541-AC22-BF5984557F4A}"/>
                </c:ext>
              </c:extLst>
            </c:dLbl>
            <c:dLbl>
              <c:idx val="12"/>
              <c:layout>
                <c:manualLayout>
                  <c:x val="6.37876170856021E-2"/>
                  <c:y val="6.6328965279136912E-2"/>
                </c:manualLayout>
              </c:layout>
              <c:tx>
                <c:rich>
                  <a:bodyPr/>
                  <a:lstStyle/>
                  <a:p>
                    <a:fld id="{A8201EE8-0800-48F9-A024-6CB47639559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FD20-4541-AC22-BF5984557F4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ADE83F86-6843-40AE-97C2-1E54AB7AF8DB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FD20-4541-AC22-BF5984557F4A}"/>
                </c:ext>
              </c:extLst>
            </c:dLbl>
            <c:dLbl>
              <c:idx val="14"/>
              <c:layout>
                <c:manualLayout>
                  <c:x val="-7.6943208948148951E-3"/>
                  <c:y val="2.0945989035516855E-2"/>
                </c:manualLayout>
              </c:layout>
              <c:tx>
                <c:rich>
                  <a:bodyPr/>
                  <a:lstStyle/>
                  <a:p>
                    <a:fld id="{AE6A3BF4-A001-4CF7-ACF2-5EA87BA29EC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FD20-4541-AC22-BF5984557F4A}"/>
                </c:ext>
              </c:extLst>
            </c:dLbl>
            <c:dLbl>
              <c:idx val="15"/>
              <c:layout>
                <c:manualLayout>
                  <c:x val="-6.9518717817179207E-2"/>
                  <c:y val="-6.9819963451723073E-3"/>
                </c:manualLayout>
              </c:layout>
              <c:tx>
                <c:rich>
                  <a:bodyPr/>
                  <a:lstStyle/>
                  <a:p>
                    <a:fld id="{854C8EBE-0FCB-438F-9B15-E03634629EB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FD20-4541-AC22-BF5984557F4A}"/>
                </c:ext>
              </c:extLst>
            </c:dLbl>
            <c:dLbl>
              <c:idx val="16"/>
              <c:layout>
                <c:manualLayout>
                  <c:x val="2.6287770661391232E-2"/>
                  <c:y val="3.4909981725861536E-3"/>
                </c:manualLayout>
              </c:layout>
              <c:tx>
                <c:rich>
                  <a:bodyPr/>
                  <a:lstStyle/>
                  <a:p>
                    <a:fld id="{70D72FBC-816B-44D9-ABD4-4228E7BB25C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0-FD20-4541-AC22-BF5984557F4A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fld id="{46516D72-A83B-4DE1-94F1-2730593CFACC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FD20-4541-AC22-BF5984557F4A}"/>
                </c:ext>
              </c:extLst>
            </c:dLbl>
            <c:dLbl>
              <c:idx val="18"/>
              <c:layout>
                <c:manualLayout>
                  <c:x val="-7.3428004017774454E-2"/>
                  <c:y val="3.4909981725861536E-3"/>
                </c:manualLayout>
              </c:layout>
              <c:tx>
                <c:rich>
                  <a:bodyPr/>
                  <a:lstStyle/>
                  <a:p>
                    <a:fld id="{F69ED54C-129C-4BA1-8375-E68B1CD7ADA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2-FD20-4541-AC22-BF5984557F4A}"/>
                </c:ext>
              </c:extLst>
            </c:dLbl>
            <c:dLbl>
              <c:idx val="19"/>
              <c:layout>
                <c:manualLayout>
                  <c:x val="-8.7545617804684547E-2"/>
                  <c:y val="-3.4909981725861536E-3"/>
                </c:manualLayout>
              </c:layout>
              <c:tx>
                <c:rich>
                  <a:bodyPr/>
                  <a:lstStyle/>
                  <a:p>
                    <a:fld id="{CB4556E2-D4C2-4236-BA81-A996DF64C21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3-FD20-4541-AC22-BF5984557F4A}"/>
                </c:ext>
              </c:extLst>
            </c:dLbl>
            <c:dLbl>
              <c:idx val="20"/>
              <c:layout>
                <c:manualLayout>
                  <c:x val="-7.7412861097247432E-2"/>
                  <c:y val="1.0392179284471821E-2"/>
                </c:manualLayout>
              </c:layout>
              <c:tx>
                <c:rich>
                  <a:bodyPr/>
                  <a:lstStyle/>
                  <a:p>
                    <a:fld id="{020F12D1-F58F-4FB5-8641-72044A83E9A5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4-FD20-4541-AC22-BF5984557F4A}"/>
                </c:ext>
              </c:extLst>
            </c:dLbl>
            <c:dLbl>
              <c:idx val="21"/>
              <c:layout>
                <c:manualLayout>
                  <c:x val="-8.0086380069141164E-2"/>
                  <c:y val="0"/>
                </c:manualLayout>
              </c:layout>
              <c:tx>
                <c:rich>
                  <a:bodyPr/>
                  <a:lstStyle/>
                  <a:p>
                    <a:fld id="{02803D07-AA4B-465E-B69F-CCA7BC9A5BB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FD20-4541-AC22-BF5984557F4A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fld id="{316CA265-9670-4DB9-885E-16487AC4A5FB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FD20-4541-AC22-BF5984557F4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fld id="{CD3E8F56-948B-4F3E-95A4-8018F69B5714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FD20-4541-AC22-BF5984557F4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fld id="{A92F78BB-517B-4D26-9039-C5215BB8747C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FD20-4541-AC22-BF5984557F4A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fld id="{A8BC9C09-1646-4E77-9092-37258C6E57B1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9-FD20-4541-AC22-BF5984557F4A}"/>
                </c:ext>
              </c:extLst>
            </c:dLbl>
            <c:dLbl>
              <c:idx val="26"/>
              <c:layout>
                <c:manualLayout>
                  <c:x val="-0.10777614927719502"/>
                  <c:y val="-1.9085886237598243E-2"/>
                </c:manualLayout>
              </c:layout>
              <c:tx>
                <c:rich>
                  <a:bodyPr/>
                  <a:lstStyle/>
                  <a:p>
                    <a:fld id="{659D887E-A36D-4A8A-8D7D-C45B944419E9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A-FD20-4541-AC22-BF5984557F4A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fld id="{DA645C4D-A998-4FD6-89B2-2615DE3B15FC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B-FD20-4541-AC22-BF5984557F4A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fld id="{41E07998-AB82-467D-9AE9-3ABDE494F736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FD20-4541-AC22-BF5984557F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Sheet1!$A$2:$A$26</c:f>
              <c:numCache>
                <c:formatCode>_ * #,##0_ ;_ * \-#,##0_ ;_ * "-"??_ ;_ @_ </c:formatCode>
                <c:ptCount val="25"/>
                <c:pt idx="0">
                  <c:v>139</c:v>
                </c:pt>
                <c:pt idx="1">
                  <c:v>135</c:v>
                </c:pt>
                <c:pt idx="2">
                  <c:v>113</c:v>
                </c:pt>
                <c:pt idx="3">
                  <c:v>112</c:v>
                </c:pt>
                <c:pt idx="4">
                  <c:v>119</c:v>
                </c:pt>
                <c:pt idx="5">
                  <c:v>113</c:v>
                </c:pt>
                <c:pt idx="6">
                  <c:v>158</c:v>
                </c:pt>
                <c:pt idx="7">
                  <c:v>152</c:v>
                </c:pt>
                <c:pt idx="8">
                  <c:v>113</c:v>
                </c:pt>
                <c:pt idx="9">
                  <c:v>283</c:v>
                </c:pt>
                <c:pt idx="10">
                  <c:v>257</c:v>
                </c:pt>
                <c:pt idx="11">
                  <c:v>130</c:v>
                </c:pt>
                <c:pt idx="12">
                  <c:v>109</c:v>
                </c:pt>
                <c:pt idx="13">
                  <c:v>249</c:v>
                </c:pt>
                <c:pt idx="14">
                  <c:v>128</c:v>
                </c:pt>
                <c:pt idx="15">
                  <c:v>131</c:v>
                </c:pt>
                <c:pt idx="16">
                  <c:v>127</c:v>
                </c:pt>
                <c:pt idx="17">
                  <c:v>166</c:v>
                </c:pt>
                <c:pt idx="18">
                  <c:v>171</c:v>
                </c:pt>
                <c:pt idx="19">
                  <c:v>160</c:v>
                </c:pt>
                <c:pt idx="20">
                  <c:v>207</c:v>
                </c:pt>
                <c:pt idx="21">
                  <c:v>107</c:v>
                </c:pt>
                <c:pt idx="22">
                  <c:v>186</c:v>
                </c:pt>
                <c:pt idx="23">
                  <c:v>280</c:v>
                </c:pt>
                <c:pt idx="24" formatCode="_(* #,##0.00_);_(* \(#,##0.00\);_(* &quot;-&quot;??_);_(@_)">
                  <c:v>300</c:v>
                </c:pt>
              </c:numCache>
            </c:numRef>
          </c:xVal>
          <c:yVal>
            <c:numRef>
              <c:f>Sheet1!$B$2:$B$26</c:f>
              <c:numCache>
                <c:formatCode>0.0%</c:formatCode>
                <c:ptCount val="25"/>
                <c:pt idx="0">
                  <c:v>3.0000000000000001E-3</c:v>
                </c:pt>
                <c:pt idx="1">
                  <c:v>0.02</c:v>
                </c:pt>
                <c:pt idx="2">
                  <c:v>6.0000000000000001E-3</c:v>
                </c:pt>
                <c:pt idx="3">
                  <c:v>2.1000000000000001E-2</c:v>
                </c:pt>
                <c:pt idx="4">
                  <c:v>1.4999999999999999E-2</c:v>
                </c:pt>
                <c:pt idx="5">
                  <c:v>1.0999999999999999E-2</c:v>
                </c:pt>
                <c:pt idx="6">
                  <c:v>2.3E-2</c:v>
                </c:pt>
                <c:pt idx="7">
                  <c:v>2.8000000000000001E-2</c:v>
                </c:pt>
                <c:pt idx="8">
                  <c:v>7.0000000000000001E-3</c:v>
                </c:pt>
                <c:pt idx="9">
                  <c:v>1.4999999999999999E-2</c:v>
                </c:pt>
                <c:pt idx="10">
                  <c:v>2E-3</c:v>
                </c:pt>
                <c:pt idx="11">
                  <c:v>8.9999999999999993E-3</c:v>
                </c:pt>
                <c:pt idx="12">
                  <c:v>2.1000000000000001E-2</c:v>
                </c:pt>
                <c:pt idx="13">
                  <c:v>1.4E-2</c:v>
                </c:pt>
                <c:pt idx="14">
                  <c:v>1.4E-2</c:v>
                </c:pt>
                <c:pt idx="15">
                  <c:v>1.0999999999999999E-2</c:v>
                </c:pt>
                <c:pt idx="16">
                  <c:v>1.7000000000000001E-2</c:v>
                </c:pt>
                <c:pt idx="17">
                  <c:v>1.0999999999999999E-2</c:v>
                </c:pt>
                <c:pt idx="18">
                  <c:v>2.1000000000000001E-2</c:v>
                </c:pt>
                <c:pt idx="19">
                  <c:v>2.5999999999999999E-2</c:v>
                </c:pt>
                <c:pt idx="20">
                  <c:v>1.4E-2</c:v>
                </c:pt>
                <c:pt idx="21">
                  <c:v>2E-3</c:v>
                </c:pt>
                <c:pt idx="22">
                  <c:v>5.0000000000000001E-3</c:v>
                </c:pt>
                <c:pt idx="23">
                  <c:v>6.0000000000000001E-3</c:v>
                </c:pt>
                <c:pt idx="24" formatCode="0.00%">
                  <c:v>4.0000000000000001E-3</c:v>
                </c:pt>
              </c:numCache>
            </c:numRef>
          </c:yVal>
          <c:bubbleSize>
            <c:numRef>
              <c:f>Sheet1!$C$2:$C$26</c:f>
              <c:numCache>
                <c:formatCode>_(* #,##0.00_);_(* \(#,##0.00\);_(* "-"??_);_(@_)</c:formatCode>
                <c:ptCount val="25"/>
                <c:pt idx="0">
                  <c:v>11.65</c:v>
                </c:pt>
                <c:pt idx="1">
                  <c:v>11.01</c:v>
                </c:pt>
                <c:pt idx="2">
                  <c:v>10.42</c:v>
                </c:pt>
                <c:pt idx="3">
                  <c:v>10.39</c:v>
                </c:pt>
                <c:pt idx="4">
                  <c:v>10.08</c:v>
                </c:pt>
                <c:pt idx="5">
                  <c:v>10.029999999999999</c:v>
                </c:pt>
                <c:pt idx="6">
                  <c:v>9.9499999999999993</c:v>
                </c:pt>
                <c:pt idx="7">
                  <c:v>13.61</c:v>
                </c:pt>
                <c:pt idx="8">
                  <c:v>13.53</c:v>
                </c:pt>
                <c:pt idx="9">
                  <c:v>11.92</c:v>
                </c:pt>
                <c:pt idx="10">
                  <c:v>10.220000000000001</c:v>
                </c:pt>
                <c:pt idx="11">
                  <c:v>13.12</c:v>
                </c:pt>
                <c:pt idx="12">
                  <c:v>11.9</c:v>
                </c:pt>
                <c:pt idx="13">
                  <c:v>11.59</c:v>
                </c:pt>
                <c:pt idx="14">
                  <c:v>10.65</c:v>
                </c:pt>
                <c:pt idx="15">
                  <c:v>10.65</c:v>
                </c:pt>
                <c:pt idx="16">
                  <c:v>10.56</c:v>
                </c:pt>
                <c:pt idx="17">
                  <c:v>10.34</c:v>
                </c:pt>
                <c:pt idx="18">
                  <c:v>10.29</c:v>
                </c:pt>
                <c:pt idx="19">
                  <c:v>11.63</c:v>
                </c:pt>
                <c:pt idx="20">
                  <c:v>10.79</c:v>
                </c:pt>
                <c:pt idx="21">
                  <c:v>10.72</c:v>
                </c:pt>
                <c:pt idx="22">
                  <c:v>10.57</c:v>
                </c:pt>
                <c:pt idx="23">
                  <c:v>9.36</c:v>
                </c:pt>
                <c:pt idx="24" formatCode="General">
                  <c:v>8.8000000000000007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Sheet1!$D$2:$D$26</c15:f>
                <c15:dlblRangeCache>
                  <c:ptCount val="25"/>
                  <c:pt idx="0">
                    <c:v> 炒菜 </c:v>
                  </c:pt>
                  <c:pt idx="1">
                    <c:v> 牛肉 </c:v>
                  </c:pt>
                  <c:pt idx="2">
                    <c:v> 烤串 </c:v>
                  </c:pt>
                  <c:pt idx="3">
                    <c:v> 炒鸡 </c:v>
                  </c:pt>
                  <c:pt idx="4">
                    <c:v> 海肠捞饭 </c:v>
                  </c:pt>
                  <c:pt idx="5">
                    <c:v> 羊肉 </c:v>
                  </c:pt>
                  <c:pt idx="6">
                    <c:v> 烧鸟 </c:v>
                  </c:pt>
                  <c:pt idx="7">
                    <c:v> 火锅 </c:v>
                  </c:pt>
                  <c:pt idx="8">
                    <c:v> 烧烤 </c:v>
                  </c:pt>
                  <c:pt idx="9">
                    <c:v> 海鲜自助 </c:v>
                  </c:pt>
                  <c:pt idx="10">
                    <c:v> 农家乐 </c:v>
                  </c:pt>
                  <c:pt idx="11">
                    <c:v> 小龙虾 </c:v>
                  </c:pt>
                  <c:pt idx="12">
                    <c:v> 烤鸭 </c:v>
                  </c:pt>
                  <c:pt idx="13">
                    <c:v> 日料 </c:v>
                  </c:pt>
                  <c:pt idx="14">
                    <c:v> 湘菜 </c:v>
                  </c:pt>
                  <c:pt idx="15">
                    <c:v> 川菜 </c:v>
                  </c:pt>
                  <c:pt idx="16">
                    <c:v> 东北菜 </c:v>
                  </c:pt>
                  <c:pt idx="17">
                    <c:v> 粤菜 </c:v>
                  </c:pt>
                  <c:pt idx="18">
                    <c:v> 泰国菜 </c:v>
                  </c:pt>
                  <c:pt idx="19">
                    <c:v> 牛排 </c:v>
                  </c:pt>
                  <c:pt idx="20">
                    <c:v> 西餐 </c:v>
                  </c:pt>
                  <c:pt idx="21">
                    <c:v> 酒馆 </c:v>
                  </c:pt>
                  <c:pt idx="22">
                    <c:v> 漂亮饭 </c:v>
                  </c:pt>
                  <c:pt idx="23">
                    <c:v> 私房菜 </c:v>
                  </c:pt>
                  <c:pt idx="24">
                    <c:v>饭店宴请包厢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D-FD20-4541-AC22-BF5984557F4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bubbleScale val="30"/>
        <c:showNegBubbles val="1"/>
        <c:axId val="205339328"/>
        <c:axId val="205346048"/>
      </c:bubbleChart>
      <c:valAx>
        <c:axId val="205339328"/>
        <c:scaling>
          <c:orientation val="minMax"/>
          <c:min val="1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sz="900" b="1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客单价≥</a:t>
                </a:r>
                <a:r>
                  <a:rPr lang="en-US" altLang="zh-CN" sz="900" b="1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100</a:t>
                </a:r>
                <a:r>
                  <a:rPr lang="en-US" altLang="zh-CN" sz="900" b="1" i="1" baseline="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zh-CN" altLang="en-US" sz="900" b="1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→ 用户决策成本高</a:t>
                </a:r>
                <a:endParaRPr lang="en-US" altLang="zh-CN" sz="900" b="1" i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c:rich>
          </c:tx>
          <c:layout>
            <c:manualLayout>
              <c:xMode val="edge"/>
              <c:yMode val="edge"/>
              <c:x val="0.59638961285224201"/>
              <c:y val="0.94557341431716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_ * #,##0_ ;_ * \-#,##0_ ;_ * &quot;-&quot;??_ ;_ @_ 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5346048"/>
        <c:crosses val="autoZero"/>
        <c:crossBetween val="midCat"/>
      </c:valAx>
      <c:valAx>
        <c:axId val="205346048"/>
        <c:scaling>
          <c:orientation val="minMax"/>
        </c:scaling>
        <c:delete val="0"/>
        <c:axPos val="l"/>
        <c:numFmt formatCode="0.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1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5339328"/>
        <c:crossesAt val="0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zh-CN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altLang="en-US" sz="900" b="1" i="0" u="none" strike="noStrike" kern="1200" spc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900" b="1" i="0" dirty="0"/>
              <a:t>看榜后7日内交易GTV</a:t>
            </a: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900" b="1" i="0" u="none" strike="noStrike" kern="1200" spc="0" baseline="0" dirty="0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5.0907071455016661E-2"/>
          <c:y val="0.14487441798302253"/>
          <c:w val="0.89818585708996668"/>
          <c:h val="0.458825332995277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看榜后GTV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品类扩充前</c:v>
                </c:pt>
                <c:pt idx="1">
                  <c:v>品类扩充后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1.02</c:v>
                </c:pt>
                <c:pt idx="1">
                  <c:v>1.59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0-0A4B-A9BE-CA420F305E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003719008"/>
        <c:axId val="10037199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占比到餐大盘</c:v>
                </c:pt>
              </c:strCache>
            </c:strRef>
          </c:tx>
          <c:spPr>
            <a:ln w="28575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品类扩充前</c:v>
                </c:pt>
                <c:pt idx="1">
                  <c:v>品类扩充后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0">
                  <c:v>1.4999999999999999E-2</c:v>
                </c:pt>
                <c:pt idx="1">
                  <c:v>2.5999999999999999E-2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BD0-0A4B-A9BE-CA420F305E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42765536"/>
        <c:axId val="1382038992"/>
      </c:lineChart>
      <c:catAx>
        <c:axId val="1003719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03719968"/>
        <c:crosses val="autoZero"/>
        <c:auto val="1"/>
        <c:lblAlgn val="ctr"/>
        <c:lblOffset val="100"/>
        <c:noMultiLvlLbl val="0"/>
      </c:catAx>
      <c:valAx>
        <c:axId val="1003719968"/>
        <c:scaling>
          <c:orientation val="minMax"/>
          <c:max val="2.5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03719008"/>
        <c:crosses val="autoZero"/>
        <c:crossBetween val="between"/>
      </c:valAx>
      <c:valAx>
        <c:axId val="1382038992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42765536"/>
        <c:crosses val="max"/>
        <c:crossBetween val="between"/>
      </c:valAx>
      <c:catAx>
        <c:axId val="17427655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820389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529418967020089"/>
          <c:y val="0.70121405449388852"/>
          <c:w val="0.80792291860407495"/>
          <c:h val="8.91124253377123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000" b="0" i="1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sz="1000" b="0" i="1" u="none"/>
              <a:t>用户大搜意图结构分布</a:t>
            </a:r>
          </a:p>
        </c:rich>
      </c:tx>
      <c:layout>
        <c:manualLayout>
          <c:xMode val="edge"/>
          <c:yMode val="edge"/>
          <c:x val="0"/>
          <c:y val="0.135381412694355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000" b="0" i="1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3634868279436735E-2"/>
          <c:y val="0.36229669206143045"/>
          <c:w val="0.86789085740503047"/>
          <c:h val="0.4548435659293330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商家</c:v>
                </c:pt>
              </c:strCache>
            </c:strRef>
          </c:tx>
          <c:spPr>
            <a:solidFill>
              <a:srgbClr val="FFD1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QV占比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0.34157280151974156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E8-4874-A317-F8C5CD3779F0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菜品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QV占比</c:v>
                </c:pt>
              </c:strCache>
            </c:strRef>
          </c:cat>
          <c:val>
            <c:numRef>
              <c:f>Sheet1!$B$3</c:f>
              <c:numCache>
                <c:formatCode>0%</c:formatCode>
                <c:ptCount val="1"/>
                <c:pt idx="0">
                  <c:v>0.27001985816146556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5E8-4874-A317-F8C5CD3779F0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品类</c:v>
                </c:pt>
              </c:strCache>
            </c:strRef>
          </c:tx>
          <c:spPr>
            <a:solidFill>
              <a:srgbClr val="EABE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QV占比</c:v>
                </c:pt>
              </c:strCache>
            </c:strRef>
          </c:cat>
          <c:val>
            <c:numRef>
              <c:f>Sheet1!$B$4</c:f>
              <c:numCache>
                <c:formatCode>0%</c:formatCode>
                <c:ptCount val="1"/>
                <c:pt idx="0">
                  <c:v>0.18209618640710165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E8-4874-A317-F8C5CD3779F0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地址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QV占比</c:v>
                </c:pt>
              </c:strCache>
            </c:strRef>
          </c:cat>
          <c:val>
            <c:numRef>
              <c:f>Sheet1!$B$5</c:f>
              <c:numCache>
                <c:formatCode>0%</c:formatCode>
                <c:ptCount val="1"/>
                <c:pt idx="0">
                  <c:v>3.4874697644902898E-2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5E8-4874-A317-F8C5CD3779F0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场景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Sheet1!$B$1</c:f>
              <c:strCache>
                <c:ptCount val="1"/>
                <c:pt idx="0">
                  <c:v>QV占比</c:v>
                </c:pt>
              </c:strCache>
            </c:strRef>
          </c:cat>
          <c:val>
            <c:numRef>
              <c:f>Sheet1!$B$6</c:f>
              <c:numCache>
                <c:formatCode>0.0%</c:formatCode>
                <c:ptCount val="1"/>
                <c:pt idx="0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E8-4874-A317-F8C5CD3779F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309466624"/>
        <c:axId val="309450304"/>
      </c:barChart>
      <c:catAx>
        <c:axId val="309466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09450304"/>
        <c:crosses val="autoZero"/>
        <c:auto val="1"/>
        <c:lblAlgn val="ctr"/>
        <c:lblOffset val="100"/>
        <c:noMultiLvlLbl val="0"/>
      </c:catAx>
      <c:valAx>
        <c:axId val="309450304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309466624"/>
        <c:crosses val="autoZero"/>
        <c:crossBetween val="between"/>
      </c:valAx>
      <c:spPr>
        <a:noFill/>
        <a:ln>
          <a:solidFill>
            <a:schemeClr val="bg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984473861250508E-2"/>
          <c:y val="0"/>
          <c:w val="0.25788959145056289"/>
          <c:h val="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看榜后当天下单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用户占比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0.70869971154248135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C2-45C8-84E0-92CCC61F5FF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看榜后次日下单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用户占比</c:v>
                </c:pt>
              </c:strCache>
            </c:strRef>
          </c:cat>
          <c:val>
            <c:numRef>
              <c:f>Sheet1!$B$3</c:f>
              <c:numCache>
                <c:formatCode>0%</c:formatCode>
                <c:ptCount val="1"/>
                <c:pt idx="0">
                  <c:v>0.11173199927537242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2C2-45C8-84E0-92CCC61F5FF7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看榜后三天及以后下单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</c:f>
              <c:strCache>
                <c:ptCount val="1"/>
                <c:pt idx="0">
                  <c:v>用户占比</c:v>
                </c:pt>
              </c:strCache>
            </c:strRef>
          </c:cat>
          <c:val>
            <c:numRef>
              <c:f>Sheet1!$B$4</c:f>
              <c:numCache>
                <c:formatCode>0%</c:formatCode>
                <c:ptCount val="1"/>
                <c:pt idx="0">
                  <c:v>0.17956828918214629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C2-45C8-84E0-92CCC61F5F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22636736"/>
        <c:axId val="1822637696"/>
      </c:barChart>
      <c:catAx>
        <c:axId val="182263673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22637696"/>
        <c:crosses val="autoZero"/>
        <c:auto val="1"/>
        <c:lblAlgn val="ctr"/>
        <c:lblOffset val="100"/>
        <c:noMultiLvlLbl val="0"/>
      </c:catAx>
      <c:valAx>
        <c:axId val="18226376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8226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868988168915613"/>
          <c:y val="0.79956613354972128"/>
          <c:w val="0.60579430457572936"/>
          <c:h val="0.192247990995471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1" u="none" strike="noStrike" kern="1200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 (正文)"/>
                <a:ea typeface="+mn-ea"/>
                <a:cs typeface="+mn-cs"/>
              </a:defRPr>
            </a:pPr>
            <a:r>
              <a:rPr lang="zh-CN" sz="900" b="1" dirty="0"/>
              <a:t>到餐</a:t>
            </a:r>
            <a:r>
              <a:rPr lang="en-US" sz="900" b="1" dirty="0"/>
              <a:t>&amp;</a:t>
            </a:r>
            <a:r>
              <a:rPr lang="zh-CN" sz="900" b="1" dirty="0"/>
              <a:t>榜单用户价格带</a:t>
            </a:r>
            <a:r>
              <a:rPr lang="zh-CN" altLang="en-US" sz="900" b="1" dirty="0"/>
              <a:t>结构对比</a:t>
            </a:r>
            <a:endParaRPr lang="zh-CN" sz="900" b="1" dirty="0"/>
          </a:p>
        </c:rich>
      </c:tx>
      <c:layout>
        <c:manualLayout>
          <c:xMode val="edge"/>
          <c:yMode val="edge"/>
          <c:x val="0.27817741257560968"/>
          <c:y val="2.50278777689339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楷体 (正文)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9780326447958343"/>
          <c:y val="0.112707696130109"/>
          <c:w val="0.80219673552041659"/>
          <c:h val="0.77427988349893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到餐用户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 (正文)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0-30</c:v>
                </c:pt>
                <c:pt idx="1">
                  <c:v>30-50</c:v>
                </c:pt>
                <c:pt idx="2">
                  <c:v>50-100</c:v>
                </c:pt>
                <c:pt idx="3">
                  <c:v>100-200</c:v>
                </c:pt>
                <c:pt idx="4">
                  <c:v>200-500</c:v>
                </c:pt>
                <c:pt idx="5">
                  <c:v>500+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0.47169861958823323</c:v>
                </c:pt>
                <c:pt idx="1">
                  <c:v>6.0713313045660015E-2</c:v>
                </c:pt>
                <c:pt idx="2">
                  <c:v>0.13060581536330784</c:v>
                </c:pt>
                <c:pt idx="3">
                  <c:v>0.26180087462634738</c:v>
                </c:pt>
                <c:pt idx="4">
                  <c:v>6.849223791402527E-2</c:v>
                </c:pt>
                <c:pt idx="5">
                  <c:v>6.689139462426252E-3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BA-C347-B5A7-5B27407FD7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看榜后7日内下单用户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 (正文)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0-30</c:v>
                </c:pt>
                <c:pt idx="1">
                  <c:v>30-50</c:v>
                </c:pt>
                <c:pt idx="2">
                  <c:v>50-100</c:v>
                </c:pt>
                <c:pt idx="3">
                  <c:v>100-200</c:v>
                </c:pt>
                <c:pt idx="4">
                  <c:v>200-500</c:v>
                </c:pt>
                <c:pt idx="5">
                  <c:v>500+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0.2179450064393981</c:v>
                </c:pt>
                <c:pt idx="1">
                  <c:v>4.3021233502482194E-2</c:v>
                </c:pt>
                <c:pt idx="2">
                  <c:v>0.1964464979581054</c:v>
                </c:pt>
                <c:pt idx="3">
                  <c:v>0.43440042048719274</c:v>
                </c:pt>
                <c:pt idx="4">
                  <c:v>9.847050535515757E-2</c:v>
                </c:pt>
                <c:pt idx="5">
                  <c:v>9.4529813862868333E-3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BA-C347-B5A7-5B27407FD7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51126064"/>
        <c:axId val="851124144"/>
      </c:barChart>
      <c:catAx>
        <c:axId val="851126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 (正文)"/>
                <a:ea typeface="+mn-ea"/>
                <a:cs typeface="+mn-cs"/>
              </a:defRPr>
            </a:pPr>
            <a:endParaRPr lang="zh-CN"/>
          </a:p>
        </c:txPr>
        <c:crossAx val="851124144"/>
        <c:crosses val="autoZero"/>
        <c:auto val="1"/>
        <c:lblAlgn val="ctr"/>
        <c:lblOffset val="100"/>
        <c:noMultiLvlLbl val="0"/>
      </c:catAx>
      <c:valAx>
        <c:axId val="851124144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851126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51721329732185"/>
          <c:y val="0.90797517095518843"/>
          <c:w val="0.68000024788577129"/>
          <c:h val="8.25008995185300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楷体 (正文)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atin typeface="楷体 (正文)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 (正文)"/>
                <a:ea typeface="+mn-ea"/>
                <a:cs typeface="+mn-cs"/>
              </a:defRPr>
            </a:pPr>
            <a:r>
              <a:rPr lang="zh-CN" sz="900" b="1" dirty="0"/>
              <a:t>到餐</a:t>
            </a:r>
            <a:r>
              <a:rPr lang="en-US" sz="900" b="1" dirty="0"/>
              <a:t>&amp;</a:t>
            </a:r>
            <a:r>
              <a:rPr lang="zh-CN" sz="900" b="1" dirty="0"/>
              <a:t>榜单用户价格带</a:t>
            </a:r>
            <a:r>
              <a:rPr lang="zh-CN" altLang="en-US" sz="900" b="1" dirty="0"/>
              <a:t>结构对比</a:t>
            </a:r>
            <a:endParaRPr lang="zh-CN" sz="900" b="1" dirty="0"/>
          </a:p>
        </c:rich>
      </c:tx>
      <c:layout>
        <c:manualLayout>
          <c:xMode val="edge"/>
          <c:yMode val="edge"/>
          <c:x val="0.34363165939584928"/>
          <c:y val="2.47653617840526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楷体 (正文)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25176241501678909"/>
          <c:y val="0.13487736643670784"/>
          <c:w val="0.74823758498321091"/>
          <c:h val="0.7459903155293138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到餐用户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 (正文)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火锅</c:v>
                </c:pt>
                <c:pt idx="1">
                  <c:v>自助餐</c:v>
                </c:pt>
                <c:pt idx="2">
                  <c:v>小吃快餐</c:v>
                </c:pt>
                <c:pt idx="3">
                  <c:v>饮品</c:v>
                </c:pt>
                <c:pt idx="4">
                  <c:v>烤串烤肉</c:v>
                </c:pt>
                <c:pt idx="5">
                  <c:v>面包蛋糕甜品</c:v>
                </c:pt>
                <c:pt idx="6">
                  <c:v>地方菜</c:v>
                </c:pt>
                <c:pt idx="7">
                  <c:v>异国料理</c:v>
                </c:pt>
                <c:pt idx="8">
                  <c:v>鱼鲜海鲜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0.10604534998298504</c:v>
                </c:pt>
                <c:pt idx="1">
                  <c:v>7.0526923814253045E-2</c:v>
                </c:pt>
                <c:pt idx="2">
                  <c:v>0.24669680579067599</c:v>
                </c:pt>
                <c:pt idx="3">
                  <c:v>0.2463467991715442</c:v>
                </c:pt>
                <c:pt idx="4">
                  <c:v>4.4573890178753357E-2</c:v>
                </c:pt>
                <c:pt idx="5">
                  <c:v>3.8865920817037838E-2</c:v>
                </c:pt>
                <c:pt idx="6">
                  <c:v>0.16973938512849696</c:v>
                </c:pt>
                <c:pt idx="7">
                  <c:v>4.8922179154598081E-2</c:v>
                </c:pt>
                <c:pt idx="8">
                  <c:v>1.315195632699063E-2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B6-F544-B49A-C8A8EC6531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看榜后7日内下单用户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 (正文)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火锅</c:v>
                </c:pt>
                <c:pt idx="1">
                  <c:v>自助餐</c:v>
                </c:pt>
                <c:pt idx="2">
                  <c:v>小吃快餐</c:v>
                </c:pt>
                <c:pt idx="3">
                  <c:v>饮品</c:v>
                </c:pt>
                <c:pt idx="4">
                  <c:v>烤串烤肉</c:v>
                </c:pt>
                <c:pt idx="5">
                  <c:v>面包蛋糕甜品</c:v>
                </c:pt>
                <c:pt idx="6">
                  <c:v>地方菜</c:v>
                </c:pt>
                <c:pt idx="7">
                  <c:v>异国料理</c:v>
                </c:pt>
                <c:pt idx="8">
                  <c:v>鱼鲜海鲜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0.17060634913646019</c:v>
                </c:pt>
                <c:pt idx="1">
                  <c:v>0.16142030006494434</c:v>
                </c:pt>
                <c:pt idx="2">
                  <c:v>0.14461071912115975</c:v>
                </c:pt>
                <c:pt idx="3">
                  <c:v>0.10307605094279393</c:v>
                </c:pt>
                <c:pt idx="4">
                  <c:v>7.7949464484242739E-2</c:v>
                </c:pt>
                <c:pt idx="5">
                  <c:v>3.4698999416601539E-2</c:v>
                </c:pt>
                <c:pt idx="6">
                  <c:v>0.22293278809426836</c:v>
                </c:pt>
                <c:pt idx="7">
                  <c:v>6.2263475954076636E-2</c:v>
                </c:pt>
                <c:pt idx="8">
                  <c:v>2.2365625722368377E-2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B6-F544-B49A-C8A8EC6531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51126064"/>
        <c:axId val="851124144"/>
      </c:barChart>
      <c:catAx>
        <c:axId val="851126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楷体 (正文)"/>
                <a:ea typeface="+mn-ea"/>
                <a:cs typeface="+mn-cs"/>
              </a:defRPr>
            </a:pPr>
            <a:endParaRPr lang="zh-CN"/>
          </a:p>
        </c:txPr>
        <c:crossAx val="851124144"/>
        <c:crosses val="autoZero"/>
        <c:auto val="1"/>
        <c:lblAlgn val="ctr"/>
        <c:lblOffset val="100"/>
        <c:noMultiLvlLbl val="0"/>
      </c:catAx>
      <c:valAx>
        <c:axId val="851124144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851126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134256939218899"/>
          <c:y val="0.89624101414403134"/>
          <c:w val="0.60965538699267452"/>
          <c:h val="9.60764855432019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楷体 (正文)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atin typeface="楷体 (正文)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900" b="1" dirty="0"/>
              <a:t>榜单未承接</a:t>
            </a:r>
            <a:r>
              <a:rPr lang="en-US" altLang="zh-CN" sz="900" b="1" dirty="0"/>
              <a:t>QV</a:t>
            </a:r>
            <a:r>
              <a:rPr lang="zh-CN" altLang="en-US" sz="900" b="1" dirty="0"/>
              <a:t>用户消费价格带结构</a:t>
            </a:r>
            <a:endParaRPr lang="zh-CN" sz="900" b="1" dirty="0"/>
          </a:p>
        </c:rich>
      </c:tx>
      <c:layout>
        <c:manualLayout>
          <c:xMode val="edge"/>
          <c:yMode val="edge"/>
          <c:x val="0.14329840329397839"/>
          <c:y val="1.62660077154669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239745825778886"/>
          <c:y val="0.10441265528721101"/>
          <c:w val="0.63251420676232695"/>
          <c:h val="0.6665726284159877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0-30</c:v>
                </c:pt>
              </c:strCache>
            </c:strRef>
          </c:tx>
          <c:spPr>
            <a:solidFill>
              <a:schemeClr val="accent1">
                <a:shade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Sheet1!$B$2:$H$2</c:f>
              <c:numCache>
                <c:formatCode>0%</c:formatCode>
                <c:ptCount val="7"/>
                <c:pt idx="0">
                  <c:v>0.53674370276460803</c:v>
                </c:pt>
                <c:pt idx="1">
                  <c:v>0.27454414307717989</c:v>
                </c:pt>
                <c:pt idx="2">
                  <c:v>0.27710640175704671</c:v>
                </c:pt>
                <c:pt idx="3">
                  <c:v>0.31823900205399647</c:v>
                </c:pt>
                <c:pt idx="4">
                  <c:v>8.0576759966072942E-2</c:v>
                </c:pt>
                <c:pt idx="5">
                  <c:v>0.19803143822535624</c:v>
                </c:pt>
                <c:pt idx="6">
                  <c:v>0.50547680412371132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87-E14F-87A5-D3EF438E352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30-50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  <a:prstDash val="sysDash"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Sheet1!$B$3:$H$3</c:f>
              <c:numCache>
                <c:formatCode>0%</c:formatCode>
                <c:ptCount val="7"/>
                <c:pt idx="0">
                  <c:v>8.4191643767133811E-2</c:v>
                </c:pt>
                <c:pt idx="1">
                  <c:v>0.13508505024479309</c:v>
                </c:pt>
                <c:pt idx="2">
                  <c:v>4.8074045518871511E-2</c:v>
                </c:pt>
                <c:pt idx="3">
                  <c:v>6.3092403308504075E-2</c:v>
                </c:pt>
                <c:pt idx="4">
                  <c:v>5.265761945151258E-2</c:v>
                </c:pt>
                <c:pt idx="5">
                  <c:v>4.6275892463640368E-2</c:v>
                </c:pt>
                <c:pt idx="6">
                  <c:v>7.1520618556701027E-2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87-E14F-87A5-D3EF438E352A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50-100</c:v>
                </c:pt>
              </c:strCache>
            </c:strRef>
          </c:tx>
          <c:spPr>
            <a:solidFill>
              <a:schemeClr val="accent1">
                <a:shade val="9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Sheet1!$B$4:$H$4</c:f>
              <c:numCache>
                <c:formatCode>0%</c:formatCode>
                <c:ptCount val="7"/>
                <c:pt idx="0">
                  <c:v>0.19472172574800603</c:v>
                </c:pt>
                <c:pt idx="1">
                  <c:v>0.22805602890269908</c:v>
                </c:pt>
                <c:pt idx="2">
                  <c:v>0.18309755565587449</c:v>
                </c:pt>
                <c:pt idx="3">
                  <c:v>0.18500118287201325</c:v>
                </c:pt>
                <c:pt idx="4">
                  <c:v>0.22490811422109133</c:v>
                </c:pt>
                <c:pt idx="5">
                  <c:v>0.18730718378140149</c:v>
                </c:pt>
                <c:pt idx="6">
                  <c:v>8.7951030927835058E-2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87-E14F-87A5-D3EF438E352A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100-200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Sheet1!$B$5:$H$5</c:f>
              <c:numCache>
                <c:formatCode>0%</c:formatCode>
                <c:ptCount val="7"/>
                <c:pt idx="0">
                  <c:v>0.14821318294248922</c:v>
                </c:pt>
                <c:pt idx="1">
                  <c:v>0.31564187447568709</c:v>
                </c:pt>
                <c:pt idx="2">
                  <c:v>0.41209186960116462</c:v>
                </c:pt>
                <c:pt idx="3">
                  <c:v>0.333167510153906</c:v>
                </c:pt>
                <c:pt idx="4">
                  <c:v>0.42097823013853547</c:v>
                </c:pt>
                <c:pt idx="5">
                  <c:v>0.28823270163067433</c:v>
                </c:pt>
                <c:pt idx="6">
                  <c:v>0.23743556701030927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87-E14F-87A5-D3EF438E352A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200-500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Sheet1!$B$6:$H$6</c:f>
              <c:numCache>
                <c:formatCode>0%</c:formatCode>
                <c:ptCount val="7"/>
                <c:pt idx="0">
                  <c:v>1.4563776152028937E-2</c:v>
                </c:pt>
                <c:pt idx="1">
                  <c:v>3.3608522138472152E-2</c:v>
                </c:pt>
                <c:pt idx="2">
                  <c:v>5.8174274279859398E-2</c:v>
                </c:pt>
                <c:pt idx="3">
                  <c:v>6.7514354759899087E-2</c:v>
                </c:pt>
                <c:pt idx="4">
                  <c:v>0.1548628781453209</c:v>
                </c:pt>
                <c:pt idx="5">
                  <c:v>0.18275304833259878</c:v>
                </c:pt>
                <c:pt idx="6">
                  <c:v>5.1546391752577317E-2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487-E14F-87A5-D3EF438E352A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500+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Sheet1!$B$7:$H$7</c:f>
              <c:numCache>
                <c:formatCode>0%</c:formatCode>
                <c:ptCount val="7"/>
                <c:pt idx="0">
                  <c:v>6.92050567396511E-4</c:v>
                </c:pt>
                <c:pt idx="1">
                  <c:v>5.9111521286972263E-4</c:v>
                </c:pt>
                <c:pt idx="2">
                  <c:v>3.8105696706551896E-3</c:v>
                </c:pt>
                <c:pt idx="3">
                  <c:v>5.2245356398232107E-3</c:v>
                </c:pt>
                <c:pt idx="4">
                  <c:v>4.7709923664122141E-2</c:v>
                </c:pt>
                <c:pt idx="5">
                  <c:v>5.2886734244160426E-2</c:v>
                </c:pt>
                <c:pt idx="6">
                  <c:v>2.5773195876288659E-3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487-E14F-87A5-D3EF438E3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58196544"/>
        <c:axId val="1058200864"/>
      </c:barChart>
      <c:catAx>
        <c:axId val="105819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8200864"/>
        <c:crosses val="autoZero"/>
        <c:auto val="1"/>
        <c:lblAlgn val="ctr"/>
        <c:lblOffset val="100"/>
        <c:noMultiLvlLbl val="0"/>
      </c:catAx>
      <c:valAx>
        <c:axId val="105820086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58196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554923583954216"/>
          <c:y val="0.10906806449023784"/>
          <c:w val="0.20590854425440888"/>
          <c:h val="0.719658558993949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900" b="1" dirty="0"/>
              <a:t>榜单未承接</a:t>
            </a:r>
            <a:r>
              <a:rPr lang="en-US" altLang="zh-CN" sz="900" b="1" dirty="0"/>
              <a:t>QV</a:t>
            </a:r>
            <a:r>
              <a:rPr lang="zh-CN" altLang="en-US" sz="900" b="1" dirty="0"/>
              <a:t>用户消费价格带结构</a:t>
            </a:r>
            <a:endParaRPr lang="zh-CN" sz="900" b="1" dirty="0"/>
          </a:p>
        </c:rich>
      </c:tx>
      <c:layout>
        <c:manualLayout>
          <c:xMode val="edge"/>
          <c:yMode val="edge"/>
          <c:x val="0.1472250847870576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082613356877089"/>
          <c:y val="0.1044128270065252"/>
          <c:w val="0.69477308543882577"/>
          <c:h val="0.659224149855612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小吃快餐</c:v>
                </c:pt>
              </c:strCache>
            </c:strRef>
          </c:tx>
          <c:spPr>
            <a:solidFill>
              <a:srgbClr val="D4CD8C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Sheet1!$B$2:$H$2</c:f>
              <c:numCache>
                <c:formatCode>0%</c:formatCode>
                <c:ptCount val="7"/>
                <c:pt idx="0">
                  <c:v>0.30822912820579845</c:v>
                </c:pt>
                <c:pt idx="1">
                  <c:v>0.30097213778969106</c:v>
                </c:pt>
                <c:pt idx="2">
                  <c:v>0.27600190718694995</c:v>
                </c:pt>
                <c:pt idx="3">
                  <c:v>0.25706130372394642</c:v>
                </c:pt>
                <c:pt idx="4">
                  <c:v>0.12411648289510885</c:v>
                </c:pt>
                <c:pt idx="5">
                  <c:v>0.11605700014690759</c:v>
                </c:pt>
                <c:pt idx="6">
                  <c:v>0.522229381443299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60-ED46-8860-FED6ACADD7B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面包蛋糕</c:v>
                </c:pt>
              </c:strCache>
            </c:strRef>
          </c:tx>
          <c:spPr>
            <a:solidFill>
              <a:srgbClr val="F3F1DD"/>
            </a:solidFill>
            <a:ln w="12700">
              <a:noFill/>
              <a:prstDash val="sysDot"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Sheet1!$B$3:$H$3</c:f>
              <c:numCache>
                <c:formatCode>0%</c:formatCode>
                <c:ptCount val="7"/>
                <c:pt idx="0">
                  <c:v>0.32069453384610863</c:v>
                </c:pt>
                <c:pt idx="1">
                  <c:v>9.4241403893380871E-2</c:v>
                </c:pt>
                <c:pt idx="2">
                  <c:v>2.0995541443273869E-2</c:v>
                </c:pt>
                <c:pt idx="3">
                  <c:v>3.7440662938961596E-2</c:v>
                </c:pt>
                <c:pt idx="4">
                  <c:v>1.1450381679389313E-2</c:v>
                </c:pt>
                <c:pt idx="5">
                  <c:v>0.24239753195240193</c:v>
                </c:pt>
                <c:pt idx="6">
                  <c:v>2.7706185567010308E-2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60-ED46-8860-FED6ACADD7B1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饮品</c:v>
                </c:pt>
              </c:strCache>
            </c:strRef>
          </c:tx>
          <c:spPr>
            <a:noFill/>
            <a:ln>
              <a:solidFill>
                <a:schemeClr val="accent1">
                  <a:lumMod val="75000"/>
                </a:schemeClr>
              </a:solidFill>
              <a:prstDash val="sysDot"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Sheet1!$B$4:$H$4</c:f>
              <c:numCache>
                <c:formatCode>0%</c:formatCode>
                <c:ptCount val="7"/>
                <c:pt idx="0">
                  <c:v>0.23708711407071462</c:v>
                </c:pt>
                <c:pt idx="1">
                  <c:v>6.268026126662446E-2</c:v>
                </c:pt>
                <c:pt idx="2">
                  <c:v>5.8159057362705366E-2</c:v>
                </c:pt>
                <c:pt idx="3">
                  <c:v>0.12262292472290946</c:v>
                </c:pt>
                <c:pt idx="4">
                  <c:v>1.9720101781170483E-2</c:v>
                </c:pt>
                <c:pt idx="5">
                  <c:v>4.4953724107536362E-2</c:v>
                </c:pt>
                <c:pt idx="6">
                  <c:v>7.2809278350515469E-2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60-ED46-8860-FED6ACADD7B1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异国料理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Sheet1!$B$5:$H$5</c:f>
              <c:numCache>
                <c:formatCode>0%</c:formatCode>
                <c:ptCount val="7"/>
                <c:pt idx="0">
                  <c:v>1.9965560845229654E-2</c:v>
                </c:pt>
                <c:pt idx="1">
                  <c:v>1.5421492445169603E-2</c:v>
                </c:pt>
                <c:pt idx="2">
                  <c:v>0.11560038346631227</c:v>
                </c:pt>
                <c:pt idx="3">
                  <c:v>3.9324414257255871E-2</c:v>
                </c:pt>
                <c:pt idx="4">
                  <c:v>3.3290924512298557E-2</c:v>
                </c:pt>
                <c:pt idx="5">
                  <c:v>0.1407374761275158</c:v>
                </c:pt>
                <c:pt idx="6">
                  <c:v>0.17557989690721648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160-ED46-8860-FED6ACADD7B1}"/>
            </c:ext>
          </c:extLst>
        </c:ser>
        <c:ser>
          <c:idx val="4"/>
          <c:order val="4"/>
          <c:tx>
            <c:strRef>
              <c:f>Sheet1!$A$6</c:f>
              <c:strCache>
                <c:ptCount val="1"/>
                <c:pt idx="0">
                  <c:v>自助餐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Sheet1!$B$6:$H$6</c:f>
              <c:numCache>
                <c:formatCode>0%</c:formatCode>
                <c:ptCount val="7"/>
                <c:pt idx="0">
                  <c:v>1.9947916496485835E-2</c:v>
                </c:pt>
                <c:pt idx="1">
                  <c:v>2.2606219623975129E-2</c:v>
                </c:pt>
                <c:pt idx="2">
                  <c:v>6.4193833090708044E-2</c:v>
                </c:pt>
                <c:pt idx="3">
                  <c:v>6.6311583965119644E-2</c:v>
                </c:pt>
                <c:pt idx="4">
                  <c:v>4.148996324568844E-2</c:v>
                </c:pt>
                <c:pt idx="5">
                  <c:v>8.3884236815043339E-2</c:v>
                </c:pt>
                <c:pt idx="6">
                  <c:v>1.5786082474226804E-2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60-ED46-8860-FED6ACADD7B1}"/>
            </c:ext>
          </c:extLst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烤串烤肉</c:v>
                </c:pt>
              </c:strCache>
            </c:strRef>
          </c:tx>
          <c:spPr>
            <a:solidFill>
              <a:schemeClr val="accent1">
                <a:tint val="86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Sheet1!$B$7:$H$7</c:f>
              <c:numCache>
                <c:formatCode>0%</c:formatCode>
                <c:ptCount val="7"/>
                <c:pt idx="0">
                  <c:v>1.0917277411639389E-2</c:v>
                </c:pt>
                <c:pt idx="1">
                  <c:v>8.2262658842527109E-3</c:v>
                </c:pt>
                <c:pt idx="2">
                  <c:v>3.8248989343085689E-2</c:v>
                </c:pt>
                <c:pt idx="3">
                  <c:v>5.7304068858628002E-2</c:v>
                </c:pt>
                <c:pt idx="4">
                  <c:v>4.6296296296296294E-2</c:v>
                </c:pt>
                <c:pt idx="5">
                  <c:v>1.8510356985456149E-2</c:v>
                </c:pt>
                <c:pt idx="6">
                  <c:v>6.7654639175257734E-3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160-ED46-8860-FED6ACADD7B1}"/>
            </c:ext>
          </c:extLst>
        </c:ser>
        <c:ser>
          <c:idx val="6"/>
          <c:order val="6"/>
          <c:tx>
            <c:strRef>
              <c:f>Sheet1!$A$8</c:f>
              <c:strCache>
                <c:ptCount val="1"/>
                <c:pt idx="0">
                  <c:v>鱼鲜海鲜</c:v>
                </c:pt>
              </c:strCache>
            </c:strRef>
          </c:tx>
          <c:spPr>
            <a:solidFill>
              <a:schemeClr val="accent1">
                <a:tint val="72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Sheet1!$B$8:$H$8</c:f>
              <c:numCache>
                <c:formatCode>0%</c:formatCode>
                <c:ptCount val="7"/>
                <c:pt idx="0">
                  <c:v>2.4787042513078057E-3</c:v>
                </c:pt>
                <c:pt idx="1">
                  <c:v>9.3185166052977789E-2</c:v>
                </c:pt>
                <c:pt idx="2">
                  <c:v>1.6973203008891751E-2</c:v>
                </c:pt>
                <c:pt idx="3">
                  <c:v>1.6142333773317502E-2</c:v>
                </c:pt>
                <c:pt idx="4">
                  <c:v>3.2089341249646595E-2</c:v>
                </c:pt>
                <c:pt idx="5">
                  <c:v>1.2780960775672102E-2</c:v>
                </c:pt>
                <c:pt idx="6">
                  <c:v>9.0206185567010301E-3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60-ED46-8860-FED6ACADD7B1}"/>
            </c:ext>
          </c:extLst>
        </c:ser>
        <c:ser>
          <c:idx val="7"/>
          <c:order val="7"/>
          <c:tx>
            <c:strRef>
              <c:f>Sheet1!$A$9</c:f>
              <c:strCache>
                <c:ptCount val="1"/>
                <c:pt idx="0">
                  <c:v>地方菜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Sheet1!$B$9:$H$9</c:f>
              <c:numCache>
                <c:formatCode>0%</c:formatCode>
                <c:ptCount val="7"/>
                <c:pt idx="0">
                  <c:v>4.3285508434978942E-2</c:v>
                </c:pt>
                <c:pt idx="1">
                  <c:v>0.20818279844231169</c:v>
                </c:pt>
                <c:pt idx="2">
                  <c:v>0.17658217896109032</c:v>
                </c:pt>
                <c:pt idx="3">
                  <c:v>0.25374705111112583</c:v>
                </c:pt>
                <c:pt idx="4">
                  <c:v>0.5241730279898219</c:v>
                </c:pt>
                <c:pt idx="5">
                  <c:v>0.27559864845012488</c:v>
                </c:pt>
                <c:pt idx="6">
                  <c:v>0.15399484536082475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160-ED46-8860-FED6ACADD7B1}"/>
            </c:ext>
          </c:extLst>
        </c:ser>
        <c:ser>
          <c:idx val="8"/>
          <c:order val="8"/>
          <c:tx>
            <c:strRef>
              <c:f>Sheet1!$A$10</c:f>
              <c:strCache>
                <c:ptCount val="1"/>
                <c:pt idx="0">
                  <c:v>火锅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Sheet1!$B$1:$H$1</c:f>
              <c:strCache>
                <c:ptCount val="7"/>
                <c:pt idx="0">
                  <c:v>菜品-食物类别</c:v>
                </c:pt>
                <c:pt idx="1">
                  <c:v>菜品-具体菜品</c:v>
                </c:pt>
                <c:pt idx="2">
                  <c:v>菜品-原始食材</c:v>
                </c:pt>
                <c:pt idx="3">
                  <c:v>地址-附近</c:v>
                </c:pt>
                <c:pt idx="4">
                  <c:v>场景-餐型</c:v>
                </c:pt>
                <c:pt idx="5">
                  <c:v>场景-场景</c:v>
                </c:pt>
                <c:pt idx="6">
                  <c:v>场景-餐段</c:v>
                </c:pt>
              </c:strCache>
            </c:strRef>
          </c:cat>
          <c:val>
            <c:numRef>
              <c:f>Sheet1!$B$10:$H$10</c:f>
              <c:numCache>
                <c:formatCode>0%</c:formatCode>
                <c:ptCount val="7"/>
                <c:pt idx="0">
                  <c:v>3.2219234300613957E-2</c:v>
                </c:pt>
                <c:pt idx="1">
                  <c:v>0.19115070078125904</c:v>
                </c:pt>
                <c:pt idx="2">
                  <c:v>0.17159356628742728</c:v>
                </c:pt>
                <c:pt idx="3">
                  <c:v>0.1442285795144255</c:v>
                </c:pt>
                <c:pt idx="4">
                  <c:v>0.16511167656205825</c:v>
                </c:pt>
                <c:pt idx="5">
                  <c:v>5.5531070956368445E-2</c:v>
                </c:pt>
                <c:pt idx="6">
                  <c:v>1.5463917525773196E-2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160-ED46-8860-FED6ACADD7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58196544"/>
        <c:axId val="1058200864"/>
      </c:barChart>
      <c:catAx>
        <c:axId val="105819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8200864"/>
        <c:crosses val="autoZero"/>
        <c:auto val="1"/>
        <c:lblAlgn val="ctr"/>
        <c:lblOffset val="100"/>
        <c:noMultiLvlLbl val="0"/>
      </c:catAx>
      <c:valAx>
        <c:axId val="105820086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58196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2572465225599012"/>
          <c:y val="6.0270041343836935E-2"/>
          <c:w val="0.17427534774400985"/>
          <c:h val="0.754390541295167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altLang="en-US" sz="900" b="1" i="0" u="none" strike="noStrike" kern="1200" spc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900" b="1" i="0" dirty="0"/>
              <a:t>看榜后7日内交易GTV</a:t>
            </a: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900" b="1" i="0" u="none" strike="noStrike" kern="1200" spc="0" baseline="0" dirty="0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5.0907071455016661E-2"/>
          <c:y val="0.14487441798302253"/>
          <c:w val="0.89818585708996668"/>
          <c:h val="0.458825332995277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看榜后GTV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品类扩充前</c:v>
                </c:pt>
                <c:pt idx="1">
                  <c:v>品类扩充后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1.02</c:v>
                </c:pt>
                <c:pt idx="1">
                  <c:v>1.59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0-0A4B-A9BE-CA420F305E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003719008"/>
        <c:axId val="100371996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占比到餐大盘</c:v>
                </c:pt>
              </c:strCache>
            </c:strRef>
          </c:tx>
          <c:spPr>
            <a:ln w="28575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1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品类扩充前</c:v>
                </c:pt>
                <c:pt idx="1">
                  <c:v>品类扩充后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0">
                  <c:v>1.4999999999999999E-2</c:v>
                </c:pt>
                <c:pt idx="1">
                  <c:v>2.5999999999999999E-2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BD0-0A4B-A9BE-CA420F305E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42765536"/>
        <c:axId val="1382038992"/>
      </c:lineChart>
      <c:catAx>
        <c:axId val="1003719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03719968"/>
        <c:crosses val="autoZero"/>
        <c:auto val="1"/>
        <c:lblAlgn val="ctr"/>
        <c:lblOffset val="100"/>
        <c:noMultiLvlLbl val="0"/>
      </c:catAx>
      <c:valAx>
        <c:axId val="1003719968"/>
        <c:scaling>
          <c:orientation val="minMax"/>
          <c:max val="2.5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03719008"/>
        <c:crosses val="autoZero"/>
        <c:crossBetween val="between"/>
      </c:valAx>
      <c:valAx>
        <c:axId val="1382038992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42765536"/>
        <c:crosses val="max"/>
        <c:crossBetween val="between"/>
      </c:valAx>
      <c:catAx>
        <c:axId val="17427655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820389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529418967020089"/>
          <c:y val="0.70121405449388852"/>
          <c:w val="0.80792291860407495"/>
          <c:h val="8.91124253377123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800" b="1" i="0" u="sng" dirty="0"/>
              <a:t>扩充品类后新上榜商户店均表现</a:t>
            </a:r>
            <a:endParaRPr lang="zh-CN" sz="800" b="1" i="0" u="sng" dirty="0"/>
          </a:p>
        </c:rich>
      </c:tx>
      <c:layout>
        <c:manualLayout>
          <c:xMode val="edge"/>
          <c:yMode val="edge"/>
          <c:x val="1.0002514756534836E-3"/>
          <c:y val="2.06048663989386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1.9946398953409189E-2"/>
          <c:y val="0.18157557468246044"/>
          <c:w val="0.96237260215138831"/>
          <c:h val="0.2225734575521564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实付消费额 </c:v>
                </c:pt>
              </c:strCache>
            </c:strRef>
          </c:tx>
          <c:spPr>
            <a:ln w="19050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 W11 </c:v>
                </c:pt>
                <c:pt idx="1">
                  <c:v> W12 </c:v>
                </c:pt>
                <c:pt idx="2">
                  <c:v> W13 </c:v>
                </c:pt>
                <c:pt idx="3">
                  <c:v> W14 </c:v>
                </c:pt>
                <c:pt idx="4">
                  <c:v> W15 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822</c:v>
                </c:pt>
                <c:pt idx="1">
                  <c:v>847</c:v>
                </c:pt>
                <c:pt idx="2" formatCode="#,##0">
                  <c:v>1004</c:v>
                </c:pt>
                <c:pt idx="3" formatCode="#,##0">
                  <c:v>1286</c:v>
                </c:pt>
                <c:pt idx="4" formatCode="#,##0">
                  <c:v>1136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9A-1348-97CD-08692F4DBF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72348575"/>
        <c:axId val="1972334175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poi意向uv 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 W11 </c:v>
                </c:pt>
                <c:pt idx="1">
                  <c:v> W12 </c:v>
                </c:pt>
                <c:pt idx="2">
                  <c:v> W13 </c:v>
                </c:pt>
                <c:pt idx="3">
                  <c:v> W14 </c:v>
                </c:pt>
                <c:pt idx="4">
                  <c:v> W15 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101</c:v>
                </c:pt>
                <c:pt idx="2">
                  <c:v>106</c:v>
                </c:pt>
                <c:pt idx="3">
                  <c:v>124</c:v>
                </c:pt>
                <c:pt idx="4">
                  <c:v>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9A-1348-97CD-08692F4DBF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25953007"/>
        <c:axId val="1525952527"/>
      </c:lineChart>
      <c:catAx>
        <c:axId val="1972348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72334175"/>
        <c:crosses val="autoZero"/>
        <c:auto val="1"/>
        <c:lblAlgn val="ctr"/>
        <c:lblOffset val="100"/>
        <c:noMultiLvlLbl val="0"/>
      </c:catAx>
      <c:valAx>
        <c:axId val="1972334175"/>
        <c:scaling>
          <c:orientation val="minMax"/>
          <c:max val="2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72348575"/>
        <c:crosses val="autoZero"/>
        <c:crossBetween val="between"/>
      </c:valAx>
      <c:valAx>
        <c:axId val="1525952527"/>
        <c:scaling>
          <c:orientation val="minMax"/>
          <c:max val="130"/>
          <c:min val="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25953007"/>
        <c:crosses val="max"/>
        <c:crossBetween val="between"/>
      </c:valAx>
      <c:catAx>
        <c:axId val="15259530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25952527"/>
        <c:crosses val="autoZero"/>
        <c:auto val="1"/>
        <c:lblAlgn val="ctr"/>
        <c:lblOffset val="100"/>
        <c:tickLblSkip val="1"/>
        <c:tickMarkSkip val="1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9938303697822337"/>
          <c:y val="2.5624825020238745E-2"/>
          <c:w val="0.39305008886414944"/>
          <c:h val="9.29963763962935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800" b="1" i="0" u="sng" dirty="0"/>
              <a:t>新上榜商户供给上线趋势</a:t>
            </a:r>
            <a:endParaRPr lang="zh-CN" sz="800" b="1" i="0" u="sng" dirty="0"/>
          </a:p>
        </c:rich>
      </c:tx>
      <c:layout>
        <c:manualLayout>
          <c:xMode val="edge"/>
          <c:yMode val="edge"/>
          <c:x val="0"/>
          <c:y val="5.388478034523480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0821265798463457E-2"/>
          <c:y val="0.26780240596422883"/>
          <c:w val="0.97917873420153656"/>
          <c:h val="0.521831283765352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在线项目数 </c:v>
                </c:pt>
              </c:strCache>
            </c:strRef>
          </c:tx>
          <c:spPr>
            <a:ln w="19050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  W11  </c:v>
                </c:pt>
                <c:pt idx="1">
                  <c:v>  W12  </c:v>
                </c:pt>
                <c:pt idx="2">
                  <c:v>  W13  </c:v>
                </c:pt>
                <c:pt idx="3">
                  <c:v>  W14  </c:v>
                </c:pt>
                <c:pt idx="4">
                  <c:v>  W15  </c:v>
                </c:pt>
              </c:strCache>
            </c:strRef>
          </c:cat>
          <c:val>
            <c:numRef>
              <c:f>Sheet1!$B$2:$B$6</c:f>
              <c:numCache>
                <c:formatCode>_ * #,##0.0_ ;_ * \-#,##0.0_ ;_ * "-"??_ ;_ @_ </c:formatCode>
                <c:ptCount val="5"/>
                <c:pt idx="0">
                  <c:v>56.7</c:v>
                </c:pt>
                <c:pt idx="1">
                  <c:v>59.1</c:v>
                </c:pt>
                <c:pt idx="2">
                  <c:v>61.3</c:v>
                </c:pt>
                <c:pt idx="3">
                  <c:v>62.2</c:v>
                </c:pt>
                <c:pt idx="4">
                  <c:v>61.6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E9-0949-828A-B68B1AA272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动销项目数 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  W11  </c:v>
                </c:pt>
                <c:pt idx="1">
                  <c:v>  W12  </c:v>
                </c:pt>
                <c:pt idx="2">
                  <c:v>  W13  </c:v>
                </c:pt>
                <c:pt idx="3">
                  <c:v>  W14  </c:v>
                </c:pt>
                <c:pt idx="4">
                  <c:v>  W15  </c:v>
                </c:pt>
              </c:strCache>
            </c:strRef>
          </c:cat>
          <c:val>
            <c:numRef>
              <c:f>Sheet1!$C$2:$C$6</c:f>
              <c:numCache>
                <c:formatCode>_ * #,##0.0_ ;_ * \-#,##0.0_ ;_ * "-"??_ ;_ @_ </c:formatCode>
                <c:ptCount val="5"/>
                <c:pt idx="0">
                  <c:v>25.7</c:v>
                </c:pt>
                <c:pt idx="1">
                  <c:v>27.5</c:v>
                </c:pt>
                <c:pt idx="2">
                  <c:v>30.7</c:v>
                </c:pt>
                <c:pt idx="3">
                  <c:v>32.799999999999997</c:v>
                </c:pt>
                <c:pt idx="4">
                  <c:v>30.6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E9-0949-828A-B68B1AA2724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72348575"/>
        <c:axId val="1972334175"/>
      </c:lineChart>
      <c:catAx>
        <c:axId val="197234857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72334175"/>
        <c:crosses val="autoZero"/>
        <c:auto val="1"/>
        <c:lblAlgn val="ctr"/>
        <c:lblOffset val="100"/>
        <c:noMultiLvlLbl val="0"/>
      </c:catAx>
      <c:valAx>
        <c:axId val="1972334175"/>
        <c:scaling>
          <c:orientation val="minMax"/>
        </c:scaling>
        <c:delete val="0"/>
        <c:axPos val="l"/>
        <c:numFmt formatCode="_ * #,##0.0_ ;_ * \-#,##0.0_ ;_ * &quot;-&quot;??_ ;_ @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72348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2839810008731"/>
          <c:y val="5.3361588362932305E-3"/>
          <c:w val="0.38407890684381102"/>
          <c:h val="0.152184965539221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FFEB5C-AF88-4B62-84B5-D6D3836DC6C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8FE553C-10DC-4C8B-B94E-FDBC392C2057}">
      <dgm:prSet phldrT="[文本]" custT="1"/>
      <dgm:spPr/>
      <dgm:t>
        <a:bodyPr/>
        <a:lstStyle/>
        <a:p>
          <a:r>
            <a:rPr lang="zh-CN" altLang="en-US" sz="1100" b="0" dirty="0">
              <a:solidFill>
                <a:schemeClr val="tx1"/>
              </a:solidFill>
            </a:rPr>
            <a:t>地方政府</a:t>
          </a:r>
          <a:r>
            <a:rPr lang="en-US" altLang="en-US" sz="1100" b="0" dirty="0">
              <a:solidFill>
                <a:schemeClr val="tx1"/>
              </a:solidFill>
            </a:rPr>
            <a:t>/</a:t>
          </a:r>
          <a:r>
            <a:rPr lang="zh-CN" altLang="en-US" sz="1100" b="0" dirty="0">
              <a:solidFill>
                <a:schemeClr val="tx1"/>
              </a:solidFill>
            </a:rPr>
            <a:t>媒体评选的当地餐饮名店</a:t>
          </a:r>
        </a:p>
      </dgm:t>
    </dgm:pt>
    <dgm:pt modelId="{1F77B58D-BAA4-4022-B636-C37FC79D6BC5}" type="parTrans" cxnId="{9CADD715-91F1-483D-9327-862391D6B93E}">
      <dgm:prSet/>
      <dgm:spPr/>
      <dgm:t>
        <a:bodyPr/>
        <a:lstStyle/>
        <a:p>
          <a:endParaRPr lang="zh-CN" altLang="en-US" sz="1600"/>
        </a:p>
      </dgm:t>
    </dgm:pt>
    <dgm:pt modelId="{10415B8F-D1B6-4123-984F-BE48191ADCA2}" type="sibTrans" cxnId="{9CADD715-91F1-483D-9327-862391D6B93E}">
      <dgm:prSet/>
      <dgm:spPr/>
      <dgm:t>
        <a:bodyPr/>
        <a:lstStyle/>
        <a:p>
          <a:endParaRPr lang="zh-CN" altLang="en-US" sz="1600"/>
        </a:p>
      </dgm:t>
    </dgm:pt>
    <dgm:pt modelId="{80851E74-55F1-4A75-A4AD-D8BB7BCB69F7}">
      <dgm:prSet phldrT="[文本]" custT="1"/>
      <dgm:spPr/>
      <dgm:t>
        <a:bodyPr/>
        <a:lstStyle/>
        <a:p>
          <a:r>
            <a:rPr lang="zh-CN" altLang="en-US" sz="1100" b="0" dirty="0">
              <a:solidFill>
                <a:schemeClr val="tx1"/>
              </a:solidFill>
            </a:rPr>
            <a:t>探索与地方政府联合发榜的新模式</a:t>
          </a:r>
        </a:p>
      </dgm:t>
    </dgm:pt>
    <dgm:pt modelId="{E931A7AF-8E7E-4D6F-A0E4-58A7D2DC7173}" type="parTrans" cxnId="{DDFF4F74-3321-4DD5-A83F-6D7C7D0EE04E}">
      <dgm:prSet/>
      <dgm:spPr/>
      <dgm:t>
        <a:bodyPr/>
        <a:lstStyle/>
        <a:p>
          <a:endParaRPr lang="zh-CN" altLang="en-US" sz="1600"/>
        </a:p>
      </dgm:t>
    </dgm:pt>
    <dgm:pt modelId="{049B71B6-0B54-4533-A375-47FC2EB3B92B}" type="sibTrans" cxnId="{DDFF4F74-3321-4DD5-A83F-6D7C7D0EE04E}">
      <dgm:prSet/>
      <dgm:spPr/>
      <dgm:t>
        <a:bodyPr/>
        <a:lstStyle/>
        <a:p>
          <a:endParaRPr lang="zh-CN" altLang="en-US" sz="1600"/>
        </a:p>
      </dgm:t>
    </dgm:pt>
    <dgm:pt modelId="{4BB8184D-8688-461D-AD32-BDD24D6096F3}">
      <dgm:prSet phldrT="[文本]" custT="1"/>
      <dgm:spPr/>
      <dgm:t>
        <a:bodyPr/>
        <a:lstStyle/>
        <a:p>
          <a:r>
            <a:rPr lang="zh-CN" altLang="en-US" sz="1100" b="0" dirty="0">
              <a:solidFill>
                <a:schemeClr val="tx1"/>
              </a:solidFill>
            </a:rPr>
            <a:t>尝试联动电影</a:t>
          </a:r>
          <a:r>
            <a:rPr lang="en-US" altLang="en-US" sz="1100" b="0" dirty="0">
              <a:solidFill>
                <a:schemeClr val="tx1"/>
              </a:solidFill>
            </a:rPr>
            <a:t>IP</a:t>
          </a:r>
          <a:r>
            <a:rPr lang="zh-CN" altLang="en-US" sz="1100" b="0" dirty="0">
              <a:solidFill>
                <a:schemeClr val="tx1"/>
              </a:solidFill>
            </a:rPr>
            <a:t>，如</a:t>
          </a:r>
          <a:r>
            <a:rPr lang="en-US" altLang="zh-CN" sz="1100" b="0" dirty="0">
              <a:solidFill>
                <a:schemeClr val="tx1"/>
              </a:solidFill>
            </a:rPr>
            <a:t>《</a:t>
          </a:r>
          <a:r>
            <a:rPr lang="zh-CN" altLang="en-US" sz="1100" b="0" dirty="0">
              <a:solidFill>
                <a:schemeClr val="tx1"/>
              </a:solidFill>
            </a:rPr>
            <a:t>给阿嬷的情书</a:t>
          </a:r>
          <a:r>
            <a:rPr lang="en-US" altLang="zh-CN" sz="1100" b="0" dirty="0">
              <a:solidFill>
                <a:schemeClr val="tx1"/>
              </a:solidFill>
            </a:rPr>
            <a:t>》</a:t>
          </a:r>
          <a:endParaRPr lang="zh-CN" altLang="en-US" sz="1100" b="0" dirty="0">
            <a:solidFill>
              <a:schemeClr val="tx1"/>
            </a:solidFill>
          </a:endParaRPr>
        </a:p>
      </dgm:t>
    </dgm:pt>
    <dgm:pt modelId="{70400A28-B336-4527-BAC5-A9283A40C0E6}" type="parTrans" cxnId="{3239547F-2161-48AE-9CA3-E27C90EF51EE}">
      <dgm:prSet/>
      <dgm:spPr/>
      <dgm:t>
        <a:bodyPr/>
        <a:lstStyle/>
        <a:p>
          <a:endParaRPr lang="zh-CN" altLang="en-US" sz="1600"/>
        </a:p>
      </dgm:t>
    </dgm:pt>
    <dgm:pt modelId="{A09B19CD-B981-481A-AAFC-FC99A121DE43}" type="sibTrans" cxnId="{3239547F-2161-48AE-9CA3-E27C90EF51EE}">
      <dgm:prSet/>
      <dgm:spPr/>
      <dgm:t>
        <a:bodyPr/>
        <a:lstStyle/>
        <a:p>
          <a:endParaRPr lang="zh-CN" altLang="en-US" sz="1600"/>
        </a:p>
      </dgm:t>
    </dgm:pt>
    <dgm:pt modelId="{C14C598B-3BD6-4F57-A24D-796C3018F5B8}" type="pres">
      <dgm:prSet presAssocID="{23FFEB5C-AF88-4B62-84B5-D6D3836DC6C0}" presName="linear" presStyleCnt="0">
        <dgm:presLayoutVars>
          <dgm:dir/>
          <dgm:animLvl val="lvl"/>
          <dgm:resizeHandles val="exact"/>
        </dgm:presLayoutVars>
      </dgm:prSet>
      <dgm:spPr/>
    </dgm:pt>
    <dgm:pt modelId="{99195A4C-F577-46E2-9CCD-4AEB02912433}" type="pres">
      <dgm:prSet presAssocID="{38FE553C-10DC-4C8B-B94E-FDBC392C2057}" presName="parentLin" presStyleCnt="0"/>
      <dgm:spPr/>
    </dgm:pt>
    <dgm:pt modelId="{9B83AA55-2C8E-40DE-867D-6C34C9A8EBCE}" type="pres">
      <dgm:prSet presAssocID="{38FE553C-10DC-4C8B-B94E-FDBC392C2057}" presName="parentLeftMargin" presStyleLbl="node1" presStyleIdx="0" presStyleCnt="3"/>
      <dgm:spPr/>
    </dgm:pt>
    <dgm:pt modelId="{DE23DCE5-B5A4-4631-B3C9-624B0EBB9F8E}" type="pres">
      <dgm:prSet presAssocID="{38FE553C-10DC-4C8B-B94E-FDBC392C2057}" presName="parentText" presStyleLbl="node1" presStyleIdx="0" presStyleCnt="3" custScaleX="50506" custScaleY="44776" custLinFactNeighborY="-9689">
        <dgm:presLayoutVars>
          <dgm:chMax val="0"/>
          <dgm:bulletEnabled val="1"/>
        </dgm:presLayoutVars>
      </dgm:prSet>
      <dgm:spPr/>
    </dgm:pt>
    <dgm:pt modelId="{0F25F844-F908-4F83-945B-A8A9B59317CA}" type="pres">
      <dgm:prSet presAssocID="{38FE553C-10DC-4C8B-B94E-FDBC392C2057}" presName="negativeSpace" presStyleCnt="0"/>
      <dgm:spPr/>
    </dgm:pt>
    <dgm:pt modelId="{421D6A6B-57E4-4708-A5BF-3AC3193D2B33}" type="pres">
      <dgm:prSet presAssocID="{38FE553C-10DC-4C8B-B94E-FDBC392C2057}" presName="childText" presStyleLbl="conFgAcc1" presStyleIdx="0" presStyleCnt="3">
        <dgm:presLayoutVars>
          <dgm:bulletEnabled val="1"/>
        </dgm:presLayoutVars>
      </dgm:prSet>
      <dgm:spPr/>
    </dgm:pt>
    <dgm:pt modelId="{9BB7EDC1-24AD-4504-B1F1-AF8319902977}" type="pres">
      <dgm:prSet presAssocID="{10415B8F-D1B6-4123-984F-BE48191ADCA2}" presName="spaceBetweenRectangles" presStyleCnt="0"/>
      <dgm:spPr/>
    </dgm:pt>
    <dgm:pt modelId="{87A99247-0FF9-42AC-B03A-885720E93D2C}" type="pres">
      <dgm:prSet presAssocID="{80851E74-55F1-4A75-A4AD-D8BB7BCB69F7}" presName="parentLin" presStyleCnt="0"/>
      <dgm:spPr/>
    </dgm:pt>
    <dgm:pt modelId="{3DE78D08-B7B0-442C-8164-8BCA5D8BCA92}" type="pres">
      <dgm:prSet presAssocID="{80851E74-55F1-4A75-A4AD-D8BB7BCB69F7}" presName="parentLeftMargin" presStyleLbl="node1" presStyleIdx="0" presStyleCnt="3"/>
      <dgm:spPr/>
    </dgm:pt>
    <dgm:pt modelId="{9364DDBA-75AF-4E45-A8CB-D5F266C1F559}" type="pres">
      <dgm:prSet presAssocID="{80851E74-55F1-4A75-A4AD-D8BB7BCB69F7}" presName="parentText" presStyleLbl="node1" presStyleIdx="1" presStyleCnt="3" custScaleX="50506" custScaleY="44603" custLinFactNeighborY="-9245">
        <dgm:presLayoutVars>
          <dgm:chMax val="0"/>
          <dgm:bulletEnabled val="1"/>
        </dgm:presLayoutVars>
      </dgm:prSet>
      <dgm:spPr/>
    </dgm:pt>
    <dgm:pt modelId="{761DE3DD-7C75-4EE2-A738-661650510591}" type="pres">
      <dgm:prSet presAssocID="{80851E74-55F1-4A75-A4AD-D8BB7BCB69F7}" presName="negativeSpace" presStyleCnt="0"/>
      <dgm:spPr/>
    </dgm:pt>
    <dgm:pt modelId="{C4581B71-19D5-4371-B763-30EB0C710FFF}" type="pres">
      <dgm:prSet presAssocID="{80851E74-55F1-4A75-A4AD-D8BB7BCB69F7}" presName="childText" presStyleLbl="conFgAcc1" presStyleIdx="1" presStyleCnt="3">
        <dgm:presLayoutVars>
          <dgm:bulletEnabled val="1"/>
        </dgm:presLayoutVars>
      </dgm:prSet>
      <dgm:spPr/>
    </dgm:pt>
    <dgm:pt modelId="{C9045826-5400-4A16-AD7A-FAB076802EAA}" type="pres">
      <dgm:prSet presAssocID="{049B71B6-0B54-4533-A375-47FC2EB3B92B}" presName="spaceBetweenRectangles" presStyleCnt="0"/>
      <dgm:spPr/>
    </dgm:pt>
    <dgm:pt modelId="{93E52A24-F05E-438F-9E08-F62CE0206300}" type="pres">
      <dgm:prSet presAssocID="{4BB8184D-8688-461D-AD32-BDD24D6096F3}" presName="parentLin" presStyleCnt="0"/>
      <dgm:spPr/>
    </dgm:pt>
    <dgm:pt modelId="{2C2BFF0F-EC87-433C-95C4-F6D751E60E1C}" type="pres">
      <dgm:prSet presAssocID="{4BB8184D-8688-461D-AD32-BDD24D6096F3}" presName="parentLeftMargin" presStyleLbl="node1" presStyleIdx="1" presStyleCnt="3"/>
      <dgm:spPr/>
    </dgm:pt>
    <dgm:pt modelId="{2DA35665-D028-4C3D-8E25-8C11E263BEF0}" type="pres">
      <dgm:prSet presAssocID="{4BB8184D-8688-461D-AD32-BDD24D6096F3}" presName="parentText" presStyleLbl="node1" presStyleIdx="2" presStyleCnt="3" custScaleX="50506" custScaleY="46363" custLinFactNeighborY="-7951">
        <dgm:presLayoutVars>
          <dgm:chMax val="0"/>
          <dgm:bulletEnabled val="1"/>
        </dgm:presLayoutVars>
      </dgm:prSet>
      <dgm:spPr/>
    </dgm:pt>
    <dgm:pt modelId="{02C6F0BD-E942-492A-A6F6-C2FB51A3BE23}" type="pres">
      <dgm:prSet presAssocID="{4BB8184D-8688-461D-AD32-BDD24D6096F3}" presName="negativeSpace" presStyleCnt="0"/>
      <dgm:spPr/>
    </dgm:pt>
    <dgm:pt modelId="{0E40881C-AC89-465B-AF8E-2832CE7EFB77}" type="pres">
      <dgm:prSet presAssocID="{4BB8184D-8688-461D-AD32-BDD24D6096F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CADD715-91F1-483D-9327-862391D6B93E}" srcId="{23FFEB5C-AF88-4B62-84B5-D6D3836DC6C0}" destId="{38FE553C-10DC-4C8B-B94E-FDBC392C2057}" srcOrd="0" destOrd="0" parTransId="{1F77B58D-BAA4-4022-B636-C37FC79D6BC5}" sibTransId="{10415B8F-D1B6-4123-984F-BE48191ADCA2}"/>
    <dgm:cxn modelId="{ABF8CF5C-69EC-4EEF-BE2E-66FA15691763}" type="presOf" srcId="{38FE553C-10DC-4C8B-B94E-FDBC392C2057}" destId="{DE23DCE5-B5A4-4631-B3C9-624B0EBB9F8E}" srcOrd="1" destOrd="0" presId="urn:microsoft.com/office/officeart/2005/8/layout/list1"/>
    <dgm:cxn modelId="{A349D353-6D97-4DBC-8554-143E196AF52B}" type="presOf" srcId="{4BB8184D-8688-461D-AD32-BDD24D6096F3}" destId="{2DA35665-D028-4C3D-8E25-8C11E263BEF0}" srcOrd="1" destOrd="0" presId="urn:microsoft.com/office/officeart/2005/8/layout/list1"/>
    <dgm:cxn modelId="{DDFF4F74-3321-4DD5-A83F-6D7C7D0EE04E}" srcId="{23FFEB5C-AF88-4B62-84B5-D6D3836DC6C0}" destId="{80851E74-55F1-4A75-A4AD-D8BB7BCB69F7}" srcOrd="1" destOrd="0" parTransId="{E931A7AF-8E7E-4D6F-A0E4-58A7D2DC7173}" sibTransId="{049B71B6-0B54-4533-A375-47FC2EB3B92B}"/>
    <dgm:cxn modelId="{7BABAF5A-3BC9-4572-A01D-D0D34526ECE5}" type="presOf" srcId="{38FE553C-10DC-4C8B-B94E-FDBC392C2057}" destId="{9B83AA55-2C8E-40DE-867D-6C34C9A8EBCE}" srcOrd="0" destOrd="0" presId="urn:microsoft.com/office/officeart/2005/8/layout/list1"/>
    <dgm:cxn modelId="{38CA437C-B2A8-46B5-940D-C14B16F8006F}" type="presOf" srcId="{4BB8184D-8688-461D-AD32-BDD24D6096F3}" destId="{2C2BFF0F-EC87-433C-95C4-F6D751E60E1C}" srcOrd="0" destOrd="0" presId="urn:microsoft.com/office/officeart/2005/8/layout/list1"/>
    <dgm:cxn modelId="{3239547F-2161-48AE-9CA3-E27C90EF51EE}" srcId="{23FFEB5C-AF88-4B62-84B5-D6D3836DC6C0}" destId="{4BB8184D-8688-461D-AD32-BDD24D6096F3}" srcOrd="2" destOrd="0" parTransId="{70400A28-B336-4527-BAC5-A9283A40C0E6}" sibTransId="{A09B19CD-B981-481A-AAFC-FC99A121DE43}"/>
    <dgm:cxn modelId="{8C10CA9A-14C9-4DB5-8C96-9F92CB99E556}" type="presOf" srcId="{80851E74-55F1-4A75-A4AD-D8BB7BCB69F7}" destId="{3DE78D08-B7B0-442C-8164-8BCA5D8BCA92}" srcOrd="0" destOrd="0" presId="urn:microsoft.com/office/officeart/2005/8/layout/list1"/>
    <dgm:cxn modelId="{E4A717C7-DD74-4086-B2C7-F05D130A4EE4}" type="presOf" srcId="{80851E74-55F1-4A75-A4AD-D8BB7BCB69F7}" destId="{9364DDBA-75AF-4E45-A8CB-D5F266C1F559}" srcOrd="1" destOrd="0" presId="urn:microsoft.com/office/officeart/2005/8/layout/list1"/>
    <dgm:cxn modelId="{4C677AE7-A21C-4A7A-8D86-E286581EDF35}" type="presOf" srcId="{23FFEB5C-AF88-4B62-84B5-D6D3836DC6C0}" destId="{C14C598B-3BD6-4F57-A24D-796C3018F5B8}" srcOrd="0" destOrd="0" presId="urn:microsoft.com/office/officeart/2005/8/layout/list1"/>
    <dgm:cxn modelId="{093F7315-D0FF-4141-909C-0A801D9E55DE}" type="presParOf" srcId="{C14C598B-3BD6-4F57-A24D-796C3018F5B8}" destId="{99195A4C-F577-46E2-9CCD-4AEB02912433}" srcOrd="0" destOrd="0" presId="urn:microsoft.com/office/officeart/2005/8/layout/list1"/>
    <dgm:cxn modelId="{A851183B-E868-4C80-A892-9C758A4B7B80}" type="presParOf" srcId="{99195A4C-F577-46E2-9CCD-4AEB02912433}" destId="{9B83AA55-2C8E-40DE-867D-6C34C9A8EBCE}" srcOrd="0" destOrd="0" presId="urn:microsoft.com/office/officeart/2005/8/layout/list1"/>
    <dgm:cxn modelId="{21F330B3-1DF3-4A1F-B269-84BF81831F39}" type="presParOf" srcId="{99195A4C-F577-46E2-9CCD-4AEB02912433}" destId="{DE23DCE5-B5A4-4631-B3C9-624B0EBB9F8E}" srcOrd="1" destOrd="0" presId="urn:microsoft.com/office/officeart/2005/8/layout/list1"/>
    <dgm:cxn modelId="{8246791B-92B8-4565-9090-D1283C40CB9C}" type="presParOf" srcId="{C14C598B-3BD6-4F57-A24D-796C3018F5B8}" destId="{0F25F844-F908-4F83-945B-A8A9B59317CA}" srcOrd="1" destOrd="0" presId="urn:microsoft.com/office/officeart/2005/8/layout/list1"/>
    <dgm:cxn modelId="{DA892B90-EB5B-4894-B342-49A139318F36}" type="presParOf" srcId="{C14C598B-3BD6-4F57-A24D-796C3018F5B8}" destId="{421D6A6B-57E4-4708-A5BF-3AC3193D2B33}" srcOrd="2" destOrd="0" presId="urn:microsoft.com/office/officeart/2005/8/layout/list1"/>
    <dgm:cxn modelId="{C990BCDE-F20C-4EDB-B158-72AD646CF9C5}" type="presParOf" srcId="{C14C598B-3BD6-4F57-A24D-796C3018F5B8}" destId="{9BB7EDC1-24AD-4504-B1F1-AF8319902977}" srcOrd="3" destOrd="0" presId="urn:microsoft.com/office/officeart/2005/8/layout/list1"/>
    <dgm:cxn modelId="{E301E1D1-9AEE-4BCD-B5FD-290622ED0D7F}" type="presParOf" srcId="{C14C598B-3BD6-4F57-A24D-796C3018F5B8}" destId="{87A99247-0FF9-42AC-B03A-885720E93D2C}" srcOrd="4" destOrd="0" presId="urn:microsoft.com/office/officeart/2005/8/layout/list1"/>
    <dgm:cxn modelId="{C42A9866-2A4C-4DB4-AFA6-34E00F067C2A}" type="presParOf" srcId="{87A99247-0FF9-42AC-B03A-885720E93D2C}" destId="{3DE78D08-B7B0-442C-8164-8BCA5D8BCA92}" srcOrd="0" destOrd="0" presId="urn:microsoft.com/office/officeart/2005/8/layout/list1"/>
    <dgm:cxn modelId="{E99B8D19-166D-4585-B4D5-C8717D89C0DB}" type="presParOf" srcId="{87A99247-0FF9-42AC-B03A-885720E93D2C}" destId="{9364DDBA-75AF-4E45-A8CB-D5F266C1F559}" srcOrd="1" destOrd="0" presId="urn:microsoft.com/office/officeart/2005/8/layout/list1"/>
    <dgm:cxn modelId="{B8A1D4BF-1500-4F93-9199-E2C42DA6CBB0}" type="presParOf" srcId="{C14C598B-3BD6-4F57-A24D-796C3018F5B8}" destId="{761DE3DD-7C75-4EE2-A738-661650510591}" srcOrd="5" destOrd="0" presId="urn:microsoft.com/office/officeart/2005/8/layout/list1"/>
    <dgm:cxn modelId="{A1F5E221-DF45-4B11-A161-0F3FD0CB353A}" type="presParOf" srcId="{C14C598B-3BD6-4F57-A24D-796C3018F5B8}" destId="{C4581B71-19D5-4371-B763-30EB0C710FFF}" srcOrd="6" destOrd="0" presId="urn:microsoft.com/office/officeart/2005/8/layout/list1"/>
    <dgm:cxn modelId="{B3489C51-67D6-40A6-A0AA-7CFDC78CF6AC}" type="presParOf" srcId="{C14C598B-3BD6-4F57-A24D-796C3018F5B8}" destId="{C9045826-5400-4A16-AD7A-FAB076802EAA}" srcOrd="7" destOrd="0" presId="urn:microsoft.com/office/officeart/2005/8/layout/list1"/>
    <dgm:cxn modelId="{FC89F3A7-0674-4DD1-8976-AB08852881EA}" type="presParOf" srcId="{C14C598B-3BD6-4F57-A24D-796C3018F5B8}" destId="{93E52A24-F05E-438F-9E08-F62CE0206300}" srcOrd="8" destOrd="0" presId="urn:microsoft.com/office/officeart/2005/8/layout/list1"/>
    <dgm:cxn modelId="{DD6206EE-6BBF-4FCF-B480-5A7F3998A029}" type="presParOf" srcId="{93E52A24-F05E-438F-9E08-F62CE0206300}" destId="{2C2BFF0F-EC87-433C-95C4-F6D751E60E1C}" srcOrd="0" destOrd="0" presId="urn:microsoft.com/office/officeart/2005/8/layout/list1"/>
    <dgm:cxn modelId="{CE16B205-DDB3-4E08-BD66-6727849ABDB1}" type="presParOf" srcId="{93E52A24-F05E-438F-9E08-F62CE0206300}" destId="{2DA35665-D028-4C3D-8E25-8C11E263BEF0}" srcOrd="1" destOrd="0" presId="urn:microsoft.com/office/officeart/2005/8/layout/list1"/>
    <dgm:cxn modelId="{4FE19193-7D93-45C9-822C-89CE72C9AFB8}" type="presParOf" srcId="{C14C598B-3BD6-4F57-A24D-796C3018F5B8}" destId="{02C6F0BD-E942-492A-A6F6-C2FB51A3BE23}" srcOrd="9" destOrd="0" presId="urn:microsoft.com/office/officeart/2005/8/layout/list1"/>
    <dgm:cxn modelId="{FDBAE357-912F-4E6D-8D48-19245EC7B3BF}" type="presParOf" srcId="{C14C598B-3BD6-4F57-A24D-796C3018F5B8}" destId="{0E40881C-AC89-465B-AF8E-2832CE7EFB7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D6A6B-57E4-4708-A5BF-3AC3193D2B33}">
      <dsp:nvSpPr>
        <dsp:cNvPr id="0" name=""/>
        <dsp:cNvSpPr/>
      </dsp:nvSpPr>
      <dsp:spPr>
        <a:xfrm>
          <a:off x="0" y="17785"/>
          <a:ext cx="8178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3DCE5-B5A4-4631-B3C9-624B0EBB9F8E}">
      <dsp:nvSpPr>
        <dsp:cNvPr id="0" name=""/>
        <dsp:cNvSpPr/>
      </dsp:nvSpPr>
      <dsp:spPr>
        <a:xfrm>
          <a:off x="408940" y="0"/>
          <a:ext cx="2891549" cy="2511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97" tIns="0" rIns="216397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 dirty="0">
              <a:solidFill>
                <a:schemeClr val="tx1"/>
              </a:solidFill>
            </a:rPr>
            <a:t>地方政府</a:t>
          </a:r>
          <a:r>
            <a:rPr lang="en-US" altLang="en-US" sz="1100" b="0" kern="1200" dirty="0">
              <a:solidFill>
                <a:schemeClr val="tx1"/>
              </a:solidFill>
            </a:rPr>
            <a:t>/</a:t>
          </a:r>
          <a:r>
            <a:rPr lang="zh-CN" altLang="en-US" sz="1100" b="0" kern="1200" dirty="0">
              <a:solidFill>
                <a:schemeClr val="tx1"/>
              </a:solidFill>
            </a:rPr>
            <a:t>媒体评选的当地餐饮名店</a:t>
          </a:r>
        </a:p>
      </dsp:txBody>
      <dsp:txXfrm>
        <a:off x="421200" y="12260"/>
        <a:ext cx="2867029" cy="226619"/>
      </dsp:txXfrm>
    </dsp:sp>
    <dsp:sp modelId="{C4581B71-19D5-4371-B763-30EB0C710FFF}">
      <dsp:nvSpPr>
        <dsp:cNvPr id="0" name=""/>
        <dsp:cNvSpPr/>
      </dsp:nvSpPr>
      <dsp:spPr>
        <a:xfrm>
          <a:off x="0" y="568914"/>
          <a:ext cx="8178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4DDBA-75AF-4E45-A8CB-D5F266C1F559}">
      <dsp:nvSpPr>
        <dsp:cNvPr id="0" name=""/>
        <dsp:cNvSpPr/>
      </dsp:nvSpPr>
      <dsp:spPr>
        <a:xfrm>
          <a:off x="408940" y="547332"/>
          <a:ext cx="2891549" cy="2501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97" tIns="0" rIns="216397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 dirty="0">
              <a:solidFill>
                <a:schemeClr val="tx1"/>
              </a:solidFill>
            </a:rPr>
            <a:t>探索与地方政府联合发榜的新模式</a:t>
          </a:r>
        </a:p>
      </dsp:txBody>
      <dsp:txXfrm>
        <a:off x="421152" y="559544"/>
        <a:ext cx="2867125" cy="225745"/>
      </dsp:txXfrm>
    </dsp:sp>
    <dsp:sp modelId="{0E40881C-AC89-465B-AF8E-2832CE7EFB77}">
      <dsp:nvSpPr>
        <dsp:cNvPr id="0" name=""/>
        <dsp:cNvSpPr/>
      </dsp:nvSpPr>
      <dsp:spPr>
        <a:xfrm>
          <a:off x="0" y="1129915"/>
          <a:ext cx="81788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35665-D028-4C3D-8E25-8C11E263BEF0}">
      <dsp:nvSpPr>
        <dsp:cNvPr id="0" name=""/>
        <dsp:cNvSpPr/>
      </dsp:nvSpPr>
      <dsp:spPr>
        <a:xfrm>
          <a:off x="408940" y="1105719"/>
          <a:ext cx="2891549" cy="260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6397" tIns="0" rIns="216397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0" kern="1200" dirty="0">
              <a:solidFill>
                <a:schemeClr val="tx1"/>
              </a:solidFill>
            </a:rPr>
            <a:t>尝试联动电影</a:t>
          </a:r>
          <a:r>
            <a:rPr lang="en-US" altLang="en-US" sz="1100" b="0" kern="1200" dirty="0">
              <a:solidFill>
                <a:schemeClr val="tx1"/>
              </a:solidFill>
            </a:rPr>
            <a:t>IP</a:t>
          </a:r>
          <a:r>
            <a:rPr lang="zh-CN" altLang="en-US" sz="1100" b="0" kern="1200" dirty="0">
              <a:solidFill>
                <a:schemeClr val="tx1"/>
              </a:solidFill>
            </a:rPr>
            <a:t>，如</a:t>
          </a:r>
          <a:r>
            <a:rPr lang="en-US" altLang="zh-CN" sz="1100" b="0" kern="1200" dirty="0">
              <a:solidFill>
                <a:schemeClr val="tx1"/>
              </a:solidFill>
            </a:rPr>
            <a:t>《</a:t>
          </a:r>
          <a:r>
            <a:rPr lang="zh-CN" altLang="en-US" sz="1100" b="0" kern="1200" dirty="0">
              <a:solidFill>
                <a:schemeClr val="tx1"/>
              </a:solidFill>
            </a:rPr>
            <a:t>给阿嬷的情书</a:t>
          </a:r>
          <a:r>
            <a:rPr lang="en-US" altLang="zh-CN" sz="1100" b="0" kern="1200" dirty="0">
              <a:solidFill>
                <a:schemeClr val="tx1"/>
              </a:solidFill>
            </a:rPr>
            <a:t>》</a:t>
          </a:r>
          <a:endParaRPr lang="zh-CN" altLang="en-US" sz="1100" b="0" kern="1200" dirty="0">
            <a:solidFill>
              <a:schemeClr val="tx1"/>
            </a:solidFill>
          </a:endParaRPr>
        </a:p>
      </dsp:txBody>
      <dsp:txXfrm>
        <a:off x="421634" y="1118413"/>
        <a:ext cx="2866161" cy="2346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0.25797</cdr:x>
      <cdr:y>0.7369</cdr:y>
    </cdr:from>
    <cdr:to>
      <cdr:x>0.47838</cdr:x>
      <cdr:y>0.81925</cdr:y>
    </cdr:to>
    <cdr:sp macro="" textlink="">
      <cdr:nvSpPr>
        <cdr:cNvPr id="6" name="文本框 1">
          <a:extLst xmlns:a="http://schemas.openxmlformats.org/drawingml/2006/main">
            <a:ext uri="{FF2B5EF4-FFF2-40B4-BE49-F238E27FC236}">
              <a16:creationId xmlns:a16="http://schemas.microsoft.com/office/drawing/2014/main" id="{D61A4B08-5F71-1486-2A12-12C4F3A743B4}"/>
            </a:ext>
          </a:extLst>
        </cdr:cNvPr>
        <cdr:cNvSpPr txBox="1"/>
      </cdr:nvSpPr>
      <cdr:spPr>
        <a:xfrm xmlns:a="http://schemas.openxmlformats.org/drawingml/2006/main">
          <a:off x="1070219" y="2527669"/>
          <a:ext cx="914400" cy="28244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zh-CN" altLang="en-US" sz="800" i="1" u="sng" dirty="0">
            <a:solidFill>
              <a:schemeClr val="accent6">
                <a:lumMod val="50000"/>
              </a:schemeClr>
            </a:solidFill>
          </a:endParaRPr>
        </a:p>
      </cdr:txBody>
    </cdr:sp>
  </cdr:relSizeAnchor>
</c:userShape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55BC94BE-2FCD-E14D-BE46-75045743C492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2B85C933-74A5-4A4D-B3F1-D428FDB7A8F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8" tIns="47334" rIns="94668" bIns="47334" rtlCol="0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5"/>
          </p:nvPr>
        </p:nvSpPr>
        <p:spPr>
          <a:xfrm>
            <a:off x="402420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AD210192-B253-41D5-A493-1466DCB1FD7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4"/>
          </p:nvPr>
        </p:nvSpPr>
        <p:spPr>
          <a:xfrm>
            <a:off x="1" y="9721330"/>
            <a:ext cx="3078206" cy="513284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1" name="备注占位符 10"/>
          <p:cNvSpPr>
            <a:spLocks noGrp="1"/>
          </p:cNvSpPr>
          <p:nvPr>
            <p:ph type="body" sz="quarter" idx="3"/>
          </p:nvPr>
        </p:nvSpPr>
        <p:spPr>
          <a:xfrm>
            <a:off x="710739" y="4925235"/>
            <a:ext cx="5682588" cy="4029439"/>
          </a:xfrm>
          <a:prstGeom prst="rect">
            <a:avLst/>
          </a:prstGeom>
        </p:spPr>
        <p:txBody>
          <a:bodyPr vert="horz" lIns="94668" tIns="47334" rIns="94668" bIns="4733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  <a:sym typeface="+mn-lt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pPr defTabSz="946678">
              <a:defRPr/>
            </a:pPr>
            <a:endParaRPr lang="en-US" altLang="zh-CN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194F8-B18D-73D3-26FD-0B7E9BD98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DA68C0-7037-3203-2AD6-D8A9BE3CF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3C2985-3697-4B7C-1CC0-880097A1A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大单品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火锅：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鱼火锅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本地鸡窝火锅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椰子鸡火锅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猪肚鸡火锅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羊蝎子火锅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地方菜：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烤鱼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干锅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香锅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肉蟹煲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小龙虾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酸菜鱼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水煮鱼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</a:t>
            </a:r>
          </a:p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852C63-0268-1017-C6DB-AC45A25DA81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190600-7EB7-243B-DFD8-211DDCF51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3082B4-A457-6EEE-7B3E-252236DF7A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767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effectLst/>
              </a:rPr>
              <a:t>当前</a:t>
            </a:r>
            <a:r>
              <a:rPr lang="zh-CN" altLang="en-US" sz="1200" dirty="0">
                <a:effectLst/>
                <a:cs typeface="Arial" panose="020B0604020202020204" pitchFamily="34" charset="0"/>
              </a:rPr>
              <a:t>举措</a:t>
            </a:r>
            <a:r>
              <a:rPr lang="zh-CN" altLang="en-US" sz="1200" dirty="0">
                <a:effectLst/>
              </a:rPr>
              <a:t>：动线上，运营方式为主配置动线资源验证有效性。</a:t>
            </a:r>
            <a:r>
              <a:rPr lang="zh-CN" altLang="en-US" sz="1200" dirty="0">
                <a:effectLst/>
                <a:cs typeface="Arial" panose="020B0604020202020204" pitchFamily="34" charset="0"/>
              </a:rPr>
              <a:t>资产上，扩充高搜品类和旅游高流量</a:t>
            </a:r>
            <a:r>
              <a:rPr lang="zh-CN" altLang="en-US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区域，试点</a:t>
            </a:r>
            <a:r>
              <a:rPr lang="en-US" altLang="zh-CN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扩充约会、旅游场景榜及菜品榜</a:t>
            </a:r>
            <a:r>
              <a:rPr lang="zh-CN" altLang="en-US" sz="1200" dirty="0">
                <a:effectLst/>
              </a:rPr>
              <a:t>；</a:t>
            </a:r>
            <a:endParaRPr lang="en-US" altLang="zh-CN" sz="1200" dirty="0">
              <a:effectLst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200" b="1" dirty="0">
                <a:effectLst/>
              </a:rPr>
              <a:t>进一步举措：</a:t>
            </a:r>
            <a:r>
              <a:rPr lang="zh-CN" altLang="en-US" sz="1200" dirty="0">
                <a:effectLst/>
              </a:rPr>
              <a:t>动线上，结合资产映射及建设进展，联合产品提升覆盖。资产上，完善品类、地点、场景榜单需求，尝试建设菜品榜单；</a:t>
            </a:r>
          </a:p>
          <a:p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微博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：对应微博热搜的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热度值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，本质是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搜索量的加权指数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。微博官方没有完全公开算法，但已知它综合了：搜索次数、互动量（转发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评论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点赞）、阅读量，并做了时间衰减处理。比如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854445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 显示为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85.4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万，就是这个原始指数值。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抖音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：对应抖音热点榜的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热度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视频播放量、互动量（点赞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评论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分享）的综合指数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，同样有时间权重。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小红书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：对应小红书热搜的热度指数，综合了搜索量和笔记互动数据。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effectLst/>
              </a:rPr>
              <a:t>当前</a:t>
            </a:r>
            <a:r>
              <a:rPr lang="zh-CN" altLang="en-US" sz="1200" dirty="0">
                <a:effectLst/>
                <a:cs typeface="Arial" panose="020B0604020202020204" pitchFamily="34" charset="0"/>
              </a:rPr>
              <a:t>举措</a:t>
            </a:r>
            <a:r>
              <a:rPr lang="zh-CN" altLang="en-US" sz="1200" dirty="0">
                <a:effectLst/>
              </a:rPr>
              <a:t>：动线上，运营方式为主配置动线资源验证有效性。</a:t>
            </a:r>
            <a:r>
              <a:rPr lang="zh-CN" altLang="en-US" sz="1200" dirty="0">
                <a:effectLst/>
                <a:cs typeface="Arial" panose="020B0604020202020204" pitchFamily="34" charset="0"/>
              </a:rPr>
              <a:t>资产上，扩充高搜品类和旅游高流量</a:t>
            </a:r>
            <a:r>
              <a:rPr lang="zh-CN" altLang="en-US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区域，试点</a:t>
            </a:r>
            <a:r>
              <a:rPr lang="en-US" altLang="zh-CN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扩充约会、旅游场景榜及菜品榜</a:t>
            </a:r>
            <a:r>
              <a:rPr lang="zh-CN" altLang="en-US" sz="1200" dirty="0">
                <a:effectLst/>
              </a:rPr>
              <a:t>；</a:t>
            </a:r>
            <a:endParaRPr lang="en-US" altLang="zh-CN" sz="1200" dirty="0">
              <a:effectLst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200" b="1" dirty="0">
                <a:effectLst/>
              </a:rPr>
              <a:t>进一步举措：</a:t>
            </a:r>
            <a:r>
              <a:rPr lang="zh-CN" altLang="en-US" sz="1200" dirty="0">
                <a:effectLst/>
              </a:rPr>
              <a:t>动线上，结合资产映射及建设进展，联合产品提升覆盖。资产上，完善品类、地点、场景榜单需求，尝试建设菜品榜单；</a:t>
            </a:r>
          </a:p>
          <a:p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微博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：对应微博热搜的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热度值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，本质是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搜索量的加权指数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。微博官方没有完全公开算法，但已知它综合了：搜索次数、互动量（转发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评论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点赞）、阅读量，并做了时间衰减处理。比如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854445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 显示为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85.4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万，就是这个原始指数值。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抖音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：对应抖音热点榜的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热度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，是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视频播放量、互动量（点赞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评论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分享）的综合指数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，同样有时间权重。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小红书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：对应小红书热搜的热度指数，综合了搜索量和笔记互动数据。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460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913C-67E9-B67F-E8BF-35045794E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A1A166-EB4E-F2A1-3B2C-700CFD36F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EB4E4E-0A32-642F-7FD3-C68A0A5EE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dirty="0"/>
              <a:t>① 对</a:t>
            </a:r>
            <a:r>
              <a:rPr kumimoji="1" lang="en-US" altLang="zh-CN" sz="900" dirty="0"/>
              <a:t>top5000</a:t>
            </a:r>
            <a:r>
              <a:rPr kumimoji="1" lang="zh-CN" altLang="en-US" sz="900" dirty="0"/>
              <a:t>词针对场景进行分类</a:t>
            </a:r>
            <a:endParaRPr kumimoji="1" lang="en-US" altLang="zh-CN" sz="9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dirty="0"/>
              <a:t>② 分类后识别出与场景属性极强的搜索词，看规模和需求满足出分布</a:t>
            </a:r>
            <a:endParaRPr kumimoji="1" lang="en-US" altLang="zh-CN" sz="9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dirty="0"/>
              <a:t>③ 基于上述分布在找小规模小满足，小规模高满足，大规模大满足的搜索词补全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56D5EE-9C5D-FE9B-6CD6-01F619B2DD1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A65CD2-F446-B23D-39EF-2FAA1313D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A7FBE4-7D73-4138-01F0-365E63C1C4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165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AF646-BB0E-3CEC-191A-29805D037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B01885-2DCC-8719-98E6-491C9A3CD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03106E-95FA-9889-6A3F-BD80B845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店名</a:t>
            </a:r>
            <a:r>
              <a:rPr lang="en-US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/</a:t>
            </a:r>
            <a:r>
              <a:rPr lang="zh-CN" alt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品牌</a:t>
            </a:r>
            <a:r>
              <a:rPr lang="en-US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+</a:t>
            </a:r>
            <a:r>
              <a:rPr lang="zh-CN" alt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菜品都明确时需求相对明确完整</a:t>
            </a:r>
            <a:endParaRPr lang="en-US" altLang="zh-CN" sz="18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在部分条件明确和泛需求场景下，存在</a:t>
            </a:r>
            <a:r>
              <a:rPr lang="zh-CN" altLang="zh-C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决策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需求。榜单主要用户承接找店决策需求。</a:t>
            </a:r>
            <a:endParaRPr lang="zh-CN" altLang="zh-CN" sz="1800" dirty="0">
              <a:effectLst/>
            </a:endParaRPr>
          </a:p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0866AE-522C-C95D-68BF-A9E6C1F7AF4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C1EF78-9860-81AE-75E1-CE16C6DFF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71D461-9A23-6325-5672-40632B7C97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105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4EDC4-07BA-BC16-51A0-F6115985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ECD10F-09E8-DACF-5054-E59DF2B05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06A030-40C7-CDB5-6C90-55F915C59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29CE8-E625-98AF-C0C8-A6F09D9A9E7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981C28-2998-051E-3927-873F9E93C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66D10E-A22C-9AED-04FF-BB6473A813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4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409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2B027-3CB1-E7CA-B223-A06C7D38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51DB86-43DA-3BF6-F021-493657ACA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652103-3ECD-4794-3ADF-41C5EBD87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10854-3A59-0659-9AA1-23CE6C2D26E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634419-3BD9-6C45-8910-58ABBCFEB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5396F1-6E0D-EE3B-A06C-3F8E8FE380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222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7159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746FE-E82E-4802-B4DC-50B2A1E08120}" type="slidenum">
              <a:rPr lang="zh-CN" altLang="en-US" smtClean="0"/>
              <a:t>13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9933F-2D8C-C362-7625-C4C71DF70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DE096F-9641-3F50-A4E3-C4C70E29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E9F42B-B99C-2634-04A7-42951A011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突出价值、规则弱化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补充数据：覆盖提升，解决了局限性，提供例子</a:t>
            </a: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To</a:t>
            </a:r>
            <a:r>
              <a:rPr lang="zh-CN" altLang="en-US" dirty="0">
                <a:effectLst/>
              </a:rPr>
              <a:t>平台</a:t>
            </a:r>
            <a:endParaRPr lang="en-US" altLang="zh-CN" dirty="0">
              <a:effectLst/>
            </a:endParaRPr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7B9F0-440F-2278-CEDF-9DCE649AB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0100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9933F-2D8C-C362-7625-C4C71DF70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DE096F-9641-3F50-A4E3-C4C70E29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E9F42B-B99C-2634-04A7-42951A011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突出价值、规则弱化</a:t>
            </a:r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补充数据：覆盖提升，解决了局限性，提供例子</a:t>
            </a: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To</a:t>
            </a:r>
            <a:r>
              <a:rPr lang="zh-CN" altLang="en-US" dirty="0">
                <a:effectLst/>
              </a:rPr>
              <a:t>平台</a:t>
            </a:r>
            <a:endParaRPr lang="en-US" altLang="zh-CN" dirty="0">
              <a:effectLst/>
            </a:endParaRPr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7B9F0-440F-2278-CEDF-9DCE649AB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9812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落地页</a:t>
            </a:r>
            <a:r>
              <a:rPr kumimoji="1" lang="en-US" altLang="zh-CN" dirty="0"/>
              <a:t>7</a:t>
            </a:r>
            <a:r>
              <a:rPr kumimoji="1" lang="zh-CN" altLang="en-US" dirty="0"/>
              <a:t>日</a:t>
            </a:r>
            <a:r>
              <a:rPr kumimoji="1" lang="en-US" altLang="zh-CN" dirty="0" err="1"/>
              <a:t>gtv</a:t>
            </a:r>
            <a:r>
              <a:rPr kumimoji="1" lang="zh-CN" altLang="en-US" dirty="0"/>
              <a:t> </a:t>
            </a:r>
            <a:r>
              <a:rPr lang="en-US" altLang="zh-CN" dirty="0">
                <a:effectLst/>
              </a:rPr>
              <a:t>91875.15</a:t>
            </a:r>
            <a:r>
              <a:rPr kumimoji="1" lang="zh-CN" altLang="en-US" dirty="0">
                <a:effectLst/>
              </a:rPr>
              <a:t>元</a:t>
            </a:r>
            <a:endParaRPr lang="en-US" altLang="zh-CN" dirty="0">
              <a:effectLst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3961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剔除下榜的商户补充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背景、目标、策略、测算效果、预期</a:t>
            </a:r>
            <a:r>
              <a:rPr lang="zh-CN" altLang="en-US" sz="1200" dirty="0">
                <a:highlight>
                  <a:srgbClr val="FFFF00"/>
                </a:highlight>
              </a:rPr>
              <a:t>上线时间</a:t>
            </a:r>
            <a:endParaRPr lang="en-US" altLang="zh-CN" sz="1200" dirty="0">
              <a:highlight>
                <a:srgbClr val="FFFF00"/>
              </a:highlight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BA940-0F17-EA99-BE9B-A5C0D82C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C2108F-3B22-32DF-CA1A-692493EE9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5C5DEF-FB91-154D-2108-ED1F65443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CF409-86E1-37D9-99E2-D47BB5652D3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A2BCBC-C230-D0C9-231B-329954285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C54A68-AB88-944A-5A13-342E0E6068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83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3852-62FC-E980-95CA-6BCA8E3FD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9990B2-C691-8BA0-8146-ACD4DF4B6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A2BC5B-9E25-2A42-4B23-B76D88D1B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在部分条件明确和泛需求场景下，存在</a:t>
            </a:r>
            <a:r>
              <a:rPr lang="zh-CN" altLang="zh-C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决策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需求。榜单主要用户承接找店决策需求。</a:t>
            </a:r>
            <a:endParaRPr lang="zh-CN" altLang="zh-CN" sz="1800" dirty="0">
              <a:effectLst/>
            </a:endParaRPr>
          </a:p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5ABA39-E2C7-6636-99E5-C614251D530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48E829-D8C9-16C1-7009-694D56BAD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7832B-821A-E93F-3EDF-EBCB7703ED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60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913C-67E9-B67F-E8BF-35045794E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A1A166-EB4E-F2A1-3B2C-700CFD36F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EB4E4E-0A32-642F-7FD3-C68A0A5EE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大单品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火锅：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鱼火锅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本地鸡窝火锅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椰子鸡火锅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猪肚鸡火锅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羊蝎子火锅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地方菜：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烤鱼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干锅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香锅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肉蟹煲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小龙虾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','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酸菜鱼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/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水煮鱼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'</a:t>
            </a:r>
          </a:p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56D5EE-9C5D-FE9B-6CD6-01F619B2DD1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A65CD2-F446-B23D-39EF-2FAA1313D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A7FBE4-7D73-4138-01F0-365E63C1C4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7546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3DDD-C459-1BFA-3ED4-E00F41171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48980F-C4D4-B5FB-90DD-18C3C95F6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3C049B-E4D7-0BB1-2BC9-CCDCF1527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在部分条件明确和泛需求场景下，存在</a:t>
            </a:r>
            <a:r>
              <a:rPr lang="zh-CN" altLang="zh-CN" sz="18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决策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楷体" panose="02010609060101010101" pitchFamily="49" charset="-122"/>
                <a:cs typeface="+mn-cs"/>
              </a:rPr>
              <a:t>需求。榜单主要用户承接找店决策需求。</a:t>
            </a:r>
            <a:endParaRPr lang="zh-CN" altLang="zh-CN" sz="1800" dirty="0">
              <a:effectLst/>
            </a:endParaRPr>
          </a:p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5770DB-E059-E73F-89FB-B74506C12F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1D342-85A2-F647-A197-C018D69477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C60047-5FB2-8327-B9A4-8F44CC7031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934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4EDC4-07BA-BC16-51A0-F6115985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ECD10F-09E8-DACF-5054-E59DF2B05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06A030-40C7-CDB5-6C90-55F915C59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29CE8-E625-98AF-C0C8-A6F09D9A9E7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981C28-2998-051E-3927-873F9E93C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66D10E-A22C-9AED-04FF-BB6473A813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689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740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2B027-3CB1-E7CA-B223-A06C7D38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51DB86-43DA-3BF6-F021-493657ACA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652103-3ECD-4794-3ADF-41C5EBD87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10854-3A59-0659-9AA1-23CE6C2D26E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634419-3BD9-6C45-8910-58ABBCFEB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5396F1-6E0D-EE3B-A06C-3F8E8FE380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192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92213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00467-F7A3-AB2E-EBFA-91A809BF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5ECC27-6A9F-4D21-AAF9-559D0FFC5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09B739-8CFC-84B5-7DCB-488081F83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落地页</a:t>
            </a:r>
            <a:r>
              <a:rPr kumimoji="1" lang="en-US" altLang="zh-CN" dirty="0"/>
              <a:t>7</a:t>
            </a:r>
            <a:r>
              <a:rPr kumimoji="1" lang="zh-CN" altLang="en-US" dirty="0"/>
              <a:t>日</a:t>
            </a:r>
            <a:r>
              <a:rPr kumimoji="1" lang="en-US" altLang="zh-CN" dirty="0" err="1"/>
              <a:t>gtv</a:t>
            </a:r>
            <a:r>
              <a:rPr kumimoji="1" lang="zh-CN" altLang="en-US" dirty="0"/>
              <a:t> </a:t>
            </a:r>
            <a:r>
              <a:rPr lang="en-US" altLang="zh-CN" dirty="0">
                <a:effectLst/>
              </a:rPr>
              <a:t>91875.15</a:t>
            </a:r>
            <a:r>
              <a:rPr kumimoji="1" lang="zh-CN" altLang="en-US" dirty="0">
                <a:effectLst/>
              </a:rPr>
              <a:t>元</a:t>
            </a:r>
            <a:endParaRPr lang="en-US" altLang="zh-CN" dirty="0">
              <a:effectLst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6107B5-B20D-9657-E96E-33CACE6EAF7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1EF685-C500-2515-7387-C9D8C880A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DD0587-D9E0-8EF0-42B8-EFFA477CCA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188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87455-E7E7-59B2-F52D-B2E3518B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861EDC-165B-A300-5380-40367D405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6A039C-3BE0-6FF3-E17C-3A29E7DD0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阶段一：洞察发现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阶段二：榜单生产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阶段三：内容理解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阶段四：投放上线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阶段五：效果复盘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189F69-7F5B-85B4-4066-25844409F63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9C8AF3-7736-8B11-012A-C5870289B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9057A6-2DFE-46EB-4AEF-03CA64080A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3437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阶段一：洞察发现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阶段二：榜单生产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阶段三：内容理解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阶段四：投放上线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阶段五：效果复盘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4540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93DCD-99D1-E0FC-A9BF-C2298E0E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13B516-AB38-AED8-9144-CAFF93829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7455C5-205B-C5AF-C13C-37CCAD1A4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场景补充：烟火榜、聚会榜（生日聚会</a:t>
            </a:r>
            <a:r>
              <a:rPr lang="en-US" altLang="zh-CN" dirty="0"/>
              <a:t>&amp;</a:t>
            </a:r>
            <a:r>
              <a:rPr lang="zh-CN" altLang="en-US" dirty="0"/>
              <a:t>日常小聚）、亲子榜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rgbClr val="444444"/>
                </a:solidFill>
                <a:latin typeface="+mj-ea"/>
                <a:ea typeface="+mn-ea"/>
                <a:cs typeface="Arial" pitchFamily="34" charset="-120"/>
                <a:sym typeface="+mn-lt"/>
              </a:rPr>
              <a:t>后续计划①适当放宽低线城市成榜门槛，提升榜单城市覆盖率 ②针对旅游场景用户需求长期稳定投放异地榜单做承接优化。</a:t>
            </a:r>
            <a:endParaRPr lang="en-US" altLang="zh-CN" sz="1200" kern="1200" dirty="0">
              <a:solidFill>
                <a:srgbClr val="444444"/>
              </a:solidFill>
              <a:latin typeface="+mj-ea"/>
              <a:ea typeface="+mn-ea"/>
              <a:cs typeface="Arial" pitchFamily="34" charset="-120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入选门槛：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门店在上一周榜单统计时间内处于营业中没有停业歇业等行为，近</a:t>
            </a:r>
            <a:r>
              <a:rPr lang="en-US" altLang="zh-CN" dirty="0">
                <a:effectLst/>
              </a:rPr>
              <a:t>180</a:t>
            </a:r>
            <a:r>
              <a:rPr lang="zh-CN" altLang="en-US" dirty="0">
                <a:effectLst/>
              </a:rPr>
              <a:t>天</a:t>
            </a:r>
            <a:r>
              <a:rPr lang="en-US" altLang="zh-CN" dirty="0">
                <a:effectLst/>
              </a:rPr>
              <a:t>6</a:t>
            </a:r>
            <a:r>
              <a:rPr lang="zh-CN" altLang="en-US" dirty="0">
                <a:effectLst/>
              </a:rPr>
              <a:t>次以下违规记录或</a:t>
            </a:r>
            <a:r>
              <a:rPr lang="en-US" altLang="zh-CN" dirty="0">
                <a:effectLst/>
              </a:rPr>
              <a:t>2</a:t>
            </a:r>
            <a:r>
              <a:rPr lang="zh-CN" altLang="en-US" dirty="0">
                <a:effectLst/>
              </a:rPr>
              <a:t>次以下重大经营风险。近一年无重大舆情。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美团侧总评分：</a:t>
            </a:r>
            <a:r>
              <a:rPr lang="en" altLang="zh-CN" dirty="0">
                <a:effectLst/>
              </a:rPr>
              <a:t>SAB</a:t>
            </a:r>
            <a:r>
              <a:rPr lang="zh-CN" altLang="en-US" dirty="0">
                <a:effectLst/>
              </a:rPr>
              <a:t>级城市 </a:t>
            </a:r>
            <a:r>
              <a:rPr lang="en-US" altLang="zh-CN" dirty="0">
                <a:effectLst/>
              </a:rPr>
              <a:t>&gt;=4.4</a:t>
            </a:r>
            <a:r>
              <a:rPr lang="zh-CN" altLang="en-US" dirty="0">
                <a:effectLst/>
              </a:rPr>
              <a:t>分；</a:t>
            </a:r>
            <a:r>
              <a:rPr lang="en" altLang="zh-CN" dirty="0">
                <a:effectLst/>
              </a:rPr>
              <a:t>C</a:t>
            </a:r>
            <a:r>
              <a:rPr lang="zh-CN" altLang="en-US" dirty="0">
                <a:effectLst/>
              </a:rPr>
              <a:t>级及以下城市 ≥</a:t>
            </a:r>
            <a:r>
              <a:rPr lang="en-US" altLang="zh-CN" dirty="0">
                <a:effectLst/>
              </a:rPr>
              <a:t>4.0</a:t>
            </a:r>
            <a:r>
              <a:rPr lang="zh-CN" altLang="en-US" dirty="0">
                <a:effectLst/>
              </a:rPr>
              <a:t>分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评论条数：</a:t>
            </a:r>
            <a:r>
              <a:rPr lang="en-US" altLang="zh-CN" dirty="0">
                <a:effectLst/>
              </a:rPr>
              <a:t>SABC≥20</a:t>
            </a:r>
            <a:r>
              <a:rPr lang="zh-CN" altLang="en-US" dirty="0">
                <a:effectLst/>
              </a:rPr>
              <a:t>条，</a:t>
            </a:r>
            <a:r>
              <a:rPr lang="en-US" altLang="zh-CN" dirty="0">
                <a:effectLst/>
              </a:rPr>
              <a:t>D</a:t>
            </a:r>
            <a:r>
              <a:rPr lang="zh-CN" altLang="en-US" dirty="0">
                <a:effectLst/>
              </a:rPr>
              <a:t>级及以下城市 </a:t>
            </a:r>
            <a:r>
              <a:rPr lang="en-US" altLang="zh-CN" dirty="0">
                <a:effectLst/>
              </a:rPr>
              <a:t>≥10</a:t>
            </a:r>
            <a:r>
              <a:rPr lang="zh-CN" altLang="en-US" dirty="0">
                <a:effectLst/>
              </a:rPr>
              <a:t>条；所有城市近</a:t>
            </a:r>
            <a:r>
              <a:rPr lang="en-US" altLang="zh-CN" dirty="0">
                <a:effectLst/>
              </a:rPr>
              <a:t>30</a:t>
            </a:r>
            <a:r>
              <a:rPr lang="zh-CN" altLang="en-US" dirty="0">
                <a:effectLst/>
              </a:rPr>
              <a:t>天</a:t>
            </a:r>
            <a:r>
              <a:rPr lang="en-US" altLang="zh-CN" dirty="0">
                <a:effectLst/>
              </a:rPr>
              <a:t>≥1</a:t>
            </a:r>
            <a:r>
              <a:rPr lang="zh-CN" altLang="en-US" dirty="0">
                <a:effectLst/>
              </a:rPr>
              <a:t>条</a:t>
            </a: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近</a:t>
            </a:r>
            <a:r>
              <a:rPr lang="en-US" altLang="zh-CN" dirty="0">
                <a:effectLst/>
              </a:rPr>
              <a:t>30</a:t>
            </a:r>
            <a:r>
              <a:rPr lang="zh-CN" altLang="en-US" dirty="0">
                <a:effectLst/>
              </a:rPr>
              <a:t>天内负向评价总量占比低于</a:t>
            </a:r>
            <a:r>
              <a:rPr lang="en-US" altLang="zh-CN" dirty="0">
                <a:effectLst/>
              </a:rPr>
              <a:t>10%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人均价：</a:t>
            </a:r>
            <a:r>
              <a:rPr lang="en" altLang="zh-CN" dirty="0">
                <a:effectLst/>
              </a:rPr>
              <a:t>SA&gt;=120</a:t>
            </a:r>
            <a:r>
              <a:rPr lang="zh-CN" altLang="en-US" dirty="0">
                <a:effectLst/>
              </a:rPr>
              <a:t>元 </a:t>
            </a:r>
            <a:r>
              <a:rPr lang="en" altLang="zh-CN" dirty="0">
                <a:effectLst/>
              </a:rPr>
              <a:t>BC&gt;=75</a:t>
            </a:r>
            <a:r>
              <a:rPr lang="zh-CN" altLang="en-US" dirty="0">
                <a:effectLst/>
              </a:rPr>
              <a:t>元 </a:t>
            </a:r>
            <a:r>
              <a:rPr lang="en" altLang="zh-CN" dirty="0">
                <a:effectLst/>
              </a:rPr>
              <a:t>D</a:t>
            </a:r>
            <a:r>
              <a:rPr lang="zh-CN" altLang="en-US" dirty="0">
                <a:effectLst/>
              </a:rPr>
              <a:t>及以下</a:t>
            </a:r>
            <a:r>
              <a:rPr lang="en-US" altLang="zh-CN" dirty="0">
                <a:effectLst/>
              </a:rPr>
              <a:t>&gt;=60</a:t>
            </a:r>
            <a:r>
              <a:rPr lang="zh-CN" altLang="en-US" dirty="0">
                <a:effectLst/>
              </a:rPr>
              <a:t>元（未限制）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进阶卡控：</a:t>
            </a:r>
            <a:r>
              <a:rPr lang="en-US" altLang="zh-CN" dirty="0">
                <a:effectLst/>
              </a:rPr>
              <a:t>SAB</a:t>
            </a:r>
            <a:r>
              <a:rPr lang="zh-CN" altLang="en-US" dirty="0">
                <a:effectLst/>
              </a:rPr>
              <a:t>浪漫氛围和菜品美观要求过</a:t>
            </a:r>
            <a:r>
              <a:rPr lang="en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的评论数量</a:t>
            </a:r>
            <a:r>
              <a:rPr lang="en-US" altLang="zh-CN" dirty="0">
                <a:effectLst/>
              </a:rPr>
              <a:t>&gt;=3</a:t>
            </a:r>
            <a:r>
              <a:rPr lang="zh-CN" altLang="en-US" dirty="0">
                <a:effectLst/>
              </a:rPr>
              <a:t>；</a:t>
            </a:r>
            <a:r>
              <a:rPr lang="en-US" altLang="zh-CN" dirty="0">
                <a:effectLst/>
              </a:rPr>
              <a:t>C</a:t>
            </a:r>
            <a:r>
              <a:rPr lang="zh-CN" altLang="en-US" dirty="0">
                <a:effectLst/>
              </a:rPr>
              <a:t>及以下浪漫氛围评论</a:t>
            </a:r>
            <a:r>
              <a:rPr lang="en-US" altLang="zh-CN" dirty="0">
                <a:effectLst/>
              </a:rPr>
              <a:t>&gt;0</a:t>
            </a:r>
            <a:r>
              <a:rPr lang="zh-CN" altLang="en-US" dirty="0">
                <a:effectLst/>
              </a:rPr>
              <a:t>，浪漫氛围和菜品美观评论数</a:t>
            </a:r>
            <a:r>
              <a:rPr lang="en-US" altLang="zh-CN" dirty="0">
                <a:effectLst/>
              </a:rPr>
              <a:t>&lt;=3</a:t>
            </a:r>
            <a:r>
              <a:rPr lang="zh-CN" altLang="en-US" dirty="0">
                <a:effectLst/>
              </a:rPr>
              <a:t>则对应分数为</a:t>
            </a:r>
            <a:r>
              <a:rPr lang="en-US" altLang="zh-CN" dirty="0">
                <a:effectLst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effectLst/>
              </a:rPr>
              <a:t>约会总分 </a:t>
            </a:r>
            <a:r>
              <a:rPr lang="en-US" altLang="zh-CN" dirty="0">
                <a:effectLst/>
              </a:rPr>
              <a:t>= </a:t>
            </a:r>
            <a:r>
              <a:rPr lang="zh-CN" altLang="en-US" dirty="0">
                <a:effectLst/>
              </a:rPr>
              <a:t>主题契合度（</a:t>
            </a:r>
            <a:r>
              <a:rPr lang="en-US" altLang="zh-CN" dirty="0">
                <a:effectLst/>
              </a:rPr>
              <a:t>80%</a:t>
            </a:r>
            <a:r>
              <a:rPr lang="zh-CN" altLang="en-US" dirty="0">
                <a:effectLst/>
              </a:rPr>
              <a:t>）</a:t>
            </a:r>
            <a:r>
              <a:rPr lang="en-US" altLang="zh-CN" dirty="0">
                <a:effectLst/>
              </a:rPr>
              <a:t>+ </a:t>
            </a:r>
            <a:r>
              <a:rPr lang="zh-CN" altLang="en-US" dirty="0">
                <a:effectLst/>
              </a:rPr>
              <a:t>用户认可度（</a:t>
            </a:r>
            <a:r>
              <a:rPr lang="en-US" altLang="zh-CN" dirty="0">
                <a:effectLst/>
              </a:rPr>
              <a:t>3.5%</a:t>
            </a:r>
            <a:r>
              <a:rPr lang="zh-CN" altLang="en-US" dirty="0">
                <a:effectLst/>
              </a:rPr>
              <a:t>）</a:t>
            </a:r>
            <a:r>
              <a:rPr lang="en-US" altLang="zh-CN" dirty="0">
                <a:effectLst/>
              </a:rPr>
              <a:t>+ </a:t>
            </a:r>
            <a:r>
              <a:rPr lang="zh-CN" altLang="en-US" dirty="0">
                <a:effectLst/>
              </a:rPr>
              <a:t>经营指标（</a:t>
            </a:r>
            <a:r>
              <a:rPr lang="en-US" altLang="zh-CN" dirty="0">
                <a:effectLst/>
              </a:rPr>
              <a:t>8.5%</a:t>
            </a:r>
            <a:r>
              <a:rPr lang="zh-CN" altLang="en-US" dirty="0">
                <a:effectLst/>
              </a:rPr>
              <a:t>）</a:t>
            </a:r>
            <a:r>
              <a:rPr lang="en-US" altLang="zh-CN" dirty="0">
                <a:effectLst/>
              </a:rPr>
              <a:t>+ </a:t>
            </a:r>
            <a:r>
              <a:rPr lang="zh-CN" altLang="en-US" dirty="0">
                <a:effectLst/>
              </a:rPr>
              <a:t>门店热度（</a:t>
            </a:r>
            <a:r>
              <a:rPr lang="en-US" altLang="zh-CN" dirty="0">
                <a:effectLst/>
              </a:rPr>
              <a:t>8%</a:t>
            </a:r>
            <a:r>
              <a:rPr lang="zh-CN" altLang="en-US" dirty="0">
                <a:effectLst/>
              </a:rPr>
              <a:t>）</a:t>
            </a:r>
          </a:p>
          <a:p>
            <a:r>
              <a:rPr lang="en-US" altLang="zh-CN" dirty="0">
                <a:effectLst/>
              </a:rPr>
              <a:t>①</a:t>
            </a:r>
            <a:r>
              <a:rPr lang="zh-CN" altLang="en-US" dirty="0">
                <a:effectLst/>
              </a:rPr>
              <a:t>主题契合度：</a:t>
            </a:r>
            <a:endParaRPr lang="en-US" altLang="zh-CN" dirty="0">
              <a:effectLst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结构化规则（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20%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）：排队、预定、包间、停车位、双人套餐、黑珍珠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评论挖掘（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60%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）：私密性、浪漫、菜品美观、菜品口味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②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用户认可度：近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30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天好评数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/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近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30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天评价总数，归一化统计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r>
              <a:rPr lang="en-US" altLang="zh-CN" dirty="0">
                <a:effectLst/>
              </a:rPr>
              <a:t>③</a:t>
            </a:r>
            <a:r>
              <a:rPr lang="zh-CN" altLang="en-US" dirty="0">
                <a:effectLst/>
              </a:rPr>
              <a:t>经营指标：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门店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GTV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4.5%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）、核销订单量（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4%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④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门店热度：线上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POI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意向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UV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4%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）、线下地图到访</a:t>
            </a:r>
            <a:r>
              <a:rPr lang="e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UV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4%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+mn-lt"/>
              </a:rPr>
              <a:t>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+mn-lt"/>
            </a:endParaRPr>
          </a:p>
          <a:p>
            <a:endParaRPr lang="zh-CN" altLang="en-US" b="0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784C76-8B3F-DDD8-E388-B945BCF91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2391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0E8D-9B0E-36A9-1035-36C380A5F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4B1C8B-EF44-E254-CC0D-450F27426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304615-AE29-F202-9E0D-F5AFBC3DE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阶段一：洞察发现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阶段二：榜单生产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阶段三：内容理解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阶段四：投放上线</a:t>
            </a:r>
            <a:br>
              <a:rPr lang="zh-CN" altLang="en-US" dirty="0">
                <a:effectLst/>
              </a:rPr>
            </a:br>
            <a:r>
              <a:rPr lang="zh-CN" altLang="en-US" dirty="0">
                <a:effectLst/>
              </a:rPr>
              <a:t>阶段五：效果复盘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07BDC-A804-A3C8-D512-3CA9C54A310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D08E20-E2E4-BC43-9479-D71B4713CF91}" type="datetime1">
              <a:rPr kumimoji="1" lang="zh-CN" altLang="en-US" smtClean="0"/>
              <a:t>2026/6/13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FCD254-3DD2-F0A3-05F1-310615A8A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210192-B253-41D5-A493-1466DCB1FD7D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BA53D8-AED7-7BAB-6B12-88E0152045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1500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305C-8DFF-5265-D10A-3A259E3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B4B0D0-A360-E409-75FF-34CA829B4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53A69-7B57-2784-53A7-A5BD093B8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 fontAlgn="ctr">
              <a:defRPr/>
            </a:pPr>
            <a:r>
              <a:rPr lang="zh-CN" altLang="en-US" sz="1100" dirty="0"/>
              <a:t>共</a:t>
            </a:r>
            <a:r>
              <a:rPr lang="en-US" altLang="zh-CN" sz="1100" dirty="0"/>
              <a:t>1187</a:t>
            </a:r>
            <a:r>
              <a:rPr lang="zh-CN" altLang="en-US" sz="1100" dirty="0"/>
              <a:t>个城市（高线</a:t>
            </a:r>
            <a:r>
              <a:rPr lang="en-US" altLang="zh-CN" sz="1100" dirty="0"/>
              <a:t>210</a:t>
            </a:r>
            <a:r>
              <a:rPr lang="zh-CN" altLang="en-US" sz="1100" dirty="0"/>
              <a:t>个，中低线</a:t>
            </a:r>
            <a:r>
              <a:rPr lang="en-US" altLang="zh-CN" sz="1100" dirty="0"/>
              <a:t>977</a:t>
            </a:r>
            <a:r>
              <a:rPr lang="zh-CN" altLang="en-US" sz="1100" dirty="0"/>
              <a:t>个），美团：点评到餐</a:t>
            </a:r>
            <a:r>
              <a:rPr lang="en-US" altLang="zh-CN" sz="1100" dirty="0"/>
              <a:t>DAU</a:t>
            </a:r>
            <a:r>
              <a:rPr lang="zh-CN" altLang="en-US" sz="1100" dirty="0"/>
              <a:t>占比</a:t>
            </a:r>
            <a:r>
              <a:rPr lang="en-US" altLang="zh-CN" sz="1100" dirty="0"/>
              <a:t>89%</a:t>
            </a:r>
            <a:r>
              <a:rPr lang="zh-CN" altLang="en-US" sz="1100" dirty="0"/>
              <a:t>：</a:t>
            </a:r>
            <a:r>
              <a:rPr lang="en-US" altLang="zh-CN" sz="1100" dirty="0"/>
              <a:t>11%</a:t>
            </a:r>
            <a:r>
              <a:rPr lang="zh-CN" altLang="en-US" sz="1100" dirty="0"/>
              <a:t>。高线</a:t>
            </a:r>
            <a:r>
              <a:rPr lang="en-US" altLang="zh-CN" sz="1100" dirty="0"/>
              <a:t>2</a:t>
            </a:r>
            <a:r>
              <a:rPr lang="zh-CN" altLang="en-US" sz="1100" dirty="0"/>
              <a:t>：</a:t>
            </a:r>
            <a:r>
              <a:rPr lang="en-US" altLang="zh-CN" sz="1100" dirty="0"/>
              <a:t>1</a:t>
            </a:r>
            <a:r>
              <a:rPr lang="zh-CN" altLang="en-US" sz="1100" dirty="0"/>
              <a:t>。</a:t>
            </a:r>
            <a:endParaRPr lang="en-US" altLang="zh-CN" sz="800" b="1" dirty="0">
              <a:latin typeface="+mn-ea"/>
            </a:endParaRPr>
          </a:p>
          <a:p>
            <a:pPr defTabSz="946678" fontAlgn="ctr">
              <a:defRPr/>
            </a:pPr>
            <a:r>
              <a:rPr lang="en-US" altLang="zh-CN" sz="800" b="1" dirty="0">
                <a:latin typeface="+mn-ea"/>
              </a:rPr>
              <a:t>1. </a:t>
            </a:r>
            <a:r>
              <a:rPr lang="zh-CN" altLang="en-US" sz="800" b="1" dirty="0">
                <a:latin typeface="+mn-ea"/>
              </a:rPr>
              <a:t>荣誉评审：</a:t>
            </a:r>
            <a:r>
              <a:rPr lang="zh-CN" altLang="en-US" sz="800" dirty="0">
                <a:latin typeface="+mn-ea"/>
              </a:rPr>
              <a:t>黑珍珠</a:t>
            </a:r>
            <a:r>
              <a:rPr lang="en-US" altLang="zh-CN" sz="800" dirty="0">
                <a:latin typeface="+mn-ea"/>
              </a:rPr>
              <a:t>32</a:t>
            </a:r>
            <a:r>
              <a:rPr lang="zh-CN" altLang="en-US" sz="800" dirty="0">
                <a:latin typeface="+mn-ea"/>
              </a:rPr>
              <a:t>城</a:t>
            </a:r>
            <a:r>
              <a:rPr lang="en-US" altLang="zh-CN" sz="800" dirty="0">
                <a:latin typeface="+mn-ea"/>
              </a:rPr>
              <a:t>263</a:t>
            </a:r>
            <a:r>
              <a:rPr lang="zh-CN" altLang="en-US" sz="800" dirty="0">
                <a:latin typeface="+mn-ea"/>
              </a:rPr>
              <a:t>家（</a:t>
            </a:r>
            <a:r>
              <a:rPr lang="en-US" altLang="zh-CN" sz="800" dirty="0">
                <a:latin typeface="+mn-ea"/>
              </a:rPr>
              <a:t>500-700+</a:t>
            </a:r>
            <a:r>
              <a:rPr lang="zh-CN" altLang="en-US" sz="800" dirty="0">
                <a:latin typeface="+mn-ea"/>
              </a:rPr>
              <a:t>），必吃榜</a:t>
            </a:r>
            <a:r>
              <a:rPr lang="en-US" altLang="zh-CN" sz="800" dirty="0">
                <a:latin typeface="+mn-ea"/>
              </a:rPr>
              <a:t>144</a:t>
            </a:r>
            <a:r>
              <a:rPr lang="zh-CN" altLang="en-US" sz="800" dirty="0">
                <a:latin typeface="+mn-ea"/>
              </a:rPr>
              <a:t>城（境内</a:t>
            </a:r>
            <a:r>
              <a:rPr lang="en-US" altLang="zh-CN" sz="800" dirty="0">
                <a:latin typeface="+mn-ea"/>
              </a:rPr>
              <a:t>116</a:t>
            </a:r>
            <a:r>
              <a:rPr lang="zh-CN" altLang="en-US" sz="800" dirty="0">
                <a:latin typeface="+mn-ea"/>
              </a:rPr>
              <a:t>城</a:t>
            </a:r>
            <a:r>
              <a:rPr lang="en-US" altLang="zh-CN" sz="800" dirty="0">
                <a:latin typeface="+mn-ea"/>
              </a:rPr>
              <a:t>2743</a:t>
            </a:r>
            <a:r>
              <a:rPr lang="zh-CN" altLang="en-US" sz="800" dirty="0">
                <a:latin typeface="+mn-ea"/>
              </a:rPr>
              <a:t>家），</a:t>
            </a:r>
            <a:r>
              <a:rPr lang="en-US" altLang="zh-CN" sz="800" dirty="0">
                <a:latin typeface="+mn-ea"/>
              </a:rPr>
              <a:t>D+</a:t>
            </a:r>
            <a:r>
              <a:rPr lang="zh-CN" altLang="en-US" sz="800" dirty="0">
                <a:latin typeface="+mn-ea"/>
              </a:rPr>
              <a:t>甄选榜</a:t>
            </a:r>
            <a:r>
              <a:rPr lang="en-US" altLang="zh-CN" sz="800" dirty="0">
                <a:latin typeface="+mn-ea"/>
              </a:rPr>
              <a:t>14</a:t>
            </a:r>
            <a:r>
              <a:rPr lang="zh-CN" altLang="en-US" sz="800" dirty="0">
                <a:latin typeface="+mn-ea"/>
              </a:rPr>
              <a:t>城</a:t>
            </a:r>
            <a:r>
              <a:rPr lang="en-US" altLang="zh-CN" sz="800" dirty="0">
                <a:latin typeface="+mn-ea"/>
              </a:rPr>
              <a:t>147</a:t>
            </a:r>
            <a:r>
              <a:rPr lang="zh-CN" altLang="en-US" sz="800" dirty="0">
                <a:latin typeface="+mn-ea"/>
              </a:rPr>
              <a:t>家（</a:t>
            </a:r>
            <a:r>
              <a:rPr lang="en-US" altLang="zh-CN" sz="800" dirty="0">
                <a:latin typeface="+mn-ea"/>
              </a:rPr>
              <a:t>300-700</a:t>
            </a:r>
            <a:r>
              <a:rPr lang="zh-CN" altLang="en-US" sz="800" dirty="0">
                <a:latin typeface="+mn-ea"/>
              </a:rPr>
              <a:t>元），心动榜三期</a:t>
            </a:r>
            <a:r>
              <a:rPr lang="en-US" altLang="zh-CN" sz="800" dirty="0">
                <a:latin typeface="+mn-ea"/>
              </a:rPr>
              <a:t>101</a:t>
            </a:r>
            <a:r>
              <a:rPr lang="zh-CN" altLang="en-US" sz="800" dirty="0">
                <a:latin typeface="+mn-ea"/>
              </a:rPr>
              <a:t>城市</a:t>
            </a:r>
            <a:r>
              <a:rPr lang="en-US" altLang="zh-CN" sz="800" dirty="0">
                <a:latin typeface="+mn-ea"/>
              </a:rPr>
              <a:t>3201</a:t>
            </a:r>
            <a:r>
              <a:rPr lang="zh-CN" altLang="en-US" sz="800" dirty="0">
                <a:latin typeface="+mn-ea"/>
              </a:rPr>
              <a:t>家。状元榜</a:t>
            </a:r>
            <a:r>
              <a:rPr lang="en-US" altLang="zh-CN" sz="800" dirty="0">
                <a:latin typeface="+mn-ea"/>
              </a:rPr>
              <a:t>370</a:t>
            </a:r>
            <a:r>
              <a:rPr lang="zh-CN" altLang="en-US" sz="800" dirty="0">
                <a:latin typeface="+mn-ea"/>
              </a:rPr>
              <a:t>城市（共</a:t>
            </a:r>
            <a:r>
              <a:rPr lang="en-US" altLang="zh-CN" sz="800" dirty="0">
                <a:latin typeface="+mn-ea"/>
              </a:rPr>
              <a:t>11,911</a:t>
            </a:r>
            <a:r>
              <a:rPr lang="zh-CN" altLang="en-US" sz="800" dirty="0">
                <a:latin typeface="+mn-ea"/>
              </a:rPr>
              <a:t>个）</a:t>
            </a:r>
            <a:endParaRPr lang="en-US" altLang="zh-CN" sz="800" b="1" dirty="0">
              <a:latin typeface="+mn-ea"/>
            </a:endParaRPr>
          </a:p>
          <a:p>
            <a:pPr defTabSz="946678" fontAlgn="ctr">
              <a:defRPr/>
            </a:pPr>
            <a:r>
              <a:rPr lang="en-US" altLang="zh-CN" sz="1900" b="1" dirty="0">
                <a:latin typeface="+mn-ea"/>
              </a:rPr>
              <a:t>2. </a:t>
            </a:r>
            <a:r>
              <a:rPr lang="zh-CN" altLang="en-US" sz="1900" b="1" dirty="0">
                <a:latin typeface="+mn-ea"/>
              </a:rPr>
              <a:t>旅游、漂亮饭等氛围餐厅、时令等：</a:t>
            </a:r>
            <a:endParaRPr lang="en-US" altLang="zh-CN" sz="1900" b="1" dirty="0">
              <a:latin typeface="+mn-ea"/>
            </a:endParaRPr>
          </a:p>
          <a:p>
            <a:pPr marL="828344" lvl="1" indent="-355004" defTabSz="946678" fontAlgn="ctr">
              <a:buFont typeface="Arial" panose="020B0604020202020204" pitchFamily="34" charset="0"/>
              <a:buChar char="•"/>
              <a:defRPr/>
            </a:pPr>
            <a:r>
              <a:rPr lang="zh-CN" altLang="en-US" sz="1900" dirty="0">
                <a:latin typeface="+mn-ea"/>
              </a:rPr>
              <a:t>美团当地人推荐扩至</a:t>
            </a:r>
            <a:r>
              <a:rPr lang="en-US" altLang="zh-CN" sz="1900" dirty="0">
                <a:latin typeface="+mn-ea"/>
              </a:rPr>
              <a:t>647</a:t>
            </a:r>
            <a:r>
              <a:rPr lang="zh-CN" altLang="en-US" sz="1900" dirty="0">
                <a:latin typeface="+mn-ea"/>
              </a:rPr>
              <a:t>城，特色菜扩至</a:t>
            </a:r>
            <a:r>
              <a:rPr lang="en-US" altLang="zh-CN" sz="1900" dirty="0">
                <a:latin typeface="+mn-ea"/>
              </a:rPr>
              <a:t>337</a:t>
            </a:r>
            <a:r>
              <a:rPr lang="zh-CN" altLang="en-US" sz="1900" dirty="0">
                <a:latin typeface="+mn-ea"/>
              </a:rPr>
              <a:t>城（主要为中低线旅游），点评同（原</a:t>
            </a:r>
            <a:r>
              <a:rPr lang="en-US" altLang="zh-CN" sz="1900" dirty="0">
                <a:latin typeface="+mn-ea"/>
              </a:rPr>
              <a:t>216</a:t>
            </a:r>
            <a:r>
              <a:rPr lang="zh-CN" altLang="en-US" sz="1900" dirty="0">
                <a:latin typeface="+mn-ea"/>
              </a:rPr>
              <a:t>个）。发现主题</a:t>
            </a:r>
            <a:r>
              <a:rPr lang="en-US" altLang="zh-CN" sz="1900" dirty="0">
                <a:latin typeface="+mn-ea"/>
              </a:rPr>
              <a:t>118</a:t>
            </a:r>
            <a:r>
              <a:rPr lang="zh-CN" altLang="en-US" sz="1900" dirty="0">
                <a:latin typeface="+mn-ea"/>
              </a:rPr>
              <a:t>城</a:t>
            </a:r>
            <a:endParaRPr lang="en-US" altLang="zh-CN" sz="1900" dirty="0">
              <a:latin typeface="+mn-ea"/>
            </a:endParaRPr>
          </a:p>
          <a:p>
            <a:pPr marL="828344" lvl="1" indent="-355004" defTabSz="946678" fontAlgn="ctr">
              <a:buFont typeface="Arial" panose="020B0604020202020204" pitchFamily="34" charset="0"/>
              <a:buChar char="•"/>
              <a:defRPr/>
            </a:pPr>
            <a:r>
              <a:rPr lang="zh-CN" altLang="en-US" sz="1900" dirty="0">
                <a:latin typeface="+mn-ea"/>
              </a:rPr>
              <a:t>点评市井烟火榜</a:t>
            </a:r>
            <a:r>
              <a:rPr lang="en-US" altLang="zh-CN" sz="1900" dirty="0">
                <a:latin typeface="+mn-ea"/>
              </a:rPr>
              <a:t>337</a:t>
            </a:r>
            <a:r>
              <a:rPr lang="zh-CN" altLang="en-US" sz="1900" dirty="0">
                <a:latin typeface="+mn-ea"/>
              </a:rPr>
              <a:t>城</a:t>
            </a:r>
            <a:r>
              <a:rPr lang="en-US" altLang="zh-CN" sz="1900" dirty="0">
                <a:latin typeface="+mn-ea"/>
              </a:rPr>
              <a:t>S-D</a:t>
            </a:r>
            <a:r>
              <a:rPr lang="zh-CN" altLang="en-US" sz="1900" dirty="0">
                <a:latin typeface="+mn-ea"/>
              </a:rPr>
              <a:t>及以下（</a:t>
            </a:r>
            <a:r>
              <a:rPr lang="en-US" altLang="zh-CN" sz="1900" dirty="0">
                <a:latin typeface="+mn-ea"/>
              </a:rPr>
              <a:t>D</a:t>
            </a:r>
            <a:r>
              <a:rPr lang="zh-CN" altLang="en-US" sz="1900" dirty="0">
                <a:latin typeface="+mn-ea"/>
              </a:rPr>
              <a:t>及以下</a:t>
            </a:r>
            <a:r>
              <a:rPr lang="en-US" altLang="zh-CN" sz="1900" dirty="0">
                <a:latin typeface="+mn-ea"/>
              </a:rPr>
              <a:t>247</a:t>
            </a:r>
            <a:r>
              <a:rPr lang="zh-CN" altLang="en-US" sz="1900" dirty="0">
                <a:latin typeface="+mn-ea"/>
              </a:rPr>
              <a:t>城），老店榜</a:t>
            </a:r>
            <a:r>
              <a:rPr lang="en-US" altLang="zh-CN" sz="1900" dirty="0">
                <a:latin typeface="+mn-ea"/>
              </a:rPr>
              <a:t>240</a:t>
            </a:r>
            <a:r>
              <a:rPr lang="zh-CN" altLang="en-US" sz="1900" dirty="0">
                <a:latin typeface="+mn-ea"/>
              </a:rPr>
              <a:t>城市</a:t>
            </a:r>
            <a:r>
              <a:rPr lang="en-US" altLang="zh-CN" sz="1900" dirty="0">
                <a:latin typeface="+mn-ea"/>
              </a:rPr>
              <a:t>S-D</a:t>
            </a:r>
            <a:r>
              <a:rPr lang="zh-CN" altLang="en-US" sz="1900" dirty="0">
                <a:latin typeface="+mn-ea"/>
              </a:rPr>
              <a:t>及以下（</a:t>
            </a:r>
            <a:r>
              <a:rPr lang="en-US" altLang="zh-CN" sz="1900" dirty="0">
                <a:latin typeface="+mn-ea"/>
              </a:rPr>
              <a:t>D</a:t>
            </a:r>
            <a:r>
              <a:rPr lang="zh-CN" altLang="en-US" sz="1900" dirty="0">
                <a:latin typeface="+mn-ea"/>
              </a:rPr>
              <a:t>及以下</a:t>
            </a:r>
            <a:r>
              <a:rPr lang="en-US" altLang="zh-CN" sz="1900" dirty="0">
                <a:latin typeface="+mn-ea"/>
              </a:rPr>
              <a:t>155</a:t>
            </a:r>
            <a:r>
              <a:rPr lang="zh-CN" altLang="en-US" sz="1900" dirty="0">
                <a:latin typeface="+mn-ea"/>
              </a:rPr>
              <a:t>城市）、新店榜较多。特色美食榜：</a:t>
            </a:r>
            <a:r>
              <a:rPr lang="zh-CN" altLang="en-US" sz="2900" dirty="0"/>
              <a:t>首批覆盖西安等</a:t>
            </a:r>
            <a:r>
              <a:rPr lang="en-US" altLang="zh-CN" sz="2900" dirty="0"/>
              <a:t>11</a:t>
            </a:r>
            <a:r>
              <a:rPr lang="zh-CN" altLang="en-US" sz="2900" dirty="0"/>
              <a:t>城，扩城长沙、宁波、佛山（大概</a:t>
            </a:r>
            <a:r>
              <a:rPr lang="en-US" altLang="zh-CN" sz="2900" dirty="0"/>
              <a:t>14</a:t>
            </a:r>
            <a:r>
              <a:rPr lang="zh-CN" altLang="en-US" sz="2900" dirty="0"/>
              <a:t>）。</a:t>
            </a:r>
            <a:endParaRPr lang="en-US" altLang="zh-CN" sz="2900" dirty="0"/>
          </a:p>
          <a:p>
            <a:pPr marL="828344" lvl="1" indent="-355004" defTabSz="946678" fontAlgn="ctr">
              <a:buFont typeface="Arial" panose="020B0604020202020204" pitchFamily="34" charset="0"/>
              <a:buChar char="•"/>
              <a:defRPr/>
            </a:pPr>
            <a:r>
              <a:rPr lang="en-US" altLang="zh-CN" sz="1900" dirty="0">
                <a:latin typeface="+mn-ea"/>
              </a:rPr>
              <a:t>D+</a:t>
            </a:r>
            <a:r>
              <a:rPr lang="zh-CN" altLang="en-US" sz="1900" dirty="0">
                <a:latin typeface="+mn-ea"/>
              </a:rPr>
              <a:t>烟火榜</a:t>
            </a:r>
            <a:r>
              <a:rPr lang="en-US" altLang="zh-CN" sz="1900" dirty="0">
                <a:latin typeface="+mn-ea"/>
              </a:rPr>
              <a:t>10</a:t>
            </a:r>
            <a:r>
              <a:rPr lang="zh-CN" altLang="en-US" sz="1900" dirty="0">
                <a:latin typeface="+mn-ea"/>
              </a:rPr>
              <a:t>城</a:t>
            </a:r>
            <a:r>
              <a:rPr lang="en-US" altLang="zh-CN" sz="1900" dirty="0">
                <a:latin typeface="+mn-ea"/>
              </a:rPr>
              <a:t>360</a:t>
            </a:r>
            <a:r>
              <a:rPr lang="zh-CN" altLang="en-US" sz="1900" dirty="0">
                <a:latin typeface="+mn-ea"/>
              </a:rPr>
              <a:t>家，</a:t>
            </a:r>
            <a:r>
              <a:rPr lang="en-US" altLang="zh-CN" sz="1900" dirty="0">
                <a:latin typeface="+mn-ea"/>
              </a:rPr>
              <a:t>D+</a:t>
            </a:r>
            <a:r>
              <a:rPr lang="zh-CN" altLang="en-US" sz="1900" dirty="0">
                <a:latin typeface="+mn-ea"/>
              </a:rPr>
              <a:t>本地人推荐</a:t>
            </a:r>
            <a:r>
              <a:rPr lang="en-US" altLang="zh-CN" sz="1900" dirty="0">
                <a:latin typeface="+mn-ea"/>
              </a:rPr>
              <a:t>17</a:t>
            </a:r>
            <a:r>
              <a:rPr lang="zh-CN" altLang="en-US" sz="1900" dirty="0">
                <a:latin typeface="+mn-ea"/>
              </a:rPr>
              <a:t>城。</a:t>
            </a:r>
            <a:endParaRPr lang="en-US" altLang="zh-CN" sz="1900" dirty="0">
              <a:latin typeface="+mn-ea"/>
            </a:endParaRPr>
          </a:p>
          <a:p>
            <a:pPr marL="828344" lvl="1" indent="-355004" defTabSz="946678" fontAlgn="ctr">
              <a:buFont typeface="Arial" panose="020B0604020202020204" pitchFamily="34" charset="0"/>
              <a:buChar char="•"/>
              <a:defRPr/>
            </a:pPr>
            <a:r>
              <a:rPr lang="en-US" altLang="zh-CN" sz="1900" dirty="0">
                <a:latin typeface="+mn-ea"/>
              </a:rPr>
              <a:t>B+</a:t>
            </a:r>
            <a:r>
              <a:rPr lang="zh-CN" altLang="en-US" sz="1900" dirty="0">
                <a:latin typeface="+mn-ea"/>
              </a:rPr>
              <a:t>主题餐厅数百城</a:t>
            </a:r>
            <a:endParaRPr lang="en-US" altLang="zh-CN" sz="1900" dirty="0">
              <a:latin typeface="+mn-ea"/>
            </a:endParaRPr>
          </a:p>
          <a:p>
            <a:pPr defTabSz="946678" fontAlgn="ctr">
              <a:defRPr/>
            </a:pPr>
            <a:r>
              <a:rPr lang="en-US" altLang="zh-CN" sz="1900" b="1" dirty="0">
                <a:latin typeface="+mn-ea"/>
              </a:rPr>
              <a:t>3. </a:t>
            </a:r>
            <a:r>
              <a:rPr lang="zh-CN" altLang="en-US" sz="1900" b="1" dirty="0">
                <a:latin typeface="+mn-ea"/>
              </a:rPr>
              <a:t>亲朋聚会、情侣约会、工作宴请、亲子 </a:t>
            </a:r>
            <a:r>
              <a:rPr lang="en-US" altLang="zh-CN" sz="1900" b="1" dirty="0">
                <a:latin typeface="+mn-ea"/>
              </a:rPr>
              <a:t>https://km.sankuai.com/collabpage/2734833943</a:t>
            </a:r>
          </a:p>
          <a:p>
            <a:pPr marL="769176" lvl="1" indent="-295837" defTabSz="946678" fontAlgn="ctr">
              <a:buFont typeface="Arial" panose="020B0604020202020204" pitchFamily="34" charset="0"/>
              <a:buChar char="•"/>
              <a:defRPr/>
            </a:pPr>
            <a:r>
              <a:rPr lang="zh-CN" altLang="en-US" sz="1900" dirty="0">
                <a:latin typeface="+mn-ea"/>
              </a:rPr>
              <a:t>美团：目前主要是夜宵榜（数百城），其余空缺。</a:t>
            </a:r>
            <a:endParaRPr lang="en-US" altLang="zh-CN" sz="1900" dirty="0">
              <a:latin typeface="+mn-ea"/>
            </a:endParaRPr>
          </a:p>
          <a:p>
            <a:pPr marL="769176" lvl="1" indent="-295837" defTabSz="946678" fontAlgn="ctr">
              <a:buFont typeface="Arial" panose="020B0604020202020204" pitchFamily="34" charset="0"/>
              <a:buChar char="•"/>
              <a:defRPr/>
            </a:pPr>
            <a:r>
              <a:rPr lang="zh-CN" altLang="en-US" sz="1900" dirty="0">
                <a:latin typeface="+mn-ea"/>
              </a:rPr>
              <a:t>点评：聚餐去哪儿</a:t>
            </a:r>
            <a:r>
              <a:rPr lang="en-US" altLang="zh-CN" sz="1900" dirty="0">
                <a:latin typeface="+mn-ea"/>
              </a:rPr>
              <a:t>34</a:t>
            </a:r>
            <a:r>
              <a:rPr lang="zh-CN" altLang="en-US" sz="1900" dirty="0">
                <a:latin typeface="+mn-ea"/>
              </a:rPr>
              <a:t>城市，</a:t>
            </a:r>
            <a:r>
              <a:rPr lang="en-US" altLang="zh-CN" sz="1900" dirty="0">
                <a:latin typeface="+mn-ea"/>
              </a:rPr>
              <a:t>S-B</a:t>
            </a:r>
            <a:r>
              <a:rPr lang="zh-CN" altLang="en-US" sz="1900" dirty="0">
                <a:latin typeface="+mn-ea"/>
              </a:rPr>
              <a:t>。心动约会榜</a:t>
            </a:r>
            <a:r>
              <a:rPr lang="en-US" altLang="zh-CN" sz="1900" dirty="0">
                <a:latin typeface="+mn-ea"/>
              </a:rPr>
              <a:t>34</a:t>
            </a:r>
            <a:r>
              <a:rPr lang="zh-CN" altLang="en-US" sz="1900" dirty="0">
                <a:latin typeface="+mn-ea"/>
              </a:rPr>
              <a:t>城市，</a:t>
            </a:r>
            <a:r>
              <a:rPr lang="en-US" altLang="zh-CN" sz="1900" dirty="0">
                <a:latin typeface="+mn-ea"/>
              </a:rPr>
              <a:t>S-B</a:t>
            </a:r>
            <a:r>
              <a:rPr lang="zh-CN" altLang="en-US" sz="1900" dirty="0">
                <a:latin typeface="+mn-ea"/>
              </a:rPr>
              <a:t>。闺蜜约会餐厅</a:t>
            </a:r>
            <a:r>
              <a:rPr lang="en-US" altLang="zh-CN" sz="1900" dirty="0">
                <a:latin typeface="+mn-ea"/>
              </a:rPr>
              <a:t>189</a:t>
            </a:r>
            <a:r>
              <a:rPr lang="zh-CN" altLang="en-US" sz="1900" dirty="0">
                <a:latin typeface="+mn-ea"/>
              </a:rPr>
              <a:t>城</a:t>
            </a:r>
            <a:r>
              <a:rPr lang="en-US" altLang="zh-CN" sz="1900" dirty="0">
                <a:latin typeface="+mn-ea"/>
              </a:rPr>
              <a:t>S-D</a:t>
            </a:r>
            <a:r>
              <a:rPr lang="zh-CN" altLang="en-US" sz="1900" dirty="0">
                <a:latin typeface="+mn-ea"/>
              </a:rPr>
              <a:t>及以下（</a:t>
            </a:r>
            <a:r>
              <a:rPr lang="en-US" altLang="zh-CN" sz="1900" dirty="0">
                <a:latin typeface="+mn-ea"/>
              </a:rPr>
              <a:t>D</a:t>
            </a:r>
            <a:r>
              <a:rPr lang="zh-CN" altLang="en-US" sz="1900" dirty="0">
                <a:latin typeface="+mn-ea"/>
              </a:rPr>
              <a:t>及以下</a:t>
            </a:r>
            <a:r>
              <a:rPr lang="en-US" altLang="zh-CN" sz="1900" dirty="0">
                <a:latin typeface="+mn-ea"/>
              </a:rPr>
              <a:t>99</a:t>
            </a:r>
            <a:r>
              <a:rPr lang="zh-CN" altLang="en-US" sz="1900" dirty="0">
                <a:latin typeface="+mn-ea"/>
              </a:rPr>
              <a:t>城），商务宴请</a:t>
            </a:r>
            <a:r>
              <a:rPr lang="en-US" altLang="zh-CN" sz="1900" dirty="0">
                <a:latin typeface="+mn-ea"/>
              </a:rPr>
              <a:t>33</a:t>
            </a:r>
            <a:r>
              <a:rPr lang="zh-CN" altLang="en-US" sz="1900" dirty="0">
                <a:latin typeface="+mn-ea"/>
              </a:rPr>
              <a:t>城</a:t>
            </a:r>
            <a:r>
              <a:rPr lang="en-US" altLang="zh-CN" sz="1900" dirty="0">
                <a:latin typeface="+mn-ea"/>
              </a:rPr>
              <a:t>S-B</a:t>
            </a:r>
          </a:p>
          <a:p>
            <a:pPr marL="769176" lvl="1" indent="-295837" defTabSz="946678" fontAlgn="ctr">
              <a:buFont typeface="Arial" panose="020B0604020202020204" pitchFamily="34" charset="0"/>
              <a:buChar char="•"/>
              <a:defRPr/>
            </a:pPr>
            <a:r>
              <a:rPr lang="en-US" altLang="zh-CN" sz="1900" dirty="0">
                <a:latin typeface="+mn-ea"/>
              </a:rPr>
              <a:t>B+</a:t>
            </a:r>
            <a:r>
              <a:rPr lang="zh-CN" altLang="en-US" sz="1900" dirty="0">
                <a:latin typeface="+mn-ea"/>
              </a:rPr>
              <a:t>主题餐厅数百城</a:t>
            </a:r>
            <a:endParaRPr lang="en-US" altLang="zh-CN" sz="1900" b="1" dirty="0">
              <a:latin typeface="+mn-ea"/>
            </a:endParaRPr>
          </a:p>
          <a:p>
            <a:pPr defTabSz="946678" fontAlgn="ctr">
              <a:defRPr/>
            </a:pPr>
            <a:r>
              <a:rPr lang="en-US" altLang="zh-CN" sz="1900" b="1" dirty="0">
                <a:latin typeface="+mn-ea"/>
              </a:rPr>
              <a:t>4. </a:t>
            </a:r>
            <a:r>
              <a:rPr lang="zh-CN" altLang="en-US" sz="1900" b="1" dirty="0">
                <a:latin typeface="+mn-ea"/>
              </a:rPr>
              <a:t>人气榜、好评榜、点评榜、高德榜的覆盖，基本比较全面</a:t>
            </a:r>
            <a:endParaRPr lang="en-US" altLang="zh-CN" sz="1900" b="1" dirty="0">
              <a:latin typeface="+mn-ea"/>
            </a:endParaRPr>
          </a:p>
          <a:p>
            <a:pPr marL="769176" lvl="1" indent="-295837" defTabSz="946678" fontAlgn="ctr">
              <a:buFont typeface="Arial" panose="020B0604020202020204" pitchFamily="34" charset="0"/>
              <a:buChar char="•"/>
              <a:defRPr/>
            </a:pPr>
            <a:r>
              <a:rPr lang="zh-CN" altLang="en-US" sz="1900" dirty="0">
                <a:latin typeface="+mn-ea"/>
              </a:rPr>
              <a:t>人气榜美团覆盖</a:t>
            </a:r>
            <a:r>
              <a:rPr lang="en-US" altLang="zh-CN" sz="1900" dirty="0">
                <a:latin typeface="+mn-ea"/>
              </a:rPr>
              <a:t>1183</a:t>
            </a:r>
            <a:r>
              <a:rPr lang="zh-CN" altLang="en-US" sz="1900" dirty="0">
                <a:latin typeface="+mn-ea"/>
              </a:rPr>
              <a:t>城市，点评销量榜</a:t>
            </a:r>
            <a:r>
              <a:rPr lang="en-US" altLang="zh-CN" sz="1900" dirty="0">
                <a:latin typeface="+mn-ea"/>
              </a:rPr>
              <a:t>841</a:t>
            </a:r>
          </a:p>
          <a:p>
            <a:pPr marL="769176" lvl="1" indent="-295837" defTabSz="946678" fontAlgn="ctr">
              <a:buFont typeface="Arial" panose="020B0604020202020204" pitchFamily="34" charset="0"/>
              <a:buChar char="•"/>
              <a:defRPr/>
            </a:pPr>
            <a:r>
              <a:rPr lang="zh-CN" altLang="en-US" sz="1900" dirty="0">
                <a:latin typeface="+mn-ea"/>
              </a:rPr>
              <a:t>点评整体共</a:t>
            </a:r>
            <a:r>
              <a:rPr lang="en-US" altLang="zh-CN" sz="1900" dirty="0">
                <a:latin typeface="+mn-ea"/>
              </a:rPr>
              <a:t>2743</a:t>
            </a:r>
            <a:r>
              <a:rPr lang="zh-CN" altLang="en-US" sz="1900" dirty="0">
                <a:latin typeface="+mn-ea"/>
              </a:rPr>
              <a:t>海内外城市</a:t>
            </a:r>
            <a:endParaRPr lang="en-US" altLang="zh-CN" sz="1900" dirty="0">
              <a:latin typeface="+mn-ea"/>
            </a:endParaRPr>
          </a:p>
          <a:p>
            <a:pPr algn="l" eaLnBrk="1" fontAlgn="ctr" latinLnBrk="0" hangingPunct="1"/>
            <a:endParaRPr lang="en-US" altLang="zh-CN" sz="1900" dirty="0">
              <a:solidFill>
                <a:srgbClr val="000000"/>
              </a:solidFill>
            </a:endParaRPr>
          </a:p>
          <a:p>
            <a:pPr algn="l" eaLnBrk="1" fontAlgn="ctr" latinLnBrk="0" hangingPunct="1"/>
            <a:endParaRPr lang="en-US" altLang="zh-CN" sz="1900" dirty="0">
              <a:solidFill>
                <a:srgbClr val="000000"/>
              </a:solidFill>
            </a:endParaRPr>
          </a:p>
          <a:p>
            <a:pPr algn="l" eaLnBrk="1" fontAlgn="ctr" latinLnBrk="0" hangingPunct="1"/>
            <a:endParaRPr lang="en-US" altLang="zh-CN" sz="1900" dirty="0">
              <a:solidFill>
                <a:srgbClr val="000000"/>
              </a:solidFill>
            </a:endParaRPr>
          </a:p>
          <a:p>
            <a:pPr algn="l" eaLnBrk="1" fontAlgn="ctr" latinLnBrk="0" hangingPunct="1"/>
            <a:r>
              <a:rPr lang="zh-CN" altLang="en-US" sz="1900" dirty="0">
                <a:solidFill>
                  <a:srgbClr val="000000"/>
                </a:solidFill>
              </a:rPr>
              <a:t>异地出行、约会、亲子</a:t>
            </a:r>
            <a:r>
              <a:rPr lang="en-US" altLang="zh-CN" sz="1900" dirty="0">
                <a:solidFill>
                  <a:srgbClr val="000000"/>
                </a:solidFill>
              </a:rPr>
              <a:t>/</a:t>
            </a:r>
            <a:r>
              <a:rPr lang="zh-CN" altLang="en-US" sz="1900" dirty="0">
                <a:solidFill>
                  <a:srgbClr val="000000"/>
                </a:solidFill>
              </a:rPr>
              <a:t>欢聚。使用榜单的核心场景是“吃逛约聚游”，当前榜单能够满足基础找店需求，但仍可考虑一些细分场景需求，比如按“价格段”、“氛围环境”、“多人聚餐”等角度找店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algn="l" eaLnBrk="1" fontAlgn="ctr" latinLnBrk="0" hangingPunct="1"/>
            <a:endParaRPr lang="en-US" altLang="zh-CN" sz="1900" dirty="0">
              <a:solidFill>
                <a:srgbClr val="000000"/>
              </a:solidFill>
            </a:endParaRPr>
          </a:p>
          <a:p>
            <a:pPr algn="l" eaLnBrk="1" fontAlgn="ctr" latinLnBrk="0" hangingPunct="1"/>
            <a:endParaRPr lang="en-US" altLang="zh-CN" sz="1900" dirty="0">
              <a:solidFill>
                <a:srgbClr val="000000"/>
              </a:solidFill>
            </a:endParaRPr>
          </a:p>
          <a:p>
            <a:r>
              <a:rPr lang="zh-CN" altLang="en-US" sz="2900" dirty="0"/>
              <a:t>美团</a:t>
            </a:r>
            <a:r>
              <a:rPr lang="en-US" altLang="zh-CN" sz="2900" dirty="0"/>
              <a:t>+</a:t>
            </a:r>
            <a:r>
              <a:rPr lang="zh-CN" altLang="en-US" sz="2900" dirty="0"/>
              <a:t>点评榜单主要的一共</a:t>
            </a:r>
            <a:r>
              <a:rPr lang="en-US" altLang="zh-CN" sz="2900" dirty="0"/>
              <a:t>17</a:t>
            </a:r>
            <a:r>
              <a:rPr lang="zh-CN" altLang="en-US" sz="2900" dirty="0"/>
              <a:t>个：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900" dirty="0"/>
              <a:t>其中</a:t>
            </a:r>
            <a:r>
              <a:rPr lang="en-US" altLang="zh-CN" sz="2900" dirty="0"/>
              <a:t>2</a:t>
            </a:r>
            <a:r>
              <a:rPr lang="zh-CN" altLang="en-US" sz="2900" dirty="0"/>
              <a:t>个荣誉评选榜单（黑珍珠、必吃榜）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900" dirty="0"/>
              <a:t>12</a:t>
            </a:r>
            <a:r>
              <a:rPr lang="zh-CN" altLang="en-US" sz="2900" dirty="0"/>
              <a:t>个指数榜单（美团：人气、好评、热订。点评：热门、好评、口味、环境、服务、销量、打卡人气、新店、奶茶新品</a:t>
            </a:r>
            <a:r>
              <a:rPr lang="en-US" altLang="zh-CN" sz="2900" dirty="0"/>
              <a:t>/</a:t>
            </a:r>
            <a:r>
              <a:rPr lang="zh-CN" altLang="en-US" sz="2900" dirty="0"/>
              <a:t>热门</a:t>
            </a:r>
            <a:r>
              <a:rPr lang="en-US" altLang="zh-CN" sz="2900" dirty="0"/>
              <a:t>/</a:t>
            </a:r>
            <a:r>
              <a:rPr lang="zh-CN" altLang="en-US" sz="2900" dirty="0"/>
              <a:t>好评榜）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900" dirty="0"/>
              <a:t>主题类榜单，比较有特色的</a:t>
            </a:r>
            <a:r>
              <a:rPr lang="en-US" altLang="zh-CN" sz="2900" dirty="0"/>
              <a:t>3</a:t>
            </a:r>
            <a:r>
              <a:rPr lang="zh-CN" altLang="en-US" sz="2900" dirty="0"/>
              <a:t>个是满足异地旅游场景的本地人推荐、特色菜、市井烟火榜。其它小场景数量比较多，如点评侧城市生活指南有</a:t>
            </a:r>
            <a:r>
              <a:rPr lang="en-US" altLang="zh-CN" sz="2900" dirty="0"/>
              <a:t>102</a:t>
            </a:r>
            <a:r>
              <a:rPr lang="zh-CN" altLang="en-US" sz="2900" dirty="0"/>
              <a:t>个餐相关主题，美团的夜宵、发现主题等</a:t>
            </a:r>
          </a:p>
          <a:p>
            <a:pPr algn="l" eaLnBrk="1" fontAlgn="ctr" latinLnBrk="0" hangingPunct="1"/>
            <a:endParaRPr lang="en-US" altLang="zh-CN" sz="1900" dirty="0">
              <a:solidFill>
                <a:srgbClr val="000000"/>
              </a:solidFill>
            </a:endParaRPr>
          </a:p>
          <a:p>
            <a:pPr algn="l" eaLnBrk="1" fontAlgn="ctr" latinLnBrk="0" hangingPunct="1"/>
            <a:endParaRPr lang="en-US" altLang="zh-CN" sz="1900" dirty="0">
              <a:solidFill>
                <a:srgbClr val="000000"/>
              </a:solidFill>
            </a:endParaRPr>
          </a:p>
          <a:p>
            <a:pPr algn="l" eaLnBrk="1" fontAlgn="ctr" latinLnBrk="0" hangingPunct="1"/>
            <a:r>
              <a:rPr lang="zh-CN" altLang="en-US" sz="1900" dirty="0">
                <a:solidFill>
                  <a:srgbClr val="000000"/>
                </a:solidFill>
              </a:rPr>
              <a:t>美团：供给、交易、履约服务、交易星评、明确意向流量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zh-CN" altLang="en-US" sz="1900" dirty="0">
                <a:solidFill>
                  <a:srgbClr val="000000"/>
                </a:solidFill>
              </a:rPr>
              <a:t>点评：星评、打卡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900" dirty="0">
                <a:solidFill>
                  <a:srgbClr val="000000"/>
                </a:solidFill>
              </a:rPr>
              <a:t>D+</a:t>
            </a:r>
            <a:r>
              <a:rPr lang="zh-CN" altLang="en-US" sz="1900" dirty="0">
                <a:solidFill>
                  <a:srgbClr val="000000"/>
                </a:solidFill>
              </a:rPr>
              <a:t>：流量、内容互动、内容生态（明星</a:t>
            </a:r>
            <a:r>
              <a:rPr lang="en-US" altLang="zh-CN" sz="1900" dirty="0">
                <a:solidFill>
                  <a:srgbClr val="000000"/>
                </a:solidFill>
              </a:rPr>
              <a:t>/</a:t>
            </a:r>
            <a:r>
              <a:rPr lang="zh-CN" altLang="en-US" sz="1900" dirty="0">
                <a:solidFill>
                  <a:srgbClr val="000000"/>
                </a:solidFill>
              </a:rPr>
              <a:t>达人等）</a:t>
            </a:r>
            <a:endParaRPr lang="zh-CN" altLang="en-US" dirty="0">
              <a:effectLst/>
            </a:endParaRPr>
          </a:p>
          <a:p>
            <a:pPr algn="l" eaLnBrk="1" fontAlgn="ctr" latinLnBrk="0" hangingPunct="1"/>
            <a:r>
              <a:rPr lang="en-US" altLang="zh-CN" sz="1900" dirty="0">
                <a:solidFill>
                  <a:srgbClr val="000000"/>
                </a:solidFill>
              </a:rPr>
              <a:t>B+</a:t>
            </a:r>
            <a:r>
              <a:rPr lang="zh-CN" altLang="en-US" sz="1900" dirty="0">
                <a:solidFill>
                  <a:srgbClr val="000000"/>
                </a:solidFill>
              </a:rPr>
              <a:t>：流量、导航数据、淘系资产（芝麻信用等）</a:t>
            </a:r>
            <a:endParaRPr lang="en-US" altLang="zh-CN" sz="1900" dirty="0">
              <a:solidFill>
                <a:srgbClr val="000000"/>
              </a:solidFill>
            </a:endParaRPr>
          </a:p>
          <a:p>
            <a:pPr algn="l" eaLnBrk="1" fontAlgn="ctr" latinLnBrk="0" hangingPunct="1"/>
            <a:endParaRPr lang="zh-CN" altLang="en-US" dirty="0">
              <a:effectLst/>
            </a:endParaRPr>
          </a:p>
          <a:p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r>
              <a:rPr lang="zh-CN" altLang="en-US" dirty="0">
                <a:effectLst/>
              </a:rPr>
              <a:t>当地特色菜即特色美食榜</a:t>
            </a:r>
            <a:endParaRPr lang="en-US" altLang="zh-CN" dirty="0">
              <a:effectLst/>
            </a:endParaRPr>
          </a:p>
          <a:p>
            <a:pPr marL="177502" indent="-177502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美团：黑珍珠、必吃榜、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人气榜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当地人推荐、特色菜、热订榜</a:t>
            </a:r>
            <a:endParaRPr lang="en-US" altLang="zh-CN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7502" indent="-177502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点评：必吃榜、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好评榜、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口味榜、环境榜、服务榜、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销量榜、打卡人气榜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市井烟火榜、老店榜、本地人早餐榜、当地人推荐、当地特色菜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特色美食榜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、新店榜单</a:t>
            </a:r>
            <a:endParaRPr lang="en-US" altLang="zh-CN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7502" indent="-177502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D+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热销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人气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好评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回头客（核销人数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复购）、收藏、点亮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、心动榜、甄选榜、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烟火榜、本地人推荐</a:t>
            </a:r>
            <a:endParaRPr lang="en-US" altLang="zh-CN" b="1" dirty="0">
              <a:solidFill>
                <a:srgbClr val="FF0000"/>
              </a:solidFill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7502" indent="-177502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B+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：状元榜（甄选、必吃）、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烟火小店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、轮胎磨损、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本地人爱去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、饮品甜点</a:t>
            </a:r>
            <a:r>
              <a:rPr lang="en-US" altLang="zh-CN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-</a:t>
            </a:r>
            <a:r>
              <a:rPr lang="zh-CN" altLang="en-US" b="1" dirty="0"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下午茶、主题餐厅（约聚漂亮饭、音乐、观景、商务等）、热门、飙升。食仙（地方特色、城市热门、热门菜系、烹饪方式、自然馈赠、食在四级）</a:t>
            </a:r>
            <a:endParaRPr lang="en-US" altLang="zh-CN" b="1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pPr marL="177502" indent="-177502">
              <a:buFont typeface="Arial" panose="020B0604020202020204" pitchFamily="34" charset="0"/>
              <a:buChar char="•"/>
            </a:pPr>
            <a:endParaRPr lang="en-US" altLang="zh-CN" b="1" dirty="0">
              <a:latin typeface="+mn-ea"/>
              <a:cs typeface="MiSans Medium" panose="00000600000000000000" pitchFamily="2" charset="-122"/>
              <a:sym typeface="MiSans Bold" panose="00000800000000000000" pitchFamily="2" charset="-122"/>
            </a:endParaRPr>
          </a:p>
          <a:p>
            <a:endParaRPr lang="zh-CN" altLang="en-US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59029-C88B-3FDE-B751-5D03DBDC4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DE475-5FB2-DF49-BD79-0FFA752A3946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91862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987426"/>
            <a:ext cx="8639999" cy="3595025"/>
          </a:xfrm>
          <a:prstGeom prst="rect">
            <a:avLst/>
          </a:prstGeom>
        </p:spPr>
        <p:txBody>
          <a:bodyPr tIns="90000" bIns="90000"/>
          <a:lstStyle>
            <a:lvl1pPr>
              <a:lnSpc>
                <a:spcPct val="120000"/>
              </a:lnSpc>
              <a:spcBef>
                <a:spcPts val="1200"/>
              </a:spcBef>
              <a:buClr>
                <a:srgbClr val="FFD100"/>
              </a:buClr>
              <a:defRPr sz="1800" b="0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目录一
目录二
目录三
目录四
目录五</a:t>
            </a:r>
          </a:p>
        </p:txBody>
      </p:sp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384306" y="288001"/>
            <a:ext cx="7285837" cy="4273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kumimoji="1" lang="zh-CN" altLang="en-US" sz="24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252000" y="298634"/>
            <a:ext cx="45719" cy="4273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goal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1813560" y="1424941"/>
            <a:ext cx="7078234" cy="346138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defRPr sz="10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标题 2"/>
          <p:cNvSpPr>
            <a:spLocks noGrp="1"/>
          </p:cNvSpPr>
          <p:nvPr>
            <p:ph type="title" hasCustomPrompt="1"/>
          </p:nvPr>
        </p:nvSpPr>
        <p:spPr>
          <a:xfrm>
            <a:off x="308705" y="439480"/>
            <a:ext cx="8584470" cy="85592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6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en-US" altLang="zh-CN" dirty="0"/>
              <a:t>TGX:</a:t>
            </a:r>
            <a:r>
              <a:rPr lang="zh-CN" altLang="en-US" dirty="0"/>
              <a:t> </a:t>
            </a:r>
            <a:r>
              <a:rPr lang="en-US" altLang="zh-CN" dirty="0"/>
              <a:t>XXXXXXX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6"/>
            <a:ext cx="8583088" cy="2660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</a:rPr>
              <a:t>4 </a:t>
            </a:r>
            <a:r>
              <a:rPr kumimoji="1" lang="en-US" altLang="zh-CN" dirty="0" err="1">
                <a:solidFill>
                  <a:schemeClr val="bg1">
                    <a:lumMod val="50000"/>
                  </a:schemeClr>
                </a:solidFill>
              </a:rPr>
              <a:t>Teamgoal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进展同步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250826" y="123826"/>
            <a:ext cx="57881" cy="11715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baseline="0">
              <a:latin typeface="Calibri" panose="020F0502020204030204" pitchFamily="34" charset="0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50824" y="1424941"/>
            <a:ext cx="1417956" cy="34613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请使用这个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308705" y="439480"/>
            <a:ext cx="8584470" cy="547945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1800" b="0" i="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楷体" panose="02010609060101010101" pitchFamily="49" charset="-122"/>
                <a:cs typeface="+mj-cs"/>
                <a:sym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252207" y="1131888"/>
            <a:ext cx="8639588" cy="3516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buClr>
                <a:schemeClr val="accent1"/>
              </a:buClr>
              <a:defRPr sz="1400" baseline="0">
                <a:latin typeface="Calibri" panose="020F0502020204030204" pitchFamily="34" charset="0"/>
                <a:ea typeface="楷体" panose="02010609060101010101" pitchFamily="49" charset="-122"/>
              </a:defRPr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308706" y="123824"/>
            <a:ext cx="8583088" cy="2660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200" b="1" i="0" kern="1200" baseline="0" dirty="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 smtClean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1800" b="0" i="0" kern="1200" dirty="0">
                <a:solidFill>
                  <a:schemeClr val="bg1">
                    <a:lumMod val="50000"/>
                  </a:schemeClr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5pPr>
          </a:lstStyle>
          <a:p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单击此处添加副标题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单标题_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0" name="对象 9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"/>
          <p:cNvSpPr/>
          <p:nvPr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252000" y="288001"/>
            <a:ext cx="7664380" cy="427313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23"/>
          </p:nvPr>
        </p:nvSpPr>
        <p:spPr>
          <a:xfrm>
            <a:off x="252207" y="871728"/>
            <a:ext cx="8639588" cy="377647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200"/>
            </a:lvl2pPr>
            <a:lvl3pPr>
              <a:lnSpc>
                <a:spcPct val="120000"/>
              </a:lnSpc>
              <a:defRPr sz="1050"/>
            </a:lvl3pPr>
            <a:lvl4pPr>
              <a:lnSpc>
                <a:spcPct val="120000"/>
              </a:lnSpc>
              <a:defRPr sz="1050"/>
            </a:lvl4pPr>
            <a:lvl5pPr>
              <a:lnSpc>
                <a:spcPct val="120000"/>
              </a:lnSpc>
              <a:defRPr sz="105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0" imgH="0" progId="TCLayout.ActiveDocument.1">
                  <p:embed/>
                </p:oleObj>
              </mc:Choice>
              <mc:Fallback>
                <p:oleObj name="think-cell 幻灯片" r:id="rId3" imgW="0" imgH="0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1354104" y="2045244"/>
            <a:ext cx="6435792" cy="5765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000" b="1" i="0" baseline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defRPr>
            </a:lvl1pPr>
          </a:lstStyle>
          <a:p>
            <a:r>
              <a:rPr kumimoji="1" lang="zh-CN" altLang="en-US" dirty="0"/>
              <a:t>单击此处添加章节标题</a:t>
            </a:r>
          </a:p>
        </p:txBody>
      </p:sp>
      <p:sp>
        <p:nvSpPr>
          <p:cNvPr id="5" name="矩形"/>
          <p:cNvSpPr/>
          <p:nvPr userDrawn="1"/>
        </p:nvSpPr>
        <p:spPr>
          <a:xfrm>
            <a:off x="-5052" y="4061865"/>
            <a:ext cx="9149052" cy="108163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11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1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766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4" y="3"/>
            <a:ext cx="9158834" cy="5146909"/>
          </a:xfrm>
          <a:prstGeom prst="rect">
            <a:avLst/>
          </a:prstGeom>
          <a:gradFill flip="none" rotWithShape="1">
            <a:gsLst>
              <a:gs pos="5900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  <a:gs pos="32000">
                <a:srgbClr val="D4F4F1">
                  <a:alpha val="4000"/>
                </a:srgbClr>
              </a:gs>
              <a:gs pos="0">
                <a:schemeClr val="accent1">
                  <a:lumMod val="20000"/>
                  <a:lumOff val="80000"/>
                  <a:alpha val="27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46" dirty="0"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178637" y="183743"/>
            <a:ext cx="7157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fld id="{0B452686-956E-4DA3-8759-2175C745677F}" type="slidenum">
              <a:rPr lang="en-US" altLang="zh-CN" smtClean="0"/>
              <a:t>‹#›</a:t>
            </a:fld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668216" y="178867"/>
            <a:ext cx="5289947" cy="362984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lang="zh-CN" altLang="en-US" sz="1954" dirty="0" smtClean="0">
                <a:solidFill>
                  <a:schemeClr val="accent1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defRPr>
            </a:lvl1pPr>
            <a:lvl2pPr marL="171450" indent="0">
              <a:buNone/>
              <a:defRPr lang="zh-CN" altLang="en-US" sz="1354" dirty="0">
                <a:latin typeface="+mn-lt"/>
                <a:ea typeface="+mn-ea"/>
                <a:cs typeface="+mn-cs"/>
              </a:defRPr>
            </a:lvl2pPr>
          </a:lstStyle>
          <a:p>
            <a:pPr marL="0" lvl="0" defTabSz="34290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841218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0" imgH="0" progId="TCLayout.ActiveDocument.1">
                  <p:embed/>
                </p:oleObj>
              </mc:Choice>
              <mc:Fallback>
                <p:oleObj name="think-cell 幻灯片" r:id="rId12" imgW="0" imgH="0" progId="TCLayout.ActiveDocument.1">
                  <p:embed/>
                  <p:pic>
                    <p:nvPicPr>
                      <p:cNvPr id="0" name="对象 4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"/>
          <p:cNvSpPr/>
          <p:nvPr userDrawn="1"/>
        </p:nvSpPr>
        <p:spPr>
          <a:xfrm>
            <a:off x="0" y="5037438"/>
            <a:ext cx="9144000" cy="114300"/>
          </a:xfrm>
          <a:prstGeom prst="rect">
            <a:avLst/>
          </a:prstGeom>
          <a:solidFill>
            <a:srgbClr val="FFD1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3200" baseline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7" name="文本占位符 11"/>
          <p:cNvSpPr txBox="1"/>
          <p:nvPr userDrawn="1"/>
        </p:nvSpPr>
        <p:spPr>
          <a:xfrm>
            <a:off x="7736320" y="4739965"/>
            <a:ext cx="1078947" cy="251811"/>
          </a:xfrm>
          <a:prstGeom prst="rect">
            <a:avLst/>
          </a:prstGeom>
        </p:spPr>
        <p:txBody>
          <a:bodyPr wrap="none" anchor="ctr"/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48968B-9B7E-4AEF-AF8F-76389AEE4EF7}" type="slidenum">
              <a:rPr kumimoji="1" lang="zh-CN" altLang="en-US" sz="1000" baseline="0" smtClean="0">
                <a:latin typeface="Calibri" panose="020F0502020204030204" pitchFamily="34" charset="0"/>
                <a:ea typeface="楷体" panose="02010609060101010101" pitchFamily="49" charset="-122"/>
                <a:cs typeface="+mn-cs"/>
                <a:sym typeface="+mn-lt"/>
              </a:rPr>
              <a:t>‹#›</a:t>
            </a:fld>
            <a:endParaRPr kumimoji="1" lang="zh-CN" altLang="en-US" sz="1000" baseline="0" dirty="0">
              <a:latin typeface="Calibri" panose="020F0502020204030204" pitchFamily="34" charset="0"/>
              <a:ea typeface="楷体" panose="02010609060101010101" pitchFamily="49" charset="-122"/>
              <a:cs typeface="+mn-cs"/>
              <a:sym typeface="+mn-lt"/>
            </a:endParaRPr>
          </a:p>
        </p:txBody>
      </p:sp>
      <p:sp>
        <p:nvSpPr>
          <p:cNvPr id="6" name="标题占位符 5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¡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60000"/>
        <a:buFont typeface="Wingdings" panose="05000000000000000000" pitchFamily="2" charset="2"/>
        <a:buChar char="n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2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douyin.com/hot/2511822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2.jpeg"/><Relationship Id="rId12" Type="http://schemas.openxmlformats.org/officeDocument/2006/relationships/image" Target="../media/image13.jpeg"/><Relationship Id="rId13" Type="http://schemas.openxmlformats.org/officeDocument/2006/relationships/image" Target="../media/image14.jpeg"/><Relationship Id="rId14" Type="http://schemas.openxmlformats.org/officeDocument/2006/relationships/image" Target="../media/image1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jpeg"/><Relationship Id="rId7" Type="http://schemas.openxmlformats.org/officeDocument/2006/relationships/image" Target="../media/image20.jpeg"/><Relationship Id="rId8" Type="http://schemas.openxmlformats.org/officeDocument/2006/relationships/image" Target="../media/image21.jpe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3.xml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chart" Target="../charts/chart4.xml"/><Relationship Id="rId7" Type="http://schemas.openxmlformats.org/officeDocument/2006/relationships/image" Target="../media/image50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2.jpeg"/><Relationship Id="rId12" Type="http://schemas.openxmlformats.org/officeDocument/2006/relationships/image" Target="../media/image13.jpeg"/><Relationship Id="rId13" Type="http://schemas.openxmlformats.org/officeDocument/2006/relationships/image" Target="../media/image14.jpeg"/><Relationship Id="rId14" Type="http://schemas.openxmlformats.org/officeDocument/2006/relationships/image" Target="../media/image15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jpeg"/><Relationship Id="rId7" Type="http://schemas.openxmlformats.org/officeDocument/2006/relationships/image" Target="../media/image20.jpeg"/><Relationship Id="rId8" Type="http://schemas.openxmlformats.org/officeDocument/2006/relationships/image" Target="../media/image21.jpe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Relationship Id="rId5" Type="http://schemas.openxmlformats.org/officeDocument/2006/relationships/chart" Target="../charts/chart11.xml"/><Relationship Id="rId6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jpeg"/><Relationship Id="rId7" Type="http://schemas.openxmlformats.org/officeDocument/2006/relationships/image" Target="../media/image67.jpeg"/><Relationship Id="rId8" Type="http://schemas.openxmlformats.org/officeDocument/2006/relationships/image" Target="../media/image6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榜单</a:t>
            </a:r>
            <a:r>
              <a:rPr lang="zh-CN" altLang="en-US" dirty="0"/>
              <a:t>建设</a:t>
            </a:r>
            <a:r>
              <a:rPr lang="zh-CN" altLang="en-US" dirty="0">
                <a:effectLst/>
              </a:rPr>
              <a:t>进展汇报</a:t>
            </a: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23777197-6C17-1E03-E0FB-7A08400971E6}"/>
              </a:ext>
            </a:extLst>
          </p:cNvPr>
          <p:cNvSpPr/>
          <p:nvPr/>
        </p:nvSpPr>
        <p:spPr>
          <a:xfrm>
            <a:off x="6824696" y="41432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到餐事业部</a:t>
            </a: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资产运营</a:t>
            </a:r>
            <a:endParaRPr lang="en-US" sz="1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A5AA0EA7-C406-0817-D821-F48040560E45}"/>
              </a:ext>
            </a:extLst>
          </p:cNvPr>
          <p:cNvSpPr/>
          <p:nvPr/>
        </p:nvSpPr>
        <p:spPr>
          <a:xfrm>
            <a:off x="7546056" y="4509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</a:t>
            </a: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3143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3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标题 12"/>
          <p:cNvSpPr>
            <a:spLocks noGrp="1"/>
          </p:cNvSpPr>
          <p:nvPr>
            <p:ph type="title"/>
          </p:nvPr>
        </p:nvSpPr>
        <p:spPr/>
        <p:txBody>
          <a:bodyPr vert="horz">
            <a:noAutofit/>
          </a:bodyPr>
          <a:lstStyle/>
          <a:p>
            <a:r>
              <a:rPr lang="zh-CN" altLang="en-US" sz="21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292D91-4E94-1299-139C-09FCB5B46DF6}"/>
              </a:ext>
            </a:extLst>
          </p:cNvPr>
          <p:cNvSpPr txBox="1"/>
          <p:nvPr/>
        </p:nvSpPr>
        <p:spPr>
          <a:xfrm>
            <a:off x="587534" y="1176656"/>
            <a:ext cx="7459185" cy="2790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+mj-ea"/>
              </a:rPr>
              <a:t>榜单整体</a:t>
            </a:r>
            <a:r>
              <a:rPr lang="en" altLang="zh-CN" sz="2000" dirty="0">
                <a:latin typeface="+mj-ea"/>
              </a:rPr>
              <a:t>TG</a:t>
            </a:r>
            <a:r>
              <a:rPr lang="zh-CN" altLang="en-US" sz="2000" dirty="0">
                <a:latin typeface="+mj-ea"/>
              </a:rPr>
              <a:t>结果</a:t>
            </a:r>
            <a:endParaRPr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+mj-ea"/>
              </a:rPr>
              <a:t>用户需求满足及榜单</a:t>
            </a:r>
            <a:r>
              <a:rPr kumimoji="1" lang="zh-CN" altLang="en-US" sz="2000" dirty="0">
                <a:latin typeface="+mj-ea"/>
              </a:rPr>
              <a:t>机会点</a:t>
            </a:r>
            <a:endParaRPr kumimoji="1"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2000" dirty="0">
                <a:latin typeface="+mj-ea"/>
              </a:rPr>
              <a:t>榜单动线建设（异地旅游、日常找店）</a:t>
            </a:r>
            <a:endParaRPr kumimoji="1"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2000" dirty="0">
                <a:latin typeface="+mj-ea"/>
              </a:rPr>
              <a:t>榜单矩阵建设（场景榜单、指数榜单、菜品榜单）</a:t>
            </a:r>
            <a:endParaRPr lang="en-US" altLang="zh-CN" sz="2000" dirty="0">
              <a:latin typeface="+mj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榜单全链路智能运营</a:t>
            </a:r>
            <a:endParaRPr lang="zh-CN" altLang="en-US" sz="2000" dirty="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+mj-ea"/>
              </a:rPr>
              <a:t>RoadMap</a:t>
            </a:r>
            <a:endParaRPr lang="zh-CN" altLang="en-US" sz="2000" dirty="0">
              <a:latin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B6C2-7A53-9C52-7ECD-0F6AA894A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>
            <a:extLst>
              <a:ext uri="{FF2B5EF4-FFF2-40B4-BE49-F238E27FC236}">
                <a16:creationId xmlns:a16="http://schemas.microsoft.com/office/drawing/2014/main" id="{47D6A2E4-DF56-4C53-DCE4-2FCDD4181B7B}"/>
              </a:ext>
            </a:extLst>
          </p:cNvPr>
          <p:cNvSpPr txBox="1"/>
          <p:nvPr/>
        </p:nvSpPr>
        <p:spPr>
          <a:xfrm>
            <a:off x="137213" y="139433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榜单整体</a:t>
            </a:r>
            <a:r>
              <a:rPr lang="en" altLang="zh-CN" sz="2100" dirty="0">
                <a:latin typeface="+mj-ea"/>
              </a:rPr>
              <a:t>TG</a:t>
            </a:r>
            <a:r>
              <a:rPr lang="zh-CN" altLang="en-US" sz="2100" dirty="0">
                <a:latin typeface="+mj-ea"/>
              </a:rPr>
              <a:t>结果</a:t>
            </a:r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12A7B086-AFF8-DFAF-D042-E0308AF91DAA}"/>
              </a:ext>
            </a:extLst>
          </p:cNvPr>
          <p:cNvSpPr/>
          <p:nvPr/>
        </p:nvSpPr>
        <p:spPr>
          <a:xfrm>
            <a:off x="251999" y="740097"/>
            <a:ext cx="1343519" cy="927028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101A094B-259C-771A-8225-0BD75D9FCBC7}"/>
              </a:ext>
            </a:extLst>
          </p:cNvPr>
          <p:cNvSpPr/>
          <p:nvPr/>
        </p:nvSpPr>
        <p:spPr>
          <a:xfrm>
            <a:off x="251999" y="740097"/>
            <a:ext cx="1343519" cy="3358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634A02CA-175C-6ACA-C159-6784B0DACA54}"/>
              </a:ext>
            </a:extLst>
          </p:cNvPr>
          <p:cNvSpPr/>
          <p:nvPr/>
        </p:nvSpPr>
        <p:spPr>
          <a:xfrm>
            <a:off x="319175" y="820708"/>
            <a:ext cx="1209167" cy="389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+83.6%</a:t>
            </a:r>
            <a:endParaRPr lang="en-US" dirty="0">
              <a:latin typeface="+mn-ea"/>
            </a:endParaRPr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3DE87A75-4257-6E10-20BC-1B7E63B734B7}"/>
              </a:ext>
            </a:extLst>
          </p:cNvPr>
          <p:cNvSpPr/>
          <p:nvPr/>
        </p:nvSpPr>
        <p:spPr>
          <a:xfrm>
            <a:off x="319175" y="1210329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vs基期</a:t>
            </a:r>
            <a:endParaRPr lang="en-US" sz="600" dirty="0">
              <a:latin typeface="+mn-ea"/>
            </a:endParaRP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AD8785D6-E596-21E4-2C3A-6667F073B08F}"/>
              </a:ext>
            </a:extLst>
          </p:cNvPr>
          <p:cNvSpPr/>
          <p:nvPr/>
        </p:nvSpPr>
        <p:spPr>
          <a:xfrm>
            <a:off x="319175" y="1344681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榜单决策UV</a:t>
            </a:r>
            <a:endParaRPr lang="en-US" sz="800" dirty="0">
              <a:latin typeface="+mn-ea"/>
            </a:endParaRPr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F1D6DB67-7A1E-686A-88EC-B81EA73D6A89}"/>
              </a:ext>
            </a:extLst>
          </p:cNvPr>
          <p:cNvSpPr/>
          <p:nvPr/>
        </p:nvSpPr>
        <p:spPr>
          <a:xfrm>
            <a:off x="305740" y="1479033"/>
            <a:ext cx="1236038" cy="120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209万→384万/日</a:t>
            </a:r>
            <a:endParaRPr lang="en-US" sz="700" dirty="0">
              <a:latin typeface="+mn-ea"/>
            </a:endParaRPr>
          </a:p>
        </p:txBody>
      </p:sp>
      <p:sp>
        <p:nvSpPr>
          <p:cNvPr id="9" name="Shape 14">
            <a:extLst>
              <a:ext uri="{FF2B5EF4-FFF2-40B4-BE49-F238E27FC236}">
                <a16:creationId xmlns:a16="http://schemas.microsoft.com/office/drawing/2014/main" id="{E1DB0ADF-7F48-B681-4036-169E603E03BD}"/>
              </a:ext>
            </a:extLst>
          </p:cNvPr>
          <p:cNvSpPr/>
          <p:nvPr/>
        </p:nvSpPr>
        <p:spPr>
          <a:xfrm>
            <a:off x="1716435" y="740097"/>
            <a:ext cx="1343519" cy="927028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DB54C87A-B7A2-D6E8-CD45-62A4A4EB172A}"/>
              </a:ext>
            </a:extLst>
          </p:cNvPr>
          <p:cNvSpPr/>
          <p:nvPr/>
        </p:nvSpPr>
        <p:spPr>
          <a:xfrm>
            <a:off x="1716435" y="740097"/>
            <a:ext cx="1343519" cy="33588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6480320E-0E29-3EBC-A65C-4E111CCF9A3F}"/>
              </a:ext>
            </a:extLst>
          </p:cNvPr>
          <p:cNvSpPr/>
          <p:nvPr/>
        </p:nvSpPr>
        <p:spPr>
          <a:xfrm>
            <a:off x="1783611" y="820708"/>
            <a:ext cx="1209167" cy="389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+115%</a:t>
            </a:r>
            <a:endParaRPr lang="en-US" dirty="0">
              <a:latin typeface="+mn-ea"/>
            </a:endParaRP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8CE9CDD1-49AE-CBB8-BA2C-003B4A612519}"/>
              </a:ext>
            </a:extLst>
          </p:cNvPr>
          <p:cNvSpPr/>
          <p:nvPr/>
        </p:nvSpPr>
        <p:spPr>
          <a:xfrm>
            <a:off x="1783611" y="1210329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vs基期</a:t>
            </a:r>
            <a:endParaRPr lang="en-US" sz="600" dirty="0">
              <a:latin typeface="+mn-ea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0DC48ED6-B4F9-B418-63D2-57469FDC01DD}"/>
              </a:ext>
            </a:extLst>
          </p:cNvPr>
          <p:cNvSpPr/>
          <p:nvPr/>
        </p:nvSpPr>
        <p:spPr>
          <a:xfrm>
            <a:off x="1783611" y="1344681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榜单决策意向UV</a:t>
            </a:r>
            <a:endParaRPr lang="en-US" sz="800" dirty="0">
              <a:latin typeface="+mn-ea"/>
            </a:endParaRP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190CD635-D4BE-B9F5-B0B7-E0FF6F49E492}"/>
              </a:ext>
            </a:extLst>
          </p:cNvPr>
          <p:cNvSpPr/>
          <p:nvPr/>
        </p:nvSpPr>
        <p:spPr>
          <a:xfrm>
            <a:off x="1770176" y="1479033"/>
            <a:ext cx="1236038" cy="120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64万→138万/日</a:t>
            </a:r>
            <a:endParaRPr lang="en-US" sz="700" dirty="0">
              <a:latin typeface="+mn-ea"/>
            </a:endParaRPr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6646C3C9-A04A-1249-CC39-D082DEE657ED}"/>
              </a:ext>
            </a:extLst>
          </p:cNvPr>
          <p:cNvSpPr/>
          <p:nvPr/>
        </p:nvSpPr>
        <p:spPr>
          <a:xfrm>
            <a:off x="3180871" y="740097"/>
            <a:ext cx="1343519" cy="927028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03384C2-F839-145D-4CB8-959B25E769E3}"/>
              </a:ext>
            </a:extLst>
          </p:cNvPr>
          <p:cNvSpPr/>
          <p:nvPr/>
        </p:nvSpPr>
        <p:spPr>
          <a:xfrm>
            <a:off x="3180871" y="740097"/>
            <a:ext cx="1343519" cy="33588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EBEDA8AC-6BCF-C549-ACB5-17C43EA50B0C}"/>
              </a:ext>
            </a:extLst>
          </p:cNvPr>
          <p:cNvSpPr/>
          <p:nvPr/>
        </p:nvSpPr>
        <p:spPr>
          <a:xfrm>
            <a:off x="3248047" y="820708"/>
            <a:ext cx="1209167" cy="389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+267.9%</a:t>
            </a:r>
            <a:endParaRPr lang="en-US" dirty="0">
              <a:latin typeface="+mn-ea"/>
            </a:endParaRPr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6F05F226-218C-DF7E-92F5-DDB75C887A24}"/>
              </a:ext>
            </a:extLst>
          </p:cNvPr>
          <p:cNvSpPr/>
          <p:nvPr/>
        </p:nvSpPr>
        <p:spPr>
          <a:xfrm>
            <a:off x="3248047" y="1210329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异地意向UV</a:t>
            </a:r>
            <a:endParaRPr lang="en-US" sz="600" dirty="0">
              <a:latin typeface="+mn-ea"/>
            </a:endParaRPr>
          </a:p>
        </p:txBody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146D23A0-EF53-6DC3-85B9-C498BC65CA9D}"/>
              </a:ext>
            </a:extLst>
          </p:cNvPr>
          <p:cNvSpPr/>
          <p:nvPr/>
        </p:nvSpPr>
        <p:spPr>
          <a:xfrm>
            <a:off x="3248047" y="1344681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旅游场景爆发</a:t>
            </a:r>
            <a:endParaRPr lang="en-US" sz="800" dirty="0">
              <a:latin typeface="+mn-ea"/>
            </a:endParaRPr>
          </a:p>
        </p:txBody>
      </p:sp>
      <p:sp>
        <p:nvSpPr>
          <p:cNvPr id="22" name="Text 25">
            <a:extLst>
              <a:ext uri="{FF2B5EF4-FFF2-40B4-BE49-F238E27FC236}">
                <a16:creationId xmlns:a16="http://schemas.microsoft.com/office/drawing/2014/main" id="{E664CAB1-F224-2640-EBD8-CA4D52E17C50}"/>
              </a:ext>
            </a:extLst>
          </p:cNvPr>
          <p:cNvSpPr/>
          <p:nvPr/>
        </p:nvSpPr>
        <p:spPr>
          <a:xfrm>
            <a:off x="3234611" y="1479033"/>
            <a:ext cx="1236038" cy="120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86万→318万</a:t>
            </a:r>
            <a:endParaRPr lang="en-US" sz="7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Shape 26">
            <a:extLst>
              <a:ext uri="{FF2B5EF4-FFF2-40B4-BE49-F238E27FC236}">
                <a16:creationId xmlns:a16="http://schemas.microsoft.com/office/drawing/2014/main" id="{3EBE47C3-1121-9456-59F3-5384870CF9F5}"/>
              </a:ext>
            </a:extLst>
          </p:cNvPr>
          <p:cNvSpPr/>
          <p:nvPr/>
        </p:nvSpPr>
        <p:spPr>
          <a:xfrm>
            <a:off x="4645306" y="740097"/>
            <a:ext cx="1343519" cy="927028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1A5F856F-3D09-1751-930E-F10CB517EC2A}"/>
              </a:ext>
            </a:extLst>
          </p:cNvPr>
          <p:cNvSpPr/>
          <p:nvPr/>
        </p:nvSpPr>
        <p:spPr>
          <a:xfrm>
            <a:off x="4645306" y="740097"/>
            <a:ext cx="1343519" cy="33588"/>
          </a:xfrm>
          <a:prstGeom prst="rect">
            <a:avLst/>
          </a:prstGeom>
          <a:solidFill>
            <a:srgbClr val="00A854"/>
          </a:solidFill>
          <a:ln w="12700">
            <a:solidFill>
              <a:srgbClr val="00A854"/>
            </a:solidFill>
            <a:prstDash val="solid"/>
          </a:ln>
        </p:spPr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ACAB141D-4ED5-0E2C-FA51-5163E66F064B}"/>
              </a:ext>
            </a:extLst>
          </p:cNvPr>
          <p:cNvSpPr/>
          <p:nvPr/>
        </p:nvSpPr>
        <p:spPr>
          <a:xfrm>
            <a:off x="4712482" y="820708"/>
            <a:ext cx="1209167" cy="389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+5.24pp</a:t>
            </a:r>
            <a:endParaRPr lang="en-US" dirty="0">
              <a:latin typeface="+mn-ea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78894E19-96BD-07BE-F0CB-4713FBFD0793}"/>
              </a:ext>
            </a:extLst>
          </p:cNvPr>
          <p:cNvSpPr/>
          <p:nvPr/>
        </p:nvSpPr>
        <p:spPr>
          <a:xfrm>
            <a:off x="4712482" y="1210329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意向UV转化率</a:t>
            </a:r>
            <a:endParaRPr lang="en-US" sz="600" dirty="0">
              <a:latin typeface="+mn-ea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8F47F414-56A6-38BB-5A21-1BC049420D3D}"/>
              </a:ext>
            </a:extLst>
          </p:cNvPr>
          <p:cNvSpPr/>
          <p:nvPr/>
        </p:nvSpPr>
        <p:spPr>
          <a:xfrm>
            <a:off x="4712482" y="1344681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30.7%→35.9%</a:t>
            </a:r>
            <a:endParaRPr lang="en-US" sz="800" dirty="0">
              <a:latin typeface="+mn-ea"/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0D5E63E4-95A4-7074-A18B-E613E4A7B3D2}"/>
              </a:ext>
            </a:extLst>
          </p:cNvPr>
          <p:cNvSpPr/>
          <p:nvPr/>
        </p:nvSpPr>
        <p:spPr>
          <a:xfrm>
            <a:off x="4699047" y="1479033"/>
            <a:ext cx="1236038" cy="120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转化质量提升</a:t>
            </a:r>
            <a:endParaRPr lang="en-US" sz="700" dirty="0">
              <a:latin typeface="+mn-ea"/>
            </a:endParaRPr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CFBC61A2-5C40-9696-642A-6E365B33A4E6}"/>
              </a:ext>
            </a:extLst>
          </p:cNvPr>
          <p:cNvSpPr/>
          <p:nvPr/>
        </p:nvSpPr>
        <p:spPr>
          <a:xfrm>
            <a:off x="6109742" y="740097"/>
            <a:ext cx="1343519" cy="927028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A0CAAF0E-7BA4-6AAA-BFA7-E7A76E0EE2F8}"/>
              </a:ext>
            </a:extLst>
          </p:cNvPr>
          <p:cNvSpPr/>
          <p:nvPr/>
        </p:nvSpPr>
        <p:spPr>
          <a:xfrm>
            <a:off x="6109742" y="740097"/>
            <a:ext cx="1343519" cy="33588"/>
          </a:xfrm>
          <a:prstGeom prst="rect">
            <a:avLst/>
          </a:prstGeom>
          <a:solidFill>
            <a:srgbClr val="00A854"/>
          </a:solidFill>
          <a:ln w="12700">
            <a:solidFill>
              <a:srgbClr val="00A854"/>
            </a:solidFill>
            <a:prstDash val="solid"/>
          </a:ln>
        </p:spPr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38DDD7D0-715C-D84E-9C34-573706DA35DB}"/>
              </a:ext>
            </a:extLst>
          </p:cNvPr>
          <p:cNvSpPr/>
          <p:nvPr/>
        </p:nvSpPr>
        <p:spPr>
          <a:xfrm>
            <a:off x="6176918" y="820708"/>
            <a:ext cx="1209167" cy="389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+4.4pp</a:t>
            </a:r>
            <a:endParaRPr lang="en-US" dirty="0">
              <a:latin typeface="+mn-ea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EB8F8A9C-D89D-1B02-68D3-CD0DAF1D933F}"/>
              </a:ext>
            </a:extLst>
          </p:cNvPr>
          <p:cNvSpPr/>
          <p:nvPr/>
        </p:nvSpPr>
        <p:spPr>
          <a:xfrm>
            <a:off x="6176918" y="1210329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门店满足率</a:t>
            </a:r>
            <a:endParaRPr lang="en-US" sz="600" dirty="0">
              <a:latin typeface="+mn-ea"/>
            </a:endParaRPr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7F6B9BD4-B0AF-D9BE-7360-A28CB17D0838}"/>
              </a:ext>
            </a:extLst>
          </p:cNvPr>
          <p:cNvSpPr/>
          <p:nvPr/>
        </p:nvSpPr>
        <p:spPr>
          <a:xfrm>
            <a:off x="6176918" y="1344681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31.1%→35.5%</a:t>
            </a:r>
            <a:endParaRPr lang="en-US" sz="800" dirty="0">
              <a:latin typeface="+mn-ea"/>
            </a:endParaRPr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6D42ECB2-F5B7-338A-5DDF-E0FC9E62A3F8}"/>
              </a:ext>
            </a:extLst>
          </p:cNvPr>
          <p:cNvSpPr/>
          <p:nvPr/>
        </p:nvSpPr>
        <p:spPr>
          <a:xfrm>
            <a:off x="6163483" y="1479033"/>
            <a:ext cx="1236038" cy="120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供给覆盖改善</a:t>
            </a:r>
            <a:endParaRPr lang="en-US" sz="700" dirty="0">
              <a:latin typeface="+mn-ea"/>
            </a:endParaRP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6BA173D7-5726-A799-DC35-95A28270103C}"/>
              </a:ext>
            </a:extLst>
          </p:cNvPr>
          <p:cNvSpPr/>
          <p:nvPr/>
        </p:nvSpPr>
        <p:spPr>
          <a:xfrm>
            <a:off x="7574178" y="740097"/>
            <a:ext cx="1343519" cy="927028"/>
          </a:xfrm>
          <a:prstGeom prst="rect">
            <a:avLst/>
          </a:prstGeom>
          <a:solidFill>
            <a:srgbClr val="FFFFFF"/>
          </a:solidFill>
          <a:ln w="7620">
            <a:solidFill>
              <a:srgbClr val="EBEBEB"/>
            </a:solidFill>
            <a:prstDash val="solid"/>
          </a:ln>
        </p:spPr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D2F64A0F-70A6-6128-995C-9B62D8E3387A}"/>
              </a:ext>
            </a:extLst>
          </p:cNvPr>
          <p:cNvSpPr/>
          <p:nvPr/>
        </p:nvSpPr>
        <p:spPr>
          <a:xfrm>
            <a:off x="7574178" y="740097"/>
            <a:ext cx="1343519" cy="3358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435DAE68-90AE-7BFE-E666-9071C3DB27E0}"/>
              </a:ext>
            </a:extLst>
          </p:cNvPr>
          <p:cNvSpPr/>
          <p:nvPr/>
        </p:nvSpPr>
        <p:spPr>
          <a:xfrm>
            <a:off x="7641354" y="820708"/>
            <a:ext cx="1209167" cy="3896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+1.44pp</a:t>
            </a:r>
            <a:endParaRPr lang="en-US" dirty="0">
              <a:latin typeface="+mn-ea"/>
            </a:endParaRPr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48EDC420-B845-BF6E-6E89-63CFD74A7A7C}"/>
              </a:ext>
            </a:extLst>
          </p:cNvPr>
          <p:cNvSpPr/>
          <p:nvPr/>
        </p:nvSpPr>
        <p:spPr>
          <a:xfrm>
            <a:off x="7641354" y="1210329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决策UV渗透率</a:t>
            </a:r>
            <a:endParaRPr lang="en-US" sz="600" dirty="0">
              <a:latin typeface="+mn-ea"/>
            </a:endParaRPr>
          </a:p>
        </p:txBody>
      </p:sp>
      <p:sp>
        <p:nvSpPr>
          <p:cNvPr id="42" name="Text 42">
            <a:extLst>
              <a:ext uri="{FF2B5EF4-FFF2-40B4-BE49-F238E27FC236}">
                <a16:creationId xmlns:a16="http://schemas.microsoft.com/office/drawing/2014/main" id="{81EACCFF-25EC-95CC-A057-E412B00FA9D2}"/>
              </a:ext>
            </a:extLst>
          </p:cNvPr>
          <p:cNvSpPr/>
          <p:nvPr/>
        </p:nvSpPr>
        <p:spPr>
          <a:xfrm>
            <a:off x="7641354" y="1344681"/>
            <a:ext cx="1209167" cy="134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4.0%→5.4%</a:t>
            </a:r>
            <a:endParaRPr lang="en-US" sz="800" dirty="0">
              <a:latin typeface="+mn-ea"/>
            </a:endParaRPr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B19C6A69-C923-4E15-7579-5CBE4CCE6FFC}"/>
              </a:ext>
            </a:extLst>
          </p:cNvPr>
          <p:cNvSpPr/>
          <p:nvPr/>
        </p:nvSpPr>
        <p:spPr>
          <a:xfrm>
            <a:off x="7627919" y="1479033"/>
            <a:ext cx="1236038" cy="120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榜单触达提升</a:t>
            </a:r>
            <a:endParaRPr lang="en-US" sz="700" dirty="0">
              <a:latin typeface="+mn-ea"/>
            </a:endParaRP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C66527EA-AB31-BC01-D0F6-0C251F3EAE03}"/>
              </a:ext>
            </a:extLst>
          </p:cNvPr>
          <p:cNvSpPr/>
          <p:nvPr/>
        </p:nvSpPr>
        <p:spPr>
          <a:xfrm>
            <a:off x="235358" y="1856774"/>
            <a:ext cx="3170618" cy="1780163"/>
          </a:xfrm>
          <a:prstGeom prst="rect">
            <a:avLst/>
          </a:prstGeom>
          <a:solidFill>
            <a:srgbClr val="FFFBEA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A04BE448-6380-EFD5-A7DC-6465A6AFA213}"/>
              </a:ext>
            </a:extLst>
          </p:cNvPr>
          <p:cNvSpPr/>
          <p:nvPr/>
        </p:nvSpPr>
        <p:spPr>
          <a:xfrm>
            <a:off x="6331474" y="1856638"/>
            <a:ext cx="2613778" cy="1780163"/>
          </a:xfrm>
          <a:prstGeom prst="rect">
            <a:avLst/>
          </a:prstGeom>
          <a:solidFill>
            <a:srgbClr val="FFFBEB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2F2CDF2E-656F-44CD-DB31-F336C645A992}"/>
              </a:ext>
            </a:extLst>
          </p:cNvPr>
          <p:cNvSpPr/>
          <p:nvPr/>
        </p:nvSpPr>
        <p:spPr>
          <a:xfrm>
            <a:off x="238901" y="1910515"/>
            <a:ext cx="2881847" cy="26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节日效果</a:t>
            </a:r>
            <a:endParaRPr lang="en-US" sz="1200" dirty="0">
              <a:latin typeface="+mn-ea"/>
            </a:endParaRPr>
          </a:p>
        </p:txBody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AD84AA95-8374-46F9-26E4-1A25C2DDAEC9}"/>
              </a:ext>
            </a:extLst>
          </p:cNvPr>
          <p:cNvSpPr/>
          <p:nvPr/>
        </p:nvSpPr>
        <p:spPr>
          <a:xfrm>
            <a:off x="6345149" y="1910379"/>
            <a:ext cx="2238179" cy="26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拉新效果</a:t>
            </a:r>
            <a:r>
              <a:rPr lang="zh-CN" altLang="en-US" sz="1200" b="1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（五一）</a:t>
            </a:r>
            <a:endParaRPr lang="en-US" sz="1200" dirty="0">
              <a:latin typeface="+mn-ea"/>
            </a:endParaRPr>
          </a:p>
        </p:txBody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9B2C52F6-679F-FE0D-6FA5-C7D3427913D7}"/>
              </a:ext>
            </a:extLst>
          </p:cNvPr>
          <p:cNvSpPr/>
          <p:nvPr/>
        </p:nvSpPr>
        <p:spPr>
          <a:xfrm>
            <a:off x="275592" y="2232733"/>
            <a:ext cx="1536984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指标</a:t>
            </a:r>
            <a:endParaRPr lang="en-US" sz="900" dirty="0">
              <a:latin typeface="+mn-ea"/>
            </a:endParaRPr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6D0F2580-1A56-3B34-B562-592C89E21C29}"/>
              </a:ext>
            </a:extLst>
          </p:cNvPr>
          <p:cNvSpPr/>
          <p:nvPr/>
        </p:nvSpPr>
        <p:spPr>
          <a:xfrm>
            <a:off x="6388559" y="2232597"/>
            <a:ext cx="1536984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指标</a:t>
            </a:r>
            <a:endParaRPr lang="en-US" sz="900" dirty="0">
              <a:latin typeface="+mn-ea"/>
            </a:endParaRPr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A6CB3427-3241-92A6-9DFD-DB80AE1A3B54}"/>
              </a:ext>
            </a:extLst>
          </p:cNvPr>
          <p:cNvSpPr/>
          <p:nvPr/>
        </p:nvSpPr>
        <p:spPr>
          <a:xfrm>
            <a:off x="-689520" y="2232597"/>
            <a:ext cx="864554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66666"/>
                </a:solidFill>
                <a:latin typeface="+mn-ea"/>
                <a:cs typeface="Microsoft YaHei" pitchFamily="34" charset="-120"/>
              </a:rPr>
              <a:t>榜单基期</a:t>
            </a:r>
            <a:endParaRPr lang="en-US" sz="900" dirty="0">
              <a:latin typeface="+mn-ea"/>
            </a:endParaRPr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FB8C806D-26A8-82AE-C4A4-4AEA90D14A66}"/>
              </a:ext>
            </a:extLst>
          </p:cNvPr>
          <p:cNvSpPr/>
          <p:nvPr/>
        </p:nvSpPr>
        <p:spPr>
          <a:xfrm>
            <a:off x="7104501" y="2232597"/>
            <a:ext cx="864554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66666"/>
                </a:solidFill>
                <a:latin typeface="+mn-ea"/>
              </a:rPr>
              <a:t>榜单</a:t>
            </a:r>
            <a:endParaRPr lang="en-US" sz="900" dirty="0">
              <a:latin typeface="+mn-ea"/>
            </a:endParaRPr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AC36E8FB-A876-1C9E-6EDA-67C4BB99A596}"/>
              </a:ext>
            </a:extLst>
          </p:cNvPr>
          <p:cNvSpPr/>
          <p:nvPr/>
        </p:nvSpPr>
        <p:spPr>
          <a:xfrm>
            <a:off x="1172985" y="2232733"/>
            <a:ext cx="1056676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五一活动期</a:t>
            </a:r>
            <a:endParaRPr lang="en-US" sz="900" dirty="0">
              <a:latin typeface="+mn-ea"/>
            </a:endParaRPr>
          </a:p>
        </p:txBody>
      </p:sp>
      <p:sp>
        <p:nvSpPr>
          <p:cNvPr id="54" name="Text 53">
            <a:extLst>
              <a:ext uri="{FF2B5EF4-FFF2-40B4-BE49-F238E27FC236}">
                <a16:creationId xmlns:a16="http://schemas.microsoft.com/office/drawing/2014/main" id="{92052425-D310-6654-34B1-41FAED5A54E1}"/>
              </a:ext>
            </a:extLst>
          </p:cNvPr>
          <p:cNvSpPr/>
          <p:nvPr/>
        </p:nvSpPr>
        <p:spPr>
          <a:xfrm>
            <a:off x="7616475" y="2232597"/>
            <a:ext cx="1056676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66666"/>
                </a:solidFill>
                <a:latin typeface="+mn-ea"/>
                <a:cs typeface="Microsoft YaHei" pitchFamily="34" charset="-120"/>
              </a:rPr>
              <a:t>整体</a:t>
            </a:r>
            <a:endParaRPr lang="en-US" sz="900" dirty="0">
              <a:latin typeface="+mn-ea"/>
            </a:endParaRPr>
          </a:p>
        </p:txBody>
      </p:sp>
      <p:sp>
        <p:nvSpPr>
          <p:cNvPr id="55" name="Text 54">
            <a:extLst>
              <a:ext uri="{FF2B5EF4-FFF2-40B4-BE49-F238E27FC236}">
                <a16:creationId xmlns:a16="http://schemas.microsoft.com/office/drawing/2014/main" id="{D53031F8-4705-D8E3-701C-57DE54C2143B}"/>
              </a:ext>
            </a:extLst>
          </p:cNvPr>
          <p:cNvSpPr/>
          <p:nvPr/>
        </p:nvSpPr>
        <p:spPr>
          <a:xfrm>
            <a:off x="2095923" y="2232733"/>
            <a:ext cx="768493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vs基期</a:t>
            </a:r>
            <a:endParaRPr lang="en-US" sz="900" dirty="0">
              <a:latin typeface="+mn-ea"/>
            </a:endParaRPr>
          </a:p>
        </p:txBody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E7D7A8D9-933C-9416-5FB5-9EA45AA50BCB}"/>
              </a:ext>
            </a:extLst>
          </p:cNvPr>
          <p:cNvSpPr/>
          <p:nvPr/>
        </p:nvSpPr>
        <p:spPr>
          <a:xfrm>
            <a:off x="8277317" y="2232597"/>
            <a:ext cx="768493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66666"/>
                </a:solidFill>
                <a:latin typeface="+mn-ea"/>
              </a:rPr>
              <a:t>占比</a:t>
            </a:r>
            <a:endParaRPr lang="en-US" sz="900" dirty="0">
              <a:latin typeface="+mn-ea"/>
            </a:endParaRPr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C8BCBC68-55EF-FFA1-DC55-E7AE4A65F023}"/>
              </a:ext>
            </a:extLst>
          </p:cNvPr>
          <p:cNvSpPr/>
          <p:nvPr/>
        </p:nvSpPr>
        <p:spPr>
          <a:xfrm>
            <a:off x="2864416" y="2232733"/>
            <a:ext cx="960616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YoY</a:t>
            </a:r>
            <a:endParaRPr lang="en-US" sz="900" dirty="0">
              <a:latin typeface="+mn-ea"/>
            </a:endParaRPr>
          </a:p>
        </p:txBody>
      </p:sp>
      <p:sp>
        <p:nvSpPr>
          <p:cNvPr id="59" name="Shape 58">
            <a:extLst>
              <a:ext uri="{FF2B5EF4-FFF2-40B4-BE49-F238E27FC236}">
                <a16:creationId xmlns:a16="http://schemas.microsoft.com/office/drawing/2014/main" id="{8A272BF9-00AB-3C71-1656-2741B8049728}"/>
              </a:ext>
            </a:extLst>
          </p:cNvPr>
          <p:cNvSpPr/>
          <p:nvPr/>
        </p:nvSpPr>
        <p:spPr>
          <a:xfrm flipV="1">
            <a:off x="275592" y="2402820"/>
            <a:ext cx="295572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0" name="Shape 59">
            <a:extLst>
              <a:ext uri="{FF2B5EF4-FFF2-40B4-BE49-F238E27FC236}">
                <a16:creationId xmlns:a16="http://schemas.microsoft.com/office/drawing/2014/main" id="{DF61A2C1-3681-8B33-281A-3840A84C3DB2}"/>
              </a:ext>
            </a:extLst>
          </p:cNvPr>
          <p:cNvSpPr/>
          <p:nvPr/>
        </p:nvSpPr>
        <p:spPr>
          <a:xfrm flipV="1">
            <a:off x="6388559" y="2395968"/>
            <a:ext cx="2474467" cy="671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1" name="Text 60">
            <a:extLst>
              <a:ext uri="{FF2B5EF4-FFF2-40B4-BE49-F238E27FC236}">
                <a16:creationId xmlns:a16="http://schemas.microsoft.com/office/drawing/2014/main" id="{DB2D50F5-D072-D6D9-646B-392CF510AC56}"/>
              </a:ext>
            </a:extLst>
          </p:cNvPr>
          <p:cNvSpPr/>
          <p:nvPr/>
        </p:nvSpPr>
        <p:spPr>
          <a:xfrm>
            <a:off x="275592" y="2420825"/>
            <a:ext cx="153698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整体意向UV</a:t>
            </a:r>
            <a:endParaRPr lang="en-US" sz="800" dirty="0">
              <a:latin typeface="+mn-ea"/>
            </a:endParaRPr>
          </a:p>
        </p:txBody>
      </p:sp>
      <p:sp>
        <p:nvSpPr>
          <p:cNvPr id="62" name="Text 61">
            <a:extLst>
              <a:ext uri="{FF2B5EF4-FFF2-40B4-BE49-F238E27FC236}">
                <a16:creationId xmlns:a16="http://schemas.microsoft.com/office/drawing/2014/main" id="{4F71E71E-39C9-B4B0-69D9-932AB71EC448}"/>
              </a:ext>
            </a:extLst>
          </p:cNvPr>
          <p:cNvSpPr/>
          <p:nvPr/>
        </p:nvSpPr>
        <p:spPr>
          <a:xfrm>
            <a:off x="-689520" y="2420689"/>
            <a:ext cx="86455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308,509</a:t>
            </a:r>
            <a:endParaRPr lang="en-US" sz="900" dirty="0">
              <a:latin typeface="+mn-ea"/>
            </a:endParaRPr>
          </a:p>
        </p:txBody>
      </p:sp>
      <p:sp>
        <p:nvSpPr>
          <p:cNvPr id="63" name="Text 62">
            <a:extLst>
              <a:ext uri="{FF2B5EF4-FFF2-40B4-BE49-F238E27FC236}">
                <a16:creationId xmlns:a16="http://schemas.microsoft.com/office/drawing/2014/main" id="{FE13B848-703A-0E06-9512-63EDAB9CF3C7}"/>
              </a:ext>
            </a:extLst>
          </p:cNvPr>
          <p:cNvSpPr/>
          <p:nvPr/>
        </p:nvSpPr>
        <p:spPr>
          <a:xfrm>
            <a:off x="1172985" y="2420825"/>
            <a:ext cx="1056676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641,051</a:t>
            </a:r>
            <a:endParaRPr lang="en-US" sz="900" dirty="0">
              <a:latin typeface="+mn-ea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73F7B839-853F-9772-444B-D28FA140748F}"/>
              </a:ext>
            </a:extLst>
          </p:cNvPr>
          <p:cNvSpPr/>
          <p:nvPr/>
        </p:nvSpPr>
        <p:spPr>
          <a:xfrm>
            <a:off x="2095923" y="2420825"/>
            <a:ext cx="768493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+107.8%</a:t>
            </a:r>
            <a:endParaRPr lang="en-US" sz="900" dirty="0">
              <a:latin typeface="+mn-ea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84A6AE6A-C811-DEB8-769B-862115D1E17F}"/>
              </a:ext>
            </a:extLst>
          </p:cNvPr>
          <p:cNvSpPr/>
          <p:nvPr/>
        </p:nvSpPr>
        <p:spPr>
          <a:xfrm>
            <a:off x="2864416" y="2420825"/>
            <a:ext cx="960616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+13.4%</a:t>
            </a:r>
            <a:endParaRPr lang="en-US" sz="900" dirty="0">
              <a:latin typeface="+mn-ea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AC4920DE-219C-3807-147C-775B04DDAC2D}"/>
              </a:ext>
            </a:extLst>
          </p:cNvPr>
          <p:cNvSpPr/>
          <p:nvPr/>
        </p:nvSpPr>
        <p:spPr>
          <a:xfrm>
            <a:off x="275592" y="2797011"/>
            <a:ext cx="153698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本地意向UV</a:t>
            </a:r>
            <a:endParaRPr lang="en-US" sz="800" dirty="0">
              <a:latin typeface="+mn-ea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02CB0C2-FE80-35D5-793E-8EDA2D569E2A}"/>
              </a:ext>
            </a:extLst>
          </p:cNvPr>
          <p:cNvSpPr/>
          <p:nvPr/>
        </p:nvSpPr>
        <p:spPr>
          <a:xfrm>
            <a:off x="-689520" y="2796875"/>
            <a:ext cx="86455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222,039</a:t>
            </a:r>
            <a:endParaRPr lang="en-US" sz="900" dirty="0">
              <a:latin typeface="+mn-ea"/>
            </a:endParaRPr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396AEC49-FB9B-85AE-CD97-6905FE693FF1}"/>
              </a:ext>
            </a:extLst>
          </p:cNvPr>
          <p:cNvSpPr/>
          <p:nvPr/>
        </p:nvSpPr>
        <p:spPr>
          <a:xfrm>
            <a:off x="1172985" y="2797011"/>
            <a:ext cx="1056676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322,901</a:t>
            </a:r>
            <a:endParaRPr lang="en-US" sz="900" dirty="0">
              <a:latin typeface="+mn-ea"/>
            </a:endParaRPr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E9810E33-1DEC-A407-DED5-08920F23BF10}"/>
              </a:ext>
            </a:extLst>
          </p:cNvPr>
          <p:cNvSpPr/>
          <p:nvPr/>
        </p:nvSpPr>
        <p:spPr>
          <a:xfrm>
            <a:off x="2095923" y="2797011"/>
            <a:ext cx="768493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+45.4%</a:t>
            </a:r>
            <a:endParaRPr lang="en-US" sz="900" dirty="0">
              <a:latin typeface="+mn-ea"/>
            </a:endParaRPr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0010FAC8-1AE2-AC75-96F9-FA0DC9A7EE8F}"/>
              </a:ext>
            </a:extLst>
          </p:cNvPr>
          <p:cNvSpPr/>
          <p:nvPr/>
        </p:nvSpPr>
        <p:spPr>
          <a:xfrm>
            <a:off x="2864416" y="2797011"/>
            <a:ext cx="960616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+20.2%</a:t>
            </a:r>
            <a:endParaRPr lang="en-US" sz="900" dirty="0">
              <a:latin typeface="+mn-ea"/>
            </a:endParaRPr>
          </a:p>
        </p:txBody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1CAAC069-D45D-B5D5-5D74-96926B8B6E20}"/>
              </a:ext>
            </a:extLst>
          </p:cNvPr>
          <p:cNvSpPr/>
          <p:nvPr/>
        </p:nvSpPr>
        <p:spPr>
          <a:xfrm>
            <a:off x="275592" y="3173196"/>
            <a:ext cx="153698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异地意向UV</a:t>
            </a:r>
            <a:endParaRPr lang="en-US" sz="800" dirty="0">
              <a:latin typeface="+mn-ea"/>
            </a:endParaRPr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1685825A-D9B8-8A0F-26A5-8942CA3B5427}"/>
              </a:ext>
            </a:extLst>
          </p:cNvPr>
          <p:cNvSpPr/>
          <p:nvPr/>
        </p:nvSpPr>
        <p:spPr>
          <a:xfrm>
            <a:off x="-689520" y="3173060"/>
            <a:ext cx="86455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86,470</a:t>
            </a:r>
            <a:endParaRPr lang="en-US" sz="900" dirty="0">
              <a:latin typeface="+mn-ea"/>
            </a:endParaRPr>
          </a:p>
        </p:txBody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39927FE6-3E76-8106-EEE1-B8CC94B47094}"/>
              </a:ext>
            </a:extLst>
          </p:cNvPr>
          <p:cNvSpPr/>
          <p:nvPr/>
        </p:nvSpPr>
        <p:spPr>
          <a:xfrm>
            <a:off x="1172985" y="3173196"/>
            <a:ext cx="1056676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318,150</a:t>
            </a:r>
            <a:endParaRPr lang="en-US" sz="900" dirty="0">
              <a:latin typeface="+mn-ea"/>
            </a:endParaRPr>
          </a:p>
        </p:txBody>
      </p:sp>
      <p:sp>
        <p:nvSpPr>
          <p:cNvPr id="76" name="Text 73">
            <a:extLst>
              <a:ext uri="{FF2B5EF4-FFF2-40B4-BE49-F238E27FC236}">
                <a16:creationId xmlns:a16="http://schemas.microsoft.com/office/drawing/2014/main" id="{97126539-B2C9-6203-D167-E03FA144DFDC}"/>
              </a:ext>
            </a:extLst>
          </p:cNvPr>
          <p:cNvSpPr/>
          <p:nvPr/>
        </p:nvSpPr>
        <p:spPr>
          <a:xfrm>
            <a:off x="2095923" y="3173196"/>
            <a:ext cx="768493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+267.9%</a:t>
            </a:r>
            <a:endParaRPr lang="en-US" sz="900" dirty="0">
              <a:latin typeface="+mn-ea"/>
            </a:endParaRPr>
          </a:p>
        </p:txBody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1C861868-B21E-C732-8B0F-17700A70DEF0}"/>
              </a:ext>
            </a:extLst>
          </p:cNvPr>
          <p:cNvSpPr/>
          <p:nvPr/>
        </p:nvSpPr>
        <p:spPr>
          <a:xfrm>
            <a:off x="2864416" y="3173196"/>
            <a:ext cx="960616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+7.2%</a:t>
            </a:r>
            <a:endParaRPr lang="en-US" sz="900" dirty="0">
              <a:latin typeface="+mn-ea"/>
            </a:endParaRPr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02985A90-FE4D-1165-D7AD-53041A157F52}"/>
              </a:ext>
            </a:extLst>
          </p:cNvPr>
          <p:cNvSpPr/>
          <p:nvPr/>
        </p:nvSpPr>
        <p:spPr>
          <a:xfrm>
            <a:off x="6388559" y="2420689"/>
            <a:ext cx="153698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8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新客UV</a:t>
            </a:r>
            <a:endParaRPr lang="en-US" altLang="zh-CN" sz="800" dirty="0">
              <a:latin typeface="+mn-ea"/>
            </a:endParaRPr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0EAF0CA1-856B-3459-5B31-ABE30F0E0017}"/>
              </a:ext>
            </a:extLst>
          </p:cNvPr>
          <p:cNvSpPr/>
          <p:nvPr/>
        </p:nvSpPr>
        <p:spPr>
          <a:xfrm>
            <a:off x="7104501" y="2420689"/>
            <a:ext cx="86455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0.85w</a:t>
            </a:r>
            <a:endParaRPr lang="en-US" altLang="zh-CN" sz="900" dirty="0">
              <a:latin typeface="+mn-ea"/>
            </a:endParaRPr>
          </a:p>
        </p:txBody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C38A1165-9E88-67C5-5A53-83CA972EB19E}"/>
              </a:ext>
            </a:extLst>
          </p:cNvPr>
          <p:cNvSpPr/>
          <p:nvPr/>
        </p:nvSpPr>
        <p:spPr>
          <a:xfrm>
            <a:off x="7616475" y="2420689"/>
            <a:ext cx="1056676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1.4w</a:t>
            </a:r>
            <a:endParaRPr lang="en-US" altLang="zh-CN" sz="900" dirty="0">
              <a:latin typeface="+mn-ea"/>
            </a:endParaRPr>
          </a:p>
        </p:txBody>
      </p:sp>
      <p:sp>
        <p:nvSpPr>
          <p:cNvPr id="81" name="Text 78">
            <a:extLst>
              <a:ext uri="{FF2B5EF4-FFF2-40B4-BE49-F238E27FC236}">
                <a16:creationId xmlns:a16="http://schemas.microsoft.com/office/drawing/2014/main" id="{0661898A-1AF5-A827-647A-30A1BEB82AEF}"/>
              </a:ext>
            </a:extLst>
          </p:cNvPr>
          <p:cNvSpPr/>
          <p:nvPr/>
        </p:nvSpPr>
        <p:spPr>
          <a:xfrm>
            <a:off x="8277317" y="2420689"/>
            <a:ext cx="768493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</a:t>
            </a:r>
            <a:r>
              <a:rPr lang="en-US" altLang="zh-CN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56.6</a:t>
            </a:r>
            <a:r>
              <a:rPr lang="en-US" sz="900" b="1" dirty="0">
                <a:solidFill>
                  <a:srgbClr val="00A854"/>
                </a:solidFill>
                <a:latin typeface="+mn-ea"/>
              </a:rPr>
              <a:t>%</a:t>
            </a:r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165C6517-BD1B-BA37-826D-7E3EB5565600}"/>
              </a:ext>
            </a:extLst>
          </p:cNvPr>
          <p:cNvSpPr/>
          <p:nvPr/>
        </p:nvSpPr>
        <p:spPr>
          <a:xfrm>
            <a:off x="6388559" y="2796875"/>
            <a:ext cx="153698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800" dirty="0" err="1">
                <a:solidFill>
                  <a:srgbClr val="333333"/>
                </a:solidFill>
                <a:latin typeface="+mn-ea"/>
              </a:rPr>
              <a:t>新客单价</a:t>
            </a:r>
            <a:endParaRPr lang="en-US" altLang="zh-CN" sz="800" dirty="0">
              <a:latin typeface="+mn-ea"/>
            </a:endParaRPr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D0B5990A-2036-231B-0CD6-82EC154310E4}"/>
              </a:ext>
            </a:extLst>
          </p:cNvPr>
          <p:cNvSpPr/>
          <p:nvPr/>
        </p:nvSpPr>
        <p:spPr>
          <a:xfrm>
            <a:off x="7104501" y="2796875"/>
            <a:ext cx="86455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102.5</a:t>
            </a:r>
            <a:r>
              <a:rPr lang="zh-CN" altLang="en-US" sz="900" dirty="0">
                <a:solidFill>
                  <a:srgbClr val="1A1A1A"/>
                </a:solidFill>
                <a:latin typeface="+mn-ea"/>
              </a:rPr>
              <a:t>元</a:t>
            </a:r>
            <a:endParaRPr lang="en-US" altLang="zh-CN" sz="900" dirty="0">
              <a:latin typeface="+mn-ea"/>
            </a:endParaRPr>
          </a:p>
        </p:txBody>
      </p:sp>
      <p:sp>
        <p:nvSpPr>
          <p:cNvPr id="85" name="Text 82">
            <a:extLst>
              <a:ext uri="{FF2B5EF4-FFF2-40B4-BE49-F238E27FC236}">
                <a16:creationId xmlns:a16="http://schemas.microsoft.com/office/drawing/2014/main" id="{A6BE83F4-D0D9-F8F9-CC6E-4BE64363916C}"/>
              </a:ext>
            </a:extLst>
          </p:cNvPr>
          <p:cNvSpPr/>
          <p:nvPr/>
        </p:nvSpPr>
        <p:spPr>
          <a:xfrm>
            <a:off x="7616475" y="2796875"/>
            <a:ext cx="1056676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97.1</a:t>
            </a:r>
            <a:r>
              <a:rPr lang="zh-CN" altLang="en-US" sz="900" dirty="0">
                <a:solidFill>
                  <a:srgbClr val="1A1A1A"/>
                </a:solidFill>
                <a:latin typeface="+mn-ea"/>
              </a:rPr>
              <a:t>元</a:t>
            </a:r>
            <a:endParaRPr lang="en-US" altLang="zh-CN" sz="900" dirty="0">
              <a:latin typeface="+mn-ea"/>
            </a:endParaRPr>
          </a:p>
        </p:txBody>
      </p:sp>
      <p:sp>
        <p:nvSpPr>
          <p:cNvPr id="86" name="Text 83">
            <a:extLst>
              <a:ext uri="{FF2B5EF4-FFF2-40B4-BE49-F238E27FC236}">
                <a16:creationId xmlns:a16="http://schemas.microsoft.com/office/drawing/2014/main" id="{6B6FC776-F434-EEBD-3D04-1DB62854E9CF}"/>
              </a:ext>
            </a:extLst>
          </p:cNvPr>
          <p:cNvSpPr/>
          <p:nvPr/>
        </p:nvSpPr>
        <p:spPr>
          <a:xfrm>
            <a:off x="8277317" y="2796875"/>
            <a:ext cx="768493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00A854"/>
                </a:solidFill>
                <a:latin typeface="+mn-ea"/>
              </a:rPr>
              <a:t>+</a:t>
            </a:r>
            <a:r>
              <a:rPr lang="en-US" altLang="zh-CN" sz="900" b="1" dirty="0">
                <a:solidFill>
                  <a:srgbClr val="00A854"/>
                </a:solidFill>
                <a:latin typeface="+mn-ea"/>
              </a:rPr>
              <a:t>5.6</a:t>
            </a:r>
            <a:r>
              <a:rPr lang="en-US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%</a:t>
            </a:r>
            <a:endParaRPr lang="en-US" sz="900" dirty="0">
              <a:latin typeface="+mn-ea"/>
            </a:endParaRPr>
          </a:p>
        </p:txBody>
      </p:sp>
      <p:sp>
        <p:nvSpPr>
          <p:cNvPr id="95" name="Shape 90">
            <a:extLst>
              <a:ext uri="{FF2B5EF4-FFF2-40B4-BE49-F238E27FC236}">
                <a16:creationId xmlns:a16="http://schemas.microsoft.com/office/drawing/2014/main" id="{D3199323-E8D8-C53E-3421-C9330D6E48DC}"/>
              </a:ext>
            </a:extLst>
          </p:cNvPr>
          <p:cNvSpPr/>
          <p:nvPr/>
        </p:nvSpPr>
        <p:spPr>
          <a:xfrm>
            <a:off x="235358" y="3783841"/>
            <a:ext cx="8709894" cy="11979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96" name="Text 91">
            <a:extLst>
              <a:ext uri="{FF2B5EF4-FFF2-40B4-BE49-F238E27FC236}">
                <a16:creationId xmlns:a16="http://schemas.microsoft.com/office/drawing/2014/main" id="{487E95EA-2818-7699-9496-610EB52B9273}"/>
              </a:ext>
            </a:extLst>
          </p:cNvPr>
          <p:cNvSpPr/>
          <p:nvPr/>
        </p:nvSpPr>
        <p:spPr>
          <a:xfrm>
            <a:off x="372916" y="4111700"/>
            <a:ext cx="759198" cy="48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latin typeface="+mn-ea"/>
              </a:rPr>
              <a:t>核心</a:t>
            </a:r>
            <a:endParaRPr lang="en-US" sz="1100" b="1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 err="1">
                <a:latin typeface="+mn-ea"/>
              </a:rPr>
              <a:t>策略</a:t>
            </a:r>
            <a:endParaRPr lang="en-US" sz="1100" dirty="0">
              <a:latin typeface="+mn-ea"/>
            </a:endParaRPr>
          </a:p>
        </p:txBody>
      </p:sp>
      <p:sp>
        <p:nvSpPr>
          <p:cNvPr id="98" name="Text 92">
            <a:extLst>
              <a:ext uri="{FF2B5EF4-FFF2-40B4-BE49-F238E27FC236}">
                <a16:creationId xmlns:a16="http://schemas.microsoft.com/office/drawing/2014/main" id="{BCAA1A09-3907-2914-1A4A-5A33FFAE309B}"/>
              </a:ext>
            </a:extLst>
          </p:cNvPr>
          <p:cNvSpPr/>
          <p:nvPr/>
        </p:nvSpPr>
        <p:spPr>
          <a:xfrm>
            <a:off x="1232768" y="3859212"/>
            <a:ext cx="7187827" cy="11448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100" b="1" dirty="0"/>
              <a:t>举措一用户动线建设</a:t>
            </a:r>
            <a:r>
              <a:rPr lang="zh-CN" altLang="en-US" sz="1100" dirty="0"/>
              <a:t>：</a:t>
            </a:r>
            <a:r>
              <a:rPr lang="en-US" altLang="zh-CN" sz="1100" dirty="0"/>
              <a:t>①</a:t>
            </a:r>
            <a:r>
              <a:rPr lang="zh-CN" altLang="en-US" sz="1100" dirty="0"/>
              <a:t>对于异地旅游场景的用户建设从猜喜、直播、美食频道橱窗、</a:t>
            </a:r>
            <a:r>
              <a:rPr lang="en" altLang="zh-CN" sz="1100" dirty="0"/>
              <a:t>push</a:t>
            </a:r>
            <a:r>
              <a:rPr lang="zh-CN" altLang="en-US" sz="1100" dirty="0"/>
              <a:t>等核心路径的榜单心智透传；</a:t>
            </a:r>
            <a:r>
              <a:rPr lang="en-US" altLang="zh-CN" sz="1100" dirty="0"/>
              <a:t>②</a:t>
            </a:r>
            <a:r>
              <a:rPr lang="zh-CN" altLang="en-US" sz="1100" dirty="0"/>
              <a:t>对于本地找店场景的用户重点建设大搜、</a:t>
            </a:r>
            <a:r>
              <a:rPr lang="en" altLang="zh-CN" sz="1100" dirty="0"/>
              <a:t>POI</a:t>
            </a:r>
            <a:r>
              <a:rPr lang="zh-CN" altLang="en-US" sz="1100" dirty="0"/>
              <a:t>页、榜单落地页等榜单路径建设；</a:t>
            </a:r>
            <a:br>
              <a:rPr lang="zh-CN" altLang="en-US" sz="1100" dirty="0"/>
            </a:br>
            <a:endParaRPr lang="en-US" altLang="zh-CN" sz="1100" dirty="0"/>
          </a:p>
          <a:p>
            <a:r>
              <a:rPr lang="zh-CN" altLang="en-US" sz="1100" b="1" dirty="0"/>
              <a:t>举措二榜单矩阵完善：</a:t>
            </a:r>
            <a:r>
              <a:rPr lang="en-US" altLang="zh-CN" sz="1100" dirty="0"/>
              <a:t>①1-2</a:t>
            </a:r>
            <a:r>
              <a:rPr lang="zh-CN" altLang="en-US" sz="1100" dirty="0"/>
              <a:t>月完成：</a:t>
            </a:r>
            <a:r>
              <a:rPr lang="en" altLang="zh-CN" sz="1100" dirty="0"/>
              <a:t>AOI</a:t>
            </a:r>
            <a:r>
              <a:rPr lang="zh-CN" altLang="en-US" sz="1100" dirty="0"/>
              <a:t>景点榜单筛选（新增</a:t>
            </a:r>
            <a:r>
              <a:rPr lang="en-US" altLang="zh-CN" sz="1100" dirty="0"/>
              <a:t>8000+</a:t>
            </a:r>
            <a:r>
              <a:rPr lang="zh-CN" altLang="en-US" sz="1100" dirty="0"/>
              <a:t>个</a:t>
            </a:r>
            <a:r>
              <a:rPr lang="en" altLang="zh-CN" sz="1100" dirty="0"/>
              <a:t>AOI</a:t>
            </a:r>
            <a:r>
              <a:rPr lang="zh-CN" altLang="en-US" sz="1100" dirty="0"/>
              <a:t>热门景点筛选），旅游榜单扩城（旅游榜单扩城：当地人推荐扩城至</a:t>
            </a:r>
            <a:r>
              <a:rPr lang="en-US" altLang="zh-CN" sz="1100" dirty="0"/>
              <a:t>660</a:t>
            </a:r>
            <a:r>
              <a:rPr lang="zh-CN" altLang="en-US" sz="1100" dirty="0"/>
              <a:t>、特色菜扩城至</a:t>
            </a:r>
            <a:r>
              <a:rPr lang="en-US" altLang="zh-CN" sz="1100" dirty="0"/>
              <a:t>448</a:t>
            </a:r>
            <a:r>
              <a:rPr lang="zh-CN" altLang="en-US" sz="1100" dirty="0"/>
              <a:t>，新增菜品</a:t>
            </a:r>
            <a:r>
              <a:rPr lang="en-US" altLang="zh-CN" sz="1100" dirty="0"/>
              <a:t>1338</a:t>
            </a:r>
            <a:r>
              <a:rPr lang="zh-CN" altLang="en-US" sz="1100" dirty="0"/>
              <a:t>）；</a:t>
            </a:r>
            <a:r>
              <a:rPr lang="en-US" altLang="zh-CN" sz="1100" dirty="0"/>
              <a:t>②3-4</a:t>
            </a:r>
            <a:r>
              <a:rPr lang="zh-CN" altLang="en-US" sz="1100" dirty="0"/>
              <a:t>月完成：指数榜品类扩充（</a:t>
            </a:r>
            <a:r>
              <a:rPr lang="en-US" altLang="zh-CN" sz="1100" dirty="0"/>
              <a:t>34→74</a:t>
            </a:r>
            <a:r>
              <a:rPr lang="zh-CN" altLang="en-US" sz="1100" dirty="0"/>
              <a:t>），约会榜（</a:t>
            </a:r>
            <a:r>
              <a:rPr lang="en-US" altLang="zh-CN" sz="1100" dirty="0"/>
              <a:t>35</a:t>
            </a:r>
            <a:r>
              <a:rPr lang="zh-CN" altLang="en-US" sz="1100" dirty="0"/>
              <a:t>城试点）上线、烟火榜（</a:t>
            </a:r>
            <a:r>
              <a:rPr lang="en-US" altLang="zh-CN" sz="1100" dirty="0"/>
              <a:t>10</a:t>
            </a:r>
            <a:r>
              <a:rPr lang="zh-CN" altLang="en-US" sz="1100" dirty="0"/>
              <a:t>城试点）。</a:t>
            </a:r>
            <a:endParaRPr lang="zh-CN" altLang="en-US" sz="1100" dirty="0">
              <a:effectLst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9B9BA8-FF09-F647-D926-8805FED3C01B}"/>
              </a:ext>
            </a:extLst>
          </p:cNvPr>
          <p:cNvSpPr txBox="1"/>
          <p:nvPr/>
        </p:nvSpPr>
        <p:spPr>
          <a:xfrm>
            <a:off x="-1" y="4963105"/>
            <a:ext cx="4645307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1" baseline="-25000" dirty="0">
                <a:latin typeface="+mn-ea"/>
              </a:rPr>
              <a:t>*数据口径基期：</a:t>
            </a:r>
            <a:r>
              <a:rPr lang="en-US" altLang="zh-CN" sz="1000" i="1" baseline="-25000" dirty="0">
                <a:latin typeface="+mn-ea"/>
              </a:rPr>
              <a:t>2026.4.20-4.26 </a:t>
            </a:r>
            <a:r>
              <a:rPr lang="zh-CN" altLang="en-US" sz="1000" i="1" baseline="-25000" dirty="0">
                <a:latin typeface="+mn-ea"/>
              </a:rPr>
              <a:t>日均  </a:t>
            </a:r>
            <a:r>
              <a:rPr lang="en-US" altLang="zh-CN" sz="1000" i="1" baseline="-25000" dirty="0">
                <a:latin typeface="+mn-ea"/>
              </a:rPr>
              <a:t>|  </a:t>
            </a:r>
            <a:r>
              <a:rPr lang="zh-CN" altLang="en-US" sz="1000" i="1" baseline="-25000" dirty="0">
                <a:latin typeface="+mn-ea"/>
              </a:rPr>
              <a:t>活动期：</a:t>
            </a:r>
            <a:r>
              <a:rPr lang="en-US" altLang="zh-CN" sz="1000" i="1" baseline="-25000" dirty="0">
                <a:latin typeface="+mn-ea"/>
              </a:rPr>
              <a:t>2026.5.1-5.5 </a:t>
            </a:r>
            <a:r>
              <a:rPr lang="zh-CN" altLang="en-US" sz="1000" i="1" baseline="-25000" dirty="0">
                <a:latin typeface="+mn-ea"/>
              </a:rPr>
              <a:t>日均  </a:t>
            </a:r>
            <a:r>
              <a:rPr lang="en-US" altLang="zh-CN" sz="1000" i="1" baseline="-25000" dirty="0">
                <a:latin typeface="+mn-ea"/>
              </a:rPr>
              <a:t>|  </a:t>
            </a:r>
            <a:r>
              <a:rPr lang="en" altLang="zh-CN" sz="1000" i="1" baseline="-25000" dirty="0">
                <a:latin typeface="+mn-ea"/>
              </a:rPr>
              <a:t>YoY</a:t>
            </a:r>
            <a:r>
              <a:rPr lang="zh-CN" altLang="en-US" sz="1000" i="1" baseline="-25000" dirty="0">
                <a:latin typeface="+mn-ea"/>
              </a:rPr>
              <a:t>对比：</a:t>
            </a:r>
            <a:r>
              <a:rPr lang="en-US" altLang="zh-CN" sz="1000" i="1" baseline="-25000" dirty="0">
                <a:latin typeface="+mn-ea"/>
              </a:rPr>
              <a:t>2025.5.1-5.5 </a:t>
            </a:r>
            <a:r>
              <a:rPr lang="zh-CN" altLang="en-US" sz="1000" i="1" baseline="-25000" dirty="0">
                <a:latin typeface="+mn-ea"/>
              </a:rPr>
              <a:t>日均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BA2FF2-DB28-E3B2-F139-76FE2F2D3ADC}"/>
              </a:ext>
            </a:extLst>
          </p:cNvPr>
          <p:cNvSpPr txBox="1"/>
          <p:nvPr/>
        </p:nvSpPr>
        <p:spPr>
          <a:xfrm>
            <a:off x="-2820971" y="-132647"/>
            <a:ext cx="26503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C00000"/>
                </a:solidFill>
              </a:rPr>
              <a:t>Output</a:t>
            </a: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重要的节日节点上体现效果</a:t>
            </a:r>
            <a:endParaRPr lang="en-US" altLang="zh-CN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拉新上有明确结果</a:t>
            </a:r>
            <a:endParaRPr lang="en-US" altLang="zh-CN" dirty="0">
              <a:solidFill>
                <a:srgbClr val="C0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弱化点评</a:t>
            </a:r>
          </a:p>
        </p:txBody>
      </p:sp>
      <p:sp>
        <p:nvSpPr>
          <p:cNvPr id="26" name="Shape 44">
            <a:extLst>
              <a:ext uri="{FF2B5EF4-FFF2-40B4-BE49-F238E27FC236}">
                <a16:creationId xmlns:a16="http://schemas.microsoft.com/office/drawing/2014/main" id="{C5C2A434-A9CD-D282-1355-AFA53B4CDAE0}"/>
              </a:ext>
            </a:extLst>
          </p:cNvPr>
          <p:cNvSpPr/>
          <p:nvPr/>
        </p:nvSpPr>
        <p:spPr>
          <a:xfrm>
            <a:off x="3460547" y="1856638"/>
            <a:ext cx="2820560" cy="1780163"/>
          </a:xfrm>
          <a:prstGeom prst="rect">
            <a:avLst/>
          </a:prstGeom>
          <a:solidFill>
            <a:srgbClr val="FFFBEA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31" name="Text 46">
            <a:extLst>
              <a:ext uri="{FF2B5EF4-FFF2-40B4-BE49-F238E27FC236}">
                <a16:creationId xmlns:a16="http://schemas.microsoft.com/office/drawing/2014/main" id="{8AB8E1B3-5993-75DC-564C-93A96FC9E248}"/>
              </a:ext>
            </a:extLst>
          </p:cNvPr>
          <p:cNvSpPr/>
          <p:nvPr/>
        </p:nvSpPr>
        <p:spPr>
          <a:xfrm>
            <a:off x="3474222" y="1910379"/>
            <a:ext cx="2881847" cy="26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下沉效果</a:t>
            </a:r>
            <a:r>
              <a:rPr lang="zh-CN" altLang="en-US" sz="12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（</a:t>
            </a:r>
            <a:r>
              <a:rPr lang="en-US" altLang="zh-CN" sz="12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177</a:t>
            </a:r>
            <a:r>
              <a:rPr lang="zh-CN" altLang="en-US" sz="12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城）</a:t>
            </a:r>
            <a:endParaRPr lang="en-US" sz="1200" dirty="0">
              <a:latin typeface="+mn-ea"/>
            </a:endParaRPr>
          </a:p>
        </p:txBody>
      </p:sp>
      <p:sp>
        <p:nvSpPr>
          <p:cNvPr id="37" name="Text 48">
            <a:extLst>
              <a:ext uri="{FF2B5EF4-FFF2-40B4-BE49-F238E27FC236}">
                <a16:creationId xmlns:a16="http://schemas.microsoft.com/office/drawing/2014/main" id="{0E3A0530-CA32-0155-A634-F323E33893A3}"/>
              </a:ext>
            </a:extLst>
          </p:cNvPr>
          <p:cNvSpPr/>
          <p:nvPr/>
        </p:nvSpPr>
        <p:spPr>
          <a:xfrm>
            <a:off x="3510913" y="2232597"/>
            <a:ext cx="1536984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6666"/>
                </a:solidFill>
                <a:latin typeface="+mn-ea"/>
                <a:cs typeface="Microsoft YaHei" pitchFamily="34" charset="-120"/>
              </a:rPr>
              <a:t>指标</a:t>
            </a:r>
            <a:endParaRPr lang="en-US" sz="900" dirty="0">
              <a:latin typeface="+mn-ea"/>
            </a:endParaRPr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39A6D5FE-B3C9-9957-6B96-0C8F3A60869D}"/>
              </a:ext>
            </a:extLst>
          </p:cNvPr>
          <p:cNvSpPr/>
          <p:nvPr/>
        </p:nvSpPr>
        <p:spPr>
          <a:xfrm>
            <a:off x="4506304" y="2232597"/>
            <a:ext cx="864554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66666"/>
                </a:solidFill>
                <a:latin typeface="+mn-ea"/>
              </a:rPr>
              <a:t>vs基期</a:t>
            </a:r>
            <a:endParaRPr lang="en-US" sz="900" dirty="0">
              <a:latin typeface="+mn-ea"/>
            </a:endParaRPr>
          </a:p>
        </p:txBody>
      </p:sp>
      <p:sp>
        <p:nvSpPr>
          <p:cNvPr id="64" name="Text 54">
            <a:extLst>
              <a:ext uri="{FF2B5EF4-FFF2-40B4-BE49-F238E27FC236}">
                <a16:creationId xmlns:a16="http://schemas.microsoft.com/office/drawing/2014/main" id="{3589B526-BB53-06DE-B4A1-E6C441F147DC}"/>
              </a:ext>
            </a:extLst>
          </p:cNvPr>
          <p:cNvSpPr/>
          <p:nvPr/>
        </p:nvSpPr>
        <p:spPr>
          <a:xfrm>
            <a:off x="5364079" y="2232597"/>
            <a:ext cx="768493" cy="192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666666"/>
                </a:solidFill>
                <a:latin typeface="+mn-ea"/>
                <a:cs typeface="Microsoft YaHei" pitchFamily="34" charset="-120"/>
              </a:rPr>
              <a:t>vs下沉大盘</a:t>
            </a:r>
            <a:endParaRPr lang="en-US" sz="900" dirty="0">
              <a:latin typeface="+mn-ea"/>
            </a:endParaRPr>
          </a:p>
        </p:txBody>
      </p:sp>
      <p:sp>
        <p:nvSpPr>
          <p:cNvPr id="82" name="Shape 58">
            <a:extLst>
              <a:ext uri="{FF2B5EF4-FFF2-40B4-BE49-F238E27FC236}">
                <a16:creationId xmlns:a16="http://schemas.microsoft.com/office/drawing/2014/main" id="{263ADF75-EB74-1E1A-0B58-D6669046949B}"/>
              </a:ext>
            </a:extLst>
          </p:cNvPr>
          <p:cNvSpPr/>
          <p:nvPr/>
        </p:nvSpPr>
        <p:spPr>
          <a:xfrm flipV="1">
            <a:off x="3510913" y="2395968"/>
            <a:ext cx="2715459" cy="6717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7" name="Text 60">
            <a:extLst>
              <a:ext uri="{FF2B5EF4-FFF2-40B4-BE49-F238E27FC236}">
                <a16:creationId xmlns:a16="http://schemas.microsoft.com/office/drawing/2014/main" id="{F95A814E-3051-16CD-894F-336386CC97E5}"/>
              </a:ext>
            </a:extLst>
          </p:cNvPr>
          <p:cNvSpPr/>
          <p:nvPr/>
        </p:nvSpPr>
        <p:spPr>
          <a:xfrm>
            <a:off x="3510913" y="2420689"/>
            <a:ext cx="622381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意向</a:t>
            </a:r>
            <a:r>
              <a:rPr lang="en-US" altLang="zh-CN" sz="8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UV</a:t>
            </a:r>
            <a:endParaRPr lang="en-US" sz="800" dirty="0">
              <a:latin typeface="+mn-ea"/>
            </a:endParaRPr>
          </a:p>
        </p:txBody>
      </p:sp>
      <p:sp>
        <p:nvSpPr>
          <p:cNvPr id="88" name="Text 61">
            <a:extLst>
              <a:ext uri="{FF2B5EF4-FFF2-40B4-BE49-F238E27FC236}">
                <a16:creationId xmlns:a16="http://schemas.microsoft.com/office/drawing/2014/main" id="{588F646F-DC0F-69E3-9FA2-9189327DDA6D}"/>
              </a:ext>
            </a:extLst>
          </p:cNvPr>
          <p:cNvSpPr/>
          <p:nvPr/>
        </p:nvSpPr>
        <p:spPr>
          <a:xfrm>
            <a:off x="4572000" y="2420689"/>
            <a:ext cx="86455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900" dirty="0">
                <a:solidFill>
                  <a:srgbClr val="00B050"/>
                </a:solidFill>
                <a:latin typeface="+mn-ea"/>
              </a:rPr>
              <a:t>+94.6%</a:t>
            </a:r>
            <a:endParaRPr lang="en-US" sz="900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97" name="Text 63">
            <a:extLst>
              <a:ext uri="{FF2B5EF4-FFF2-40B4-BE49-F238E27FC236}">
                <a16:creationId xmlns:a16="http://schemas.microsoft.com/office/drawing/2014/main" id="{B0393F39-2C03-EAC1-741A-0935B9CDB4FA}"/>
              </a:ext>
            </a:extLst>
          </p:cNvPr>
          <p:cNvSpPr/>
          <p:nvPr/>
        </p:nvSpPr>
        <p:spPr>
          <a:xfrm>
            <a:off x="5447997" y="2420689"/>
            <a:ext cx="768493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</a:t>
            </a:r>
            <a:r>
              <a:rPr lang="en-US" altLang="zh-CN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20.1pp</a:t>
            </a:r>
            <a:endParaRPr lang="en-US" sz="900" dirty="0">
              <a:latin typeface="+mn-ea"/>
            </a:endParaRPr>
          </a:p>
        </p:txBody>
      </p:sp>
      <p:sp>
        <p:nvSpPr>
          <p:cNvPr id="100" name="Text 65">
            <a:extLst>
              <a:ext uri="{FF2B5EF4-FFF2-40B4-BE49-F238E27FC236}">
                <a16:creationId xmlns:a16="http://schemas.microsoft.com/office/drawing/2014/main" id="{13C9F47A-7194-D4E1-B8FA-B40EF39B152E}"/>
              </a:ext>
            </a:extLst>
          </p:cNvPr>
          <p:cNvSpPr/>
          <p:nvPr/>
        </p:nvSpPr>
        <p:spPr>
          <a:xfrm>
            <a:off x="3510913" y="2796875"/>
            <a:ext cx="153698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8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实付</a:t>
            </a:r>
            <a:r>
              <a:rPr lang="zh-CN" altLang="en-US" sz="8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订单量</a:t>
            </a:r>
            <a:endParaRPr lang="en-US" altLang="zh-CN" sz="800" dirty="0">
              <a:latin typeface="+mn-ea"/>
            </a:endParaRPr>
          </a:p>
        </p:txBody>
      </p:sp>
      <p:sp>
        <p:nvSpPr>
          <p:cNvPr id="101" name="Text 66">
            <a:extLst>
              <a:ext uri="{FF2B5EF4-FFF2-40B4-BE49-F238E27FC236}">
                <a16:creationId xmlns:a16="http://schemas.microsoft.com/office/drawing/2014/main" id="{A86FEAD3-4A8E-8781-14ED-03054C9F23AD}"/>
              </a:ext>
            </a:extLst>
          </p:cNvPr>
          <p:cNvSpPr/>
          <p:nvPr/>
        </p:nvSpPr>
        <p:spPr>
          <a:xfrm>
            <a:off x="4572000" y="2796875"/>
            <a:ext cx="86455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900" dirty="0">
                <a:solidFill>
                  <a:srgbClr val="00B050"/>
                </a:solidFill>
                <a:latin typeface="+mn-ea"/>
                <a:cs typeface="Microsoft YaHei" pitchFamily="34" charset="-120"/>
              </a:rPr>
              <a:t>+107.4%</a:t>
            </a:r>
            <a:endParaRPr lang="en-US" sz="900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103" name="Text 68">
            <a:extLst>
              <a:ext uri="{FF2B5EF4-FFF2-40B4-BE49-F238E27FC236}">
                <a16:creationId xmlns:a16="http://schemas.microsoft.com/office/drawing/2014/main" id="{6AD62806-CF7F-F805-DA29-4E26F455C7C8}"/>
              </a:ext>
            </a:extLst>
          </p:cNvPr>
          <p:cNvSpPr/>
          <p:nvPr/>
        </p:nvSpPr>
        <p:spPr>
          <a:xfrm>
            <a:off x="5447997" y="2796875"/>
            <a:ext cx="768493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</a:t>
            </a:r>
            <a:r>
              <a:rPr lang="en-US" altLang="zh-CN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16.1pp</a:t>
            </a:r>
            <a:endParaRPr lang="en-US" sz="900" dirty="0">
              <a:latin typeface="+mn-ea"/>
            </a:endParaRPr>
          </a:p>
        </p:txBody>
      </p:sp>
      <p:sp>
        <p:nvSpPr>
          <p:cNvPr id="105" name="Text 70">
            <a:extLst>
              <a:ext uri="{FF2B5EF4-FFF2-40B4-BE49-F238E27FC236}">
                <a16:creationId xmlns:a16="http://schemas.microsoft.com/office/drawing/2014/main" id="{DFCA9423-D46A-C413-C276-13F291A1D5E6}"/>
              </a:ext>
            </a:extLst>
          </p:cNvPr>
          <p:cNvSpPr/>
          <p:nvPr/>
        </p:nvSpPr>
        <p:spPr>
          <a:xfrm>
            <a:off x="3510913" y="3173060"/>
            <a:ext cx="153698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800" dirty="0" err="1">
                <a:solidFill>
                  <a:srgbClr val="333333"/>
                </a:solidFill>
                <a:latin typeface="+mn-ea"/>
                <a:cs typeface="Microsoft YaHei" pitchFamily="34" charset="-120"/>
              </a:rPr>
              <a:t>实付GTV</a:t>
            </a:r>
            <a:endParaRPr lang="en-US" altLang="zh-CN" sz="800" dirty="0">
              <a:latin typeface="+mn-ea"/>
            </a:endParaRPr>
          </a:p>
        </p:txBody>
      </p:sp>
      <p:sp>
        <p:nvSpPr>
          <p:cNvPr id="106" name="Text 71">
            <a:extLst>
              <a:ext uri="{FF2B5EF4-FFF2-40B4-BE49-F238E27FC236}">
                <a16:creationId xmlns:a16="http://schemas.microsoft.com/office/drawing/2014/main" id="{2FD1C421-3AA5-7CB9-B331-05B96826F9E5}"/>
              </a:ext>
            </a:extLst>
          </p:cNvPr>
          <p:cNvSpPr/>
          <p:nvPr/>
        </p:nvSpPr>
        <p:spPr>
          <a:xfrm>
            <a:off x="4572000" y="3173060"/>
            <a:ext cx="864554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900" dirty="0">
                <a:solidFill>
                  <a:srgbClr val="00B050"/>
                </a:solidFill>
                <a:latin typeface="+mn-ea"/>
              </a:rPr>
              <a:t>+183.3%</a:t>
            </a:r>
            <a:endParaRPr lang="en-US" sz="900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108" name="Text 73">
            <a:extLst>
              <a:ext uri="{FF2B5EF4-FFF2-40B4-BE49-F238E27FC236}">
                <a16:creationId xmlns:a16="http://schemas.microsoft.com/office/drawing/2014/main" id="{9CE79C36-96CD-EFB1-B90E-5A47FF682CB5}"/>
              </a:ext>
            </a:extLst>
          </p:cNvPr>
          <p:cNvSpPr/>
          <p:nvPr/>
        </p:nvSpPr>
        <p:spPr>
          <a:xfrm>
            <a:off x="5447997" y="3173060"/>
            <a:ext cx="768493" cy="288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+</a:t>
            </a:r>
            <a:r>
              <a:rPr lang="en-US" altLang="zh-CN" sz="900" b="1" dirty="0">
                <a:solidFill>
                  <a:srgbClr val="00A854"/>
                </a:solidFill>
                <a:latin typeface="+mn-ea"/>
                <a:cs typeface="Microsoft YaHei" pitchFamily="34" charset="-120"/>
              </a:rPr>
              <a:t>30pp</a:t>
            </a:r>
            <a:endParaRPr lang="en-US" sz="900" dirty="0">
              <a:latin typeface="+mn-ea"/>
            </a:endParaRPr>
          </a:p>
        </p:txBody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75B65E09-8346-8F0D-E798-376D16FD6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570" y="5700293"/>
            <a:ext cx="7772400" cy="455259"/>
          </a:xfrm>
          <a:prstGeom prst="rect">
            <a:avLst/>
          </a:prstGeom>
        </p:spPr>
      </p:pic>
      <p:sp>
        <p:nvSpPr>
          <p:cNvPr id="113" name="Text 61">
            <a:extLst>
              <a:ext uri="{FF2B5EF4-FFF2-40B4-BE49-F238E27FC236}">
                <a16:creationId xmlns:a16="http://schemas.microsoft.com/office/drawing/2014/main" id="{3004BBA1-6F83-58CD-69BE-904117A9BAE4}"/>
              </a:ext>
            </a:extLst>
          </p:cNvPr>
          <p:cNvSpPr/>
          <p:nvPr/>
        </p:nvSpPr>
        <p:spPr>
          <a:xfrm>
            <a:off x="-113102" y="5388996"/>
            <a:ext cx="5599502" cy="26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latin typeface="+mn-ea"/>
              </a:rPr>
              <a:t>下沉</a:t>
            </a:r>
            <a:endParaRPr lang="en-US" sz="900" dirty="0">
              <a:latin typeface="+mn-ea"/>
            </a:endParaRPr>
          </a:p>
          <a:p>
            <a:r>
              <a:rPr lang="zh-CN" altLang="en-US" sz="900" i="1" dirty="0"/>
              <a:t>基期：</a:t>
            </a:r>
            <a:r>
              <a:rPr lang="en-US" altLang="zh-CN" sz="900" i="1" dirty="0"/>
              <a:t>26</a:t>
            </a:r>
            <a:r>
              <a:rPr lang="zh-CN" altLang="en-US" sz="900" i="1" dirty="0"/>
              <a:t>年：</a:t>
            </a:r>
            <a:r>
              <a:rPr lang="en-US" altLang="zh-CN" sz="900" i="1" dirty="0"/>
              <a:t>20260501-20260505</a:t>
            </a:r>
            <a:r>
              <a:rPr lang="zh-CN" altLang="en-US" sz="900" i="1" dirty="0"/>
              <a:t>，节前：</a:t>
            </a:r>
            <a:r>
              <a:rPr lang="en-US" altLang="zh-CN" sz="900" i="1" dirty="0"/>
              <a:t>20260420-20260426</a:t>
            </a:r>
            <a:endParaRPr lang="zh-CN" altLang="en-US" sz="900" dirty="0"/>
          </a:p>
          <a:p>
            <a:r>
              <a:rPr lang="en-US" altLang="zh-CN" sz="900" i="1" dirty="0"/>
              <a:t>25</a:t>
            </a:r>
            <a:r>
              <a:rPr lang="zh-CN" altLang="en-US" sz="900" i="1" dirty="0"/>
              <a:t>年：</a:t>
            </a:r>
            <a:r>
              <a:rPr lang="en-US" altLang="zh-CN" sz="900" i="1" dirty="0"/>
              <a:t>20250501-20250505</a:t>
            </a:r>
            <a:r>
              <a:rPr lang="zh-CN" altLang="en-US" sz="900" i="1" dirty="0"/>
              <a:t>，节前：</a:t>
            </a:r>
            <a:r>
              <a:rPr lang="en-US" altLang="zh-CN" sz="900" i="1" dirty="0"/>
              <a:t>20250420-20250426</a:t>
            </a:r>
            <a:endParaRPr lang="zh-CN" altLang="en-US" sz="900" dirty="0"/>
          </a:p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0444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 txBox="1"/>
          <p:nvPr/>
        </p:nvSpPr>
        <p:spPr>
          <a:xfrm>
            <a:off x="251999" y="32009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用户决策需求满足度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6828" y="9051340"/>
          <a:ext cx="7886702" cy="1290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3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0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32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83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493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时间：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20260420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不含全部</a:t>
                      </a:r>
                      <a:r>
                        <a:rPr lang="en-US" altLang="zh-CN" sz="900" u="none" strike="noStrike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夜宵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from-</a:t>
                      </a:r>
                      <a:r>
                        <a:rPr lang="zh-CN" altLang="en-US" sz="90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直接乘</a:t>
                      </a:r>
                      <a:endParaRPr lang="zh-CN" altLang="en-US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👇现状</a:t>
                      </a:r>
                      <a:r>
                        <a:rPr lang="en-US" altLang="zh-CN" sz="900" u="none" strike="noStrike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不满足供给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>
                          <a:effectLst/>
                          <a:latin typeface="+mn-ea"/>
                          <a:ea typeface="+mn-ea"/>
                        </a:rPr>
                        <a:t>list_dim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人气榜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前台全部目标成榜单</a:t>
                      </a:r>
                      <a:endParaRPr lang="zh-CN" altLang="en-US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现状前台区域类目数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不满足供给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有效目标成榜数量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占比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数标准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38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city</a:t>
                      </a: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22,596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159,588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97,355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57,219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40,136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家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938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dist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49,367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1,364,352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434,195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349,830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84,365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家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938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65,635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3,126,288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813,406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738,132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75,274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家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6828" y="10607558"/>
          <a:ext cx="5397500" cy="1478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26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到餐大盘区域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类目数量现状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行标签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供给</a:t>
                      </a: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OK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供给不足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总计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城市品类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40,136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57,219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97,355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行政区品类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84,365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349,830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434,195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商圈品类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75,274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738,132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813,406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总计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199,775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1,145,181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1,344,956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2090994" y="7112349"/>
            <a:ext cx="170816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effectLst/>
              </a:rPr>
              <a:t>线上：品类</a:t>
            </a:r>
            <a:r>
              <a:rPr lang="en-US" altLang="zh-CN" sz="900" dirty="0">
                <a:effectLst/>
              </a:rPr>
              <a:t>74</a:t>
            </a:r>
            <a:r>
              <a:rPr lang="zh-CN" altLang="en-US" sz="900" dirty="0">
                <a:effectLst/>
              </a:rPr>
              <a:t>、城市</a:t>
            </a:r>
            <a:r>
              <a:rPr lang="en-US" altLang="zh-CN" sz="900" dirty="0">
                <a:effectLst/>
              </a:rPr>
              <a:t>1182</a:t>
            </a:r>
          </a:p>
          <a:p>
            <a:endParaRPr lang="en-US" altLang="zh-CN" sz="900" dirty="0">
              <a:effectLst/>
            </a:endParaRPr>
          </a:p>
          <a:p>
            <a:r>
              <a:rPr lang="zh-CN" altLang="en-US" sz="900" dirty="0">
                <a:effectLst/>
              </a:rPr>
              <a:t>目标：城市*品类＞</a:t>
            </a:r>
            <a:r>
              <a:rPr lang="en-US" altLang="zh-CN" sz="900" dirty="0"/>
              <a:t>20</a:t>
            </a:r>
          </a:p>
          <a:p>
            <a:r>
              <a:rPr lang="zh-CN" altLang="en-US" sz="900" dirty="0">
                <a:effectLst/>
              </a:rPr>
              <a:t>城市：</a:t>
            </a:r>
            <a:r>
              <a:rPr lang="en-US" altLang="zh-CN" sz="900" dirty="0">
                <a:effectLst/>
              </a:rPr>
              <a:t>1209</a:t>
            </a:r>
            <a:r>
              <a:rPr lang="zh-CN" altLang="en-US" sz="900" dirty="0">
                <a:effectLst/>
              </a:rPr>
              <a:t>（含港澳台）</a:t>
            </a:r>
            <a:endParaRPr lang="en-US" altLang="zh-CN" sz="900" dirty="0">
              <a:effectLst/>
            </a:endParaRPr>
          </a:p>
          <a:p>
            <a:r>
              <a:rPr lang="zh-CN" altLang="en-US" sz="900" dirty="0"/>
              <a:t>品类：二三级</a:t>
            </a:r>
            <a:r>
              <a:rPr lang="en-US" altLang="zh-CN" sz="900" dirty="0"/>
              <a:t>132</a:t>
            </a:r>
            <a:endParaRPr lang="zh-CN" altLang="en-US" sz="900" dirty="0">
              <a:effectLst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023967" y="7112349"/>
            <a:ext cx="1447211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线上：品类</a:t>
            </a:r>
            <a:r>
              <a:rPr lang="en-US" altLang="zh-CN" sz="900" dirty="0"/>
              <a:t>74</a:t>
            </a:r>
            <a:r>
              <a:rPr lang="zh-CN" altLang="en-US" sz="900" dirty="0"/>
              <a:t>、行政区</a:t>
            </a:r>
            <a:r>
              <a:rPr lang="en-US" altLang="zh-CN" sz="900" dirty="0"/>
              <a:t>8258</a:t>
            </a:r>
            <a:r>
              <a:rPr lang="zh-CN" altLang="en-US" sz="900" dirty="0"/>
              <a:t>、商圈</a:t>
            </a:r>
            <a:r>
              <a:rPr lang="en-US" altLang="zh-CN" sz="900" dirty="0"/>
              <a:t>18630</a:t>
            </a:r>
            <a:endParaRPr lang="en-US" altLang="zh-CN" sz="900" dirty="0">
              <a:effectLst/>
            </a:endParaRPr>
          </a:p>
          <a:p>
            <a:endParaRPr lang="en-US" altLang="zh-CN" sz="900" dirty="0"/>
          </a:p>
          <a:p>
            <a:r>
              <a:rPr lang="zh-CN" altLang="en-US" sz="900" dirty="0">
                <a:effectLst/>
              </a:rPr>
              <a:t>目标：城市*品类＞</a:t>
            </a:r>
            <a:r>
              <a:rPr lang="en-US" altLang="zh-CN" sz="900" dirty="0"/>
              <a:t>20</a:t>
            </a:r>
          </a:p>
          <a:p>
            <a:r>
              <a:rPr lang="zh-CN" altLang="en-US" sz="900" dirty="0"/>
              <a:t>行政区</a:t>
            </a:r>
            <a:r>
              <a:rPr lang="zh-CN" altLang="en-US" sz="900" dirty="0">
                <a:effectLst/>
              </a:rPr>
              <a:t>：</a:t>
            </a:r>
            <a:r>
              <a:rPr lang="en-US" altLang="zh-CN" sz="900" dirty="0">
                <a:effectLst/>
              </a:rPr>
              <a:t>10336</a:t>
            </a:r>
          </a:p>
          <a:p>
            <a:r>
              <a:rPr lang="zh-CN" altLang="en-US" sz="900" dirty="0"/>
              <a:t>商圈：</a:t>
            </a:r>
            <a:r>
              <a:rPr lang="en-US" altLang="zh-CN" sz="900" dirty="0"/>
              <a:t>23684</a:t>
            </a:r>
            <a:endParaRPr lang="en-US" altLang="zh-CN" sz="900" dirty="0">
              <a:effectLst/>
            </a:endParaRPr>
          </a:p>
          <a:p>
            <a:r>
              <a:rPr lang="zh-CN" altLang="en-US" sz="900" dirty="0"/>
              <a:t>品类：二三级</a:t>
            </a:r>
            <a:r>
              <a:rPr lang="en-US" altLang="zh-CN" sz="900" dirty="0"/>
              <a:t>132</a:t>
            </a:r>
          </a:p>
          <a:p>
            <a:endParaRPr lang="en-US" altLang="zh-CN" sz="900" dirty="0">
              <a:effectLst/>
            </a:endParaRPr>
          </a:p>
          <a:p>
            <a:r>
              <a:rPr lang="zh-CN" altLang="en-US" sz="900" dirty="0"/>
              <a:t>商圈*品类后供给＞</a:t>
            </a:r>
            <a:r>
              <a:rPr lang="en-US" altLang="zh-CN" sz="900" dirty="0"/>
              <a:t>20</a:t>
            </a:r>
            <a:r>
              <a:rPr lang="zh-CN" altLang="en-US" sz="900" dirty="0"/>
              <a:t>的会更少，所以已经满足的占比相对就会较高</a:t>
            </a:r>
            <a:endParaRPr lang="zh-CN" altLang="en-US" sz="900" dirty="0">
              <a:effectLst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29332" y="7112348"/>
            <a:ext cx="33525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effectLst/>
              </a:rPr>
              <a:t>目标：</a:t>
            </a:r>
            <a:endParaRPr lang="en-US" altLang="zh-CN" sz="900" dirty="0">
              <a:effectLst/>
            </a:endParaRPr>
          </a:p>
          <a:p>
            <a:r>
              <a:rPr lang="zh-CN" altLang="en-US" sz="900" dirty="0"/>
              <a:t>品类限制：火锅</a:t>
            </a:r>
            <a:r>
              <a:rPr lang="en-US" altLang="zh-CN" sz="900" dirty="0"/>
              <a:t>,</a:t>
            </a:r>
            <a:r>
              <a:rPr lang="zh-CN" altLang="en-US" sz="900" dirty="0"/>
              <a:t>烧烤烤串</a:t>
            </a:r>
            <a:r>
              <a:rPr lang="en-US" altLang="zh-CN" sz="900" dirty="0"/>
              <a:t>,</a:t>
            </a:r>
            <a:r>
              <a:rPr lang="zh-CN" altLang="en-US" sz="900" dirty="0"/>
              <a:t>烤肉</a:t>
            </a:r>
            <a:r>
              <a:rPr lang="en-US" altLang="zh-CN" sz="900" dirty="0"/>
              <a:t>,</a:t>
            </a:r>
            <a:r>
              <a:rPr lang="zh-CN" altLang="en-US" sz="900" dirty="0"/>
              <a:t>自助餐</a:t>
            </a:r>
            <a:r>
              <a:rPr lang="en-US" altLang="zh-CN" sz="900" dirty="0"/>
              <a:t>,</a:t>
            </a:r>
            <a:r>
              <a:rPr lang="zh-CN" altLang="en-US" sz="900" dirty="0"/>
              <a:t>地方菜系</a:t>
            </a:r>
            <a:r>
              <a:rPr lang="en-US" altLang="zh-CN" sz="900" dirty="0"/>
              <a:t>,</a:t>
            </a:r>
            <a:r>
              <a:rPr lang="zh-CN" altLang="en-US" sz="900" dirty="0"/>
              <a:t>鱼鲜海鲜</a:t>
            </a:r>
            <a:r>
              <a:rPr lang="en-US" altLang="zh-CN" sz="900" dirty="0"/>
              <a:t>,</a:t>
            </a:r>
            <a:r>
              <a:rPr lang="zh-CN" altLang="en-US" sz="900" dirty="0"/>
              <a:t>异域料理</a:t>
            </a:r>
            <a:r>
              <a:rPr lang="en-US" altLang="zh-CN" sz="900" dirty="0"/>
              <a:t>,</a:t>
            </a:r>
            <a:r>
              <a:rPr lang="zh-CN" altLang="en-US" sz="900" dirty="0"/>
              <a:t>小吃快餐</a:t>
            </a:r>
            <a:endParaRPr lang="en-US" altLang="zh-CN" sz="900" dirty="0"/>
          </a:p>
          <a:p>
            <a:r>
              <a:rPr lang="zh-CN" altLang="en-US" sz="900" dirty="0"/>
              <a:t>门店数≥</a:t>
            </a:r>
            <a:r>
              <a:rPr lang="en-US" altLang="zh-CN" sz="900" dirty="0"/>
              <a:t>500</a:t>
            </a:r>
            <a:r>
              <a:rPr lang="zh-CN" altLang="en-US" sz="900" dirty="0"/>
              <a:t>家的城市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0" y="7112348"/>
            <a:ext cx="18661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000" dirty="0">
                <a:effectLst/>
              </a:rPr>
              <a:t>定义决策场景及决策需求（如异地场景、大搜泛搜</a:t>
            </a:r>
            <a:r>
              <a:rPr lang="en-GB" altLang="zh-CN" sz="1000" dirty="0">
                <a:effectLst/>
              </a:rPr>
              <a:t>Query</a:t>
            </a:r>
            <a:r>
              <a:rPr lang="zh-CN" altLang="en-GB" sz="1000" dirty="0">
                <a:effectLst/>
              </a:rPr>
              <a:t>），</a:t>
            </a:r>
            <a:r>
              <a:rPr lang="zh-CN" altLang="en-US" sz="1000" dirty="0">
                <a:effectLst/>
              </a:rPr>
              <a:t>到餐榜单透出位置的总点击</a:t>
            </a:r>
            <a:r>
              <a:rPr lang="en-GB" altLang="zh-CN" sz="1000" dirty="0">
                <a:effectLst/>
              </a:rPr>
              <a:t>UV</a:t>
            </a:r>
            <a:r>
              <a:rPr lang="zh-CN" altLang="en-US" sz="1000" dirty="0">
                <a:effectLst/>
              </a:rPr>
              <a:t>规模及渗透（包括榜单落地页、</a:t>
            </a:r>
            <a:r>
              <a:rPr lang="en-GB" altLang="zh-CN" sz="1000" dirty="0">
                <a:effectLst/>
              </a:rPr>
              <a:t>poi</a:t>
            </a:r>
            <a:r>
              <a:rPr lang="zh-CN" altLang="en-US" sz="1000" dirty="0">
                <a:effectLst/>
              </a:rPr>
              <a:t>页、大搜</a:t>
            </a:r>
            <a:r>
              <a:rPr lang="en-US" altLang="zh-CN" sz="1000" dirty="0">
                <a:effectLst/>
              </a:rPr>
              <a:t>-</a:t>
            </a:r>
            <a:r>
              <a:rPr lang="en-GB" altLang="zh-CN" sz="1000" dirty="0" err="1">
                <a:effectLst/>
              </a:rPr>
              <a:t>sug</a:t>
            </a:r>
            <a:r>
              <a:rPr lang="zh-CN" altLang="en-US" sz="1000" dirty="0">
                <a:effectLst/>
              </a:rPr>
              <a:t>词榜单、大搜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榜单标签、大搜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结果页“上榜好店”快筛、大搜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阿拉丁榜单卡片、美食频道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金刚</a:t>
            </a:r>
            <a:r>
              <a:rPr lang="en-US" altLang="zh-CN" sz="1000" dirty="0">
                <a:effectLst/>
              </a:rPr>
              <a:t>/</a:t>
            </a:r>
            <a:r>
              <a:rPr lang="zh-CN" altLang="en-US" sz="1000" dirty="0">
                <a:effectLst/>
              </a:rPr>
              <a:t>瓷片位、美食频道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标签，美食频道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上榜餐厅快筛、猜喜榜单标签等</a:t>
            </a:r>
            <a:r>
              <a:rPr lang="en-US" altLang="zh-CN" sz="1000" dirty="0">
                <a:effectLst/>
              </a:rPr>
              <a:t>……</a:t>
            </a:r>
            <a:r>
              <a:rPr lang="zh-CN" altLang="en-US" sz="1000" dirty="0">
                <a:effectLst/>
              </a:rPr>
              <a:t>根据承接拓展情况逐渐补充）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90153" y="459995"/>
            <a:ext cx="89636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effectLst/>
              </a:rPr>
              <a:t>从大搜看用户决策意图，主要为通过找品类、菜品、地址决策。但从站外热点挖掘看，跟着明星</a:t>
            </a:r>
            <a:r>
              <a:rPr lang="en-US" altLang="zh-CN" sz="1050" dirty="0">
                <a:effectLst/>
              </a:rPr>
              <a:t>/KOL</a:t>
            </a:r>
            <a:r>
              <a:rPr lang="zh-CN" altLang="en-US" sz="1050" dirty="0">
                <a:effectLst/>
              </a:rPr>
              <a:t>决策、基于场景决策需求较大，发现属性更强。</a:t>
            </a:r>
            <a:endParaRPr lang="en-US" altLang="zh-CN" sz="1050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effectLst/>
              </a:rPr>
              <a:t>当前，美团美食榜单主要为选店决策。主要为围绕品类决策、兼顾地址决策的指数榜</a:t>
            </a:r>
            <a:r>
              <a:rPr lang="zh-CN" altLang="en-US" sz="1050" dirty="0"/>
              <a:t>。并逐渐完善基于场景决策的榜单（旅游、约会等场景）。</a:t>
            </a:r>
            <a:endParaRPr lang="en-US" altLang="zh-C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/>
              <a:t>在榜单矩阵建设上：一方面继续完善品类、地址及场景榜单。一方面扩展、试点特色菜等菜品榜单；同时，尝试开放联名外部榜单，提升榜单</a:t>
            </a:r>
            <a:r>
              <a:rPr lang="en-US" altLang="zh-CN" sz="1050" dirty="0"/>
              <a:t>IP</a:t>
            </a:r>
            <a:r>
              <a:rPr lang="zh-CN" altLang="en-US" sz="1050" dirty="0"/>
              <a:t>整体心智。在动线上：结合运营</a:t>
            </a:r>
            <a:r>
              <a:rPr lang="en-US" altLang="zh-CN" sz="1050" dirty="0"/>
              <a:t>+</a:t>
            </a:r>
            <a:r>
              <a:rPr lang="zh-CN" altLang="en-US" sz="1050" dirty="0"/>
              <a:t>产品手段提升覆盖，并逐渐优化时空</a:t>
            </a:r>
            <a:r>
              <a:rPr lang="en-US" altLang="zh-CN" sz="1050" dirty="0"/>
              <a:t>x</a:t>
            </a:r>
            <a:r>
              <a:rPr lang="zh-CN" altLang="en-US" sz="1050" dirty="0"/>
              <a:t>用户的动线配置，提升转化</a:t>
            </a:r>
            <a:endParaRPr lang="zh-CN" altLang="en-US" sz="1050" dirty="0">
              <a:effectLst/>
            </a:endParaRPr>
          </a:p>
        </p:txBody>
      </p: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156981" y="5593367"/>
          <a:ext cx="8963695" cy="142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承接榜单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人气榜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好评榜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人气榜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好评榜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特色菜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约会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当地人推荐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城市*品类覆盖</a:t>
                      </a:r>
                      <a:endParaRPr lang="en-US" altLang="zh-CN" sz="1000" dirty="0"/>
                    </a:p>
                    <a:p>
                      <a:pPr algn="ctr"/>
                      <a:r>
                        <a:rPr lang="zh-CN" altLang="en-US" sz="1000" dirty="0"/>
                        <a:t>（现状）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城市*品类：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22,596</a:t>
                      </a:r>
                      <a:endParaRPr lang="zh-CN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/>
                        <a:t>商圈*品类：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65,635 </a:t>
                      </a:r>
                      <a:endParaRPr lang="en-US" altLang="zh-CN" sz="10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约会城市：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  <a:p>
                      <a:pPr algn="ctr"/>
                      <a:r>
                        <a:rPr lang="zh-CN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当地人推荐城市：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全量</a:t>
                      </a:r>
                      <a:endParaRPr lang="en-US" altLang="zh-CN" sz="1000" dirty="0"/>
                    </a:p>
                    <a:p>
                      <a:pPr algn="ctr"/>
                      <a:r>
                        <a:rPr lang="zh-CN" altLang="en-US" sz="1000" dirty="0"/>
                        <a:t>（目标）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/>
                        <a:t>城市*品类：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40,136 </a:t>
                      </a:r>
                      <a:endParaRPr lang="en-US" altLang="zh-CN" sz="10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/>
                        <a:t>商圈*品类：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75,274</a:t>
                      </a:r>
                      <a:endParaRPr lang="en-US" altLang="zh-CN" sz="10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城市：</a:t>
                      </a:r>
                      <a:r>
                        <a:rPr lang="en-US" altLang="zh-CN" sz="1000" dirty="0"/>
                        <a:t>1137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/>
                        <a:t>城市：</a:t>
                      </a:r>
                      <a:r>
                        <a:rPr lang="en-US" altLang="zh-CN" sz="1000" dirty="0"/>
                        <a:t>1137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满足率</a:t>
                      </a:r>
                      <a:endParaRPr lang="en-US" altLang="zh-CN" sz="1000" b="1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dirty="0"/>
                        <a:t>56%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dirty="0"/>
                        <a:t>59%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dirty="0">
                          <a:effectLst/>
                        </a:rPr>
                        <a:t>47%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dirty="0"/>
                        <a:t>0.8%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C4CE2AA4-8C0A-45BA-8E37-C017854C03E3}"/>
              </a:ext>
            </a:extLst>
          </p:cNvPr>
          <p:cNvSpPr txBox="1"/>
          <p:nvPr/>
        </p:nvSpPr>
        <p:spPr>
          <a:xfrm>
            <a:off x="-1" y="4966012"/>
            <a:ext cx="5647096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1" baseline="-25000" dirty="0"/>
              <a:t>*</a:t>
            </a:r>
            <a:r>
              <a:rPr lang="zh-CN" altLang="zh-CN" sz="1000" i="1" baseline="-25000" dirty="0"/>
              <a:t>站内数据口径5月1-5月5日均query，TOP 5k</a:t>
            </a:r>
            <a:r>
              <a:rPr lang="zh-CN" altLang="en-US" sz="1000" i="1" baseline="-25000" dirty="0"/>
              <a:t> </a:t>
            </a:r>
            <a:r>
              <a:rPr lang="zh-CN" altLang="zh-CN" sz="1000" i="1" baseline="-25000" dirty="0"/>
              <a:t>Query 分析得出</a:t>
            </a:r>
            <a:r>
              <a:rPr lang="zh-CN" altLang="en-US" sz="1000" i="1" baseline="-25000" dirty="0"/>
              <a:t>；站外取</a:t>
            </a:r>
            <a:r>
              <a:rPr lang="en-US" altLang="zh-CN" sz="1000" i="1" baseline="-25000" dirty="0"/>
              <a:t>5</a:t>
            </a:r>
            <a:r>
              <a:rPr lang="zh-CN" altLang="en-US" sz="1000" i="1" baseline="-25000" dirty="0"/>
              <a:t>月</a:t>
            </a:r>
            <a:r>
              <a:rPr lang="en-US" altLang="zh-CN" sz="1000" i="1" baseline="-25000" dirty="0"/>
              <a:t>1-25</a:t>
            </a:r>
            <a:r>
              <a:rPr lang="zh-CN" altLang="en-US" sz="1000" i="1" baseline="-25000" dirty="0"/>
              <a:t>日抖音、小红书、微博热度计算</a:t>
            </a:r>
            <a:endParaRPr lang="zh-CN" altLang="en-US" sz="1000" i="1" baseline="-25000" dirty="0">
              <a:effectLst/>
            </a:endParaRPr>
          </a:p>
        </p:txBody>
      </p:sp>
      <p:sp>
        <p:nvSpPr>
          <p:cNvPr id="6" name="Text 46">
            <a:extLst>
              <a:ext uri="{FF2B5EF4-FFF2-40B4-BE49-F238E27FC236}">
                <a16:creationId xmlns:a16="http://schemas.microsoft.com/office/drawing/2014/main" id="{1BA9562F-BECF-810F-E652-E8B9E583D578}"/>
              </a:ext>
            </a:extLst>
          </p:cNvPr>
          <p:cNvSpPr/>
          <p:nvPr/>
        </p:nvSpPr>
        <p:spPr>
          <a:xfrm>
            <a:off x="116523" y="1165205"/>
            <a:ext cx="5452324" cy="26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站内搜索</a:t>
            </a:r>
            <a:r>
              <a:rPr lang="zh-CN" altLang="en-US" sz="12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（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qv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、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query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都看，估计到时候主要保留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qv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，内部基于两个优化</a:t>
            </a:r>
            <a:r>
              <a:rPr lang="zh-CN" altLang="en-US" sz="12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）：</a:t>
            </a:r>
            <a:endParaRPr lang="en-US" sz="1200" dirty="0">
              <a:latin typeface="+mn-ea"/>
            </a:endParaRPr>
          </a:p>
        </p:txBody>
      </p:sp>
      <p:sp>
        <p:nvSpPr>
          <p:cNvPr id="7" name="Text 46">
            <a:extLst>
              <a:ext uri="{FF2B5EF4-FFF2-40B4-BE49-F238E27FC236}">
                <a16:creationId xmlns:a16="http://schemas.microsoft.com/office/drawing/2014/main" id="{33C90AF8-3228-AFDB-A146-A187DB01279B}"/>
              </a:ext>
            </a:extLst>
          </p:cNvPr>
          <p:cNvSpPr/>
          <p:nvPr/>
        </p:nvSpPr>
        <p:spPr>
          <a:xfrm>
            <a:off x="5647095" y="1179146"/>
            <a:ext cx="2881847" cy="268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站外热点</a:t>
            </a:r>
            <a:r>
              <a:rPr lang="zh-CN" altLang="en-US" sz="12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：</a:t>
            </a:r>
            <a:endParaRPr lang="en-US" sz="1200" dirty="0">
              <a:latin typeface="+mn-ea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0F55585-4A5B-3924-1D00-D7FC66206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117388"/>
              </p:ext>
            </p:extLst>
          </p:nvPr>
        </p:nvGraphicFramePr>
        <p:xfrm>
          <a:off x="5647095" y="1452462"/>
          <a:ext cx="3380381" cy="3685210"/>
        </p:xfrm>
        <a:graphic>
          <a:graphicData uri="http://schemas.openxmlformats.org/drawingml/2006/table">
            <a:tbl>
              <a:tblPr/>
              <a:tblGrid>
                <a:gridCol w="830379">
                  <a:extLst>
                    <a:ext uri="{9D8B030D-6E8A-4147-A177-3AD203B41FA5}">
                      <a16:colId xmlns:a16="http://schemas.microsoft.com/office/drawing/2014/main" val="223966769"/>
                    </a:ext>
                  </a:extLst>
                </a:gridCol>
                <a:gridCol w="2016286">
                  <a:extLst>
                    <a:ext uri="{9D8B030D-6E8A-4147-A177-3AD203B41FA5}">
                      <a16:colId xmlns:a16="http://schemas.microsoft.com/office/drawing/2014/main" val="699297740"/>
                    </a:ext>
                  </a:extLst>
                </a:gridCol>
                <a:gridCol w="533716">
                  <a:extLst>
                    <a:ext uri="{9D8B030D-6E8A-4147-A177-3AD203B41FA5}">
                      <a16:colId xmlns:a16="http://schemas.microsoft.com/office/drawing/2014/main" val="4285299677"/>
                    </a:ext>
                  </a:extLst>
                </a:gridCol>
              </a:tblGrid>
              <a:tr h="5226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1" dirty="0">
                          <a:solidFill>
                            <a:srgbClr val="0D0D0D"/>
                          </a:solidFill>
                          <a:effectLst/>
                        </a:rPr>
                        <a:t>分类</a:t>
                      </a:r>
                      <a:r>
                        <a:rPr lang="zh-CN" altLang="en-US" sz="1050" b="1" dirty="0">
                          <a:solidFill>
                            <a:srgbClr val="FF0000"/>
                          </a:solidFill>
                          <a:effectLst/>
                        </a:rPr>
                        <a:t>（转置一致）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1" dirty="0">
                          <a:solidFill>
                            <a:srgbClr val="0D0D0D"/>
                          </a:solidFill>
                          <a:effectLst/>
                        </a:rPr>
                        <a:t>代表热点</a:t>
                      </a:r>
                      <a:r>
                        <a:rPr lang="zh-CN" altLang="en-US" sz="1050" b="1" dirty="0">
                          <a:solidFill>
                            <a:srgbClr val="FF0000"/>
                          </a:solidFill>
                          <a:effectLst/>
                        </a:rPr>
                        <a:t>（为啥只有</a:t>
                      </a:r>
                      <a:r>
                        <a:rPr lang="en-US" altLang="zh-CN" sz="1050" b="1" dirty="0">
                          <a:solidFill>
                            <a:srgbClr val="FF0000"/>
                          </a:solidFill>
                          <a:effectLst/>
                        </a:rPr>
                        <a:t>D+</a:t>
                      </a:r>
                      <a:r>
                        <a:rPr lang="zh-CN" altLang="en-US" sz="1050" b="1" dirty="0">
                          <a:solidFill>
                            <a:srgbClr val="FF0000"/>
                          </a:solidFill>
                          <a:effectLst/>
                        </a:rPr>
                        <a:t>专门标记，没标记的是什么来源的，举例要筛选、恰当）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1" dirty="0">
                          <a:solidFill>
                            <a:srgbClr val="0D0D0D"/>
                          </a:solidFill>
                          <a:effectLst/>
                        </a:rPr>
                        <a:t>热度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3683"/>
                  </a:ext>
                </a:extLst>
              </a:tr>
              <a:tr h="4842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明星</a:t>
                      </a:r>
                      <a:r>
                        <a:rPr lang="en-US" altLang="zh-CN" sz="10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/KOL</a:t>
                      </a:r>
                      <a:endParaRPr lang="zh-CN" altLang="en-US" sz="1000" dirty="0"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strike="sngStrike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张艺兴送外卖（</a:t>
                      </a:r>
                      <a:r>
                        <a:rPr lang="en-US" altLang="zh-CN" sz="800" strike="sngStrike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451.9</a:t>
                      </a:r>
                      <a:r>
                        <a:rPr lang="zh-CN" altLang="en-US" sz="800" strike="sngStrike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万）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王一博同款美食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(82.0</a:t>
                      </a:r>
                      <a:r>
                        <a:rPr 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w) / 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肖战同款美食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(58.4</a:t>
                      </a:r>
                      <a:r>
                        <a:rPr 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w)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800" dirty="0"/>
                        <a:t>王源天津逛吃</a:t>
                      </a:r>
                      <a:r>
                        <a:rPr lang="en" altLang="zh-CN" sz="800" dirty="0"/>
                        <a:t>vlog</a:t>
                      </a:r>
                      <a:r>
                        <a:rPr lang="zh-CN" altLang="en-US" sz="800" u="none" kern="12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446.8w</a:t>
                      </a:r>
                      <a:r>
                        <a:rPr lang="zh-CN" altLang="en-US" sz="800" u="none" kern="12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），</a:t>
                      </a:r>
                      <a:r>
                        <a:rPr lang="zh-CN" altLang="en-US" sz="800" u="non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有</a:t>
                      </a:r>
                      <a:r>
                        <a:rPr lang="en-US" altLang="zh-CN" sz="800" u="non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KOL</a:t>
                      </a:r>
                      <a:r>
                        <a:rPr lang="zh-CN" altLang="en-US" sz="800" u="none" kern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么？</a:t>
                      </a:r>
                      <a:endParaRPr lang="en" altLang="zh-CN" sz="800" dirty="0">
                        <a:solidFill>
                          <a:srgbClr val="FF0000"/>
                        </a:solidFill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b="1" dirty="0">
                          <a:effectLst/>
                        </a:rPr>
                        <a:t>4814</a:t>
                      </a:r>
                      <a:r>
                        <a:rPr lang="zh-CN" altLang="en-US" sz="800" b="1" dirty="0">
                          <a:effectLst/>
                        </a:rPr>
                        <a:t>万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897207"/>
                  </a:ext>
                </a:extLst>
              </a:tr>
              <a:tr h="5749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场景词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母亲节美食（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92.0w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母亲节聚餐（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194.2w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母亲节餐厅（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180.3w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 520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约会餐厅（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483.2w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五一吃什么（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22.4w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端午节美食（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15.3w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父亲节聚餐（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22.3w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六一儿童节我要吃（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456.3w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7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effectLst/>
                        </a:rPr>
                        <a:t>1324.6</a:t>
                      </a:r>
                      <a:r>
                        <a:rPr lang="zh-CN" altLang="en-US" sz="800" b="1" dirty="0">
                          <a:effectLst/>
                        </a:rPr>
                        <a:t>万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066832"/>
                  </a:ext>
                </a:extLst>
              </a:tr>
              <a:tr h="5749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时令菜品词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小龙虾吃法（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445.4w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700" strike="sngStrike" dirty="0">
                          <a:effectLst/>
                          <a:latin typeface="+mn-ea"/>
                          <a:ea typeface="+mn-ea"/>
                        </a:rPr>
                        <a:t>西瓜（</a:t>
                      </a:r>
                      <a:r>
                        <a:rPr lang="en-US" altLang="zh-CN" sz="700" strike="sngStrike" dirty="0">
                          <a:effectLst/>
                          <a:latin typeface="+mn-ea"/>
                          <a:ea typeface="+mn-ea"/>
                        </a:rPr>
                        <a:t>222.1w</a:t>
                      </a:r>
                      <a:r>
                        <a:rPr lang="zh-CN" altLang="en-US" sz="700" strike="sngStrike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strike="sng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700" strike="sngStrike" dirty="0">
                          <a:effectLst/>
                          <a:latin typeface="+mn-ea"/>
                          <a:ea typeface="+mn-ea"/>
                        </a:rPr>
                        <a:t>荔枝（</a:t>
                      </a:r>
                      <a:r>
                        <a:rPr lang="en-US" altLang="zh-CN" sz="700" strike="sngStrike" dirty="0">
                          <a:effectLst/>
                          <a:latin typeface="+mn-ea"/>
                          <a:ea typeface="+mn-ea"/>
                        </a:rPr>
                        <a:t>22.4w</a:t>
                      </a:r>
                      <a:r>
                        <a:rPr lang="zh-CN" altLang="en-US" sz="700" strike="sngStrike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小龙虾怎么做（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45.3w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榴莲（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11.3w</a:t>
                      </a:r>
                      <a:r>
                        <a:rPr lang="zh-CN" altLang="en-US" sz="7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榴莲脑袋的满级吃商（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444.3w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蒜薹潜力被开发最全面的一年（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444.5w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夏天的第一碗贵州冰浆（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90w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zh-CN" altLang="en-US" sz="7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（时令和地方菜的界限是？）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effectLst/>
                        </a:rPr>
                        <a:t>946.5</a:t>
                      </a:r>
                      <a:r>
                        <a:rPr lang="zh-CN" altLang="en-US" sz="800" b="1" dirty="0">
                          <a:effectLst/>
                        </a:rPr>
                        <a:t>万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07135"/>
                  </a:ext>
                </a:extLst>
              </a:tr>
              <a:tr h="8890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城市特色菜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各地小龙虾口味大比拼（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445.9w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 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今年首顿小龙虾安排了吗（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55.2w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天水麻辣烫（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59.1w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柳州螺蛳粉（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77.7w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兰州牛肉面（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81.2w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北京烤鸭（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105.6w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贵阳辣子鸡拌面夯爆了（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35.1w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首届南北早餐争霸赛（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443.6w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800" u="none" kern="12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株洲特色美食越吃越上头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797.6w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800" u="none" kern="1200" dirty="0"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effectLst/>
                        </a:rPr>
                        <a:t>944.8</a:t>
                      </a:r>
                      <a:r>
                        <a:rPr lang="zh-CN" altLang="en-US" sz="800" b="1" dirty="0">
                          <a:effectLst/>
                        </a:rPr>
                        <a:t>万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763020"/>
                  </a:ext>
                </a:extLst>
              </a:tr>
              <a:tr h="4842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榜单词</a:t>
                      </a: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满级吃商通关赛（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111w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800" dirty="0">
                          <a:effectLst/>
                          <a:latin typeface="+mn-ea"/>
                          <a:ea typeface="+mn-ea"/>
                        </a:rPr>
                        <a:t>美食推荐官 </a:t>
                      </a:r>
                      <a:r>
                        <a:rPr lang="en-US" altLang="zh-CN" sz="800" dirty="0">
                          <a:effectLst/>
                          <a:latin typeface="+mn-ea"/>
                          <a:ea typeface="+mn-ea"/>
                        </a:rPr>
                        <a:t>(68.3w) /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寻味城市招牌美食（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D+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CN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445.3w</a:t>
                      </a:r>
                      <a:r>
                        <a:rPr lang="zh-CN" altLang="en-US" sz="800" dirty="0"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</a:rPr>
                        <a:t>） </a:t>
                      </a:r>
                      <a:endParaRPr lang="zh-CN" altLang="en-US" sz="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b="1" dirty="0">
                          <a:effectLst/>
                        </a:rPr>
                        <a:t>723.8</a:t>
                      </a:r>
                      <a:r>
                        <a:rPr lang="zh-CN" altLang="en-US" sz="800" b="1" dirty="0">
                          <a:effectLst/>
                        </a:rPr>
                        <a:t>万</a:t>
                      </a:r>
                      <a:endParaRPr lang="zh-CN" altLang="en-US" sz="800" dirty="0">
                        <a:effectLst/>
                      </a:endParaRPr>
                    </a:p>
                  </a:txBody>
                  <a:tcPr marL="56819" marR="56819" marT="26224" marB="26224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42972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9D99D23-A401-0711-2418-EB5A221A7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649594"/>
              </p:ext>
            </p:extLst>
          </p:nvPr>
        </p:nvGraphicFramePr>
        <p:xfrm>
          <a:off x="66828" y="1434180"/>
          <a:ext cx="5435190" cy="3529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5335">
                  <a:extLst>
                    <a:ext uri="{9D8B030D-6E8A-4147-A177-3AD203B41FA5}">
                      <a16:colId xmlns:a16="http://schemas.microsoft.com/office/drawing/2014/main" val="1332178433"/>
                    </a:ext>
                  </a:extLst>
                </a:gridCol>
                <a:gridCol w="814799">
                  <a:extLst>
                    <a:ext uri="{9D8B030D-6E8A-4147-A177-3AD203B41FA5}">
                      <a16:colId xmlns:a16="http://schemas.microsoft.com/office/drawing/2014/main" val="3016871320"/>
                    </a:ext>
                  </a:extLst>
                </a:gridCol>
                <a:gridCol w="826461">
                  <a:extLst>
                    <a:ext uri="{9D8B030D-6E8A-4147-A177-3AD203B41FA5}">
                      <a16:colId xmlns:a16="http://schemas.microsoft.com/office/drawing/2014/main" val="3453673861"/>
                    </a:ext>
                  </a:extLst>
                </a:gridCol>
                <a:gridCol w="668935">
                  <a:extLst>
                    <a:ext uri="{9D8B030D-6E8A-4147-A177-3AD203B41FA5}">
                      <a16:colId xmlns:a16="http://schemas.microsoft.com/office/drawing/2014/main" val="170246068"/>
                    </a:ext>
                  </a:extLst>
                </a:gridCol>
                <a:gridCol w="555981">
                  <a:extLst>
                    <a:ext uri="{9D8B030D-6E8A-4147-A177-3AD203B41FA5}">
                      <a16:colId xmlns:a16="http://schemas.microsoft.com/office/drawing/2014/main" val="3475539351"/>
                    </a:ext>
                  </a:extLst>
                </a:gridCol>
                <a:gridCol w="555981">
                  <a:extLst>
                    <a:ext uri="{9D8B030D-6E8A-4147-A177-3AD203B41FA5}">
                      <a16:colId xmlns:a16="http://schemas.microsoft.com/office/drawing/2014/main" val="1069190170"/>
                    </a:ext>
                  </a:extLst>
                </a:gridCol>
                <a:gridCol w="747698">
                  <a:extLst>
                    <a:ext uri="{9D8B030D-6E8A-4147-A177-3AD203B41FA5}">
                      <a16:colId xmlns:a16="http://schemas.microsoft.com/office/drawing/2014/main" val="1625055298"/>
                    </a:ext>
                  </a:extLst>
                </a:gridCol>
              </a:tblGrid>
              <a:tr h="1123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大搜意图分类（区域</a:t>
                      </a:r>
                      <a:r>
                        <a:rPr lang="en-US" altLang="zh-CN" sz="700" u="none" strike="noStrike" dirty="0">
                          <a:effectLst/>
                        </a:rPr>
                        <a:t>x</a:t>
                      </a:r>
                      <a:r>
                        <a:rPr lang="zh-CN" altLang="en-US" sz="700" u="none" strike="noStrike" dirty="0">
                          <a:effectLst/>
                        </a:rPr>
                        <a:t>意图）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品类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菜品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地址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旅游场景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约会场景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其他场景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34842"/>
                  </a:ext>
                </a:extLst>
              </a:tr>
              <a:tr h="1123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搜索</a:t>
                      </a:r>
                      <a:r>
                        <a:rPr lang="en" sz="700" u="none" strike="noStrike" dirty="0">
                          <a:effectLst/>
                        </a:rPr>
                        <a:t>qv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  </a:t>
                      </a:r>
                      <a:r>
                        <a:rPr lang="en-US" altLang="zh-CN" sz="700" u="none" strike="noStrike" dirty="0">
                          <a:effectLst/>
                        </a:rPr>
                        <a:t>1,142w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  </a:t>
                      </a:r>
                      <a:r>
                        <a:rPr lang="en-US" altLang="zh-CN" sz="700" u="none" strike="noStrike" dirty="0">
                          <a:effectLst/>
                        </a:rPr>
                        <a:t>633w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  </a:t>
                      </a:r>
                      <a:r>
                        <a:rPr lang="en-US" altLang="zh-CN" sz="700" u="none" strike="noStrike" dirty="0">
                          <a:effectLst/>
                        </a:rPr>
                        <a:t>138w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1.1w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4.9w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134w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31381"/>
                  </a:ext>
                </a:extLst>
              </a:tr>
              <a:tr h="1123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搜索</a:t>
                      </a:r>
                      <a:r>
                        <a:rPr lang="en" sz="700" u="none" strike="noStrike" dirty="0">
                          <a:effectLst/>
                        </a:rPr>
                        <a:t>query</a:t>
                      </a:r>
                      <a:r>
                        <a:rPr lang="zh-CN" altLang="en-US" sz="700" u="none" strike="noStrike" dirty="0">
                          <a:effectLst/>
                        </a:rPr>
                        <a:t>量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22w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66w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4w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1,695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9,196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10w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331719"/>
                  </a:ext>
                </a:extLst>
              </a:tr>
              <a:tr h="1123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榜单覆盖</a:t>
                      </a:r>
                      <a:r>
                        <a:rPr lang="en" sz="700" u="none" strike="noStrike" dirty="0">
                          <a:effectLst/>
                        </a:rPr>
                        <a:t>qv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   </a:t>
                      </a:r>
                      <a:r>
                        <a:rPr lang="en-US" altLang="zh-CN" sz="700" u="none" strike="noStrike" dirty="0">
                          <a:effectLst/>
                        </a:rPr>
                        <a:t>688w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46w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    </a:t>
                      </a:r>
                      <a:r>
                        <a:rPr lang="en-US" altLang="zh-CN" sz="700" u="none" strike="noStrike" dirty="0">
                          <a:effectLst/>
                        </a:rPr>
                        <a:t>53w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9,659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1.9w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2.9w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115573"/>
                  </a:ext>
                </a:extLst>
              </a:tr>
              <a:tr h="1123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榜单覆盖</a:t>
                      </a:r>
                      <a:r>
                        <a:rPr lang="en" sz="700" u="none" strike="noStrike" dirty="0">
                          <a:effectLst/>
                        </a:rPr>
                        <a:t>qv</a:t>
                      </a:r>
                      <a:r>
                        <a:rPr lang="zh-CN" altLang="en-US" sz="700" u="none" strike="noStrike" dirty="0">
                          <a:effectLst/>
                        </a:rPr>
                        <a:t>占比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60.20%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7.21%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>
                          <a:effectLst/>
                        </a:rPr>
                        <a:t>38.28%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91.00%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38.92%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2.14%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464249"/>
                  </a:ext>
                </a:extLst>
              </a:tr>
              <a:tr h="318769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配置动线</a:t>
                      </a:r>
                      <a:r>
                        <a:rPr lang="en-US" altLang="zh-CN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</a:t>
                      </a: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占比</a:t>
                      </a:r>
                      <a:endParaRPr lang="en-US" altLang="zh-CN" sz="7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这里看有没有有榜但是没配置动线的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556363"/>
                  </a:ext>
                </a:extLst>
              </a:tr>
              <a:tr h="318769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榜单决策占比</a:t>
                      </a:r>
                      <a:endParaRPr lang="en-US" altLang="zh-CN" sz="7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这里看配置动线但因转化或动线不够强的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719171"/>
                  </a:ext>
                </a:extLst>
              </a:tr>
              <a:tr h="1123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榜单覆盖</a:t>
                      </a:r>
                      <a:r>
                        <a:rPr lang="en" sz="700" u="none" strike="noStrike" dirty="0">
                          <a:effectLst/>
                        </a:rPr>
                        <a:t>query</a:t>
                      </a:r>
                      <a:r>
                        <a:rPr lang="zh-CN" altLang="en-US" sz="700" u="none" strike="noStrike" dirty="0">
                          <a:effectLst/>
                        </a:rPr>
                        <a:t>量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47,822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3,550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1,672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1,205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490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1,695 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958224"/>
                  </a:ext>
                </a:extLst>
              </a:tr>
              <a:tr h="1123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700" u="none" strike="noStrike" dirty="0">
                          <a:effectLst/>
                        </a:rPr>
                        <a:t>榜单覆盖</a:t>
                      </a:r>
                      <a:r>
                        <a:rPr lang="en" sz="700" u="none" strike="noStrike" dirty="0">
                          <a:effectLst/>
                        </a:rPr>
                        <a:t>query</a:t>
                      </a:r>
                      <a:r>
                        <a:rPr lang="zh-CN" altLang="en-US" sz="700" u="none" strike="noStrike" dirty="0">
                          <a:effectLst/>
                        </a:rPr>
                        <a:t>量占比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>
                          <a:effectLst/>
                        </a:rPr>
                        <a:t>22.09%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effectLst/>
                        </a:rPr>
                        <a:t>0.54%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>
                          <a:effectLst/>
                        </a:rPr>
                        <a:t>4.18%</a:t>
                      </a:r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71.09%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5.33%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1.65%</a:t>
                      </a:r>
                      <a:endParaRPr lang="en-US" altLang="zh-CN" sz="7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94532"/>
                  </a:ext>
                </a:extLst>
              </a:tr>
              <a:tr h="318769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配置动线</a:t>
                      </a:r>
                      <a:r>
                        <a:rPr lang="en-US" altLang="zh-CN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query</a:t>
                      </a: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占比</a:t>
                      </a:r>
                      <a:endParaRPr lang="en-US" altLang="zh-CN" sz="7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这里看有没有有榜但是没配置动线的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684508"/>
                  </a:ext>
                </a:extLst>
              </a:tr>
              <a:tr h="318769">
                <a:tc>
                  <a:txBody>
                    <a:bodyPr/>
                    <a:lstStyle/>
                    <a:p>
                      <a:pPr marL="0" algn="ctr" defTabSz="685800" rtl="0" eaLnBrk="1" fontAlgn="b" latinLnBrk="0" hangingPunct="1">
                        <a:buNone/>
                      </a:pP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榜单决策占比</a:t>
                      </a:r>
                      <a:endParaRPr lang="en-US" altLang="zh-CN" sz="70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这里看配置动线但因转化或动线不够强的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819725"/>
                  </a:ext>
                </a:extLst>
              </a:tr>
              <a:tr h="324683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空间一：供给不足，不满足当前成榜条件。部分可细化门槛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740309"/>
                  </a:ext>
                </a:extLst>
              </a:tr>
              <a:tr h="42195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空间二：供给充足，无榜，需要资产建设或细化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如</a:t>
                      </a: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高搜品类缺失：</a:t>
                      </a:r>
                      <a:r>
                        <a:rPr lang="zh-CN" altLang="en-US" sz="700" dirty="0">
                          <a:effectLst/>
                        </a:rPr>
                        <a:t>江湖菜、</a:t>
                      </a: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减脂餐等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占比大概多少</a:t>
                      </a: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过去以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找店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决策为主，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除特色菜外</a:t>
                      </a: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，缺菜品榜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占比大概多少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陆续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完善</a:t>
                      </a: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商场</a:t>
                      </a: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景点覆盖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占比大概多少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场景榜陆续建设中</a:t>
                      </a:r>
                      <a:endParaRPr lang="en-US" altLang="zh-CN" sz="7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128954"/>
                  </a:ext>
                </a:extLst>
              </a:tr>
              <a:tr h="324683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空间三：有榜，但</a:t>
                      </a:r>
                      <a:r>
                        <a:rPr lang="en-US" altLang="zh-CN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sug</a:t>
                      </a: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未覆盖，或未覆盖全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510626"/>
                  </a:ext>
                </a:extLst>
              </a:tr>
              <a:tr h="3126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空间四：强化动线、优化转化</a:t>
                      </a:r>
                      <a:endParaRPr lang="en-GB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结合</a:t>
                      </a:r>
                      <a:r>
                        <a:rPr lang="zh-CN" alt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资产映射及建设进展，联合产品提升覆盖</a:t>
                      </a:r>
                      <a:endParaRPr lang="en-US" altLang="zh-CN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16869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4C124BC-A9E1-03F8-3FC6-84DDC5819D6B}"/>
              </a:ext>
            </a:extLst>
          </p:cNvPr>
          <p:cNvSpPr txBox="1"/>
          <p:nvPr/>
        </p:nvSpPr>
        <p:spPr>
          <a:xfrm>
            <a:off x="-2650345" y="2805762"/>
            <a:ext cx="26503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1.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60%</a:t>
            </a:r>
            <a:r>
              <a:rPr lang="zh-CN" altLang="en-US" dirty="0">
                <a:solidFill>
                  <a:srgbClr val="C00000"/>
                </a:solidFill>
              </a:rPr>
              <a:t>中（动线没有覆盖占比）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2.</a:t>
            </a:r>
            <a:r>
              <a:rPr lang="zh-CN" altLang="en-US" dirty="0">
                <a:solidFill>
                  <a:srgbClr val="C00000"/>
                </a:solidFill>
              </a:rPr>
              <a:t> 品类剩下的</a:t>
            </a:r>
            <a:r>
              <a:rPr lang="en-US" altLang="zh-CN" dirty="0">
                <a:solidFill>
                  <a:srgbClr val="C00000"/>
                </a:solidFill>
              </a:rPr>
              <a:t>40%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原因（到餐无品类、未成榜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供给不足、未拆品类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小吃快餐）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有多少可以覆盖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/>
          <p:cNvSpPr txBox="1"/>
          <p:nvPr/>
        </p:nvSpPr>
        <p:spPr>
          <a:xfrm>
            <a:off x="251999" y="32009"/>
            <a:ext cx="4320001" cy="42731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备一个，基于这次几大维度的我们</a:t>
            </a:r>
            <a:r>
              <a:rPr lang="en-US" altLang="zh-CN" sz="2100">
                <a:solidFill>
                  <a:srgbClr val="FF0000"/>
                </a:solidFill>
                <a:latin typeface="+mj-ea"/>
              </a:rPr>
              <a:t>+</a:t>
            </a:r>
            <a:r>
              <a:rPr lang="zh-CN" altLang="en-US" sz="2100">
                <a:solidFill>
                  <a:srgbClr val="FF0000"/>
                </a:solidFill>
                <a:latin typeface="+mj-ea"/>
              </a:rPr>
              <a:t>竞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品占位情况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6828" y="9051340"/>
          <a:ext cx="7886702" cy="12907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3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0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32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83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493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时间：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20260420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不含全部</a:t>
                      </a:r>
                      <a:r>
                        <a:rPr lang="en-US" altLang="zh-CN" sz="900" u="none" strike="noStrike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夜宵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from-</a:t>
                      </a:r>
                      <a:r>
                        <a:rPr lang="zh-CN" altLang="en-US" sz="90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直接乘</a:t>
                      </a:r>
                      <a:endParaRPr lang="zh-CN" altLang="en-US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👇现状</a:t>
                      </a:r>
                      <a:r>
                        <a:rPr lang="en-US" altLang="zh-CN" sz="900" u="none" strike="noStrike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不满足供给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>
                          <a:effectLst/>
                          <a:latin typeface="+mn-ea"/>
                          <a:ea typeface="+mn-ea"/>
                        </a:rPr>
                        <a:t>list_dim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人气榜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前台全部目标成榜单</a:t>
                      </a:r>
                      <a:endParaRPr lang="zh-CN" altLang="en-US" sz="9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现状前台区域类目数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不满足供给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有效目标成榜数量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  <a:latin typeface="+mn-ea"/>
                          <a:ea typeface="+mn-ea"/>
                        </a:rPr>
                        <a:t>占比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poi</a:t>
                      </a:r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数标准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88" marR="5688" marT="5688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938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city</a:t>
                      </a: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22,596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159,588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97,355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57,219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40,136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家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938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sz="9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dist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49,367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1,364,352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434,195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349,830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84,365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59%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家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938"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region</a:t>
                      </a:r>
                    </a:p>
                  </a:txBody>
                  <a:tcPr marL="5688" marR="5688" marT="5688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65,635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3,126,288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813,406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738,132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75,274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家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6828" y="10607558"/>
          <a:ext cx="5397500" cy="1478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26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到餐大盘区域</a:t>
                      </a:r>
                      <a:r>
                        <a:rPr lang="en-US" altLang="zh-C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类目数量现状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行标签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供给</a:t>
                      </a:r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OK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供给不足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>
                          <a:effectLst/>
                          <a:latin typeface="+mn-ea"/>
                          <a:ea typeface="+mn-ea"/>
                        </a:rPr>
                        <a:t>总计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城市品类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40,136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57,219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97,355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行政区品类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84,365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349,830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434,195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商圈品类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75,274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738,132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813,406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总计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199,775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1,145,181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l" defTabSz="685800" rtl="0" eaLnBrk="1" fontAlgn="ctr" latinLnBrk="0" hangingPunct="1"/>
                      <a:r>
                        <a:rPr lang="zh-CN" altLang="en-US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                 </a:t>
                      </a:r>
                      <a:r>
                        <a:rPr lang="en-US" altLang="zh-CN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1,344,956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2090994" y="7112349"/>
            <a:ext cx="170816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effectLst/>
              </a:rPr>
              <a:t>线上：品类</a:t>
            </a:r>
            <a:r>
              <a:rPr lang="en-US" altLang="zh-CN" sz="900" dirty="0">
                <a:effectLst/>
              </a:rPr>
              <a:t>74</a:t>
            </a:r>
            <a:r>
              <a:rPr lang="zh-CN" altLang="en-US" sz="900" dirty="0">
                <a:effectLst/>
              </a:rPr>
              <a:t>、城市</a:t>
            </a:r>
            <a:r>
              <a:rPr lang="en-US" altLang="zh-CN" sz="900" dirty="0">
                <a:effectLst/>
              </a:rPr>
              <a:t>1182</a:t>
            </a:r>
          </a:p>
          <a:p>
            <a:endParaRPr lang="en-US" altLang="zh-CN" sz="900" dirty="0">
              <a:effectLst/>
            </a:endParaRPr>
          </a:p>
          <a:p>
            <a:r>
              <a:rPr lang="zh-CN" altLang="en-US" sz="900" dirty="0">
                <a:effectLst/>
              </a:rPr>
              <a:t>目标：城市*品类＞</a:t>
            </a:r>
            <a:r>
              <a:rPr lang="en-US" altLang="zh-CN" sz="900" dirty="0"/>
              <a:t>20</a:t>
            </a:r>
          </a:p>
          <a:p>
            <a:r>
              <a:rPr lang="zh-CN" altLang="en-US" sz="900" dirty="0">
                <a:effectLst/>
              </a:rPr>
              <a:t>城市：</a:t>
            </a:r>
            <a:r>
              <a:rPr lang="en-US" altLang="zh-CN" sz="900" dirty="0">
                <a:effectLst/>
              </a:rPr>
              <a:t>1209</a:t>
            </a:r>
            <a:r>
              <a:rPr lang="zh-CN" altLang="en-US" sz="900" dirty="0">
                <a:effectLst/>
              </a:rPr>
              <a:t>（含港澳台）</a:t>
            </a:r>
            <a:endParaRPr lang="en-US" altLang="zh-CN" sz="900" dirty="0">
              <a:effectLst/>
            </a:endParaRPr>
          </a:p>
          <a:p>
            <a:r>
              <a:rPr lang="zh-CN" altLang="en-US" sz="900" dirty="0"/>
              <a:t>品类：二三级</a:t>
            </a:r>
            <a:r>
              <a:rPr lang="en-US" altLang="zh-CN" sz="900" dirty="0"/>
              <a:t>132</a:t>
            </a:r>
            <a:endParaRPr lang="zh-CN" altLang="en-US" sz="900" dirty="0">
              <a:effectLst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023967" y="7112349"/>
            <a:ext cx="1447211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/>
              <a:t>线上：品类</a:t>
            </a:r>
            <a:r>
              <a:rPr lang="en-US" altLang="zh-CN" sz="900" dirty="0"/>
              <a:t>74</a:t>
            </a:r>
            <a:r>
              <a:rPr lang="zh-CN" altLang="en-US" sz="900" dirty="0"/>
              <a:t>、行政区</a:t>
            </a:r>
            <a:r>
              <a:rPr lang="en-US" altLang="zh-CN" sz="900" dirty="0"/>
              <a:t>8258</a:t>
            </a:r>
            <a:r>
              <a:rPr lang="zh-CN" altLang="en-US" sz="900" dirty="0"/>
              <a:t>、商圈</a:t>
            </a:r>
            <a:r>
              <a:rPr lang="en-US" altLang="zh-CN" sz="900" dirty="0"/>
              <a:t>18630</a:t>
            </a:r>
            <a:endParaRPr lang="en-US" altLang="zh-CN" sz="900" dirty="0">
              <a:effectLst/>
            </a:endParaRPr>
          </a:p>
          <a:p>
            <a:endParaRPr lang="en-US" altLang="zh-CN" sz="900" dirty="0"/>
          </a:p>
          <a:p>
            <a:r>
              <a:rPr lang="zh-CN" altLang="en-US" sz="900" dirty="0">
                <a:effectLst/>
              </a:rPr>
              <a:t>目标：城市*品类＞</a:t>
            </a:r>
            <a:r>
              <a:rPr lang="en-US" altLang="zh-CN" sz="900" dirty="0"/>
              <a:t>20</a:t>
            </a:r>
          </a:p>
          <a:p>
            <a:r>
              <a:rPr lang="zh-CN" altLang="en-US" sz="900" dirty="0"/>
              <a:t>行政区</a:t>
            </a:r>
            <a:r>
              <a:rPr lang="zh-CN" altLang="en-US" sz="900" dirty="0">
                <a:effectLst/>
              </a:rPr>
              <a:t>：</a:t>
            </a:r>
            <a:r>
              <a:rPr lang="en-US" altLang="zh-CN" sz="900" dirty="0">
                <a:effectLst/>
              </a:rPr>
              <a:t>10336</a:t>
            </a:r>
          </a:p>
          <a:p>
            <a:r>
              <a:rPr lang="zh-CN" altLang="en-US" sz="900" dirty="0"/>
              <a:t>商圈：</a:t>
            </a:r>
            <a:r>
              <a:rPr lang="en-US" altLang="zh-CN" sz="900" dirty="0"/>
              <a:t>23684</a:t>
            </a:r>
            <a:endParaRPr lang="en-US" altLang="zh-CN" sz="900" dirty="0">
              <a:effectLst/>
            </a:endParaRPr>
          </a:p>
          <a:p>
            <a:r>
              <a:rPr lang="zh-CN" altLang="en-US" sz="900" dirty="0"/>
              <a:t>品类：二三级</a:t>
            </a:r>
            <a:r>
              <a:rPr lang="en-US" altLang="zh-CN" sz="900" dirty="0"/>
              <a:t>132</a:t>
            </a:r>
          </a:p>
          <a:p>
            <a:endParaRPr lang="en-US" altLang="zh-CN" sz="900" dirty="0">
              <a:effectLst/>
            </a:endParaRPr>
          </a:p>
          <a:p>
            <a:r>
              <a:rPr lang="zh-CN" altLang="en-US" sz="900" dirty="0"/>
              <a:t>商圈*品类后供给＞</a:t>
            </a:r>
            <a:r>
              <a:rPr lang="en-US" altLang="zh-CN" sz="900" dirty="0"/>
              <a:t>20</a:t>
            </a:r>
            <a:r>
              <a:rPr lang="zh-CN" altLang="en-US" sz="900" dirty="0"/>
              <a:t>的会更少，所以已经满足的占比相对就会较高</a:t>
            </a:r>
            <a:endParaRPr lang="zh-CN" altLang="en-US" sz="900" dirty="0">
              <a:effectLst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29332" y="7112348"/>
            <a:ext cx="33525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effectLst/>
              </a:rPr>
              <a:t>目标：</a:t>
            </a:r>
            <a:endParaRPr lang="en-US" altLang="zh-CN" sz="900" dirty="0">
              <a:effectLst/>
            </a:endParaRPr>
          </a:p>
          <a:p>
            <a:r>
              <a:rPr lang="zh-CN" altLang="en-US" sz="900" dirty="0"/>
              <a:t>品类限制：火锅</a:t>
            </a:r>
            <a:r>
              <a:rPr lang="en-US" altLang="zh-CN" sz="900" dirty="0"/>
              <a:t>,</a:t>
            </a:r>
            <a:r>
              <a:rPr lang="zh-CN" altLang="en-US" sz="900" dirty="0"/>
              <a:t>烧烤烤串</a:t>
            </a:r>
            <a:r>
              <a:rPr lang="en-US" altLang="zh-CN" sz="900" dirty="0"/>
              <a:t>,</a:t>
            </a:r>
            <a:r>
              <a:rPr lang="zh-CN" altLang="en-US" sz="900" dirty="0"/>
              <a:t>烤肉</a:t>
            </a:r>
            <a:r>
              <a:rPr lang="en-US" altLang="zh-CN" sz="900" dirty="0"/>
              <a:t>,</a:t>
            </a:r>
            <a:r>
              <a:rPr lang="zh-CN" altLang="en-US" sz="900" dirty="0"/>
              <a:t>自助餐</a:t>
            </a:r>
            <a:r>
              <a:rPr lang="en-US" altLang="zh-CN" sz="900" dirty="0"/>
              <a:t>,</a:t>
            </a:r>
            <a:r>
              <a:rPr lang="zh-CN" altLang="en-US" sz="900" dirty="0"/>
              <a:t>地方菜系</a:t>
            </a:r>
            <a:r>
              <a:rPr lang="en-US" altLang="zh-CN" sz="900" dirty="0"/>
              <a:t>,</a:t>
            </a:r>
            <a:r>
              <a:rPr lang="zh-CN" altLang="en-US" sz="900" dirty="0"/>
              <a:t>鱼鲜海鲜</a:t>
            </a:r>
            <a:r>
              <a:rPr lang="en-US" altLang="zh-CN" sz="900" dirty="0"/>
              <a:t>,</a:t>
            </a:r>
            <a:r>
              <a:rPr lang="zh-CN" altLang="en-US" sz="900" dirty="0"/>
              <a:t>异域料理</a:t>
            </a:r>
            <a:r>
              <a:rPr lang="en-US" altLang="zh-CN" sz="900" dirty="0"/>
              <a:t>,</a:t>
            </a:r>
            <a:r>
              <a:rPr lang="zh-CN" altLang="en-US" sz="900" dirty="0"/>
              <a:t>小吃快餐</a:t>
            </a:r>
            <a:endParaRPr lang="en-US" altLang="zh-CN" sz="900" dirty="0"/>
          </a:p>
          <a:p>
            <a:r>
              <a:rPr lang="zh-CN" altLang="en-US" sz="900" dirty="0"/>
              <a:t>门店数≥</a:t>
            </a:r>
            <a:r>
              <a:rPr lang="en-US" altLang="zh-CN" sz="900" dirty="0"/>
              <a:t>500</a:t>
            </a:r>
            <a:r>
              <a:rPr lang="zh-CN" altLang="en-US" sz="900" dirty="0"/>
              <a:t>家的城市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0" y="7112348"/>
            <a:ext cx="18661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000" dirty="0">
                <a:effectLst/>
              </a:rPr>
              <a:t>定义决策场景及决策需求（如异地场景、大搜泛搜</a:t>
            </a:r>
            <a:r>
              <a:rPr lang="en-GB" altLang="zh-CN" sz="1000" dirty="0">
                <a:effectLst/>
              </a:rPr>
              <a:t>Query</a:t>
            </a:r>
            <a:r>
              <a:rPr lang="zh-CN" altLang="en-GB" sz="1000" dirty="0">
                <a:effectLst/>
              </a:rPr>
              <a:t>），</a:t>
            </a:r>
            <a:r>
              <a:rPr lang="zh-CN" altLang="en-US" sz="1000" dirty="0">
                <a:effectLst/>
              </a:rPr>
              <a:t>到餐榜单透出位置的总点击</a:t>
            </a:r>
            <a:r>
              <a:rPr lang="en-GB" altLang="zh-CN" sz="1000" dirty="0">
                <a:effectLst/>
              </a:rPr>
              <a:t>UV</a:t>
            </a:r>
            <a:r>
              <a:rPr lang="zh-CN" altLang="en-US" sz="1000" dirty="0">
                <a:effectLst/>
              </a:rPr>
              <a:t>规模及渗透（包括榜单落地页、</a:t>
            </a:r>
            <a:r>
              <a:rPr lang="en-GB" altLang="zh-CN" sz="1000" dirty="0">
                <a:effectLst/>
              </a:rPr>
              <a:t>poi</a:t>
            </a:r>
            <a:r>
              <a:rPr lang="zh-CN" altLang="en-US" sz="1000" dirty="0">
                <a:effectLst/>
              </a:rPr>
              <a:t>页、大搜</a:t>
            </a:r>
            <a:r>
              <a:rPr lang="en-US" altLang="zh-CN" sz="1000" dirty="0">
                <a:effectLst/>
              </a:rPr>
              <a:t>-</a:t>
            </a:r>
            <a:r>
              <a:rPr lang="en-GB" altLang="zh-CN" sz="1000" dirty="0" err="1">
                <a:effectLst/>
              </a:rPr>
              <a:t>sug</a:t>
            </a:r>
            <a:r>
              <a:rPr lang="zh-CN" altLang="en-US" sz="1000" dirty="0">
                <a:effectLst/>
              </a:rPr>
              <a:t>词榜单、大搜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榜单标签、大搜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结果页“上榜好店”快筛、大搜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阿拉丁榜单卡片、美食频道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金刚</a:t>
            </a:r>
            <a:r>
              <a:rPr lang="en-US" altLang="zh-CN" sz="1000" dirty="0">
                <a:effectLst/>
              </a:rPr>
              <a:t>/</a:t>
            </a:r>
            <a:r>
              <a:rPr lang="zh-CN" altLang="en-US" sz="1000" dirty="0">
                <a:effectLst/>
              </a:rPr>
              <a:t>瓷片位、美食频道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标签，美食频道</a:t>
            </a:r>
            <a:r>
              <a:rPr lang="en-US" altLang="zh-CN" sz="1000" dirty="0">
                <a:effectLst/>
              </a:rPr>
              <a:t>-</a:t>
            </a:r>
            <a:r>
              <a:rPr lang="zh-CN" altLang="en-US" sz="1000" dirty="0">
                <a:effectLst/>
              </a:rPr>
              <a:t>上榜餐厅快筛、猜喜榜单标签等</a:t>
            </a:r>
            <a:r>
              <a:rPr lang="en-US" altLang="zh-CN" sz="1000" dirty="0">
                <a:effectLst/>
              </a:rPr>
              <a:t>……</a:t>
            </a:r>
            <a:r>
              <a:rPr lang="zh-CN" altLang="en-US" sz="1000" dirty="0">
                <a:effectLst/>
              </a:rPr>
              <a:t>根据承接拓展情况逐渐补充）</a:t>
            </a:r>
          </a:p>
        </p:txBody>
      </p:sp>
      <p:graphicFrame>
        <p:nvGraphicFramePr>
          <p:cNvPr id="87" name="表格 86"/>
          <p:cNvGraphicFramePr>
            <a:graphicFrameLocks noGrp="1"/>
          </p:cNvGraphicFramePr>
          <p:nvPr/>
        </p:nvGraphicFramePr>
        <p:xfrm>
          <a:off x="156981" y="5593367"/>
          <a:ext cx="8963695" cy="142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承接榜单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人气榜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好评榜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人气榜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好评榜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特色菜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约会</a:t>
                      </a:r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当地人推荐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城市*品类覆盖</a:t>
                      </a:r>
                      <a:endParaRPr lang="en-US" altLang="zh-CN" sz="1000" dirty="0"/>
                    </a:p>
                    <a:p>
                      <a:pPr algn="ctr"/>
                      <a:r>
                        <a:rPr lang="zh-CN" altLang="en-US" sz="1000" dirty="0"/>
                        <a:t>（现状）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城市*品类：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22,596</a:t>
                      </a:r>
                      <a:endParaRPr lang="zh-CN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/>
                        <a:t>商圈*品类：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65,635 </a:t>
                      </a:r>
                      <a:endParaRPr lang="en-US" altLang="zh-CN" sz="10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城市：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约会城市：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  <a:p>
                      <a:pPr algn="ctr"/>
                      <a:r>
                        <a:rPr lang="zh-CN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当地人推荐城市：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660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全量</a:t>
                      </a:r>
                      <a:endParaRPr lang="en-US" altLang="zh-CN" sz="1000" dirty="0"/>
                    </a:p>
                    <a:p>
                      <a:pPr algn="ctr"/>
                      <a:r>
                        <a:rPr lang="zh-CN" altLang="en-US" sz="1000" dirty="0"/>
                        <a:t>（目标）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/>
                        <a:t>城市*品类：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40,136 </a:t>
                      </a:r>
                      <a:endParaRPr lang="en-US" altLang="zh-CN" sz="10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/>
                        <a:t>商圈*品类：</a:t>
                      </a:r>
                      <a:r>
                        <a:rPr lang="en-US" altLang="zh-CN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75,274</a:t>
                      </a:r>
                      <a:endParaRPr lang="en-US" altLang="zh-CN" sz="10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城市：</a:t>
                      </a:r>
                      <a:r>
                        <a:rPr lang="en-US" altLang="zh-CN" sz="1000" dirty="0"/>
                        <a:t>1137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/>
                        <a:t>城市：</a:t>
                      </a:r>
                      <a:r>
                        <a:rPr lang="en-US" altLang="zh-CN" sz="1000" dirty="0"/>
                        <a:t>1137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满足率</a:t>
                      </a:r>
                      <a:endParaRPr lang="en-US" altLang="zh-CN" sz="1000" b="1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dirty="0"/>
                        <a:t>56%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dirty="0"/>
                        <a:t>59%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dirty="0">
                          <a:effectLst/>
                        </a:rPr>
                        <a:t>47%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dirty="0"/>
                        <a:t>0.8%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11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127B-DD73-51D3-F586-14B54F9E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906F4E26-D738-88C6-0EDF-FD593BF0526C}"/>
              </a:ext>
            </a:extLst>
          </p:cNvPr>
          <p:cNvGraphicFramePr/>
          <p:nvPr/>
        </p:nvGraphicFramePr>
        <p:xfrm>
          <a:off x="17638" y="722887"/>
          <a:ext cx="4313831" cy="3637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1" name="标题 1">
            <a:extLst>
              <a:ext uri="{FF2B5EF4-FFF2-40B4-BE49-F238E27FC236}">
                <a16:creationId xmlns:a16="http://schemas.microsoft.com/office/drawing/2014/main" id="{9745F3D8-0DB7-B22F-80F4-36FF2C7D0FFE}"/>
              </a:ext>
            </a:extLst>
          </p:cNvPr>
          <p:cNvSpPr txBox="1"/>
          <p:nvPr/>
        </p:nvSpPr>
        <p:spPr>
          <a:xfrm>
            <a:off x="238257" y="12226"/>
            <a:ext cx="2929985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solidFill>
                  <a:srgbClr val="FF0000"/>
                </a:solidFill>
                <a:latin typeface="+mn-ea"/>
                <a:ea typeface="+mn-ea"/>
              </a:rPr>
              <a:t>榜单用户需求洞察</a:t>
            </a: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13C648AD-7AB1-3FFA-3DDC-EC956562B965}"/>
              </a:ext>
            </a:extLst>
          </p:cNvPr>
          <p:cNvSpPr/>
          <p:nvPr/>
        </p:nvSpPr>
        <p:spPr>
          <a:xfrm>
            <a:off x="98945" y="450275"/>
            <a:ext cx="1152145" cy="215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用户需求分布</a:t>
            </a:r>
            <a:endParaRPr lang="en-US" sz="1100" dirty="0">
              <a:latin typeface="+mn-ea"/>
            </a:endParaRPr>
          </a:p>
        </p:txBody>
      </p:sp>
      <p:sp>
        <p:nvSpPr>
          <p:cNvPr id="101" name="Text 21">
            <a:extLst>
              <a:ext uri="{FF2B5EF4-FFF2-40B4-BE49-F238E27FC236}">
                <a16:creationId xmlns:a16="http://schemas.microsoft.com/office/drawing/2014/main" id="{EB752CE1-0BE2-D1DC-004C-74E307C4D71F}"/>
              </a:ext>
            </a:extLst>
          </p:cNvPr>
          <p:cNvSpPr/>
          <p:nvPr/>
        </p:nvSpPr>
        <p:spPr>
          <a:xfrm>
            <a:off x="4244678" y="455531"/>
            <a:ext cx="3197635" cy="215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场景 × 用户类型 × </a:t>
            </a:r>
            <a:r>
              <a:rPr lang="en-US" sz="1100" b="1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榜单需求矩阵</a:t>
            </a:r>
            <a:endParaRPr lang="en-US" sz="1100" dirty="0">
              <a:latin typeface="+mn-ea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46D7456-25AB-A387-2027-767054A3F5F0}"/>
              </a:ext>
            </a:extLst>
          </p:cNvPr>
          <p:cNvGrpSpPr/>
          <p:nvPr/>
        </p:nvGrpSpPr>
        <p:grpSpPr>
          <a:xfrm>
            <a:off x="44240" y="4399819"/>
            <a:ext cx="9055519" cy="516525"/>
            <a:chOff x="12370" y="4499160"/>
            <a:chExt cx="9052382" cy="516525"/>
          </a:xfrm>
        </p:grpSpPr>
        <p:sp>
          <p:nvSpPr>
            <p:cNvPr id="160" name="Shape 80">
              <a:extLst>
                <a:ext uri="{FF2B5EF4-FFF2-40B4-BE49-F238E27FC236}">
                  <a16:creationId xmlns:a16="http://schemas.microsoft.com/office/drawing/2014/main" id="{013AF5C9-3C22-ACBE-F2AA-F6AE5546D841}"/>
                </a:ext>
              </a:extLst>
            </p:cNvPr>
            <p:cNvSpPr/>
            <p:nvPr/>
          </p:nvSpPr>
          <p:spPr>
            <a:xfrm>
              <a:off x="67056" y="4499160"/>
              <a:ext cx="8997696" cy="516525"/>
            </a:xfrm>
            <a:prstGeom prst="rect">
              <a:avLst/>
            </a:prstGeom>
            <a:solidFill>
              <a:srgbClr val="FFFBEA"/>
            </a:solidFill>
            <a:ln w="12700">
              <a:solidFill>
                <a:srgbClr val="FFD100"/>
              </a:solidFill>
              <a:prstDash val="solid"/>
            </a:ln>
          </p:spPr>
        </p:sp>
        <p:sp>
          <p:nvSpPr>
            <p:cNvPr id="161" name="Text 81">
              <a:extLst>
                <a:ext uri="{FF2B5EF4-FFF2-40B4-BE49-F238E27FC236}">
                  <a16:creationId xmlns:a16="http://schemas.microsoft.com/office/drawing/2014/main" id="{FDC2B5EF-C8D0-B59D-6F01-71A8DD2203F4}"/>
                </a:ext>
              </a:extLst>
            </p:cNvPr>
            <p:cNvSpPr/>
            <p:nvPr/>
          </p:nvSpPr>
          <p:spPr>
            <a:xfrm>
              <a:off x="12370" y="4595339"/>
              <a:ext cx="1087327" cy="1793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1A1A"/>
                  </a:solidFill>
                  <a:latin typeface="+mn-ea"/>
                  <a:cs typeface="Microsoft YaHei" pitchFamily="34" charset="-120"/>
                </a:rPr>
                <a:t>榜单PMF定位：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162" name="Text 82">
              <a:extLst>
                <a:ext uri="{FF2B5EF4-FFF2-40B4-BE49-F238E27FC236}">
                  <a16:creationId xmlns:a16="http://schemas.microsoft.com/office/drawing/2014/main" id="{20ED44E4-0B55-D40A-3491-7A8BF9C48FEC}"/>
                </a:ext>
              </a:extLst>
            </p:cNvPr>
            <p:cNvSpPr/>
            <p:nvPr/>
          </p:nvSpPr>
          <p:spPr>
            <a:xfrm>
              <a:off x="816864" y="4556552"/>
              <a:ext cx="8119871" cy="3627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333333"/>
                  </a:solidFill>
                  <a:latin typeface="+mn-ea"/>
                  <a:cs typeface="Microsoft YaHei" pitchFamily="34" charset="-120"/>
                </a:rPr>
                <a:t>榜单是"重决策场景"的核心工具——</a:t>
              </a:r>
              <a:r>
                <a:rPr lang="en-US" sz="1000" dirty="0" err="1">
                  <a:solidFill>
                    <a:srgbClr val="333333"/>
                  </a:solidFill>
                  <a:latin typeface="+mn-ea"/>
                  <a:cs typeface="Microsoft YaHei" pitchFamily="34" charset="-120"/>
                </a:rPr>
                <a:t>用户在异地旅游、约会仪式感、家庭聚餐等高决策成本场景下，对榜单的依赖度显著高于日常便餐</a:t>
              </a:r>
              <a:r>
                <a:rPr lang="en-US" sz="1000" dirty="0">
                  <a:solidFill>
                    <a:srgbClr val="333333"/>
                  </a:solidFill>
                  <a:latin typeface="+mn-ea"/>
                  <a:cs typeface="Microsoft YaHei" pitchFamily="34" charset="-120"/>
                </a:rPr>
                <a:t>。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 err="1">
                  <a:solidFill>
                    <a:srgbClr val="333333"/>
                  </a:solidFill>
                  <a:latin typeface="+mn-ea"/>
                  <a:cs typeface="Microsoft YaHei" pitchFamily="34" charset="-120"/>
                </a:rPr>
                <a:t>差异化定位：信息丰富度（菜品</a:t>
              </a:r>
              <a:r>
                <a:rPr lang="en-US" sz="1000" dirty="0">
                  <a:solidFill>
                    <a:srgbClr val="333333"/>
                  </a:solidFill>
                  <a:latin typeface="+mn-ea"/>
                  <a:cs typeface="Microsoft YaHei" pitchFamily="34" charset="-120"/>
                </a:rPr>
                <a:t>/场景/口碑）&gt; 纯排名。</a:t>
              </a:r>
              <a:endParaRPr lang="en-US" sz="1000" dirty="0">
                <a:latin typeface="+mn-ea"/>
              </a:endParaRPr>
            </a:p>
          </p:txBody>
        </p:sp>
      </p:grpSp>
      <p:sp>
        <p:nvSpPr>
          <p:cNvPr id="37" name="椭圆 36">
            <a:extLst>
              <a:ext uri="{FF2B5EF4-FFF2-40B4-BE49-F238E27FC236}">
                <a16:creationId xmlns:a16="http://schemas.microsoft.com/office/drawing/2014/main" id="{F6E79AF9-112C-2DCC-9B47-A8D200AE1A63}"/>
              </a:ext>
            </a:extLst>
          </p:cNvPr>
          <p:cNvSpPr/>
          <p:nvPr/>
        </p:nvSpPr>
        <p:spPr>
          <a:xfrm rot="14457929">
            <a:off x="1009299" y="936747"/>
            <a:ext cx="572762" cy="118938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997EC8D-9DDD-C500-A9E8-DB9B3BD30C2F}"/>
              </a:ext>
            </a:extLst>
          </p:cNvPr>
          <p:cNvSpPr/>
          <p:nvPr/>
        </p:nvSpPr>
        <p:spPr>
          <a:xfrm rot="850925">
            <a:off x="1817103" y="2228120"/>
            <a:ext cx="466596" cy="1445293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文本框 1">
            <a:extLst>
              <a:ext uri="{FF2B5EF4-FFF2-40B4-BE49-F238E27FC236}">
                <a16:creationId xmlns:a16="http://schemas.microsoft.com/office/drawing/2014/main" id="{AEB397D0-1F39-F206-2663-84A6651C0152}"/>
              </a:ext>
            </a:extLst>
          </p:cNvPr>
          <p:cNvSpPr txBox="1"/>
          <p:nvPr/>
        </p:nvSpPr>
        <p:spPr>
          <a:xfrm>
            <a:off x="2246004" y="2653864"/>
            <a:ext cx="628022" cy="2944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00" i="1" u="sng" dirty="0">
                <a:solidFill>
                  <a:schemeClr val="accent6">
                    <a:lumMod val="50000"/>
                  </a:schemeClr>
                </a:solidFill>
              </a:rPr>
              <a:t>情侣约会</a:t>
            </a:r>
          </a:p>
        </p:txBody>
      </p:sp>
      <p:sp>
        <p:nvSpPr>
          <p:cNvPr id="102" name="Shape 22">
            <a:extLst>
              <a:ext uri="{FF2B5EF4-FFF2-40B4-BE49-F238E27FC236}">
                <a16:creationId xmlns:a16="http://schemas.microsoft.com/office/drawing/2014/main" id="{DB5D87A5-9F4B-6159-B5D3-A3354310B5C5}"/>
              </a:ext>
            </a:extLst>
          </p:cNvPr>
          <p:cNvSpPr/>
          <p:nvPr/>
        </p:nvSpPr>
        <p:spPr>
          <a:xfrm>
            <a:off x="4369368" y="706858"/>
            <a:ext cx="746993" cy="21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3" name="Text 23">
            <a:extLst>
              <a:ext uri="{FF2B5EF4-FFF2-40B4-BE49-F238E27FC236}">
                <a16:creationId xmlns:a16="http://schemas.microsoft.com/office/drawing/2014/main" id="{DAD7064A-CE23-764D-931F-473D06FB365F}"/>
              </a:ext>
            </a:extLst>
          </p:cNvPr>
          <p:cNvSpPr/>
          <p:nvPr/>
        </p:nvSpPr>
        <p:spPr>
          <a:xfrm>
            <a:off x="4369368" y="706859"/>
            <a:ext cx="746993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使用场景</a:t>
            </a:r>
            <a:endParaRPr lang="en-US" sz="900" dirty="0">
              <a:latin typeface="+mn-ea"/>
            </a:endParaRPr>
          </a:p>
        </p:txBody>
      </p:sp>
      <p:sp>
        <p:nvSpPr>
          <p:cNvPr id="104" name="Shape 24">
            <a:extLst>
              <a:ext uri="{FF2B5EF4-FFF2-40B4-BE49-F238E27FC236}">
                <a16:creationId xmlns:a16="http://schemas.microsoft.com/office/drawing/2014/main" id="{68FA5F11-A979-03C6-1864-35C7A784F5D8}"/>
              </a:ext>
            </a:extLst>
          </p:cNvPr>
          <p:cNvSpPr/>
          <p:nvPr/>
        </p:nvSpPr>
        <p:spPr>
          <a:xfrm>
            <a:off x="5136673" y="706858"/>
            <a:ext cx="649447" cy="21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5" name="Text 25">
            <a:extLst>
              <a:ext uri="{FF2B5EF4-FFF2-40B4-BE49-F238E27FC236}">
                <a16:creationId xmlns:a16="http://schemas.microsoft.com/office/drawing/2014/main" id="{5CC9D5F6-891D-B777-4DE4-65CB10F86834}"/>
              </a:ext>
            </a:extLst>
          </p:cNvPr>
          <p:cNvSpPr/>
          <p:nvPr/>
        </p:nvSpPr>
        <p:spPr>
          <a:xfrm>
            <a:off x="5136673" y="706859"/>
            <a:ext cx="649448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用户类型</a:t>
            </a:r>
            <a:endParaRPr lang="en-US" sz="900" dirty="0">
              <a:latin typeface="+mn-ea"/>
            </a:endParaRPr>
          </a:p>
        </p:txBody>
      </p:sp>
      <p:sp>
        <p:nvSpPr>
          <p:cNvPr id="106" name="Shape 26">
            <a:extLst>
              <a:ext uri="{FF2B5EF4-FFF2-40B4-BE49-F238E27FC236}">
                <a16:creationId xmlns:a16="http://schemas.microsoft.com/office/drawing/2014/main" id="{1AF22DDB-A874-0CB7-C6F2-AC89AEF0F869}"/>
              </a:ext>
            </a:extLst>
          </p:cNvPr>
          <p:cNvSpPr/>
          <p:nvPr/>
        </p:nvSpPr>
        <p:spPr>
          <a:xfrm>
            <a:off x="6501118" y="706858"/>
            <a:ext cx="1021014" cy="21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7" name="Text 27">
            <a:extLst>
              <a:ext uri="{FF2B5EF4-FFF2-40B4-BE49-F238E27FC236}">
                <a16:creationId xmlns:a16="http://schemas.microsoft.com/office/drawing/2014/main" id="{7B733CA0-CC16-5AED-87AC-F9739CD8FA21}"/>
              </a:ext>
            </a:extLst>
          </p:cNvPr>
          <p:cNvSpPr/>
          <p:nvPr/>
        </p:nvSpPr>
        <p:spPr>
          <a:xfrm>
            <a:off x="6585285" y="706859"/>
            <a:ext cx="936847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核心需求</a:t>
            </a:r>
            <a:endParaRPr lang="en-US" sz="900" dirty="0">
              <a:latin typeface="+mn-ea"/>
            </a:endParaRPr>
          </a:p>
        </p:txBody>
      </p:sp>
      <p:sp>
        <p:nvSpPr>
          <p:cNvPr id="108" name="Shape 28">
            <a:extLst>
              <a:ext uri="{FF2B5EF4-FFF2-40B4-BE49-F238E27FC236}">
                <a16:creationId xmlns:a16="http://schemas.microsoft.com/office/drawing/2014/main" id="{FAF62F4E-EF65-3FA8-2F18-18FF724FFE67}"/>
              </a:ext>
            </a:extLst>
          </p:cNvPr>
          <p:cNvSpPr/>
          <p:nvPr/>
        </p:nvSpPr>
        <p:spPr>
          <a:xfrm>
            <a:off x="7560031" y="706858"/>
            <a:ext cx="903563" cy="21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9" name="Text 29">
            <a:extLst>
              <a:ext uri="{FF2B5EF4-FFF2-40B4-BE49-F238E27FC236}">
                <a16:creationId xmlns:a16="http://schemas.microsoft.com/office/drawing/2014/main" id="{6DCF1C71-F2CC-0A84-E6C0-2193E21F4ABB}"/>
              </a:ext>
            </a:extLst>
          </p:cNvPr>
          <p:cNvSpPr/>
          <p:nvPr/>
        </p:nvSpPr>
        <p:spPr>
          <a:xfrm>
            <a:off x="7395017" y="706859"/>
            <a:ext cx="1068577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对应榜单</a:t>
            </a:r>
            <a:endParaRPr lang="en-US" sz="900" dirty="0">
              <a:latin typeface="+mn-ea"/>
            </a:endParaRPr>
          </a:p>
        </p:txBody>
      </p:sp>
      <p:sp>
        <p:nvSpPr>
          <p:cNvPr id="110" name="Shape 30">
            <a:extLst>
              <a:ext uri="{FF2B5EF4-FFF2-40B4-BE49-F238E27FC236}">
                <a16:creationId xmlns:a16="http://schemas.microsoft.com/office/drawing/2014/main" id="{8AB63E90-E2C3-5871-3E29-3A24753B25F6}"/>
              </a:ext>
            </a:extLst>
          </p:cNvPr>
          <p:cNvSpPr/>
          <p:nvPr/>
        </p:nvSpPr>
        <p:spPr>
          <a:xfrm>
            <a:off x="8498840" y="706858"/>
            <a:ext cx="565912" cy="21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5B10602A-DBCC-8A35-259D-2BD883021698}"/>
              </a:ext>
            </a:extLst>
          </p:cNvPr>
          <p:cNvSpPr/>
          <p:nvPr/>
        </p:nvSpPr>
        <p:spPr>
          <a:xfrm>
            <a:off x="8498840" y="706858"/>
            <a:ext cx="600919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优先级</a:t>
            </a:r>
            <a:endParaRPr lang="en-US" sz="900" dirty="0">
              <a:latin typeface="+mn-ea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9ACD2005-41CC-3FFE-AFD6-766435FBC3CC}"/>
              </a:ext>
            </a:extLst>
          </p:cNvPr>
          <p:cNvSpPr/>
          <p:nvPr/>
        </p:nvSpPr>
        <p:spPr>
          <a:xfrm>
            <a:off x="5816425" y="706858"/>
            <a:ext cx="649447" cy="21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86CF4CB0-504E-DE2C-7286-2A4D7F44A503}"/>
              </a:ext>
            </a:extLst>
          </p:cNvPr>
          <p:cNvSpPr/>
          <p:nvPr/>
        </p:nvSpPr>
        <p:spPr>
          <a:xfrm>
            <a:off x="5816425" y="706859"/>
            <a:ext cx="649448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用户规模</a:t>
            </a:r>
            <a:endParaRPr lang="en-US" sz="900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6A4CE6-AF1C-B3AB-D20C-B99FED548F85}"/>
              </a:ext>
            </a:extLst>
          </p:cNvPr>
          <p:cNvGrpSpPr/>
          <p:nvPr/>
        </p:nvGrpSpPr>
        <p:grpSpPr>
          <a:xfrm>
            <a:off x="4369368" y="979267"/>
            <a:ext cx="4680000" cy="432000"/>
            <a:chOff x="4369368" y="976665"/>
            <a:chExt cx="4695384" cy="493556"/>
          </a:xfrm>
        </p:grpSpPr>
        <p:sp>
          <p:nvSpPr>
            <p:cNvPr id="112" name="Shape 32">
              <a:extLst>
                <a:ext uri="{FF2B5EF4-FFF2-40B4-BE49-F238E27FC236}">
                  <a16:creationId xmlns:a16="http://schemas.microsoft.com/office/drawing/2014/main" id="{CA9A1E2F-82D4-EB87-658F-5BC7FC4BEA03}"/>
                </a:ext>
              </a:extLst>
            </p:cNvPr>
            <p:cNvSpPr/>
            <p:nvPr/>
          </p:nvSpPr>
          <p:spPr>
            <a:xfrm>
              <a:off x="4369368" y="976665"/>
              <a:ext cx="4695384" cy="49355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BEB"/>
              </a:solidFill>
              <a:prstDash val="solid"/>
            </a:ln>
          </p:spPr>
        </p:sp>
        <p:sp>
          <p:nvSpPr>
            <p:cNvPr id="113" name="Shape 33">
              <a:extLst>
                <a:ext uri="{FF2B5EF4-FFF2-40B4-BE49-F238E27FC236}">
                  <a16:creationId xmlns:a16="http://schemas.microsoft.com/office/drawing/2014/main" id="{B06EFD69-D204-2C13-7111-12BA54816AFF}"/>
                </a:ext>
              </a:extLst>
            </p:cNvPr>
            <p:cNvSpPr/>
            <p:nvPr/>
          </p:nvSpPr>
          <p:spPr>
            <a:xfrm>
              <a:off x="4369368" y="976666"/>
              <a:ext cx="45719" cy="493555"/>
            </a:xfrm>
            <a:prstGeom prst="rect">
              <a:avLst/>
            </a:prstGeom>
            <a:solidFill>
              <a:srgbClr val="D1001B"/>
            </a:solidFill>
            <a:ln w="12700">
              <a:noFill/>
              <a:prstDash val="solid"/>
            </a:ln>
          </p:spPr>
        </p:sp>
      </p:grpSp>
      <p:sp>
        <p:nvSpPr>
          <p:cNvPr id="114" name="Text 34">
            <a:extLst>
              <a:ext uri="{FF2B5EF4-FFF2-40B4-BE49-F238E27FC236}">
                <a16:creationId xmlns:a16="http://schemas.microsoft.com/office/drawing/2014/main" id="{6EB8EA35-05E3-1C2A-9B93-E3DE71316405}"/>
              </a:ext>
            </a:extLst>
          </p:cNvPr>
          <p:cNvSpPr/>
          <p:nvPr/>
        </p:nvSpPr>
        <p:spPr>
          <a:xfrm>
            <a:off x="4404939" y="1037126"/>
            <a:ext cx="779471" cy="29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旅游异地</a:t>
            </a:r>
            <a:endParaRPr lang="en-US" sz="900" dirty="0">
              <a:latin typeface="+mn-ea"/>
            </a:endParaRPr>
          </a:p>
        </p:txBody>
      </p:sp>
      <p:sp>
        <p:nvSpPr>
          <p:cNvPr id="115" name="Text 35">
            <a:extLst>
              <a:ext uri="{FF2B5EF4-FFF2-40B4-BE49-F238E27FC236}">
                <a16:creationId xmlns:a16="http://schemas.microsoft.com/office/drawing/2014/main" id="{669C1FFF-67E9-2A9A-A6FF-D6DE3D540175}"/>
              </a:ext>
            </a:extLst>
          </p:cNvPr>
          <p:cNvSpPr/>
          <p:nvPr/>
        </p:nvSpPr>
        <p:spPr>
          <a:xfrm>
            <a:off x="5172242" y="1086690"/>
            <a:ext cx="67585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外地游客</a:t>
            </a:r>
            <a:endParaRPr lang="en-US" sz="900" dirty="0">
              <a:latin typeface="+mn-ea"/>
            </a:endParaRPr>
          </a:p>
        </p:txBody>
      </p:sp>
      <p:sp>
        <p:nvSpPr>
          <p:cNvPr id="116" name="Text 36">
            <a:extLst>
              <a:ext uri="{FF2B5EF4-FFF2-40B4-BE49-F238E27FC236}">
                <a16:creationId xmlns:a16="http://schemas.microsoft.com/office/drawing/2014/main" id="{B33421B4-B565-4E34-A91D-94DCAF6EAD1E}"/>
              </a:ext>
            </a:extLst>
          </p:cNvPr>
          <p:cNvSpPr/>
          <p:nvPr/>
        </p:nvSpPr>
        <p:spPr>
          <a:xfrm>
            <a:off x="6512093" y="1037126"/>
            <a:ext cx="1068577" cy="291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找当地特色/必吃</a:t>
            </a:r>
            <a:endParaRPr lang="en-US" sz="900" dirty="0">
              <a:latin typeface="+mn-ea"/>
            </a:endParaRPr>
          </a:p>
        </p:txBody>
      </p:sp>
      <p:sp>
        <p:nvSpPr>
          <p:cNvPr id="117" name="Text 37">
            <a:extLst>
              <a:ext uri="{FF2B5EF4-FFF2-40B4-BE49-F238E27FC236}">
                <a16:creationId xmlns:a16="http://schemas.microsoft.com/office/drawing/2014/main" id="{845039A4-4BD7-2592-2296-49C73B71472E}"/>
              </a:ext>
            </a:extLst>
          </p:cNvPr>
          <p:cNvSpPr/>
          <p:nvPr/>
        </p:nvSpPr>
        <p:spPr>
          <a:xfrm>
            <a:off x="7420508" y="1061103"/>
            <a:ext cx="1007516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当地人推荐</a:t>
            </a:r>
            <a:r>
              <a:rPr lang="en-US" altLang="zh-CN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/</a:t>
            </a: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特色菜</a:t>
            </a:r>
            <a:endParaRPr lang="en-US" sz="900" dirty="0">
              <a:latin typeface="+mn-ea"/>
            </a:endParaRPr>
          </a:p>
        </p:txBody>
      </p:sp>
      <p:sp>
        <p:nvSpPr>
          <p:cNvPr id="118" name="Shape 38">
            <a:extLst>
              <a:ext uri="{FF2B5EF4-FFF2-40B4-BE49-F238E27FC236}">
                <a16:creationId xmlns:a16="http://schemas.microsoft.com/office/drawing/2014/main" id="{525D103E-9901-19E9-F40E-18F412EFA112}"/>
              </a:ext>
            </a:extLst>
          </p:cNvPr>
          <p:cNvSpPr/>
          <p:nvPr/>
        </p:nvSpPr>
        <p:spPr>
          <a:xfrm>
            <a:off x="8578696" y="1037126"/>
            <a:ext cx="355711" cy="243875"/>
          </a:xfrm>
          <a:prstGeom prst="rect">
            <a:avLst/>
          </a:prstGeom>
          <a:solidFill>
            <a:srgbClr val="D0021B"/>
          </a:solidFill>
          <a:ln w="12700">
            <a:noFill/>
            <a:prstDash val="solid"/>
          </a:ln>
        </p:spPr>
      </p:sp>
      <p:sp>
        <p:nvSpPr>
          <p:cNvPr id="119" name="Text 39">
            <a:extLst>
              <a:ext uri="{FF2B5EF4-FFF2-40B4-BE49-F238E27FC236}">
                <a16:creationId xmlns:a16="http://schemas.microsoft.com/office/drawing/2014/main" id="{938F96EA-FE7E-0184-EA39-3C459E09EF30}"/>
              </a:ext>
            </a:extLst>
          </p:cNvPr>
          <p:cNvSpPr/>
          <p:nvPr/>
        </p:nvSpPr>
        <p:spPr>
          <a:xfrm>
            <a:off x="8578696" y="1037126"/>
            <a:ext cx="355711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P0</a:t>
            </a:r>
            <a:endParaRPr lang="en-US" sz="900" dirty="0">
              <a:latin typeface="+mn-ea"/>
            </a:endParaRPr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E9384EAE-894B-9EAE-F525-6AA19222C2AD}"/>
              </a:ext>
            </a:extLst>
          </p:cNvPr>
          <p:cNvSpPr/>
          <p:nvPr/>
        </p:nvSpPr>
        <p:spPr>
          <a:xfrm>
            <a:off x="5946292" y="1086690"/>
            <a:ext cx="46800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</a:rPr>
              <a:t>18%</a:t>
            </a:r>
            <a:endParaRPr lang="en-US" sz="900" dirty="0"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B5FA960-8777-651B-7E37-5A96FB539379}"/>
              </a:ext>
            </a:extLst>
          </p:cNvPr>
          <p:cNvGrpSpPr/>
          <p:nvPr/>
        </p:nvGrpSpPr>
        <p:grpSpPr>
          <a:xfrm>
            <a:off x="4367879" y="2454954"/>
            <a:ext cx="4680000" cy="432000"/>
            <a:chOff x="4369368" y="1499254"/>
            <a:chExt cx="4695384" cy="493555"/>
          </a:xfrm>
        </p:grpSpPr>
        <p:sp>
          <p:nvSpPr>
            <p:cNvPr id="120" name="Shape 40">
              <a:extLst>
                <a:ext uri="{FF2B5EF4-FFF2-40B4-BE49-F238E27FC236}">
                  <a16:creationId xmlns:a16="http://schemas.microsoft.com/office/drawing/2014/main" id="{D8006AB7-736C-EBC2-9D95-5F4B2F97D115}"/>
                </a:ext>
              </a:extLst>
            </p:cNvPr>
            <p:cNvSpPr/>
            <p:nvPr/>
          </p:nvSpPr>
          <p:spPr>
            <a:xfrm>
              <a:off x="4369368" y="1499254"/>
              <a:ext cx="4695384" cy="493555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EBEBEB"/>
              </a:solidFill>
              <a:prstDash val="solid"/>
            </a:ln>
          </p:spPr>
        </p:sp>
        <p:sp>
          <p:nvSpPr>
            <p:cNvPr id="121" name="Shape 41">
              <a:extLst>
                <a:ext uri="{FF2B5EF4-FFF2-40B4-BE49-F238E27FC236}">
                  <a16:creationId xmlns:a16="http://schemas.microsoft.com/office/drawing/2014/main" id="{C3B5548A-274A-A032-E196-8B9024510A4A}"/>
                </a:ext>
              </a:extLst>
            </p:cNvPr>
            <p:cNvSpPr/>
            <p:nvPr/>
          </p:nvSpPr>
          <p:spPr>
            <a:xfrm>
              <a:off x="4369368" y="1499254"/>
              <a:ext cx="45719" cy="493555"/>
            </a:xfrm>
            <a:prstGeom prst="rect">
              <a:avLst/>
            </a:prstGeom>
            <a:solidFill>
              <a:srgbClr val="E17B00"/>
            </a:solidFill>
            <a:ln w="12700">
              <a:noFill/>
              <a:prstDash val="solid"/>
            </a:ln>
          </p:spPr>
        </p:sp>
      </p:grpSp>
      <p:sp>
        <p:nvSpPr>
          <p:cNvPr id="122" name="Text 42">
            <a:extLst>
              <a:ext uri="{FF2B5EF4-FFF2-40B4-BE49-F238E27FC236}">
                <a16:creationId xmlns:a16="http://schemas.microsoft.com/office/drawing/2014/main" id="{BECA64DD-ACF7-2177-3EA7-52032E91E1E9}"/>
              </a:ext>
            </a:extLst>
          </p:cNvPr>
          <p:cNvSpPr/>
          <p:nvPr/>
        </p:nvSpPr>
        <p:spPr>
          <a:xfrm>
            <a:off x="4403450" y="2531615"/>
            <a:ext cx="779471" cy="29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约会仪式感</a:t>
            </a:r>
            <a:endParaRPr lang="en-US" sz="900" dirty="0">
              <a:latin typeface="+mn-ea"/>
            </a:endParaRPr>
          </a:p>
        </p:txBody>
      </p:sp>
      <p:sp>
        <p:nvSpPr>
          <p:cNvPr id="123" name="Text 43">
            <a:extLst>
              <a:ext uri="{FF2B5EF4-FFF2-40B4-BE49-F238E27FC236}">
                <a16:creationId xmlns:a16="http://schemas.microsoft.com/office/drawing/2014/main" id="{49FF4610-D13D-4C43-D32D-A05FCE5B8B6D}"/>
              </a:ext>
            </a:extLst>
          </p:cNvPr>
          <p:cNvSpPr/>
          <p:nvPr/>
        </p:nvSpPr>
        <p:spPr>
          <a:xfrm>
            <a:off x="5170753" y="2566792"/>
            <a:ext cx="67585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年轻情侣</a:t>
            </a:r>
            <a:endParaRPr lang="en-US" sz="900" dirty="0">
              <a:latin typeface="+mn-ea"/>
            </a:endParaRPr>
          </a:p>
        </p:txBody>
      </p:sp>
      <p:sp>
        <p:nvSpPr>
          <p:cNvPr id="124" name="Text 44">
            <a:extLst>
              <a:ext uri="{FF2B5EF4-FFF2-40B4-BE49-F238E27FC236}">
                <a16:creationId xmlns:a16="http://schemas.microsoft.com/office/drawing/2014/main" id="{EDDF4AD2-FEA8-2771-C301-E9280785C570}"/>
              </a:ext>
            </a:extLst>
          </p:cNvPr>
          <p:cNvSpPr/>
          <p:nvPr/>
        </p:nvSpPr>
        <p:spPr>
          <a:xfrm>
            <a:off x="6507054" y="2531615"/>
            <a:ext cx="978019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氛围感/高颜值</a:t>
            </a:r>
            <a:endParaRPr lang="en-US" sz="900" dirty="0">
              <a:latin typeface="+mn-ea"/>
            </a:endParaRPr>
          </a:p>
        </p:txBody>
      </p:sp>
      <p:sp>
        <p:nvSpPr>
          <p:cNvPr id="125" name="Text 45">
            <a:extLst>
              <a:ext uri="{FF2B5EF4-FFF2-40B4-BE49-F238E27FC236}">
                <a16:creationId xmlns:a16="http://schemas.microsoft.com/office/drawing/2014/main" id="{39D942CA-BB6B-6A81-1325-5D4239036E08}"/>
              </a:ext>
            </a:extLst>
          </p:cNvPr>
          <p:cNvSpPr/>
          <p:nvPr/>
        </p:nvSpPr>
        <p:spPr>
          <a:xfrm>
            <a:off x="7419019" y="2531615"/>
            <a:ext cx="1007516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约会榜</a:t>
            </a:r>
            <a:endParaRPr lang="en-US" sz="900" dirty="0">
              <a:latin typeface="+mn-ea"/>
            </a:endParaRPr>
          </a:p>
        </p:txBody>
      </p:sp>
      <p:sp>
        <p:nvSpPr>
          <p:cNvPr id="126" name="Shape 46">
            <a:extLst>
              <a:ext uri="{FF2B5EF4-FFF2-40B4-BE49-F238E27FC236}">
                <a16:creationId xmlns:a16="http://schemas.microsoft.com/office/drawing/2014/main" id="{DBBB703A-DB93-FFAF-FE5A-AE075E5C782B}"/>
              </a:ext>
            </a:extLst>
          </p:cNvPr>
          <p:cNvSpPr/>
          <p:nvPr/>
        </p:nvSpPr>
        <p:spPr>
          <a:xfrm>
            <a:off x="8577207" y="2531615"/>
            <a:ext cx="355711" cy="243875"/>
          </a:xfrm>
          <a:prstGeom prst="rect">
            <a:avLst/>
          </a:prstGeom>
          <a:solidFill>
            <a:srgbClr val="E07B00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7" name="Text 47">
            <a:extLst>
              <a:ext uri="{FF2B5EF4-FFF2-40B4-BE49-F238E27FC236}">
                <a16:creationId xmlns:a16="http://schemas.microsoft.com/office/drawing/2014/main" id="{7BBEB03D-2709-388D-E8A4-C51A681F1AE8}"/>
              </a:ext>
            </a:extLst>
          </p:cNvPr>
          <p:cNvSpPr/>
          <p:nvPr/>
        </p:nvSpPr>
        <p:spPr>
          <a:xfrm>
            <a:off x="8577207" y="2531615"/>
            <a:ext cx="355711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P1</a:t>
            </a:r>
            <a:endParaRPr lang="en-US" sz="900" dirty="0">
              <a:latin typeface="+mn-ea"/>
            </a:endParaRPr>
          </a:p>
        </p:txBody>
      </p:sp>
      <p:sp>
        <p:nvSpPr>
          <p:cNvPr id="32" name="Text 43">
            <a:extLst>
              <a:ext uri="{FF2B5EF4-FFF2-40B4-BE49-F238E27FC236}">
                <a16:creationId xmlns:a16="http://schemas.microsoft.com/office/drawing/2014/main" id="{D8CFAE49-21A9-090C-280E-DD5C6D4C8AAF}"/>
              </a:ext>
            </a:extLst>
          </p:cNvPr>
          <p:cNvSpPr/>
          <p:nvPr/>
        </p:nvSpPr>
        <p:spPr>
          <a:xfrm>
            <a:off x="5944803" y="2531615"/>
            <a:ext cx="46800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4%</a:t>
            </a:r>
            <a:endParaRPr lang="en-US" altLang="zh-CN" sz="900" dirty="0"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7BCEF91-3636-8087-9EDD-FE57788D45B8}"/>
              </a:ext>
            </a:extLst>
          </p:cNvPr>
          <p:cNvGrpSpPr/>
          <p:nvPr/>
        </p:nvGrpSpPr>
        <p:grpSpPr>
          <a:xfrm>
            <a:off x="4369368" y="1967064"/>
            <a:ext cx="4680000" cy="432000"/>
            <a:chOff x="4369368" y="2021840"/>
            <a:chExt cx="4695384" cy="493556"/>
          </a:xfrm>
        </p:grpSpPr>
        <p:sp>
          <p:nvSpPr>
            <p:cNvPr id="128" name="Shape 48">
              <a:extLst>
                <a:ext uri="{FF2B5EF4-FFF2-40B4-BE49-F238E27FC236}">
                  <a16:creationId xmlns:a16="http://schemas.microsoft.com/office/drawing/2014/main" id="{FF152A9E-D898-CAF8-6893-5D2A1AC1C0CE}"/>
                </a:ext>
              </a:extLst>
            </p:cNvPr>
            <p:cNvSpPr/>
            <p:nvPr/>
          </p:nvSpPr>
          <p:spPr>
            <a:xfrm>
              <a:off x="4369368" y="2021840"/>
              <a:ext cx="4695384" cy="49355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BEB"/>
              </a:solidFill>
              <a:prstDash val="solid"/>
            </a:ln>
          </p:spPr>
        </p:sp>
        <p:sp>
          <p:nvSpPr>
            <p:cNvPr id="129" name="Shape 49">
              <a:extLst>
                <a:ext uri="{FF2B5EF4-FFF2-40B4-BE49-F238E27FC236}">
                  <a16:creationId xmlns:a16="http://schemas.microsoft.com/office/drawing/2014/main" id="{D63C086A-13B9-37BC-A848-C1BCCA2458CC}"/>
                </a:ext>
              </a:extLst>
            </p:cNvPr>
            <p:cNvSpPr/>
            <p:nvPr/>
          </p:nvSpPr>
          <p:spPr>
            <a:xfrm>
              <a:off x="4369368" y="2021841"/>
              <a:ext cx="45719" cy="493555"/>
            </a:xfrm>
            <a:prstGeom prst="rect">
              <a:avLst/>
            </a:prstGeom>
            <a:solidFill>
              <a:srgbClr val="D1001B"/>
            </a:solidFill>
            <a:ln w="12700">
              <a:noFill/>
              <a:prstDash val="solid"/>
            </a:ln>
          </p:spPr>
        </p:sp>
      </p:grpSp>
      <p:sp>
        <p:nvSpPr>
          <p:cNvPr id="130" name="Text 50">
            <a:extLst>
              <a:ext uri="{FF2B5EF4-FFF2-40B4-BE49-F238E27FC236}">
                <a16:creationId xmlns:a16="http://schemas.microsoft.com/office/drawing/2014/main" id="{2069B63B-3270-D0BF-38CC-6638D0CC843F}"/>
              </a:ext>
            </a:extLst>
          </p:cNvPr>
          <p:cNvSpPr/>
          <p:nvPr/>
        </p:nvSpPr>
        <p:spPr>
          <a:xfrm>
            <a:off x="4508689" y="2036622"/>
            <a:ext cx="555642" cy="29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1A1A"/>
                </a:solidFill>
                <a:latin typeface="+mn-ea"/>
              </a:rPr>
              <a:t>聚会</a:t>
            </a:r>
            <a:r>
              <a:rPr lang="zh-CN" altLang="en-US" sz="900" dirty="0">
                <a:solidFill>
                  <a:srgbClr val="1A1A1A"/>
                </a:solidFill>
                <a:latin typeface="+mn-ea"/>
              </a:rPr>
              <a:t>？？？</a:t>
            </a:r>
            <a:endParaRPr lang="en-US" sz="900" dirty="0">
              <a:latin typeface="+mn-ea"/>
            </a:endParaRPr>
          </a:p>
        </p:txBody>
      </p:sp>
      <p:sp>
        <p:nvSpPr>
          <p:cNvPr id="131" name="Text 51">
            <a:extLst>
              <a:ext uri="{FF2B5EF4-FFF2-40B4-BE49-F238E27FC236}">
                <a16:creationId xmlns:a16="http://schemas.microsoft.com/office/drawing/2014/main" id="{08F96917-6BFE-8431-846A-EDF4204402DB}"/>
              </a:ext>
            </a:extLst>
          </p:cNvPr>
          <p:cNvSpPr/>
          <p:nvPr/>
        </p:nvSpPr>
        <p:spPr>
          <a:xfrm>
            <a:off x="5184410" y="2073205"/>
            <a:ext cx="67585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家庭用户</a:t>
            </a:r>
            <a:endParaRPr lang="en-US" sz="900" dirty="0">
              <a:latin typeface="+mn-ea"/>
            </a:endParaRPr>
          </a:p>
        </p:txBody>
      </p:sp>
      <p:sp>
        <p:nvSpPr>
          <p:cNvPr id="132" name="Text 52">
            <a:extLst>
              <a:ext uri="{FF2B5EF4-FFF2-40B4-BE49-F238E27FC236}">
                <a16:creationId xmlns:a16="http://schemas.microsoft.com/office/drawing/2014/main" id="{C791131A-107C-6CB3-E68A-C7702FB815D8}"/>
              </a:ext>
            </a:extLst>
          </p:cNvPr>
          <p:cNvSpPr/>
          <p:nvPr/>
        </p:nvSpPr>
        <p:spPr>
          <a:xfrm>
            <a:off x="6518541" y="2036622"/>
            <a:ext cx="978019" cy="33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口碑/安全/性价比</a:t>
            </a:r>
            <a:endParaRPr lang="en-US" sz="900" dirty="0">
              <a:latin typeface="+mn-ea"/>
            </a:endParaRPr>
          </a:p>
        </p:txBody>
      </p:sp>
      <p:sp>
        <p:nvSpPr>
          <p:cNvPr id="133" name="Text 53">
            <a:extLst>
              <a:ext uri="{FF2B5EF4-FFF2-40B4-BE49-F238E27FC236}">
                <a16:creationId xmlns:a16="http://schemas.microsoft.com/office/drawing/2014/main" id="{A475F9FB-F223-F506-9014-9BB808CA08AE}"/>
              </a:ext>
            </a:extLst>
          </p:cNvPr>
          <p:cNvSpPr/>
          <p:nvPr/>
        </p:nvSpPr>
        <p:spPr>
          <a:xfrm>
            <a:off x="7453848" y="2056090"/>
            <a:ext cx="1007516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1A1A"/>
                </a:solidFill>
                <a:latin typeface="+mn-ea"/>
              </a:rPr>
              <a:t>聚会榜</a:t>
            </a:r>
            <a:r>
              <a:rPr lang="zh-CN" altLang="en-US" sz="900" dirty="0">
                <a:solidFill>
                  <a:srgbClr val="1A1A1A"/>
                </a:solidFill>
                <a:latin typeface="+mn-ea"/>
              </a:rPr>
              <a:t>（待建）</a:t>
            </a:r>
            <a:endParaRPr lang="en-US" sz="900" dirty="0">
              <a:latin typeface="+mn-ea"/>
            </a:endParaRPr>
          </a:p>
        </p:txBody>
      </p:sp>
      <p:sp>
        <p:nvSpPr>
          <p:cNvPr id="134" name="Shape 54">
            <a:extLst>
              <a:ext uri="{FF2B5EF4-FFF2-40B4-BE49-F238E27FC236}">
                <a16:creationId xmlns:a16="http://schemas.microsoft.com/office/drawing/2014/main" id="{0FD23BDA-29D4-E346-0024-15F3DA714018}"/>
              </a:ext>
            </a:extLst>
          </p:cNvPr>
          <p:cNvSpPr/>
          <p:nvPr/>
        </p:nvSpPr>
        <p:spPr>
          <a:xfrm>
            <a:off x="8578696" y="2036622"/>
            <a:ext cx="355711" cy="243875"/>
          </a:xfrm>
          <a:prstGeom prst="rect">
            <a:avLst/>
          </a:prstGeom>
          <a:solidFill>
            <a:srgbClr val="D1001B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35" name="Text 55">
            <a:extLst>
              <a:ext uri="{FF2B5EF4-FFF2-40B4-BE49-F238E27FC236}">
                <a16:creationId xmlns:a16="http://schemas.microsoft.com/office/drawing/2014/main" id="{94F65F2A-FF6E-FEB6-C424-86D61AFC3CD5}"/>
              </a:ext>
            </a:extLst>
          </p:cNvPr>
          <p:cNvSpPr/>
          <p:nvPr/>
        </p:nvSpPr>
        <p:spPr>
          <a:xfrm>
            <a:off x="8578696" y="2036622"/>
            <a:ext cx="355711" cy="2438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P</a:t>
            </a:r>
            <a:r>
              <a:rPr lang="en-US" altLang="zh-CN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0</a:t>
            </a:r>
            <a:endParaRPr lang="en-US" sz="900" dirty="0">
              <a:latin typeface="+mn-ea"/>
            </a:endParaRPr>
          </a:p>
        </p:txBody>
      </p:sp>
      <p:sp>
        <p:nvSpPr>
          <p:cNvPr id="33" name="Text 51">
            <a:extLst>
              <a:ext uri="{FF2B5EF4-FFF2-40B4-BE49-F238E27FC236}">
                <a16:creationId xmlns:a16="http://schemas.microsoft.com/office/drawing/2014/main" id="{8367EEFF-9F2E-3270-A168-529834B2DDAC}"/>
              </a:ext>
            </a:extLst>
          </p:cNvPr>
          <p:cNvSpPr/>
          <p:nvPr/>
        </p:nvSpPr>
        <p:spPr>
          <a:xfrm>
            <a:off x="5946292" y="2073205"/>
            <a:ext cx="472795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17%</a:t>
            </a:r>
            <a:endParaRPr lang="en-US" altLang="zh-CN" sz="900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50F7228-F246-7958-7AF6-9093B0C1DB0E}"/>
              </a:ext>
            </a:extLst>
          </p:cNvPr>
          <p:cNvGrpSpPr/>
          <p:nvPr/>
        </p:nvGrpSpPr>
        <p:grpSpPr>
          <a:xfrm>
            <a:off x="4369368" y="3923586"/>
            <a:ext cx="4680000" cy="432000"/>
            <a:chOff x="4369368" y="2544429"/>
            <a:chExt cx="4695384" cy="493555"/>
          </a:xfrm>
        </p:grpSpPr>
        <p:sp>
          <p:nvSpPr>
            <p:cNvPr id="136" name="Shape 56">
              <a:extLst>
                <a:ext uri="{FF2B5EF4-FFF2-40B4-BE49-F238E27FC236}">
                  <a16:creationId xmlns:a16="http://schemas.microsoft.com/office/drawing/2014/main" id="{15C0A2DD-E7DB-E4FE-C53F-146FD59BD5F7}"/>
                </a:ext>
              </a:extLst>
            </p:cNvPr>
            <p:cNvSpPr/>
            <p:nvPr/>
          </p:nvSpPr>
          <p:spPr>
            <a:xfrm>
              <a:off x="4369368" y="2544429"/>
              <a:ext cx="4695384" cy="493555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EBEBEB"/>
              </a:solidFill>
              <a:prstDash val="solid"/>
            </a:ln>
          </p:spPr>
        </p:sp>
        <p:sp>
          <p:nvSpPr>
            <p:cNvPr id="137" name="Shape 57">
              <a:extLst>
                <a:ext uri="{FF2B5EF4-FFF2-40B4-BE49-F238E27FC236}">
                  <a16:creationId xmlns:a16="http://schemas.microsoft.com/office/drawing/2014/main" id="{2D8DF357-D158-26D8-B0AF-93A06F514E4F}"/>
                </a:ext>
              </a:extLst>
            </p:cNvPr>
            <p:cNvSpPr/>
            <p:nvPr/>
          </p:nvSpPr>
          <p:spPr>
            <a:xfrm>
              <a:off x="4369368" y="2544429"/>
              <a:ext cx="45719" cy="493555"/>
            </a:xfrm>
            <a:prstGeom prst="rect">
              <a:avLst/>
            </a:prstGeom>
            <a:solidFill>
              <a:srgbClr val="999999"/>
            </a:solidFill>
            <a:ln w="12700">
              <a:solidFill>
                <a:srgbClr val="999999"/>
              </a:solidFill>
              <a:prstDash val="solid"/>
            </a:ln>
          </p:spPr>
        </p:sp>
      </p:grpSp>
      <p:sp>
        <p:nvSpPr>
          <p:cNvPr id="138" name="Text 58">
            <a:extLst>
              <a:ext uri="{FF2B5EF4-FFF2-40B4-BE49-F238E27FC236}">
                <a16:creationId xmlns:a16="http://schemas.microsoft.com/office/drawing/2014/main" id="{7C368458-824F-E5A2-59C3-3E722ADFB10F}"/>
              </a:ext>
            </a:extLst>
          </p:cNvPr>
          <p:cNvSpPr/>
          <p:nvPr/>
        </p:nvSpPr>
        <p:spPr>
          <a:xfrm>
            <a:off x="4427105" y="4007270"/>
            <a:ext cx="779471" cy="29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商务宴请</a:t>
            </a:r>
            <a:endParaRPr lang="en-US" sz="900" dirty="0">
              <a:latin typeface="+mn-ea"/>
            </a:endParaRPr>
          </a:p>
        </p:txBody>
      </p:sp>
      <p:sp>
        <p:nvSpPr>
          <p:cNvPr id="139" name="Text 59">
            <a:extLst>
              <a:ext uri="{FF2B5EF4-FFF2-40B4-BE49-F238E27FC236}">
                <a16:creationId xmlns:a16="http://schemas.microsoft.com/office/drawing/2014/main" id="{D3DF7F06-1054-1A82-E46B-7F711E80AA89}"/>
              </a:ext>
            </a:extLst>
          </p:cNvPr>
          <p:cNvSpPr/>
          <p:nvPr/>
        </p:nvSpPr>
        <p:spPr>
          <a:xfrm>
            <a:off x="5194408" y="4007270"/>
            <a:ext cx="67585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商务人士</a:t>
            </a:r>
            <a:endParaRPr lang="en-US" sz="900" dirty="0">
              <a:latin typeface="+mn-ea"/>
            </a:endParaRPr>
          </a:p>
        </p:txBody>
      </p:sp>
      <p:sp>
        <p:nvSpPr>
          <p:cNvPr id="140" name="Text 60">
            <a:extLst>
              <a:ext uri="{FF2B5EF4-FFF2-40B4-BE49-F238E27FC236}">
                <a16:creationId xmlns:a16="http://schemas.microsoft.com/office/drawing/2014/main" id="{F63A81D6-CCDA-1937-EE88-B4B5054CBE50}"/>
              </a:ext>
            </a:extLst>
          </p:cNvPr>
          <p:cNvSpPr/>
          <p:nvPr/>
        </p:nvSpPr>
        <p:spPr>
          <a:xfrm>
            <a:off x="6530710" y="4007270"/>
            <a:ext cx="864308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品质/包厢/服务</a:t>
            </a:r>
            <a:endParaRPr lang="en-US" sz="900" dirty="0">
              <a:latin typeface="+mn-ea"/>
            </a:endParaRPr>
          </a:p>
        </p:txBody>
      </p:sp>
      <p:sp>
        <p:nvSpPr>
          <p:cNvPr id="141" name="Text 61">
            <a:extLst>
              <a:ext uri="{FF2B5EF4-FFF2-40B4-BE49-F238E27FC236}">
                <a16:creationId xmlns:a16="http://schemas.microsoft.com/office/drawing/2014/main" id="{E13C4F5A-9BA3-004C-2DB6-6D2E2A8F9C5F}"/>
              </a:ext>
            </a:extLst>
          </p:cNvPr>
          <p:cNvSpPr/>
          <p:nvPr/>
        </p:nvSpPr>
        <p:spPr>
          <a:xfrm>
            <a:off x="7486562" y="4007270"/>
            <a:ext cx="1012278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商务宴请榜（待建</a:t>
            </a: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）</a:t>
            </a:r>
            <a:endParaRPr lang="en-US" sz="900" dirty="0">
              <a:latin typeface="+mn-ea"/>
            </a:endParaRPr>
          </a:p>
        </p:txBody>
      </p:sp>
      <p:sp>
        <p:nvSpPr>
          <p:cNvPr id="142" name="Shape 62">
            <a:extLst>
              <a:ext uri="{FF2B5EF4-FFF2-40B4-BE49-F238E27FC236}">
                <a16:creationId xmlns:a16="http://schemas.microsoft.com/office/drawing/2014/main" id="{F28BAD34-DB36-BDB4-3A36-FDA8E7D932A0}"/>
              </a:ext>
            </a:extLst>
          </p:cNvPr>
          <p:cNvSpPr/>
          <p:nvPr/>
        </p:nvSpPr>
        <p:spPr>
          <a:xfrm>
            <a:off x="8578696" y="4007270"/>
            <a:ext cx="355711" cy="243875"/>
          </a:xfrm>
          <a:prstGeom prst="rect">
            <a:avLst/>
          </a:prstGeom>
          <a:solidFill>
            <a:srgbClr val="999999"/>
          </a:solidFill>
          <a:ln w="12700">
            <a:noFill/>
            <a:prstDash val="solid"/>
          </a:ln>
        </p:spPr>
      </p:sp>
      <p:sp>
        <p:nvSpPr>
          <p:cNvPr id="143" name="Text 63">
            <a:extLst>
              <a:ext uri="{FF2B5EF4-FFF2-40B4-BE49-F238E27FC236}">
                <a16:creationId xmlns:a16="http://schemas.microsoft.com/office/drawing/2014/main" id="{466E865A-BE58-98A9-B8AF-9FD9B2034126}"/>
              </a:ext>
            </a:extLst>
          </p:cNvPr>
          <p:cNvSpPr/>
          <p:nvPr/>
        </p:nvSpPr>
        <p:spPr>
          <a:xfrm>
            <a:off x="8578696" y="4007270"/>
            <a:ext cx="355711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P2</a:t>
            </a:r>
            <a:endParaRPr lang="en-US" sz="900" dirty="0">
              <a:latin typeface="+mn-ea"/>
            </a:endParaRPr>
          </a:p>
        </p:txBody>
      </p:sp>
      <p:sp>
        <p:nvSpPr>
          <p:cNvPr id="34" name="Text 59">
            <a:extLst>
              <a:ext uri="{FF2B5EF4-FFF2-40B4-BE49-F238E27FC236}">
                <a16:creationId xmlns:a16="http://schemas.microsoft.com/office/drawing/2014/main" id="{6BA85D7A-1994-DA8C-5B41-A446BC0B09A3}"/>
              </a:ext>
            </a:extLst>
          </p:cNvPr>
          <p:cNvSpPr/>
          <p:nvPr/>
        </p:nvSpPr>
        <p:spPr>
          <a:xfrm>
            <a:off x="5946292" y="4007270"/>
            <a:ext cx="46800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0.1%</a:t>
            </a:r>
            <a:endParaRPr lang="en-US" altLang="zh-CN" sz="900" dirty="0">
              <a:latin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720CBD0-0434-881C-0E58-7157F8E3E08B}"/>
              </a:ext>
            </a:extLst>
          </p:cNvPr>
          <p:cNvGrpSpPr/>
          <p:nvPr/>
        </p:nvGrpSpPr>
        <p:grpSpPr>
          <a:xfrm>
            <a:off x="4371012" y="2941496"/>
            <a:ext cx="4680000" cy="432000"/>
            <a:chOff x="4369368" y="3067016"/>
            <a:chExt cx="4695384" cy="493555"/>
          </a:xfrm>
        </p:grpSpPr>
        <p:sp>
          <p:nvSpPr>
            <p:cNvPr id="144" name="Shape 64">
              <a:extLst>
                <a:ext uri="{FF2B5EF4-FFF2-40B4-BE49-F238E27FC236}">
                  <a16:creationId xmlns:a16="http://schemas.microsoft.com/office/drawing/2014/main" id="{98BDE469-21C6-B760-DFA4-C2D4F3A13BA4}"/>
                </a:ext>
              </a:extLst>
            </p:cNvPr>
            <p:cNvSpPr/>
            <p:nvPr/>
          </p:nvSpPr>
          <p:spPr>
            <a:xfrm>
              <a:off x="4369368" y="3067016"/>
              <a:ext cx="4695384" cy="49355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BEB"/>
              </a:solidFill>
              <a:prstDash val="solid"/>
            </a:ln>
          </p:spPr>
        </p:sp>
        <p:sp>
          <p:nvSpPr>
            <p:cNvPr id="145" name="Shape 65">
              <a:extLst>
                <a:ext uri="{FF2B5EF4-FFF2-40B4-BE49-F238E27FC236}">
                  <a16:creationId xmlns:a16="http://schemas.microsoft.com/office/drawing/2014/main" id="{3B1D6EE7-66B4-B5DE-8503-048B65014965}"/>
                </a:ext>
              </a:extLst>
            </p:cNvPr>
            <p:cNvSpPr/>
            <p:nvPr/>
          </p:nvSpPr>
          <p:spPr>
            <a:xfrm>
              <a:off x="4369368" y="3067016"/>
              <a:ext cx="45719" cy="493555"/>
            </a:xfrm>
            <a:prstGeom prst="rect">
              <a:avLst/>
            </a:prstGeom>
            <a:solidFill>
              <a:srgbClr val="E17B00"/>
            </a:solidFill>
            <a:ln w="12700">
              <a:noFill/>
              <a:prstDash val="solid"/>
            </a:ln>
          </p:spPr>
        </p:sp>
      </p:grpSp>
      <p:sp>
        <p:nvSpPr>
          <p:cNvPr id="146" name="Text 66">
            <a:extLst>
              <a:ext uri="{FF2B5EF4-FFF2-40B4-BE49-F238E27FC236}">
                <a16:creationId xmlns:a16="http://schemas.microsoft.com/office/drawing/2014/main" id="{BFD845D1-03B6-196A-1539-C7EE8A4305B0}"/>
              </a:ext>
            </a:extLst>
          </p:cNvPr>
          <p:cNvSpPr/>
          <p:nvPr/>
        </p:nvSpPr>
        <p:spPr>
          <a:xfrm>
            <a:off x="4426744" y="3033432"/>
            <a:ext cx="779471" cy="29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亲子就餐</a:t>
            </a:r>
            <a:endParaRPr lang="en-US" sz="900" dirty="0">
              <a:latin typeface="+mn-ea"/>
            </a:endParaRPr>
          </a:p>
        </p:txBody>
      </p:sp>
      <p:sp>
        <p:nvSpPr>
          <p:cNvPr id="147" name="Text 67">
            <a:extLst>
              <a:ext uri="{FF2B5EF4-FFF2-40B4-BE49-F238E27FC236}">
                <a16:creationId xmlns:a16="http://schemas.microsoft.com/office/drawing/2014/main" id="{9A9AAE1D-5615-5EF2-D47A-550C07B4AD95}"/>
              </a:ext>
            </a:extLst>
          </p:cNvPr>
          <p:cNvSpPr/>
          <p:nvPr/>
        </p:nvSpPr>
        <p:spPr>
          <a:xfrm>
            <a:off x="5194047" y="3033432"/>
            <a:ext cx="67585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dirty="0">
                <a:latin typeface="+mn-ea"/>
              </a:rPr>
              <a:t>有娃家庭</a:t>
            </a:r>
            <a:endParaRPr lang="en-US" sz="900" dirty="0">
              <a:latin typeface="+mn-ea"/>
            </a:endParaRPr>
          </a:p>
        </p:txBody>
      </p:sp>
      <p:sp>
        <p:nvSpPr>
          <p:cNvPr id="148" name="Text 68">
            <a:extLst>
              <a:ext uri="{FF2B5EF4-FFF2-40B4-BE49-F238E27FC236}">
                <a16:creationId xmlns:a16="http://schemas.microsoft.com/office/drawing/2014/main" id="{8E4856E3-FFCD-FAA2-3D45-97BE5C3E8E60}"/>
              </a:ext>
            </a:extLst>
          </p:cNvPr>
          <p:cNvSpPr/>
          <p:nvPr/>
        </p:nvSpPr>
        <p:spPr>
          <a:xfrm>
            <a:off x="6530348" y="3033432"/>
            <a:ext cx="978019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健康</a:t>
            </a:r>
            <a:r>
              <a:rPr lang="en-US" altLang="zh-CN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/</a:t>
            </a: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宝宝餐</a:t>
            </a:r>
            <a:r>
              <a:rPr lang="en-US" altLang="zh-CN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/</a:t>
            </a: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环境可玩性强</a:t>
            </a:r>
            <a:endParaRPr lang="en-US" sz="900" dirty="0">
              <a:latin typeface="+mn-ea"/>
            </a:endParaRPr>
          </a:p>
        </p:txBody>
      </p:sp>
      <p:sp>
        <p:nvSpPr>
          <p:cNvPr id="149" name="Text 69">
            <a:extLst>
              <a:ext uri="{FF2B5EF4-FFF2-40B4-BE49-F238E27FC236}">
                <a16:creationId xmlns:a16="http://schemas.microsoft.com/office/drawing/2014/main" id="{D5E1C482-0B18-0C91-2881-AF5B775A325B}"/>
              </a:ext>
            </a:extLst>
          </p:cNvPr>
          <p:cNvSpPr/>
          <p:nvPr/>
        </p:nvSpPr>
        <p:spPr>
          <a:xfrm>
            <a:off x="7442313" y="3033432"/>
            <a:ext cx="1007516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亲子榜（待建）</a:t>
            </a:r>
            <a:endParaRPr lang="en-US" sz="900" dirty="0">
              <a:latin typeface="+mn-ea"/>
            </a:endParaRPr>
          </a:p>
        </p:txBody>
      </p:sp>
      <p:sp>
        <p:nvSpPr>
          <p:cNvPr id="150" name="Shape 70">
            <a:extLst>
              <a:ext uri="{FF2B5EF4-FFF2-40B4-BE49-F238E27FC236}">
                <a16:creationId xmlns:a16="http://schemas.microsoft.com/office/drawing/2014/main" id="{2D96503A-8C89-D3A2-9ADB-BD9CB671E78B}"/>
              </a:ext>
            </a:extLst>
          </p:cNvPr>
          <p:cNvSpPr/>
          <p:nvPr/>
        </p:nvSpPr>
        <p:spPr>
          <a:xfrm>
            <a:off x="8580340" y="3033432"/>
            <a:ext cx="355711" cy="243875"/>
          </a:xfrm>
          <a:prstGeom prst="rect">
            <a:avLst/>
          </a:prstGeom>
          <a:solidFill>
            <a:srgbClr val="E17B00"/>
          </a:solidFill>
          <a:ln w="12700">
            <a:noFill/>
            <a:prstDash val="solid"/>
          </a:ln>
        </p:spPr>
      </p:sp>
      <p:sp>
        <p:nvSpPr>
          <p:cNvPr id="151" name="Text 71">
            <a:extLst>
              <a:ext uri="{FF2B5EF4-FFF2-40B4-BE49-F238E27FC236}">
                <a16:creationId xmlns:a16="http://schemas.microsoft.com/office/drawing/2014/main" id="{CA5283AC-DF86-2AE3-2430-C59876BC4D0C}"/>
              </a:ext>
            </a:extLst>
          </p:cNvPr>
          <p:cNvSpPr/>
          <p:nvPr/>
        </p:nvSpPr>
        <p:spPr>
          <a:xfrm>
            <a:off x="8580340" y="3033432"/>
            <a:ext cx="355711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P</a:t>
            </a:r>
            <a:r>
              <a:rPr lang="en-US" altLang="zh-CN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1</a:t>
            </a:r>
            <a:endParaRPr lang="en-US" sz="900" dirty="0">
              <a:latin typeface="+mn-ea"/>
            </a:endParaRPr>
          </a:p>
        </p:txBody>
      </p:sp>
      <p:sp>
        <p:nvSpPr>
          <p:cNvPr id="35" name="Text 67">
            <a:extLst>
              <a:ext uri="{FF2B5EF4-FFF2-40B4-BE49-F238E27FC236}">
                <a16:creationId xmlns:a16="http://schemas.microsoft.com/office/drawing/2014/main" id="{2351C905-9644-6F17-E367-B11491D7C29F}"/>
              </a:ext>
            </a:extLst>
          </p:cNvPr>
          <p:cNvSpPr/>
          <p:nvPr/>
        </p:nvSpPr>
        <p:spPr>
          <a:xfrm>
            <a:off x="5947936" y="3033432"/>
            <a:ext cx="46800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4%</a:t>
            </a:r>
            <a:endParaRPr lang="en-US" altLang="zh-CN" sz="900" dirty="0">
              <a:latin typeface="+mn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98DEB54-7D23-7D8F-FA63-B1DF247BE66F}"/>
              </a:ext>
            </a:extLst>
          </p:cNvPr>
          <p:cNvGrpSpPr/>
          <p:nvPr/>
        </p:nvGrpSpPr>
        <p:grpSpPr>
          <a:xfrm>
            <a:off x="4369368" y="3430843"/>
            <a:ext cx="4680000" cy="432000"/>
            <a:chOff x="4369368" y="3589604"/>
            <a:chExt cx="4695384" cy="493555"/>
          </a:xfrm>
        </p:grpSpPr>
        <p:sp>
          <p:nvSpPr>
            <p:cNvPr id="152" name="Shape 72">
              <a:extLst>
                <a:ext uri="{FF2B5EF4-FFF2-40B4-BE49-F238E27FC236}">
                  <a16:creationId xmlns:a16="http://schemas.microsoft.com/office/drawing/2014/main" id="{A561E336-5D56-617E-1FAF-7435A21F37BE}"/>
                </a:ext>
              </a:extLst>
            </p:cNvPr>
            <p:cNvSpPr/>
            <p:nvPr/>
          </p:nvSpPr>
          <p:spPr>
            <a:xfrm>
              <a:off x="4369368" y="3589604"/>
              <a:ext cx="4695384" cy="493555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EBEBEB"/>
              </a:solidFill>
              <a:prstDash val="solid"/>
            </a:ln>
          </p:spPr>
        </p:sp>
        <p:sp>
          <p:nvSpPr>
            <p:cNvPr id="153" name="Shape 73">
              <a:extLst>
                <a:ext uri="{FF2B5EF4-FFF2-40B4-BE49-F238E27FC236}">
                  <a16:creationId xmlns:a16="http://schemas.microsoft.com/office/drawing/2014/main" id="{6E5DC2AA-6D54-66DC-B602-10DE1638516B}"/>
                </a:ext>
              </a:extLst>
            </p:cNvPr>
            <p:cNvSpPr/>
            <p:nvPr/>
          </p:nvSpPr>
          <p:spPr>
            <a:xfrm>
              <a:off x="4369368" y="3589604"/>
              <a:ext cx="45719" cy="493555"/>
            </a:xfrm>
            <a:prstGeom prst="rect">
              <a:avLst/>
            </a:prstGeom>
            <a:solidFill>
              <a:srgbClr val="E17B00"/>
            </a:solidFill>
            <a:ln w="12700">
              <a:noFill/>
              <a:prstDash val="solid"/>
            </a:ln>
          </p:spPr>
        </p:sp>
      </p:grpSp>
      <p:sp>
        <p:nvSpPr>
          <p:cNvPr id="154" name="Text 74">
            <a:extLst>
              <a:ext uri="{FF2B5EF4-FFF2-40B4-BE49-F238E27FC236}">
                <a16:creationId xmlns:a16="http://schemas.microsoft.com/office/drawing/2014/main" id="{FB65CD2F-BA98-8047-11BC-F5ED38E22D74}"/>
              </a:ext>
            </a:extLst>
          </p:cNvPr>
          <p:cNvSpPr/>
          <p:nvPr/>
        </p:nvSpPr>
        <p:spPr>
          <a:xfrm>
            <a:off x="4387478" y="3507825"/>
            <a:ext cx="779471" cy="29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探店打卡</a:t>
            </a:r>
            <a:endParaRPr lang="en-US" sz="900" dirty="0">
              <a:latin typeface="+mn-ea"/>
            </a:endParaRPr>
          </a:p>
        </p:txBody>
      </p:sp>
      <p:sp>
        <p:nvSpPr>
          <p:cNvPr id="155" name="Text 75">
            <a:extLst>
              <a:ext uri="{FF2B5EF4-FFF2-40B4-BE49-F238E27FC236}">
                <a16:creationId xmlns:a16="http://schemas.microsoft.com/office/drawing/2014/main" id="{1E818A47-5B68-8BD8-CDD7-2743B82159FB}"/>
              </a:ext>
            </a:extLst>
          </p:cNvPr>
          <p:cNvSpPr/>
          <p:nvPr/>
        </p:nvSpPr>
        <p:spPr>
          <a:xfrm>
            <a:off x="5151646" y="3510259"/>
            <a:ext cx="779471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内容创作者</a:t>
            </a:r>
            <a:endParaRPr lang="en-US" sz="900" dirty="0">
              <a:latin typeface="+mn-ea"/>
            </a:endParaRPr>
          </a:p>
        </p:txBody>
      </p:sp>
      <p:sp>
        <p:nvSpPr>
          <p:cNvPr id="156" name="Text 76">
            <a:extLst>
              <a:ext uri="{FF2B5EF4-FFF2-40B4-BE49-F238E27FC236}">
                <a16:creationId xmlns:a16="http://schemas.microsoft.com/office/drawing/2014/main" id="{857A85A2-C656-6BF6-AE4C-05389D58E096}"/>
              </a:ext>
            </a:extLst>
          </p:cNvPr>
          <p:cNvSpPr/>
          <p:nvPr/>
        </p:nvSpPr>
        <p:spPr>
          <a:xfrm>
            <a:off x="6491082" y="3507825"/>
            <a:ext cx="864309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新奇/话题/</a:t>
            </a:r>
            <a:r>
              <a:rPr lang="en-US" sz="900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颜值</a:t>
            </a:r>
            <a:r>
              <a:rPr lang="en-US" altLang="zh-CN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/</a:t>
            </a: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明星</a:t>
            </a:r>
            <a:endParaRPr lang="en-US" sz="900" dirty="0">
              <a:latin typeface="+mn-ea"/>
            </a:endParaRPr>
          </a:p>
        </p:txBody>
      </p:sp>
      <p:sp>
        <p:nvSpPr>
          <p:cNvPr id="157" name="Text 77">
            <a:extLst>
              <a:ext uri="{FF2B5EF4-FFF2-40B4-BE49-F238E27FC236}">
                <a16:creationId xmlns:a16="http://schemas.microsoft.com/office/drawing/2014/main" id="{7B5EEF77-B612-1399-B936-60A486B466C1}"/>
              </a:ext>
            </a:extLst>
          </p:cNvPr>
          <p:cNvSpPr/>
          <p:nvPr/>
        </p:nvSpPr>
        <p:spPr>
          <a:xfrm>
            <a:off x="7485073" y="3520351"/>
            <a:ext cx="1007516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开放榜</a:t>
            </a: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（待建）</a:t>
            </a:r>
            <a:endParaRPr lang="en-US" sz="900" dirty="0">
              <a:latin typeface="+mn-ea"/>
            </a:endParaRPr>
          </a:p>
        </p:txBody>
      </p:sp>
      <p:sp>
        <p:nvSpPr>
          <p:cNvPr id="158" name="Shape 78">
            <a:extLst>
              <a:ext uri="{FF2B5EF4-FFF2-40B4-BE49-F238E27FC236}">
                <a16:creationId xmlns:a16="http://schemas.microsoft.com/office/drawing/2014/main" id="{2D5F274D-28AB-0D18-92B4-A01840CB3DB9}"/>
              </a:ext>
            </a:extLst>
          </p:cNvPr>
          <p:cNvSpPr/>
          <p:nvPr/>
        </p:nvSpPr>
        <p:spPr>
          <a:xfrm>
            <a:off x="8578696" y="3507825"/>
            <a:ext cx="355711" cy="243875"/>
          </a:xfrm>
          <a:prstGeom prst="rect">
            <a:avLst/>
          </a:prstGeom>
          <a:solidFill>
            <a:srgbClr val="E07B00"/>
          </a:solidFill>
          <a:ln w="12700">
            <a:noFill/>
            <a:prstDash val="solid"/>
          </a:ln>
        </p:spPr>
      </p:sp>
      <p:sp>
        <p:nvSpPr>
          <p:cNvPr id="159" name="Text 79">
            <a:extLst>
              <a:ext uri="{FF2B5EF4-FFF2-40B4-BE49-F238E27FC236}">
                <a16:creationId xmlns:a16="http://schemas.microsoft.com/office/drawing/2014/main" id="{C93A9DC3-4493-D75D-467C-D40DC6DCE4B0}"/>
              </a:ext>
            </a:extLst>
          </p:cNvPr>
          <p:cNvSpPr/>
          <p:nvPr/>
        </p:nvSpPr>
        <p:spPr>
          <a:xfrm>
            <a:off x="8578696" y="3507825"/>
            <a:ext cx="355711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P1</a:t>
            </a:r>
            <a:endParaRPr lang="en-US" sz="900" dirty="0">
              <a:latin typeface="+mn-ea"/>
            </a:endParaRPr>
          </a:p>
        </p:txBody>
      </p:sp>
      <p:sp>
        <p:nvSpPr>
          <p:cNvPr id="36" name="Text 75">
            <a:extLst>
              <a:ext uri="{FF2B5EF4-FFF2-40B4-BE49-F238E27FC236}">
                <a16:creationId xmlns:a16="http://schemas.microsoft.com/office/drawing/2014/main" id="{0E570A9E-3935-5016-C431-93AAC781A8DC}"/>
              </a:ext>
            </a:extLst>
          </p:cNvPr>
          <p:cNvSpPr/>
          <p:nvPr/>
        </p:nvSpPr>
        <p:spPr>
          <a:xfrm>
            <a:off x="5946292" y="3507825"/>
            <a:ext cx="468000" cy="243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0.2%</a:t>
            </a:r>
            <a:endParaRPr lang="en-US" altLang="zh-CN" sz="900" dirty="0">
              <a:latin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64D1B90-8BE3-CB9E-B8FA-853B6CC37829}"/>
              </a:ext>
            </a:extLst>
          </p:cNvPr>
          <p:cNvGrpSpPr/>
          <p:nvPr/>
        </p:nvGrpSpPr>
        <p:grpSpPr>
          <a:xfrm>
            <a:off x="4369368" y="1456115"/>
            <a:ext cx="4680000" cy="432000"/>
            <a:chOff x="4369368" y="3589604"/>
            <a:chExt cx="4695384" cy="493559"/>
          </a:xfrm>
        </p:grpSpPr>
        <p:sp>
          <p:nvSpPr>
            <p:cNvPr id="25" name="Shape 72">
              <a:extLst>
                <a:ext uri="{FF2B5EF4-FFF2-40B4-BE49-F238E27FC236}">
                  <a16:creationId xmlns:a16="http://schemas.microsoft.com/office/drawing/2014/main" id="{AB7CBD3B-EBAF-AD9E-C277-291942E7CAA4}"/>
                </a:ext>
              </a:extLst>
            </p:cNvPr>
            <p:cNvSpPr/>
            <p:nvPr/>
          </p:nvSpPr>
          <p:spPr>
            <a:xfrm>
              <a:off x="4369368" y="3589609"/>
              <a:ext cx="4695384" cy="493554"/>
            </a:xfrm>
            <a:prstGeom prst="rect">
              <a:avLst/>
            </a:prstGeom>
            <a:solidFill>
              <a:srgbClr val="F8F8F8"/>
            </a:solidFill>
            <a:ln w="6350">
              <a:solidFill>
                <a:srgbClr val="EBEBEB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7" name="Shape 73">
              <a:extLst>
                <a:ext uri="{FF2B5EF4-FFF2-40B4-BE49-F238E27FC236}">
                  <a16:creationId xmlns:a16="http://schemas.microsoft.com/office/drawing/2014/main" id="{9F581580-CA7A-3D60-2341-CBAF76452CD3}"/>
                </a:ext>
              </a:extLst>
            </p:cNvPr>
            <p:cNvSpPr/>
            <p:nvPr/>
          </p:nvSpPr>
          <p:spPr>
            <a:xfrm>
              <a:off x="4369368" y="3589604"/>
              <a:ext cx="45719" cy="493555"/>
            </a:xfrm>
            <a:prstGeom prst="rect">
              <a:avLst/>
            </a:prstGeom>
            <a:solidFill>
              <a:srgbClr val="D1001B"/>
            </a:solidFill>
            <a:ln w="12700">
              <a:noFill/>
              <a:prstDash val="solid"/>
            </a:ln>
          </p:spPr>
        </p:sp>
      </p:grpSp>
      <p:sp>
        <p:nvSpPr>
          <p:cNvPr id="18" name="Text 74">
            <a:extLst>
              <a:ext uri="{FF2B5EF4-FFF2-40B4-BE49-F238E27FC236}">
                <a16:creationId xmlns:a16="http://schemas.microsoft.com/office/drawing/2014/main" id="{A6022940-6A36-718B-0EEA-52769761979C}"/>
              </a:ext>
            </a:extLst>
          </p:cNvPr>
          <p:cNvSpPr/>
          <p:nvPr/>
        </p:nvSpPr>
        <p:spPr>
          <a:xfrm>
            <a:off x="4436421" y="1540985"/>
            <a:ext cx="689844" cy="296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dirty="0">
                <a:latin typeface="+mn-ea"/>
              </a:rPr>
              <a:t>菜品搜索</a:t>
            </a:r>
            <a:endParaRPr lang="en-US" sz="900" dirty="0">
              <a:latin typeface="+mn-ea"/>
            </a:endParaRPr>
          </a:p>
        </p:txBody>
      </p:sp>
      <p:sp>
        <p:nvSpPr>
          <p:cNvPr id="19" name="Text 75">
            <a:extLst>
              <a:ext uri="{FF2B5EF4-FFF2-40B4-BE49-F238E27FC236}">
                <a16:creationId xmlns:a16="http://schemas.microsoft.com/office/drawing/2014/main" id="{6852D9EA-35EC-5538-96BA-4E5908F3FD1B}"/>
              </a:ext>
            </a:extLst>
          </p:cNvPr>
          <p:cNvSpPr/>
          <p:nvPr/>
        </p:nvSpPr>
        <p:spPr>
          <a:xfrm>
            <a:off x="5112029" y="1560967"/>
            <a:ext cx="774862" cy="243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1A1A1A"/>
                </a:solidFill>
                <a:latin typeface="+mn-ea"/>
              </a:rPr>
              <a:t>泛需求用户</a:t>
            </a:r>
            <a:endParaRPr lang="en-US" sz="900" dirty="0">
              <a:latin typeface="+mn-ea"/>
            </a:endParaRPr>
          </a:p>
        </p:txBody>
      </p:sp>
      <p:sp>
        <p:nvSpPr>
          <p:cNvPr id="20" name="Text 76">
            <a:extLst>
              <a:ext uri="{FF2B5EF4-FFF2-40B4-BE49-F238E27FC236}">
                <a16:creationId xmlns:a16="http://schemas.microsoft.com/office/drawing/2014/main" id="{5FCA20EE-09BD-319C-1491-FD9869FEA8E7}"/>
              </a:ext>
            </a:extLst>
          </p:cNvPr>
          <p:cNvSpPr/>
          <p:nvPr/>
        </p:nvSpPr>
        <p:spPr>
          <a:xfrm>
            <a:off x="6491082" y="1533096"/>
            <a:ext cx="978019" cy="243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21" name="Text 77">
            <a:extLst>
              <a:ext uri="{FF2B5EF4-FFF2-40B4-BE49-F238E27FC236}">
                <a16:creationId xmlns:a16="http://schemas.microsoft.com/office/drawing/2014/main" id="{145D6E2C-7A07-8F7A-A85E-223426FB8DD5}"/>
              </a:ext>
            </a:extLst>
          </p:cNvPr>
          <p:cNvSpPr/>
          <p:nvPr/>
        </p:nvSpPr>
        <p:spPr>
          <a:xfrm>
            <a:off x="7473696" y="1531546"/>
            <a:ext cx="941461" cy="243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900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菜品榜（待建）</a:t>
            </a:r>
            <a:endParaRPr lang="en-US" sz="900" dirty="0">
              <a:latin typeface="+mn-ea"/>
            </a:endParaRPr>
          </a:p>
        </p:txBody>
      </p:sp>
      <p:sp>
        <p:nvSpPr>
          <p:cNvPr id="22" name="Shape 78">
            <a:extLst>
              <a:ext uri="{FF2B5EF4-FFF2-40B4-BE49-F238E27FC236}">
                <a16:creationId xmlns:a16="http://schemas.microsoft.com/office/drawing/2014/main" id="{EFB61102-84E2-A9ED-BAC3-E3D391E3E39C}"/>
              </a:ext>
            </a:extLst>
          </p:cNvPr>
          <p:cNvSpPr/>
          <p:nvPr/>
        </p:nvSpPr>
        <p:spPr>
          <a:xfrm>
            <a:off x="8578696" y="1533096"/>
            <a:ext cx="355711" cy="243873"/>
          </a:xfrm>
          <a:prstGeom prst="rect">
            <a:avLst/>
          </a:prstGeom>
          <a:solidFill>
            <a:srgbClr val="D1001B"/>
          </a:solidFill>
          <a:ln w="12700">
            <a:noFill/>
            <a:prstDash val="solid"/>
          </a:ln>
        </p:spPr>
      </p:sp>
      <p:sp>
        <p:nvSpPr>
          <p:cNvPr id="24" name="Text 79">
            <a:extLst>
              <a:ext uri="{FF2B5EF4-FFF2-40B4-BE49-F238E27FC236}">
                <a16:creationId xmlns:a16="http://schemas.microsoft.com/office/drawing/2014/main" id="{CEB9E926-AFCE-077B-53DE-98694551C4D5}"/>
              </a:ext>
            </a:extLst>
          </p:cNvPr>
          <p:cNvSpPr/>
          <p:nvPr/>
        </p:nvSpPr>
        <p:spPr>
          <a:xfrm>
            <a:off x="8578696" y="1533096"/>
            <a:ext cx="355711" cy="243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P</a:t>
            </a:r>
            <a:r>
              <a:rPr lang="en-US" altLang="zh-CN" sz="9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0</a:t>
            </a:r>
            <a:endParaRPr lang="en-US" sz="900" dirty="0">
              <a:latin typeface="+mn-ea"/>
            </a:endParaRPr>
          </a:p>
        </p:txBody>
      </p:sp>
      <p:sp>
        <p:nvSpPr>
          <p:cNvPr id="38" name="Text 75">
            <a:extLst>
              <a:ext uri="{FF2B5EF4-FFF2-40B4-BE49-F238E27FC236}">
                <a16:creationId xmlns:a16="http://schemas.microsoft.com/office/drawing/2014/main" id="{CA87C32D-5D32-ECD2-7A55-B8AA660140FB}"/>
              </a:ext>
            </a:extLst>
          </p:cNvPr>
          <p:cNvSpPr/>
          <p:nvPr/>
        </p:nvSpPr>
        <p:spPr>
          <a:xfrm>
            <a:off x="5946292" y="1533096"/>
            <a:ext cx="468000" cy="243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900" dirty="0">
                <a:solidFill>
                  <a:srgbClr val="1A1A1A"/>
                </a:solidFill>
                <a:latin typeface="+mn-ea"/>
              </a:rPr>
              <a:t>18%</a:t>
            </a:r>
            <a:endParaRPr lang="en-US" altLang="zh-CN" sz="900" dirty="0">
              <a:latin typeface="+mn-ea"/>
            </a:endParaRPr>
          </a:p>
        </p:txBody>
      </p:sp>
      <p:sp>
        <p:nvSpPr>
          <p:cNvPr id="51" name="Text 52">
            <a:extLst>
              <a:ext uri="{FF2B5EF4-FFF2-40B4-BE49-F238E27FC236}">
                <a16:creationId xmlns:a16="http://schemas.microsoft.com/office/drawing/2014/main" id="{6D3AB9F1-FE75-9485-6EB5-0CD68EFC621C}"/>
              </a:ext>
            </a:extLst>
          </p:cNvPr>
          <p:cNvSpPr/>
          <p:nvPr/>
        </p:nvSpPr>
        <p:spPr>
          <a:xfrm>
            <a:off x="6519244" y="1532580"/>
            <a:ext cx="978019" cy="33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+mn-ea"/>
            </a:endParaRPr>
          </a:p>
        </p:txBody>
      </p:sp>
      <p:sp>
        <p:nvSpPr>
          <p:cNvPr id="52" name="Text 52">
            <a:extLst>
              <a:ext uri="{FF2B5EF4-FFF2-40B4-BE49-F238E27FC236}">
                <a16:creationId xmlns:a16="http://schemas.microsoft.com/office/drawing/2014/main" id="{92C64C12-F352-850C-A92D-A740F0C971B8}"/>
              </a:ext>
            </a:extLst>
          </p:cNvPr>
          <p:cNvSpPr/>
          <p:nvPr/>
        </p:nvSpPr>
        <p:spPr>
          <a:xfrm>
            <a:off x="6547353" y="1493997"/>
            <a:ext cx="974780" cy="33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 dirty="0">
                <a:latin typeface="+mn-ea"/>
              </a:rPr>
              <a:t>丰富菜品门店信息</a:t>
            </a:r>
            <a:endParaRPr lang="en-US" sz="900" dirty="0">
              <a:latin typeface="+mn-ea"/>
            </a:endParaRPr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7BEBC0DB-5246-4D6A-0217-BD1CBAAD663F}"/>
              </a:ext>
            </a:extLst>
          </p:cNvPr>
          <p:cNvSpPr txBox="1"/>
          <p:nvPr/>
        </p:nvSpPr>
        <p:spPr>
          <a:xfrm>
            <a:off x="1954373" y="1681733"/>
            <a:ext cx="628022" cy="2944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00" i="1" u="sng" dirty="0">
                <a:solidFill>
                  <a:schemeClr val="accent6">
                    <a:lumMod val="50000"/>
                  </a:schemeClr>
                </a:solidFill>
              </a:rPr>
              <a:t>旅游地域特色菜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F05C780-1778-473D-8D7E-54D8015D2122}"/>
              </a:ext>
            </a:extLst>
          </p:cNvPr>
          <p:cNvSpPr/>
          <p:nvPr/>
        </p:nvSpPr>
        <p:spPr>
          <a:xfrm rot="850925">
            <a:off x="2769908" y="3261355"/>
            <a:ext cx="1307362" cy="487080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文本框 1">
            <a:extLst>
              <a:ext uri="{FF2B5EF4-FFF2-40B4-BE49-F238E27FC236}">
                <a16:creationId xmlns:a16="http://schemas.microsoft.com/office/drawing/2014/main" id="{CC77F36E-C18B-693F-B503-067552C88A4B}"/>
              </a:ext>
            </a:extLst>
          </p:cNvPr>
          <p:cNvSpPr txBox="1"/>
          <p:nvPr/>
        </p:nvSpPr>
        <p:spPr>
          <a:xfrm>
            <a:off x="3339619" y="3150817"/>
            <a:ext cx="628022" cy="2944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00" i="1" u="sng" dirty="0">
                <a:solidFill>
                  <a:schemeClr val="accent6">
                    <a:lumMod val="50000"/>
                  </a:schemeClr>
                </a:solidFill>
              </a:rPr>
              <a:t>商务宴请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FDA455D-E90A-EBB7-FCA7-F7B85BBC54FC}"/>
              </a:ext>
            </a:extLst>
          </p:cNvPr>
          <p:cNvSpPr/>
          <p:nvPr/>
        </p:nvSpPr>
        <p:spPr>
          <a:xfrm rot="17581742">
            <a:off x="600994" y="2084770"/>
            <a:ext cx="1876320" cy="635808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A0D7093D-C94B-0041-B74E-2E88DAD69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616511"/>
              </p:ext>
            </p:extLst>
          </p:nvPr>
        </p:nvGraphicFramePr>
        <p:xfrm>
          <a:off x="9517927" y="1064613"/>
          <a:ext cx="3316681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8806">
                  <a:extLst>
                    <a:ext uri="{9D8B030D-6E8A-4147-A177-3AD203B41FA5}">
                      <a16:colId xmlns:a16="http://schemas.microsoft.com/office/drawing/2014/main" val="2403604637"/>
                    </a:ext>
                  </a:extLst>
                </a:gridCol>
                <a:gridCol w="1388860">
                  <a:extLst>
                    <a:ext uri="{9D8B030D-6E8A-4147-A177-3AD203B41FA5}">
                      <a16:colId xmlns:a16="http://schemas.microsoft.com/office/drawing/2014/main" val="2819864717"/>
                    </a:ext>
                  </a:extLst>
                </a:gridCol>
                <a:gridCol w="1109015">
                  <a:extLst>
                    <a:ext uri="{9D8B030D-6E8A-4147-A177-3AD203B41FA5}">
                      <a16:colId xmlns:a16="http://schemas.microsoft.com/office/drawing/2014/main" val="37563433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剔除奶咖和快餐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423301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行标签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计数项</a:t>
                      </a:r>
                      <a:r>
                        <a:rPr lang="en-US" altLang="zh-CN" sz="900" u="none" strike="noStrike">
                          <a:effectLst/>
                        </a:rPr>
                        <a:t>:</a:t>
                      </a:r>
                      <a:r>
                        <a:rPr lang="en-US" sz="900" u="none" strike="noStrike">
                          <a:effectLst/>
                        </a:rPr>
                        <a:t>search_type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求和项</a:t>
                      </a:r>
                      <a:r>
                        <a:rPr lang="en-US" altLang="zh-CN" sz="900" u="none" strike="noStrike">
                          <a:effectLst/>
                        </a:rPr>
                        <a:t>:</a:t>
                      </a:r>
                      <a:r>
                        <a:rPr lang="en-US" sz="900" u="none" strike="noStrike">
                          <a:effectLst/>
                        </a:rPr>
                        <a:t>view_qv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507429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家庭聚餐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17%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27.9%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90705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未分类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38%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21.0%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88478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旅游异地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18%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19.7%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0907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亲子就餐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4%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13.8%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69513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菜品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18%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13.1%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755526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</a:rPr>
                        <a:t>情侣约会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4%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4.3%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704497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探店打卡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0.2%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0.2%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979962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商务宴请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0.1%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>
                          <a:effectLst/>
                        </a:rPr>
                        <a:t>0.1%</a:t>
                      </a:r>
                      <a:endParaRPr lang="en-US" altLang="zh-CN" sz="9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41032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>
                          <a:effectLst/>
                        </a:rPr>
                        <a:t>总计</a:t>
                      </a: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100%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u="none" strike="noStrike" dirty="0">
                          <a:effectLst/>
                        </a:rPr>
                        <a:t>100%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18413670"/>
                  </a:ext>
                </a:extLst>
              </a:tr>
            </a:tbl>
          </a:graphicData>
        </a:graphic>
      </p:graphicFrame>
      <p:sp>
        <p:nvSpPr>
          <p:cNvPr id="31" name="文本框 1">
            <a:extLst>
              <a:ext uri="{FF2B5EF4-FFF2-40B4-BE49-F238E27FC236}">
                <a16:creationId xmlns:a16="http://schemas.microsoft.com/office/drawing/2014/main" id="{F6F9C292-9F08-3856-B7A8-485EC0CC0FCA}"/>
              </a:ext>
            </a:extLst>
          </p:cNvPr>
          <p:cNvSpPr txBox="1"/>
          <p:nvPr/>
        </p:nvSpPr>
        <p:spPr>
          <a:xfrm>
            <a:off x="1640362" y="1004090"/>
            <a:ext cx="628022" cy="294488"/>
          </a:xfrm>
          <a:prstGeom prst="rect">
            <a:avLst/>
          </a:prstGeom>
        </p:spPr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800" i="1" u="sng" dirty="0">
                <a:solidFill>
                  <a:schemeClr val="accent6">
                    <a:lumMod val="50000"/>
                  </a:schemeClr>
                </a:solidFill>
              </a:rPr>
              <a:t>菜品食材搜索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A1735688-0EAC-3450-60D3-BC439CAF90A3}"/>
              </a:ext>
            </a:extLst>
          </p:cNvPr>
          <p:cNvSpPr/>
          <p:nvPr/>
        </p:nvSpPr>
        <p:spPr>
          <a:xfrm>
            <a:off x="707137" y="782685"/>
            <a:ext cx="3537542" cy="3185811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900" b="1" i="1" u="sng" dirty="0">
                <a:solidFill>
                  <a:schemeClr val="bg1">
                    <a:lumMod val="50000"/>
                  </a:schemeClr>
                </a:solidFill>
              </a:rPr>
              <a:t>决策成本高需求满足低</a:t>
            </a:r>
            <a:endParaRPr lang="zh-CN" sz="900" b="1" i="1" u="sn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79EE283-849B-30E6-C395-83CB8424586C}"/>
              </a:ext>
            </a:extLst>
          </p:cNvPr>
          <p:cNvSpPr txBox="1"/>
          <p:nvPr/>
        </p:nvSpPr>
        <p:spPr>
          <a:xfrm>
            <a:off x="76675" y="744359"/>
            <a:ext cx="323165" cy="169854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900" b="1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QV-CXR </a:t>
            </a:r>
            <a:r>
              <a:rPr lang="zh-CN" altLang="en-US" sz="900" b="1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≤ </a:t>
            </a:r>
            <a:r>
              <a:rPr lang="en-US" altLang="zh-CN" sz="900" b="1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3%</a:t>
            </a:r>
            <a:r>
              <a:rPr lang="zh-CN" altLang="en-US" sz="900" b="1" i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→ 需求满足度低</a:t>
            </a:r>
            <a:endParaRPr lang="en-US" altLang="zh-CN" sz="900" b="1" i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FE239B-9CCF-94DF-CA3B-2BEEB96BA5DA}"/>
              </a:ext>
            </a:extLst>
          </p:cNvPr>
          <p:cNvSpPr txBox="1"/>
          <p:nvPr/>
        </p:nvSpPr>
        <p:spPr>
          <a:xfrm>
            <a:off x="3253519" y="-81806"/>
            <a:ext cx="642470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（这个和上一页逻辑怎么衔接呢？）</a:t>
            </a:r>
            <a:endParaRPr lang="en-US" altLang="zh-CN" sz="1100" b="1" dirty="0">
              <a:solidFill>
                <a:srgbClr val="FF0000"/>
              </a:solidFill>
              <a:latin typeface="+mn-ea"/>
              <a:cs typeface="Microsoft YaHei" pitchFamily="34" charset="-120"/>
            </a:endParaRPr>
          </a:p>
          <a:p>
            <a:r>
              <a:rPr lang="zh-CN" altLang="en-US" sz="11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如左边，是想表达下一步优先级？</a:t>
            </a:r>
            <a:endParaRPr lang="en-US" altLang="zh-CN" sz="1100" b="1" dirty="0">
              <a:solidFill>
                <a:srgbClr val="FF0000"/>
              </a:solidFill>
              <a:latin typeface="+mn-ea"/>
              <a:cs typeface="Microsoft YaHei" pitchFamily="34" charset="-120"/>
            </a:endParaRPr>
          </a:p>
          <a:p>
            <a:r>
              <a:rPr lang="zh-CN" altLang="en-US" sz="11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再如，右边的用户规模加起来也就</a:t>
            </a:r>
            <a:r>
              <a:rPr lang="en-US" altLang="zh-CN" sz="11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60%</a:t>
            </a:r>
            <a:r>
              <a:rPr lang="zh-CN" altLang="en-US" sz="11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，其他</a:t>
            </a:r>
            <a:r>
              <a:rPr lang="en-US" altLang="zh-CN" sz="11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40%</a:t>
            </a:r>
            <a:r>
              <a:rPr lang="zh-CN" altLang="en-US" sz="11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是什么</a:t>
            </a:r>
            <a:r>
              <a:rPr lang="en-US" altLang="zh-CN" sz="1100" b="1" dirty="0">
                <a:solidFill>
                  <a:srgbClr val="FF0000"/>
                </a:solidFill>
                <a:latin typeface="+mn-ea"/>
                <a:cs typeface="Microsoft YaHei" pitchFamily="34" charset="-120"/>
              </a:rPr>
              <a:t>c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0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A23C-720A-4F88-EAEA-9E175C10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46BD5061-6937-46CF-37A3-1BAA3ED89D3D}"/>
              </a:ext>
            </a:extLst>
          </p:cNvPr>
          <p:cNvSpPr txBox="1"/>
          <p:nvPr/>
        </p:nvSpPr>
        <p:spPr>
          <a:xfrm>
            <a:off x="164886" y="5178"/>
            <a:ext cx="3661044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+mj-ea"/>
                <a:ea typeface="+mj-ea"/>
              </a:rPr>
              <a:t>榜单的机会点</a:t>
            </a:r>
            <a:endParaRPr lang="en-US" altLang="zh-CN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FB985C85-DD23-45C1-9B41-D45349402D7E}"/>
              </a:ext>
            </a:extLst>
          </p:cNvPr>
          <p:cNvCxnSpPr>
            <a:cxnSpLocks/>
          </p:cNvCxnSpPr>
          <p:nvPr/>
        </p:nvCxnSpPr>
        <p:spPr>
          <a:xfrm>
            <a:off x="3573279" y="1468061"/>
            <a:ext cx="0" cy="27180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0C50C08F-F298-A616-B8F8-354C84BB98A4}"/>
              </a:ext>
            </a:extLst>
          </p:cNvPr>
          <p:cNvCxnSpPr>
            <a:cxnSpLocks/>
          </p:cNvCxnSpPr>
          <p:nvPr/>
        </p:nvCxnSpPr>
        <p:spPr>
          <a:xfrm>
            <a:off x="6791169" y="1463712"/>
            <a:ext cx="0" cy="27180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4D8A02CB-A44F-9ECA-0394-7C6D8DCB04C8}"/>
              </a:ext>
            </a:extLst>
          </p:cNvPr>
          <p:cNvSpPr/>
          <p:nvPr/>
        </p:nvSpPr>
        <p:spPr>
          <a:xfrm>
            <a:off x="7396289" y="684103"/>
            <a:ext cx="1301489" cy="49537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目的明确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5BDEFBC-0164-F661-0AE6-A88D717FFE11}"/>
              </a:ext>
            </a:extLst>
          </p:cNvPr>
          <p:cNvSpPr/>
          <p:nvPr/>
        </p:nvSpPr>
        <p:spPr>
          <a:xfrm>
            <a:off x="4215096" y="686251"/>
            <a:ext cx="1844957" cy="495371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部分条件明确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98FB9FD-49FE-1F0D-F56B-0F7995C2A437}"/>
              </a:ext>
            </a:extLst>
          </p:cNvPr>
          <p:cNvSpPr/>
          <p:nvPr/>
        </p:nvSpPr>
        <p:spPr>
          <a:xfrm>
            <a:off x="1661383" y="684103"/>
            <a:ext cx="1733202" cy="495371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无目的泛需求</a:t>
            </a:r>
          </a:p>
        </p:txBody>
      </p:sp>
      <p:cxnSp>
        <p:nvCxnSpPr>
          <p:cNvPr id="15" name="连接符: 曲线 68">
            <a:extLst>
              <a:ext uri="{FF2B5EF4-FFF2-40B4-BE49-F238E27FC236}">
                <a16:creationId xmlns:a16="http://schemas.microsoft.com/office/drawing/2014/main" id="{CCD26218-2D4C-579E-EA6C-F982D04E0AB9}"/>
              </a:ext>
            </a:extLst>
          </p:cNvPr>
          <p:cNvCxnSpPr>
            <a:stCxn id="14" idx="0"/>
            <a:endCxn id="10" idx="0"/>
          </p:cNvCxnSpPr>
          <p:nvPr/>
        </p:nvCxnSpPr>
        <p:spPr>
          <a:xfrm rot="16200000" flipH="1">
            <a:off x="3831705" y="-619618"/>
            <a:ext cx="2148" cy="2609591"/>
          </a:xfrm>
          <a:prstGeom prst="curvedConnector3">
            <a:avLst>
              <a:gd name="adj1" fmla="val -1064245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70">
            <a:extLst>
              <a:ext uri="{FF2B5EF4-FFF2-40B4-BE49-F238E27FC236}">
                <a16:creationId xmlns:a16="http://schemas.microsoft.com/office/drawing/2014/main" id="{28503E3B-5FE5-BCE7-332C-09F21A6C1342}"/>
              </a:ext>
            </a:extLst>
          </p:cNvPr>
          <p:cNvCxnSpPr>
            <a:stCxn id="10" idx="0"/>
            <a:endCxn id="9" idx="0"/>
          </p:cNvCxnSpPr>
          <p:nvPr/>
        </p:nvCxnSpPr>
        <p:spPr>
          <a:xfrm rot="5400000" flipH="1" flipV="1">
            <a:off x="6591230" y="-769552"/>
            <a:ext cx="2148" cy="2909459"/>
          </a:xfrm>
          <a:prstGeom prst="curvedConnector3">
            <a:avLst>
              <a:gd name="adj1" fmla="val 1074245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FC12790C-E7F0-B075-332B-0EDAC13B4CB6}"/>
              </a:ext>
            </a:extLst>
          </p:cNvPr>
          <p:cNvSpPr txBox="1"/>
          <p:nvPr/>
        </p:nvSpPr>
        <p:spPr>
          <a:xfrm>
            <a:off x="3895988" y="269489"/>
            <a:ext cx="2483171" cy="387038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随决策愈发清晰，需求逐步收敛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21" name="连接符: 曲线 76">
            <a:extLst>
              <a:ext uri="{FF2B5EF4-FFF2-40B4-BE49-F238E27FC236}">
                <a16:creationId xmlns:a16="http://schemas.microsoft.com/office/drawing/2014/main" id="{28874E08-7F35-25A5-0790-FC8053FBC9EC}"/>
              </a:ext>
            </a:extLst>
          </p:cNvPr>
          <p:cNvCxnSpPr>
            <a:stCxn id="9" idx="2"/>
            <a:endCxn id="10" idx="2"/>
          </p:cNvCxnSpPr>
          <p:nvPr/>
        </p:nvCxnSpPr>
        <p:spPr>
          <a:xfrm rot="5400000">
            <a:off x="6591231" y="-274181"/>
            <a:ext cx="2148" cy="2909459"/>
          </a:xfrm>
          <a:prstGeom prst="curvedConnector3">
            <a:avLst>
              <a:gd name="adj1" fmla="val 1074245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82">
            <a:extLst>
              <a:ext uri="{FF2B5EF4-FFF2-40B4-BE49-F238E27FC236}">
                <a16:creationId xmlns:a16="http://schemas.microsoft.com/office/drawing/2014/main" id="{B9117DD1-FE86-1E77-19B7-ED9416EF6C59}"/>
              </a:ext>
            </a:extLst>
          </p:cNvPr>
          <p:cNvCxnSpPr>
            <a:stCxn id="10" idx="2"/>
            <a:endCxn id="14" idx="2"/>
          </p:cNvCxnSpPr>
          <p:nvPr/>
        </p:nvCxnSpPr>
        <p:spPr>
          <a:xfrm rot="5400000" flipH="1">
            <a:off x="3831706" y="-124247"/>
            <a:ext cx="2148" cy="2609591"/>
          </a:xfrm>
          <a:prstGeom prst="curvedConnector3">
            <a:avLst>
              <a:gd name="adj1" fmla="val -1064245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占位符 1">
            <a:extLst>
              <a:ext uri="{FF2B5EF4-FFF2-40B4-BE49-F238E27FC236}">
                <a16:creationId xmlns:a16="http://schemas.microsoft.com/office/drawing/2014/main" id="{FA32772F-5D0C-8505-61D9-622700D92893}"/>
              </a:ext>
            </a:extLst>
          </p:cNvPr>
          <p:cNvSpPr txBox="1"/>
          <p:nvPr/>
        </p:nvSpPr>
        <p:spPr>
          <a:xfrm>
            <a:off x="4072112" y="1211731"/>
            <a:ext cx="2018633" cy="2883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浏览过程可能激发新需求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672B9F7E-3E98-E6F5-B205-9040EA820AA6}"/>
              </a:ext>
            </a:extLst>
          </p:cNvPr>
          <p:cNvSpPr/>
          <p:nvPr/>
        </p:nvSpPr>
        <p:spPr>
          <a:xfrm>
            <a:off x="7505723" y="2062034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单店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品牌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CEB56A8E-15BD-97CA-10C9-92B49556177B}"/>
              </a:ext>
            </a:extLst>
          </p:cNvPr>
          <p:cNvSpPr/>
          <p:nvPr/>
        </p:nvSpPr>
        <p:spPr>
          <a:xfrm>
            <a:off x="3896703" y="2503811"/>
            <a:ext cx="714392" cy="22381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地点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5D798B24-29E0-9638-C983-F420EBED2C93}"/>
              </a:ext>
            </a:extLst>
          </p:cNvPr>
          <p:cNvSpPr/>
          <p:nvPr/>
        </p:nvSpPr>
        <p:spPr>
          <a:xfrm>
            <a:off x="3894272" y="2212612"/>
            <a:ext cx="714392" cy="223812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场景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43E41F28-5269-C3C5-779F-8E70B388C9D9}"/>
              </a:ext>
            </a:extLst>
          </p:cNvPr>
          <p:cNvSpPr/>
          <p:nvPr/>
        </p:nvSpPr>
        <p:spPr>
          <a:xfrm>
            <a:off x="3891134" y="1915115"/>
            <a:ext cx="712800" cy="2232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品类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文本占位符 1">
            <a:extLst>
              <a:ext uri="{FF2B5EF4-FFF2-40B4-BE49-F238E27FC236}">
                <a16:creationId xmlns:a16="http://schemas.microsoft.com/office/drawing/2014/main" id="{96FBA984-C9FA-D740-A3C9-AE9CAA180D71}"/>
              </a:ext>
            </a:extLst>
          </p:cNvPr>
          <p:cNvSpPr txBox="1"/>
          <p:nvPr/>
        </p:nvSpPr>
        <p:spPr>
          <a:xfrm>
            <a:off x="7629117" y="1420613"/>
            <a:ext cx="804412" cy="250341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明确找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0" name="文本占位符 1">
            <a:extLst>
              <a:ext uri="{FF2B5EF4-FFF2-40B4-BE49-F238E27FC236}">
                <a16:creationId xmlns:a16="http://schemas.microsoft.com/office/drawing/2014/main" id="{DA766640-C24A-2828-CB9D-00328E2BDCB2}"/>
              </a:ext>
            </a:extLst>
          </p:cNvPr>
          <p:cNvSpPr txBox="1"/>
          <p:nvPr/>
        </p:nvSpPr>
        <p:spPr>
          <a:xfrm>
            <a:off x="4788460" y="1434727"/>
            <a:ext cx="680858" cy="223200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约束找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5" name="文本占位符 1">
            <a:extLst>
              <a:ext uri="{FF2B5EF4-FFF2-40B4-BE49-F238E27FC236}">
                <a16:creationId xmlns:a16="http://schemas.microsoft.com/office/drawing/2014/main" id="{554FC553-2C94-29B9-0CC1-78A9F2731A82}"/>
              </a:ext>
            </a:extLst>
          </p:cNvPr>
          <p:cNvSpPr txBox="1"/>
          <p:nvPr/>
        </p:nvSpPr>
        <p:spPr>
          <a:xfrm>
            <a:off x="2211224" y="1436595"/>
            <a:ext cx="680858" cy="236227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激发找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C42F8C6-4D78-18DA-2B8E-DDFACDA2DF85}"/>
              </a:ext>
            </a:extLst>
          </p:cNvPr>
          <p:cNvSpPr/>
          <p:nvPr/>
        </p:nvSpPr>
        <p:spPr>
          <a:xfrm>
            <a:off x="1998062" y="3193157"/>
            <a:ext cx="1059844" cy="25336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新菜激发</a:t>
            </a:r>
            <a:endParaRPr lang="zh-CN" altLang="en-US" dirty="0">
              <a:latin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7D25FB4-3656-8E6C-CAE5-71B9B0D8CB12}"/>
              </a:ext>
            </a:extLst>
          </p:cNvPr>
          <p:cNvSpPr/>
          <p:nvPr/>
        </p:nvSpPr>
        <p:spPr>
          <a:xfrm>
            <a:off x="276181" y="1819827"/>
            <a:ext cx="1253703" cy="57032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rgbClr val="000000"/>
                </a:solidFill>
              </a:rPr>
              <a:t>找店</a:t>
            </a:r>
            <a:endParaRPr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4CBD162F-A0B5-4E80-29BF-20492A114A7C}"/>
              </a:ext>
            </a:extLst>
          </p:cNvPr>
          <p:cNvSpPr/>
          <p:nvPr/>
        </p:nvSpPr>
        <p:spPr>
          <a:xfrm>
            <a:off x="1998062" y="3492286"/>
            <a:ext cx="1059844" cy="25336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特色菜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激发</a:t>
            </a:r>
            <a:endParaRPr lang="zh-CN" altLang="en-US" dirty="0">
              <a:latin typeface="+mn-ea"/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CC0324DF-B091-DD61-A343-90FEF419F909}"/>
              </a:ext>
            </a:extLst>
          </p:cNvPr>
          <p:cNvSpPr/>
          <p:nvPr/>
        </p:nvSpPr>
        <p:spPr>
          <a:xfrm>
            <a:off x="486195" y="4571703"/>
            <a:ext cx="8330456" cy="436689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综上，榜单最大的机会在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菜品维度（需求最大、缺口最深）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和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地点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×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场景的组合维度（覆盖率低、转化价值高）</a:t>
            </a:r>
            <a:endParaRPr kumimoji="1"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这两个方向恰好对应用户在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探索找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阶段最核心的筛选条件，是从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有榜单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到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榜单真正有用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的关键跨越。</a:t>
            </a:r>
          </a:p>
        </p:txBody>
      </p:sp>
      <p:sp>
        <p:nvSpPr>
          <p:cNvPr id="122" name="文本占位符 1">
            <a:extLst>
              <a:ext uri="{FF2B5EF4-FFF2-40B4-BE49-F238E27FC236}">
                <a16:creationId xmlns:a16="http://schemas.microsoft.com/office/drawing/2014/main" id="{95239A6B-8E10-04A6-8076-0BB0DC4D5CFF}"/>
              </a:ext>
            </a:extLst>
          </p:cNvPr>
          <p:cNvSpPr txBox="1"/>
          <p:nvPr/>
        </p:nvSpPr>
        <p:spPr>
          <a:xfrm>
            <a:off x="521046" y="2082855"/>
            <a:ext cx="804412" cy="356797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00000"/>
              </a:lnSpc>
              <a:buNone/>
            </a:pP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店</a:t>
            </a: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是</a:t>
            </a: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入口</a:t>
            </a:r>
            <a:endParaRPr kumimoji="1"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444862C-A9B5-0DDA-431E-8B1933CE74FD}"/>
              </a:ext>
            </a:extLst>
          </p:cNvPr>
          <p:cNvSpPr/>
          <p:nvPr/>
        </p:nvSpPr>
        <p:spPr>
          <a:xfrm>
            <a:off x="296367" y="3137681"/>
            <a:ext cx="1253703" cy="57032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/>
                </a:solidFill>
              </a:rPr>
              <a:t>找菜</a:t>
            </a: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17EB1531-BFD3-573A-E94B-0854255C6E10}"/>
              </a:ext>
            </a:extLst>
          </p:cNvPr>
          <p:cNvSpPr txBox="1"/>
          <p:nvPr/>
        </p:nvSpPr>
        <p:spPr>
          <a:xfrm>
            <a:off x="509339" y="3422845"/>
            <a:ext cx="804412" cy="356797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00000"/>
              </a:lnSpc>
              <a:buNone/>
            </a:pP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菜是卖点</a:t>
            </a:r>
            <a:endParaRPr kumimoji="1"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B883FC8-216B-319D-1524-DBC1F80CFB96}"/>
              </a:ext>
            </a:extLst>
          </p:cNvPr>
          <p:cNvSpPr/>
          <p:nvPr/>
        </p:nvSpPr>
        <p:spPr>
          <a:xfrm>
            <a:off x="7496298" y="3384003"/>
            <a:ext cx="1062000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FF0000"/>
                </a:solidFill>
                <a:latin typeface="+mn-ea"/>
              </a:rPr>
              <a:t>特定店内菜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30EABFD-4225-D036-F3CF-7D45D7980EFD}"/>
              </a:ext>
            </a:extLst>
          </p:cNvPr>
          <p:cNvSpPr/>
          <p:nvPr/>
        </p:nvSpPr>
        <p:spPr>
          <a:xfrm>
            <a:off x="3933951" y="3394086"/>
            <a:ext cx="841731" cy="23622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当地特色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182C4E60-D805-1A78-AFC2-373B6EBCC467}"/>
              </a:ext>
            </a:extLst>
          </p:cNvPr>
          <p:cNvSpPr/>
          <p:nvPr/>
        </p:nvSpPr>
        <p:spPr>
          <a:xfrm>
            <a:off x="4825295" y="3390329"/>
            <a:ext cx="841731" cy="23622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时令节日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圆角矩形 94">
            <a:extLst>
              <a:ext uri="{FF2B5EF4-FFF2-40B4-BE49-F238E27FC236}">
                <a16:creationId xmlns:a16="http://schemas.microsoft.com/office/drawing/2014/main" id="{9FD30B74-D497-FBFF-B0E6-4F8B6D76A03E}"/>
              </a:ext>
            </a:extLst>
          </p:cNvPr>
          <p:cNvSpPr/>
          <p:nvPr/>
        </p:nvSpPr>
        <p:spPr>
          <a:xfrm>
            <a:off x="5714198" y="3384003"/>
            <a:ext cx="841731" cy="23622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FF0000"/>
                </a:solidFill>
                <a:latin typeface="+mn-ea"/>
              </a:rPr>
              <a:t>口味食材</a:t>
            </a:r>
            <a:endParaRPr kumimoji="1" lang="en-US" altLang="zh-CN" sz="1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6" name="圆角矩形 95">
            <a:extLst>
              <a:ext uri="{FF2B5EF4-FFF2-40B4-BE49-F238E27FC236}">
                <a16:creationId xmlns:a16="http://schemas.microsoft.com/office/drawing/2014/main" id="{8EB8EEBF-4F18-0956-A1FF-1F21EAD724C9}"/>
              </a:ext>
            </a:extLst>
          </p:cNvPr>
          <p:cNvSpPr/>
          <p:nvPr/>
        </p:nvSpPr>
        <p:spPr>
          <a:xfrm>
            <a:off x="1998062" y="1978875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新奇特</a:t>
            </a:r>
            <a:endParaRPr lang="zh-CN" altLang="en-US" dirty="0">
              <a:latin typeface="+mn-ea"/>
            </a:endParaRPr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0B25295F-EBEB-3179-AF78-B10CEE230FA7}"/>
              </a:ext>
            </a:extLst>
          </p:cNvPr>
          <p:cNvSpPr/>
          <p:nvPr/>
        </p:nvSpPr>
        <p:spPr>
          <a:xfrm>
            <a:off x="1998062" y="2281203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达人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明星</a:t>
            </a:r>
            <a:endParaRPr lang="zh-CN" altLang="en-US" dirty="0">
              <a:latin typeface="+mn-ea"/>
            </a:endParaRPr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D6BC84E7-E53B-43CF-00CB-480780851C36}"/>
              </a:ext>
            </a:extLst>
          </p:cNvPr>
          <p:cNvCxnSpPr>
            <a:cxnSpLocks/>
            <a:stCxn id="3" idx="0"/>
            <a:endCxn id="122" idx="2"/>
          </p:cNvCxnSpPr>
          <p:nvPr/>
        </p:nvCxnSpPr>
        <p:spPr>
          <a:xfrm flipV="1">
            <a:off x="923219" y="2439652"/>
            <a:ext cx="33" cy="698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54E4DFA7-4479-5577-8CBA-CB679E8A1EC1}"/>
              </a:ext>
            </a:extLst>
          </p:cNvPr>
          <p:cNvSpPr txBox="1"/>
          <p:nvPr/>
        </p:nvSpPr>
        <p:spPr>
          <a:xfrm>
            <a:off x="900731" y="2503272"/>
            <a:ext cx="341515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以菜找店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E431045-D91A-D2E0-5CD3-88CF6A068C0E}"/>
              </a:ext>
            </a:extLst>
          </p:cNvPr>
          <p:cNvSpPr/>
          <p:nvPr/>
        </p:nvSpPr>
        <p:spPr>
          <a:xfrm>
            <a:off x="1663132" y="4073296"/>
            <a:ext cx="7285830" cy="3916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文本占位符 1">
            <a:extLst>
              <a:ext uri="{FF2B5EF4-FFF2-40B4-BE49-F238E27FC236}">
                <a16:creationId xmlns:a16="http://schemas.microsoft.com/office/drawing/2014/main" id="{58355740-6DBC-48B8-36FF-B17EC48BA045}"/>
              </a:ext>
            </a:extLst>
          </p:cNvPr>
          <p:cNvSpPr txBox="1"/>
          <p:nvPr/>
        </p:nvSpPr>
        <p:spPr>
          <a:xfrm>
            <a:off x="7234773" y="3988621"/>
            <a:ext cx="1624519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精搜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扫码点餐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订单复购等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26" name="文本占位符 1">
            <a:extLst>
              <a:ext uri="{FF2B5EF4-FFF2-40B4-BE49-F238E27FC236}">
                <a16:creationId xmlns:a16="http://schemas.microsoft.com/office/drawing/2014/main" id="{E827123F-7766-02EB-4DA5-574132A06BA3}"/>
              </a:ext>
            </a:extLst>
          </p:cNvPr>
          <p:cNvSpPr txBox="1"/>
          <p:nvPr/>
        </p:nvSpPr>
        <p:spPr>
          <a:xfrm>
            <a:off x="4369364" y="3988621"/>
            <a:ext cx="1624519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泛搜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团购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特团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筛排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榜单等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27" name="文本占位符 1">
            <a:extLst>
              <a:ext uri="{FF2B5EF4-FFF2-40B4-BE49-F238E27FC236}">
                <a16:creationId xmlns:a16="http://schemas.microsoft.com/office/drawing/2014/main" id="{C2A93EB0-63EA-5700-9FC9-98DF7A99AA97}"/>
              </a:ext>
            </a:extLst>
          </p:cNvPr>
          <p:cNvSpPr txBox="1"/>
          <p:nvPr/>
        </p:nvSpPr>
        <p:spPr>
          <a:xfrm>
            <a:off x="1789794" y="4002684"/>
            <a:ext cx="1532230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特团直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推荐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榜单</a:t>
            </a:r>
            <a:r>
              <a:rPr lang="en-US" altLang="zh-CN" sz="1200" dirty="0">
                <a:latin typeface="+mn-ea"/>
              </a:rPr>
              <a:t>/push</a:t>
            </a:r>
            <a:r>
              <a:rPr lang="zh-CN" altLang="en-US" sz="1200" dirty="0">
                <a:latin typeface="+mn-ea"/>
              </a:rPr>
              <a:t>等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28" name="文本占位符 1">
            <a:extLst>
              <a:ext uri="{FF2B5EF4-FFF2-40B4-BE49-F238E27FC236}">
                <a16:creationId xmlns:a16="http://schemas.microsoft.com/office/drawing/2014/main" id="{C828B47F-6417-FA08-B8FF-50624A052F73}"/>
              </a:ext>
            </a:extLst>
          </p:cNvPr>
          <p:cNvSpPr txBox="1"/>
          <p:nvPr/>
        </p:nvSpPr>
        <p:spPr>
          <a:xfrm>
            <a:off x="225825" y="4016550"/>
            <a:ext cx="1394854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00"/>
              </a:lnSpc>
              <a:buNone/>
            </a:pPr>
            <a:r>
              <a:rPr kumimoji="1" lang="zh-CN" altLang="en-US" sz="1200" b="1" dirty="0">
                <a:latin typeface="+mn-ea"/>
              </a:rPr>
              <a:t>用户路径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7EA5D90-D621-6BCA-1283-58630102D3E5}"/>
              </a:ext>
            </a:extLst>
          </p:cNvPr>
          <p:cNvSpPr txBox="1"/>
          <p:nvPr/>
        </p:nvSpPr>
        <p:spPr>
          <a:xfrm>
            <a:off x="4614224" y="1881842"/>
            <a:ext cx="2018633" cy="2883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050" dirty="0">
                <a:latin typeface="+mn-ea"/>
              </a:rPr>
              <a:t>城市 </a:t>
            </a:r>
            <a:r>
              <a:rPr kumimoji="1" lang="en-US" altLang="zh-CN" sz="1050" dirty="0">
                <a:latin typeface="+mn-ea"/>
              </a:rPr>
              <a:t>×</a:t>
            </a:r>
            <a:r>
              <a:rPr kumimoji="1" lang="zh-CN" altLang="en-US" sz="1050" dirty="0">
                <a:latin typeface="+mn-ea"/>
              </a:rPr>
              <a:t> 地方特色</a:t>
            </a:r>
            <a:r>
              <a:rPr lang="zh-CN" altLang="en-US" sz="1050" dirty="0">
                <a:latin typeface="+mn-ea"/>
              </a:rPr>
              <a:t> </a:t>
            </a:r>
            <a:endParaRPr lang="en-US" altLang="zh-CN" sz="1050" dirty="0">
              <a:latin typeface="+mn-ea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7286A959-2474-1136-09DC-DA04F5683B2A}"/>
              </a:ext>
            </a:extLst>
          </p:cNvPr>
          <p:cNvSpPr txBox="1"/>
          <p:nvPr/>
        </p:nvSpPr>
        <p:spPr>
          <a:xfrm>
            <a:off x="4614225" y="2175236"/>
            <a:ext cx="2018633" cy="2883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050" dirty="0">
                <a:solidFill>
                  <a:srgbClr val="FF0000"/>
                </a:solidFill>
                <a:latin typeface="+mn-ea"/>
              </a:rPr>
              <a:t>异地旅游</a:t>
            </a:r>
            <a:r>
              <a:rPr lang="zh-CN" altLang="en-US" sz="1050" dirty="0">
                <a:latin typeface="+mn-ea"/>
              </a:rPr>
              <a:t>、约会、亲子等</a:t>
            </a:r>
            <a:endParaRPr lang="en-US" altLang="zh-CN" sz="1050" dirty="0">
              <a:latin typeface="+mn-ea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DCF88225-ED46-1BDC-8305-5B569D2AF9C4}"/>
              </a:ext>
            </a:extLst>
          </p:cNvPr>
          <p:cNvSpPr txBox="1"/>
          <p:nvPr/>
        </p:nvSpPr>
        <p:spPr>
          <a:xfrm>
            <a:off x="4614224" y="2473135"/>
            <a:ext cx="2018633" cy="2883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050" dirty="0">
                <a:latin typeface="+mn-ea"/>
              </a:rPr>
              <a:t>热门地标：附近、商场、景点</a:t>
            </a:r>
            <a:endParaRPr lang="en-US" altLang="zh-CN" sz="105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B225F9-C031-F9A5-4908-8B0FA5F4ADB7}"/>
              </a:ext>
            </a:extLst>
          </p:cNvPr>
          <p:cNvSpPr txBox="1"/>
          <p:nvPr/>
        </p:nvSpPr>
        <p:spPr>
          <a:xfrm>
            <a:off x="-1922823" y="2265557"/>
            <a:ext cx="1646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去掉品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菜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r>
              <a:rPr lang="zh-CN" altLang="en-US" dirty="0">
                <a:solidFill>
                  <a:srgbClr val="C00000"/>
                </a:solidFill>
              </a:rPr>
              <a:t>店 都明确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19" name="加号 18">
            <a:extLst>
              <a:ext uri="{FF2B5EF4-FFF2-40B4-BE49-F238E27FC236}">
                <a16:creationId xmlns:a16="http://schemas.microsoft.com/office/drawing/2014/main" id="{5C35724E-B445-F530-0F65-9E2A52502A62}"/>
              </a:ext>
            </a:extLst>
          </p:cNvPr>
          <p:cNvSpPr/>
          <p:nvPr/>
        </p:nvSpPr>
        <p:spPr>
          <a:xfrm>
            <a:off x="7829583" y="2571749"/>
            <a:ext cx="434898" cy="434898"/>
          </a:xfrm>
          <a:prstGeom prst="mathPlus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3F13DF92-278C-0885-FF12-807C036E2F01}"/>
              </a:ext>
            </a:extLst>
          </p:cNvPr>
          <p:cNvSpPr txBox="1"/>
          <p:nvPr/>
        </p:nvSpPr>
        <p:spPr>
          <a:xfrm>
            <a:off x="2773412" y="2660847"/>
            <a:ext cx="3661044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1000" dirty="0">
                <a:solidFill>
                  <a:srgbClr val="FF0000"/>
                </a:solidFill>
                <a:latin typeface="+mj-ea"/>
                <a:ea typeface="+mj-ea"/>
              </a:rPr>
              <a:t>这块我建议把每个部分对应的榜单明确出来</a:t>
            </a:r>
            <a:endParaRPr lang="en-US" altLang="zh-CN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8006F43-3FD1-DC48-FC53-0B5A64019066}"/>
              </a:ext>
            </a:extLst>
          </p:cNvPr>
          <p:cNvSpPr txBox="1"/>
          <p:nvPr/>
        </p:nvSpPr>
        <p:spPr>
          <a:xfrm>
            <a:off x="-352304" y="2532209"/>
            <a:ext cx="1232254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1000" dirty="0">
                <a:solidFill>
                  <a:srgbClr val="FF0000"/>
                </a:solidFill>
                <a:latin typeface="+mj-ea"/>
                <a:ea typeface="+mj-ea"/>
              </a:rPr>
              <a:t>另一个方向也需要</a:t>
            </a:r>
            <a:endParaRPr lang="en-US" altLang="zh-CN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C2E1F943-2A69-55A6-0C02-7A7C3A86B4AA}"/>
              </a:ext>
            </a:extLst>
          </p:cNvPr>
          <p:cNvSpPr txBox="1"/>
          <p:nvPr/>
        </p:nvSpPr>
        <p:spPr>
          <a:xfrm>
            <a:off x="2155279" y="4954008"/>
            <a:ext cx="5964588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1000" dirty="0">
                <a:solidFill>
                  <a:srgbClr val="FF0000"/>
                </a:solidFill>
                <a:latin typeface="+mj-ea"/>
                <a:ea typeface="+mj-ea"/>
              </a:rPr>
              <a:t>如果结论是菜榜，而不是论证每个部分做什么榜，这部分应该放在菜品榜前</a:t>
            </a:r>
            <a:endParaRPr lang="en-US" altLang="zh-CN" sz="1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8531577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08D1-27B8-2B86-41CB-98BAA3B8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>
            <a:extLst>
              <a:ext uri="{FF2B5EF4-FFF2-40B4-BE49-F238E27FC236}">
                <a16:creationId xmlns:a16="http://schemas.microsoft.com/office/drawing/2014/main" id="{40859833-6F78-41F7-A0E6-6421F6A1F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054" y="988562"/>
            <a:ext cx="1173438" cy="2543942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EFC0BC5-414A-1B0A-6D3E-BB051A3DC4E3}"/>
              </a:ext>
            </a:extLst>
          </p:cNvPr>
          <p:cNvSpPr/>
          <p:nvPr/>
        </p:nvSpPr>
        <p:spPr>
          <a:xfrm>
            <a:off x="0" y="4756921"/>
            <a:ext cx="9144000" cy="392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Rounded Rectangle 13">
            <a:extLst>
              <a:ext uri="{FF2B5EF4-FFF2-40B4-BE49-F238E27FC236}">
                <a16:creationId xmlns:a16="http://schemas.microsoft.com/office/drawing/2014/main" id="{60F88F90-C308-1032-7372-7A968B6A9C5B}"/>
              </a:ext>
            </a:extLst>
          </p:cNvPr>
          <p:cNvSpPr/>
          <p:nvPr/>
        </p:nvSpPr>
        <p:spPr>
          <a:xfrm>
            <a:off x="3374135" y="707732"/>
            <a:ext cx="2821807" cy="4382563"/>
          </a:xfrm>
          <a:prstGeom prst="roundRect">
            <a:avLst>
              <a:gd name="adj" fmla="val 5224"/>
            </a:avLst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3">
            <a:extLst>
              <a:ext uri="{FF2B5EF4-FFF2-40B4-BE49-F238E27FC236}">
                <a16:creationId xmlns:a16="http://schemas.microsoft.com/office/drawing/2014/main" id="{38ABDFD8-DBD3-2DBE-FB1E-CA8A62A7A6C0}"/>
              </a:ext>
            </a:extLst>
          </p:cNvPr>
          <p:cNvSpPr/>
          <p:nvPr/>
        </p:nvSpPr>
        <p:spPr>
          <a:xfrm>
            <a:off x="429360" y="707732"/>
            <a:ext cx="2789873" cy="4382563"/>
          </a:xfrm>
          <a:prstGeom prst="roundRect">
            <a:avLst>
              <a:gd name="adj" fmla="val 4621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米菲PPT9">
            <a:extLst>
              <a:ext uri="{FF2B5EF4-FFF2-40B4-BE49-F238E27FC236}">
                <a16:creationId xmlns:a16="http://schemas.microsoft.com/office/drawing/2014/main" id="{86B61BE0-A4D0-A227-AA27-16296FF098BA}"/>
              </a:ext>
            </a:extLst>
          </p:cNvPr>
          <p:cNvSpPr/>
          <p:nvPr/>
        </p:nvSpPr>
        <p:spPr>
          <a:xfrm>
            <a:off x="435942" y="442026"/>
            <a:ext cx="2880000" cy="239395"/>
          </a:xfrm>
          <a:prstGeom prst="homePlate">
            <a:avLst>
              <a:gd name="adj" fmla="val 3628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起心动念</a:t>
            </a:r>
          </a:p>
        </p:txBody>
      </p:sp>
      <p:sp>
        <p:nvSpPr>
          <p:cNvPr id="13" name="米菲PPT10">
            <a:extLst>
              <a:ext uri="{FF2B5EF4-FFF2-40B4-BE49-F238E27FC236}">
                <a16:creationId xmlns:a16="http://schemas.microsoft.com/office/drawing/2014/main" id="{1AD29903-EEB4-B822-8B10-B3758B43405C}"/>
              </a:ext>
            </a:extLst>
          </p:cNvPr>
          <p:cNvSpPr/>
          <p:nvPr/>
        </p:nvSpPr>
        <p:spPr>
          <a:xfrm>
            <a:off x="3315942" y="442026"/>
            <a:ext cx="2880000" cy="239395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考虑决策</a:t>
            </a:r>
          </a:p>
        </p:txBody>
      </p:sp>
      <p:sp>
        <p:nvSpPr>
          <p:cNvPr id="7" name="米菲PPT11">
            <a:extLst>
              <a:ext uri="{FF2B5EF4-FFF2-40B4-BE49-F238E27FC236}">
                <a16:creationId xmlns:a16="http://schemas.microsoft.com/office/drawing/2014/main" id="{F3EDFC62-B747-1B8E-2FCF-945655D11A03}"/>
              </a:ext>
            </a:extLst>
          </p:cNvPr>
          <p:cNvSpPr/>
          <p:nvPr/>
        </p:nvSpPr>
        <p:spPr>
          <a:xfrm>
            <a:off x="6195942" y="442026"/>
            <a:ext cx="2880000" cy="239395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评估选择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E8DDAAE-67F4-CF29-CF10-9AAD9B78B4D8}"/>
              </a:ext>
            </a:extLst>
          </p:cNvPr>
          <p:cNvSpPr txBox="1"/>
          <p:nvPr/>
        </p:nvSpPr>
        <p:spPr>
          <a:xfrm>
            <a:off x="3365407" y="5292048"/>
            <a:ext cx="2767655" cy="206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b="1" dirty="0"/>
              <a:t>必吃榜金刚 </a:t>
            </a:r>
            <a:r>
              <a:rPr lang="zh-CN" altLang="en-US" sz="900" b="1" dirty="0">
                <a:latin typeface="+mn-ea"/>
              </a:rPr>
              <a:t>曝光</a:t>
            </a:r>
            <a:r>
              <a:rPr lang="en-US" altLang="zh-CN" sz="900" b="1" dirty="0">
                <a:latin typeface="+mn-ea"/>
              </a:rPr>
              <a:t>UV189</a:t>
            </a:r>
            <a:r>
              <a:rPr lang="zh-CN" altLang="en-US" sz="900" b="1" dirty="0">
                <a:latin typeface="+mn-ea"/>
              </a:rPr>
              <a:t>万</a:t>
            </a:r>
            <a:endParaRPr lang="en-US" altLang="zh-CN" sz="9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latin typeface="+mn-ea"/>
              </a:rPr>
              <a:t>橱窗</a:t>
            </a:r>
            <a:r>
              <a:rPr lang="zh-CN" altLang="en-US" sz="900" b="1" dirty="0">
                <a:latin typeface="+mn-ea"/>
                <a:sym typeface="+mj-lt"/>
              </a:rPr>
              <a:t>曝光</a:t>
            </a:r>
            <a:r>
              <a:rPr lang="en-US" altLang="zh-CN" sz="900" b="1" dirty="0">
                <a:latin typeface="+mn-ea"/>
                <a:sym typeface="+mj-lt"/>
              </a:rPr>
              <a:t>UV148</a:t>
            </a:r>
            <a:r>
              <a:rPr lang="zh-CN" altLang="en-US" sz="900" b="1" dirty="0">
                <a:latin typeface="+mn-ea"/>
                <a:sym typeface="+mj-lt"/>
              </a:rPr>
              <a:t>万</a:t>
            </a:r>
            <a:endParaRPr lang="en-US" altLang="zh-CN" sz="900" b="1" dirty="0">
              <a:latin typeface="+mn-ea"/>
              <a:sym typeface="+mj-lt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latin typeface="+mn-ea"/>
                <a:sym typeface="+mj-lt"/>
              </a:rPr>
              <a:t>发现日均曝光</a:t>
            </a:r>
            <a:r>
              <a:rPr lang="en-US" altLang="zh-CN" sz="900" b="1" dirty="0">
                <a:latin typeface="+mn-ea"/>
                <a:sym typeface="+mj-lt"/>
              </a:rPr>
              <a:t>2.5w</a:t>
            </a:r>
            <a:r>
              <a:rPr lang="zh-CN" altLang="en-US" sz="900" b="1" dirty="0">
                <a:latin typeface="+mn-ea"/>
                <a:sym typeface="+mj-lt"/>
              </a:rPr>
              <a:t>，点击率</a:t>
            </a:r>
            <a:r>
              <a:rPr lang="en-US" altLang="zh-CN" sz="900" b="1" dirty="0">
                <a:latin typeface="+mn-ea"/>
                <a:sym typeface="+mj-lt"/>
              </a:rPr>
              <a:t>0.3%</a:t>
            </a:r>
            <a:endParaRPr lang="en-US" altLang="zh-CN" sz="900" b="1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900" dirty="0"/>
          </a:p>
          <a:p>
            <a:pPr>
              <a:lnSpc>
                <a:spcPct val="120000"/>
              </a:lnSpc>
            </a:pPr>
            <a:endParaRPr lang="en-US" altLang="zh-CN" sz="900" dirty="0"/>
          </a:p>
          <a:p>
            <a:pPr>
              <a:lnSpc>
                <a:spcPct val="120000"/>
              </a:lnSpc>
            </a:pPr>
            <a:r>
              <a:rPr lang="zh-CN" altLang="en-US" sz="900" dirty="0"/>
              <a:t>异地首页强化榜单心智</a:t>
            </a:r>
            <a:r>
              <a:rPr lang="zh-CN" altLang="en-US" sz="900" dirty="0">
                <a:latin typeface="+mn-ea"/>
              </a:rPr>
              <a:t>，①榜单金刚位前置，春节期间曝光</a:t>
            </a:r>
            <a:r>
              <a:rPr lang="en-US" altLang="zh-CN" sz="900" dirty="0">
                <a:latin typeface="+mn-ea"/>
              </a:rPr>
              <a:t>UV189</a:t>
            </a:r>
            <a:r>
              <a:rPr lang="zh-CN" altLang="en-US" sz="900" dirty="0">
                <a:latin typeface="+mn-ea"/>
              </a:rPr>
              <a:t>万，</a:t>
            </a:r>
            <a:r>
              <a:rPr lang="en-US" altLang="zh-CN" sz="900" dirty="0">
                <a:latin typeface="+mn-ea"/>
              </a:rPr>
              <a:t>CTR4.5%</a:t>
            </a:r>
            <a:r>
              <a:rPr lang="zh-CN" altLang="en-US" sz="900" dirty="0">
                <a:latin typeface="+mn-ea"/>
              </a:rPr>
              <a:t>，带来榜单</a:t>
            </a:r>
            <a:r>
              <a:rPr lang="en-US" altLang="zh-CN" sz="900" dirty="0">
                <a:latin typeface="+mn-ea"/>
              </a:rPr>
              <a:t>DAU8.9</a:t>
            </a:r>
            <a:r>
              <a:rPr lang="zh-CN" altLang="en-US" sz="900" dirty="0">
                <a:latin typeface="+mn-ea"/>
              </a:rPr>
              <a:t>万，意向率</a:t>
            </a:r>
            <a:r>
              <a:rPr lang="en-US" altLang="zh-CN" sz="900" dirty="0">
                <a:latin typeface="+mn-ea"/>
              </a:rPr>
              <a:t>46.3%</a:t>
            </a:r>
            <a:r>
              <a:rPr lang="zh-CN" altLang="en-US" sz="900" dirty="0">
                <a:latin typeface="+mn-ea"/>
              </a:rPr>
              <a:t>，访购率</a:t>
            </a:r>
            <a:r>
              <a:rPr lang="en-US" altLang="zh-CN" sz="900" dirty="0">
                <a:latin typeface="+mn-ea"/>
              </a:rPr>
              <a:t>1.65% </a:t>
            </a:r>
            <a:r>
              <a:rPr lang="zh-CN" altLang="en-US" sz="900" dirty="0">
                <a:latin typeface="+mn-ea"/>
              </a:rPr>
              <a:t>；②</a:t>
            </a:r>
            <a:r>
              <a:rPr lang="zh-CN" altLang="en-US" sz="900" dirty="0">
                <a:latin typeface="+mn-ea"/>
                <a:sym typeface="+mj-lt"/>
              </a:rPr>
              <a:t>橱窗主推当地特色榜单，春节期间日均曝光</a:t>
            </a:r>
            <a:r>
              <a:rPr lang="en-US" altLang="zh-CN" sz="900" dirty="0">
                <a:latin typeface="+mn-ea"/>
                <a:sym typeface="+mj-lt"/>
              </a:rPr>
              <a:t>UV148</a:t>
            </a:r>
            <a:r>
              <a:rPr lang="zh-CN" altLang="en-US" sz="900" dirty="0">
                <a:latin typeface="+mn-ea"/>
                <a:sym typeface="+mj-lt"/>
              </a:rPr>
              <a:t>万，点击率</a:t>
            </a:r>
            <a:r>
              <a:rPr lang="en-US" altLang="zh-CN" sz="900" dirty="0">
                <a:latin typeface="+mn-ea"/>
                <a:sym typeface="+mj-lt"/>
              </a:rPr>
              <a:t>3.2%</a:t>
            </a:r>
            <a:r>
              <a:rPr lang="zh-CN" altLang="en-US" sz="900" dirty="0">
                <a:latin typeface="+mn-ea"/>
                <a:sym typeface="+mj-lt"/>
              </a:rPr>
              <a:t>，带来</a:t>
            </a:r>
            <a:r>
              <a:rPr lang="zh-CN" altLang="en-US" sz="900" dirty="0">
                <a:latin typeface="+mn-ea"/>
              </a:rPr>
              <a:t>榜单</a:t>
            </a:r>
            <a:r>
              <a:rPr lang="en-US" altLang="zh-CN" sz="900" dirty="0">
                <a:latin typeface="+mn-ea"/>
              </a:rPr>
              <a:t>DAU4.8</a:t>
            </a:r>
            <a:r>
              <a:rPr lang="zh-CN" altLang="en-US" sz="900" dirty="0">
                <a:latin typeface="+mn-ea"/>
              </a:rPr>
              <a:t>万，</a:t>
            </a:r>
            <a:r>
              <a:rPr lang="zh-CN" altLang="en-US" sz="900" dirty="0">
                <a:latin typeface="+mn-ea"/>
                <a:sym typeface="+mj-lt"/>
              </a:rPr>
              <a:t>意向率</a:t>
            </a:r>
            <a:r>
              <a:rPr lang="en-US" altLang="zh-CN" sz="900" dirty="0">
                <a:latin typeface="+mn-ea"/>
                <a:sym typeface="+mj-lt"/>
              </a:rPr>
              <a:t>45.6%</a:t>
            </a:r>
            <a:r>
              <a:rPr lang="zh-CN" altLang="en-US" sz="900" dirty="0">
                <a:latin typeface="+mn-ea"/>
                <a:sym typeface="+mj-lt"/>
              </a:rPr>
              <a:t>，访购率</a:t>
            </a:r>
            <a:r>
              <a:rPr lang="en-US" altLang="zh-CN" sz="900" dirty="0">
                <a:latin typeface="+mn-ea"/>
                <a:sym typeface="+mj-lt"/>
              </a:rPr>
              <a:t>1.7%</a:t>
            </a:r>
            <a:r>
              <a:rPr lang="zh-CN" altLang="en-US" sz="900" dirty="0">
                <a:latin typeface="+mn-ea"/>
                <a:sym typeface="+mj-lt"/>
              </a:rPr>
              <a:t>。</a:t>
            </a:r>
            <a:endParaRPr lang="en-US" altLang="zh-CN" sz="900" dirty="0">
              <a:latin typeface="+mn-ea"/>
              <a:sym typeface="+mj-lt"/>
            </a:endParaRPr>
          </a:p>
          <a:p>
            <a:pPr>
              <a:lnSpc>
                <a:spcPct val="120000"/>
              </a:lnSpc>
            </a:pPr>
            <a:r>
              <a:rPr lang="zh-CN" altLang="en-US" sz="900" dirty="0">
                <a:latin typeface="+mn-ea"/>
                <a:sym typeface="+mj-lt"/>
              </a:rPr>
              <a:t>搜索目的地页：“必吃榜”“当地人推荐”快筛帮助决策，“上海”搜索</a:t>
            </a:r>
            <a:r>
              <a:rPr lang="en-US" altLang="zh-CN" sz="900" dirty="0">
                <a:latin typeface="+mn-ea"/>
                <a:sym typeface="+mj-lt"/>
              </a:rPr>
              <a:t>1200+</a:t>
            </a:r>
          </a:p>
        </p:txBody>
      </p:sp>
      <p:sp>
        <p:nvSpPr>
          <p:cNvPr id="100" name="TextBox 17">
            <a:extLst>
              <a:ext uri="{FF2B5EF4-FFF2-40B4-BE49-F238E27FC236}">
                <a16:creationId xmlns:a16="http://schemas.microsoft.com/office/drawing/2014/main" id="{456C1263-E971-17B6-81B2-F2B64FE52100}"/>
              </a:ext>
            </a:extLst>
          </p:cNvPr>
          <p:cNvSpPr txBox="1"/>
          <p:nvPr/>
        </p:nvSpPr>
        <p:spPr>
          <a:xfrm>
            <a:off x="2007386" y="727014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美团首页</a:t>
            </a:r>
            <a:endParaRPr lang="en-US" altLang="zh-CN" sz="1000" b="1" dirty="0"/>
          </a:p>
        </p:txBody>
      </p:sp>
      <p:sp>
        <p:nvSpPr>
          <p:cNvPr id="102" name="TextBox 17">
            <a:extLst>
              <a:ext uri="{FF2B5EF4-FFF2-40B4-BE49-F238E27FC236}">
                <a16:creationId xmlns:a16="http://schemas.microsoft.com/office/drawing/2014/main" id="{82988444-EE74-7437-0165-FA2794097D49}"/>
              </a:ext>
            </a:extLst>
          </p:cNvPr>
          <p:cNvSpPr txBox="1"/>
          <p:nvPr/>
        </p:nvSpPr>
        <p:spPr>
          <a:xfrm>
            <a:off x="3611065" y="716763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美食频道</a:t>
            </a:r>
            <a:endParaRPr lang="en-US" altLang="zh-CN" sz="1000" b="1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47A5F8E-7DA2-8756-E1BC-91C3A8B7F530}"/>
              </a:ext>
            </a:extLst>
          </p:cNvPr>
          <p:cNvSpPr txBox="1"/>
          <p:nvPr/>
        </p:nvSpPr>
        <p:spPr>
          <a:xfrm>
            <a:off x="1824296" y="3614449"/>
            <a:ext cx="1470801" cy="15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/>
              <a:t>①</a:t>
            </a:r>
            <a:r>
              <a:rPr lang="zh-CN" altLang="en-US" sz="800" dirty="0"/>
              <a:t>“跟榜吃” 强化榜单心智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r>
              <a:rPr lang="en-US" altLang="zh-CN" sz="800" dirty="0"/>
              <a:t>②</a:t>
            </a:r>
            <a:r>
              <a:rPr lang="zh-CN" altLang="en-US" sz="800" dirty="0"/>
              <a:t>结合用户偏好，叠加上榜标签，满足发现探索需求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金刚</a:t>
            </a:r>
            <a:r>
              <a:rPr lang="en-US" altLang="zh-CN" sz="800" dirty="0">
                <a:latin typeface="+mn-ea"/>
              </a:rPr>
              <a:t>CTR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4.8%</a:t>
            </a: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通投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+0.9pp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）</a:t>
            </a:r>
            <a:endParaRPr lang="en-US" altLang="zh-CN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榜单标签</a:t>
            </a:r>
            <a:r>
              <a:rPr lang="en-US" altLang="zh-CN" sz="800" dirty="0">
                <a:latin typeface="+mn-ea"/>
              </a:rPr>
              <a:t>CTCVR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3.2%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当地人推荐不是说没上？跟榜吃还有么？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2" name="Rounded Rectangle 13">
            <a:extLst>
              <a:ext uri="{FF2B5EF4-FFF2-40B4-BE49-F238E27FC236}">
                <a16:creationId xmlns:a16="http://schemas.microsoft.com/office/drawing/2014/main" id="{0A29A48A-72AF-19F8-6C08-19CE34F22010}"/>
              </a:ext>
            </a:extLst>
          </p:cNvPr>
          <p:cNvSpPr/>
          <p:nvPr/>
        </p:nvSpPr>
        <p:spPr>
          <a:xfrm>
            <a:off x="6350844" y="720696"/>
            <a:ext cx="2652697" cy="4334335"/>
          </a:xfrm>
          <a:prstGeom prst="roundRect">
            <a:avLst>
              <a:gd name="adj" fmla="val 5103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CF46D73C-D9DD-25C5-753E-428ACF80E527}"/>
              </a:ext>
            </a:extLst>
          </p:cNvPr>
          <p:cNvGrpSpPr>
            <a:grpSpLocks noChangeAspect="1"/>
          </p:cNvGrpSpPr>
          <p:nvPr/>
        </p:nvGrpSpPr>
        <p:grpSpPr>
          <a:xfrm>
            <a:off x="7746216" y="966133"/>
            <a:ext cx="1162389" cy="2520000"/>
            <a:chOff x="7170438" y="1105086"/>
            <a:chExt cx="1162389" cy="2520000"/>
          </a:xfrm>
        </p:grpSpPr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93CE1FEF-C426-2E35-FF17-8580926A0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70438" y="1105086"/>
              <a:ext cx="1162388" cy="2520000"/>
            </a:xfrm>
            <a:prstGeom prst="rect">
              <a:avLst/>
            </a:prstGeom>
          </p:spPr>
        </p:pic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B18E1B32-CC08-304D-A5DD-33C267B253EE}"/>
                </a:ext>
              </a:extLst>
            </p:cNvPr>
            <p:cNvSpPr/>
            <p:nvPr/>
          </p:nvSpPr>
          <p:spPr>
            <a:xfrm>
              <a:off x="7170439" y="2136696"/>
              <a:ext cx="1162388" cy="1772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4" name="TextBox 17">
            <a:extLst>
              <a:ext uri="{FF2B5EF4-FFF2-40B4-BE49-F238E27FC236}">
                <a16:creationId xmlns:a16="http://schemas.microsoft.com/office/drawing/2014/main" id="{90A896B6-285C-8758-97BB-CB3FF08FE777}"/>
              </a:ext>
            </a:extLst>
          </p:cNvPr>
          <p:cNvSpPr txBox="1"/>
          <p:nvPr/>
        </p:nvSpPr>
        <p:spPr>
          <a:xfrm>
            <a:off x="7510820" y="721128"/>
            <a:ext cx="1633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+mn-ea"/>
                <a:ea typeface="+mn-ea"/>
              </a:rPr>
              <a:t>POI</a:t>
            </a:r>
            <a:r>
              <a:rPr lang="zh-CN" altLang="en-US" sz="1000" dirty="0">
                <a:solidFill>
                  <a:schemeClr val="tx1"/>
                </a:solidFill>
                <a:latin typeface="+mn-ea"/>
                <a:ea typeface="+mn-ea"/>
              </a:rPr>
              <a:t>页</a:t>
            </a:r>
            <a:endParaRPr lang="en-US" altLang="zh-CN"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4E624DD-8EFE-8886-D3DF-D708C5DCA5EC}"/>
              </a:ext>
            </a:extLst>
          </p:cNvPr>
          <p:cNvSpPr txBox="1"/>
          <p:nvPr/>
        </p:nvSpPr>
        <p:spPr>
          <a:xfrm>
            <a:off x="7783398" y="5292048"/>
            <a:ext cx="1933258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latin typeface="+mn-ea"/>
              </a:rPr>
              <a:t>亮点标签加强背书，五一期间整体榜单标签日均</a:t>
            </a:r>
            <a:r>
              <a:rPr lang="zh-CN" altLang="en-US" sz="900" b="1" dirty="0">
                <a:latin typeface="+mn-ea"/>
              </a:rPr>
              <a:t>曝光</a:t>
            </a:r>
            <a:r>
              <a:rPr lang="en-US" altLang="zh-CN" sz="900" b="1" dirty="0">
                <a:latin typeface="+mn-ea"/>
              </a:rPr>
              <a:t>UV 2201</a:t>
            </a:r>
            <a:r>
              <a:rPr lang="zh-CN" altLang="en-US" sz="900" b="1" dirty="0">
                <a:latin typeface="+mn-ea"/>
              </a:rPr>
              <a:t>万</a:t>
            </a:r>
            <a:r>
              <a:rPr lang="zh-CN" altLang="en-US" sz="900" dirty="0">
                <a:latin typeface="+mn-ea"/>
              </a:rPr>
              <a:t>，</a:t>
            </a:r>
            <a:r>
              <a:rPr lang="en-US" altLang="zh-CN" sz="900" dirty="0">
                <a:latin typeface="+mn-ea"/>
              </a:rPr>
              <a:t>CTR1.8%</a:t>
            </a:r>
            <a:r>
              <a:rPr lang="zh-CN" altLang="en-US" sz="900" dirty="0">
                <a:latin typeface="+mn-ea"/>
              </a:rPr>
              <a:t>，带来榜单</a:t>
            </a:r>
            <a:r>
              <a:rPr lang="en-US" altLang="zh-CN" sz="900" dirty="0">
                <a:latin typeface="+mn-ea"/>
              </a:rPr>
              <a:t>DAU40.3</a:t>
            </a:r>
            <a:r>
              <a:rPr lang="zh-CN" altLang="en-US" sz="900" dirty="0">
                <a:latin typeface="+mn-ea"/>
              </a:rPr>
              <a:t>万，意向率</a:t>
            </a:r>
            <a:r>
              <a:rPr lang="en-US" altLang="zh-CN" sz="900" dirty="0">
                <a:latin typeface="+mn-ea"/>
              </a:rPr>
              <a:t>36.7%</a:t>
            </a:r>
            <a:r>
              <a:rPr lang="zh-CN" altLang="en-US" sz="900" dirty="0">
                <a:latin typeface="+mn-ea"/>
              </a:rPr>
              <a:t>，访购率</a:t>
            </a:r>
            <a:r>
              <a:rPr lang="en-US" altLang="zh-CN" sz="900" dirty="0">
                <a:latin typeface="+mn-ea"/>
              </a:rPr>
              <a:t>0.68%</a:t>
            </a: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0370A437-D85E-D175-9BC9-65D88C617A45}"/>
              </a:ext>
            </a:extLst>
          </p:cNvPr>
          <p:cNvSpPr txBox="1"/>
          <p:nvPr/>
        </p:nvSpPr>
        <p:spPr>
          <a:xfrm>
            <a:off x="4619209" y="714074"/>
            <a:ext cx="1740211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大搜目的页</a:t>
            </a:r>
            <a:endParaRPr lang="en-US" altLang="zh-CN" sz="10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05B0193-0135-3B51-CFF4-E976117D6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245" y="981698"/>
            <a:ext cx="1162394" cy="252000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5DC07C31-67F9-0914-8373-927AD6E66E92}"/>
              </a:ext>
            </a:extLst>
          </p:cNvPr>
          <p:cNvSpPr/>
          <p:nvPr/>
        </p:nvSpPr>
        <p:spPr>
          <a:xfrm>
            <a:off x="5413734" y="2001554"/>
            <a:ext cx="418302" cy="127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017FB67-E26C-179F-CBB3-A110DEE9558C}"/>
              </a:ext>
            </a:extLst>
          </p:cNvPr>
          <p:cNvSpPr txBox="1">
            <a:spLocks/>
          </p:cNvSpPr>
          <p:nvPr/>
        </p:nvSpPr>
        <p:spPr>
          <a:xfrm>
            <a:off x="251999" y="32009"/>
            <a:ext cx="8751541" cy="427313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solidFill>
                  <a:srgbClr val="FF0000"/>
                </a:solidFill>
                <a:latin typeface="+mn-ea"/>
                <a:ea typeface="+mn-ea"/>
              </a:rPr>
              <a:t>异地旅游用户动线（起心动念是不是放个下沉的那个，找个稳定城市，这个会上薅资源）</a:t>
            </a:r>
            <a:endParaRPr lang="en-US" altLang="zh-CN" sz="21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sz="2100" dirty="0">
                <a:solidFill>
                  <a:srgbClr val="FF0000"/>
                </a:solidFill>
                <a:latin typeface="+mn-ea"/>
                <a:ea typeface="+mn-ea"/>
              </a:rPr>
              <a:t>我建议有一个整体效果，这一页其实强调的是基于不同时空做差异化动线，效果好。所。以是不是在异地用户的</a:t>
            </a:r>
            <a:r>
              <a:rPr lang="en-US" altLang="zh-CN" sz="2100" dirty="0">
                <a:solidFill>
                  <a:srgbClr val="FF0000"/>
                </a:solidFill>
                <a:latin typeface="+mn-ea"/>
                <a:ea typeface="+mn-ea"/>
              </a:rPr>
              <a:t>xx</a:t>
            </a:r>
            <a:r>
              <a:rPr lang="zh-CN" altLang="en-US" sz="2100" dirty="0">
                <a:solidFill>
                  <a:srgbClr val="FF0000"/>
                </a:solidFill>
                <a:latin typeface="+mn-ea"/>
                <a:ea typeface="+mn-ea"/>
              </a:rPr>
              <a:t>显著高于平均，这种整体来一个放在最上面。这页和下一页看哪个先讲逻辑顺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045607EB-B9D3-A252-30AC-DDB266CE5DFB}"/>
              </a:ext>
            </a:extLst>
          </p:cNvPr>
          <p:cNvSpPr txBox="1"/>
          <p:nvPr/>
        </p:nvSpPr>
        <p:spPr>
          <a:xfrm>
            <a:off x="6252793" y="714074"/>
            <a:ext cx="1633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当地人推荐</a:t>
            </a:r>
            <a:endParaRPr lang="en-US" altLang="zh-CN"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A2B0932-7282-61AE-CB7A-F820103F8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918" y="993196"/>
            <a:ext cx="1163793" cy="2520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4AB650B-E86D-30E3-3197-844EE2776F74}"/>
              </a:ext>
            </a:extLst>
          </p:cNvPr>
          <p:cNvSpPr/>
          <p:nvPr/>
        </p:nvSpPr>
        <p:spPr>
          <a:xfrm>
            <a:off x="2225713" y="1585179"/>
            <a:ext cx="250249" cy="2000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E489E7-6B32-43F3-FD4B-EE65359F757C}"/>
              </a:ext>
            </a:extLst>
          </p:cNvPr>
          <p:cNvSpPr/>
          <p:nvPr/>
        </p:nvSpPr>
        <p:spPr>
          <a:xfrm>
            <a:off x="1981282" y="2673146"/>
            <a:ext cx="562835" cy="104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8299260C-ADAA-6CE4-C6EB-1F38422AF921}"/>
              </a:ext>
            </a:extLst>
          </p:cNvPr>
          <p:cNvSpPr txBox="1"/>
          <p:nvPr/>
        </p:nvSpPr>
        <p:spPr>
          <a:xfrm>
            <a:off x="651439" y="701892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dirty="0"/>
              <a:t>直播</a:t>
            </a:r>
            <a:r>
              <a:rPr lang="en-US" altLang="zh-CN" sz="1000" dirty="0"/>
              <a:t>&amp;Push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F9D50C7-04ED-590C-2167-ECF9355F645C}"/>
              </a:ext>
            </a:extLst>
          </p:cNvPr>
          <p:cNvSpPr txBox="1"/>
          <p:nvPr/>
        </p:nvSpPr>
        <p:spPr>
          <a:xfrm>
            <a:off x="-14287" y="3821999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策略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196D3D-D1AF-9512-9499-0D386526EC71}"/>
              </a:ext>
            </a:extLst>
          </p:cNvPr>
          <p:cNvSpPr txBox="1"/>
          <p:nvPr/>
        </p:nvSpPr>
        <p:spPr>
          <a:xfrm>
            <a:off x="-20870" y="4520920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效果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AF01CD-BE24-A484-FB66-8AEE172B9B00}"/>
              </a:ext>
            </a:extLst>
          </p:cNvPr>
          <p:cNvSpPr txBox="1"/>
          <p:nvPr/>
        </p:nvSpPr>
        <p:spPr>
          <a:xfrm>
            <a:off x="0" y="1889856"/>
            <a:ext cx="450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用户</a:t>
            </a:r>
            <a:endParaRPr lang="en-US" altLang="zh-CN" sz="1000" b="1" dirty="0"/>
          </a:p>
          <a:p>
            <a:r>
              <a:rPr lang="zh-CN" altLang="en-US" sz="1000" b="1" dirty="0"/>
              <a:t>动线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648588-AFA0-B47D-3EC6-497BF78C9D80}"/>
              </a:ext>
            </a:extLst>
          </p:cNvPr>
          <p:cNvSpPr txBox="1"/>
          <p:nvPr/>
        </p:nvSpPr>
        <p:spPr>
          <a:xfrm>
            <a:off x="2279156" y="1617727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7365019-7F7B-FA6F-101D-1EF0292A9872}"/>
              </a:ext>
            </a:extLst>
          </p:cNvPr>
          <p:cNvSpPr txBox="1"/>
          <p:nvPr/>
        </p:nvSpPr>
        <p:spPr>
          <a:xfrm>
            <a:off x="1777521" y="2617558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②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8129EF-A191-C23D-593E-CD43733F599C}"/>
              </a:ext>
            </a:extLst>
          </p:cNvPr>
          <p:cNvSpPr txBox="1"/>
          <p:nvPr/>
        </p:nvSpPr>
        <p:spPr>
          <a:xfrm>
            <a:off x="414714" y="3622925"/>
            <a:ext cx="1352731" cy="15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①定向推送当地特色榜单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城市直播提高榜单知名度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①</a:t>
            </a:r>
            <a:r>
              <a:rPr lang="en-US" altLang="zh-CN" sz="800" dirty="0">
                <a:latin typeface="+mn-ea"/>
              </a:rPr>
              <a:t>Push</a:t>
            </a:r>
            <a:r>
              <a:rPr lang="zh-CN" altLang="en-US" sz="800" dirty="0">
                <a:latin typeface="+mn-ea"/>
              </a:rPr>
              <a:t>日均曝光</a:t>
            </a:r>
            <a:r>
              <a:rPr lang="en-US" altLang="zh-CN" sz="800" dirty="0">
                <a:latin typeface="+mn-ea"/>
              </a:rPr>
              <a:t>UV2.8w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0.4%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（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vs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业务均值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+0.24pp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）</a:t>
            </a:r>
            <a:r>
              <a:rPr lang="zh-CN" altLang="en-US" sz="800" dirty="0">
                <a:latin typeface="+mn-ea"/>
              </a:rPr>
              <a:t>；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直播榜单</a:t>
            </a:r>
            <a:r>
              <a:rPr lang="en-US" altLang="zh-CN" sz="800" dirty="0">
                <a:latin typeface="+mn-ea"/>
              </a:rPr>
              <a:t>deal</a:t>
            </a:r>
            <a:r>
              <a:rPr lang="zh-CN" altLang="en-US" sz="800" dirty="0">
                <a:latin typeface="+mn-ea"/>
              </a:rPr>
              <a:t>单场曝光</a:t>
            </a:r>
            <a:r>
              <a:rPr lang="en-US" altLang="zh-CN" sz="800" dirty="0">
                <a:latin typeface="+mn-ea"/>
              </a:rPr>
              <a:t>UV6.7w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2.1%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159D7BD-60F2-A55D-F6D0-AF3CA45BCDD3}"/>
              </a:ext>
            </a:extLst>
          </p:cNvPr>
          <p:cNvSpPr txBox="1"/>
          <p:nvPr/>
        </p:nvSpPr>
        <p:spPr>
          <a:xfrm>
            <a:off x="3310963" y="3566037"/>
            <a:ext cx="1740211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 “必吃榜”强化榜单心智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异地橱窗，推荐当地美食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金刚</a:t>
            </a:r>
            <a:r>
              <a:rPr lang="en-US" altLang="zh-CN" sz="800" dirty="0">
                <a:latin typeface="+mn-ea"/>
              </a:rPr>
              <a:t>CTR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4.8%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本地榜单</a:t>
            </a:r>
            <a:r>
              <a:rPr lang="en-US" altLang="zh-CN" sz="800" dirty="0">
                <a:latin typeface="+mn-ea"/>
              </a:rPr>
              <a:t>+2.8pp</a:t>
            </a:r>
            <a:r>
              <a:rPr lang="zh-CN" altLang="en-US" sz="800" dirty="0">
                <a:latin typeface="+mn-ea"/>
              </a:rPr>
              <a:t>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当地人和特色菜点击率</a:t>
            </a:r>
            <a:r>
              <a:rPr lang="en-US" altLang="zh-CN" sz="800" dirty="0">
                <a:latin typeface="+mn-ea"/>
                <a:sym typeface="+mj-lt"/>
              </a:rPr>
              <a:t>3.2%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8B88BB-F192-03FE-F484-77F94C07A37D}"/>
              </a:ext>
            </a:extLst>
          </p:cNvPr>
          <p:cNvSpPr txBox="1"/>
          <p:nvPr/>
        </p:nvSpPr>
        <p:spPr>
          <a:xfrm>
            <a:off x="3637220" y="1446384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70E141-46DD-6C22-3C07-A9B70A842EC4}"/>
              </a:ext>
            </a:extLst>
          </p:cNvPr>
          <p:cNvSpPr txBox="1"/>
          <p:nvPr/>
        </p:nvSpPr>
        <p:spPr>
          <a:xfrm>
            <a:off x="3378394" y="1942376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②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FA29961-4D1B-7B64-5F59-5DB75233E459}"/>
              </a:ext>
            </a:extLst>
          </p:cNvPr>
          <p:cNvSpPr txBox="1"/>
          <p:nvPr/>
        </p:nvSpPr>
        <p:spPr>
          <a:xfrm>
            <a:off x="4843909" y="3585741"/>
            <a:ext cx="1408884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大搜目的地页，增加“必吃榜”“当地人推荐”快筛。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“必吃榜”快筛日均曝光</a:t>
            </a:r>
            <a:r>
              <a:rPr lang="en-US" altLang="zh-CN" sz="800" dirty="0">
                <a:latin typeface="+mn-ea"/>
              </a:rPr>
              <a:t>UV2000+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2.0%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其他快筛</a:t>
            </a:r>
            <a:r>
              <a:rPr lang="en-US" altLang="zh-CN" sz="800" dirty="0">
                <a:latin typeface="+mn-ea"/>
              </a:rPr>
              <a:t>+1.0pp</a:t>
            </a:r>
            <a:r>
              <a:rPr lang="zh-CN" altLang="en-US" sz="800" dirty="0">
                <a:latin typeface="+mn-ea"/>
              </a:rPr>
              <a:t>）</a:t>
            </a:r>
            <a:endParaRPr lang="en-US" altLang="zh-CN" sz="8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7980CAF-E0E3-668E-9D19-2DC94B0C0131}"/>
              </a:ext>
            </a:extLst>
          </p:cNvPr>
          <p:cNvSpPr txBox="1"/>
          <p:nvPr/>
        </p:nvSpPr>
        <p:spPr>
          <a:xfrm>
            <a:off x="6300905" y="3547751"/>
            <a:ext cx="1350374" cy="141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榜单新增</a:t>
            </a:r>
            <a:r>
              <a:rPr lang="en-US" altLang="zh-CN" sz="800" dirty="0">
                <a:latin typeface="+mn-ea"/>
              </a:rPr>
              <a:t>8,000+</a:t>
            </a:r>
            <a:r>
              <a:rPr lang="zh-CN" altLang="en-US" sz="800" dirty="0">
                <a:latin typeface="+mn-ea"/>
              </a:rPr>
              <a:t>个</a:t>
            </a:r>
            <a:r>
              <a:rPr lang="en-US" altLang="zh-CN" sz="800" dirty="0"/>
              <a:t>AOI</a:t>
            </a:r>
            <a:r>
              <a:rPr lang="zh-CN" altLang="en-US" sz="800" dirty="0"/>
              <a:t>热门景点筛选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solidFill>
                <a:srgbClr val="000000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  <a:sym typeface="+mj-lt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solidFill>
                <a:srgbClr val="000000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  <a:sym typeface="+mj-lt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solidFill>
                <a:srgbClr val="000000"/>
              </a:solidFill>
              <a:latin typeface="Calibri" panose="020F0502020204030204" pitchFamily="34" charset="0"/>
              <a:ea typeface="楷体" panose="02010609060101010101" pitchFamily="49" charset="-122"/>
              <a:cs typeface="Calibri" panose="020F0502020204030204" pitchFamily="34" charset="0"/>
              <a:sym typeface="+mj-lt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节假日热门景点筛选项异地点击率达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8.6%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 （</a:t>
            </a:r>
            <a:r>
              <a:rPr lang="en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vs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本地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+4.2</a:t>
            </a:r>
            <a:r>
              <a:rPr lang="en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pp</a:t>
            </a:r>
            <a:r>
              <a:rPr lang="zh-CN" altLang="e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），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意向率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25.3%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 （</a:t>
            </a:r>
            <a:r>
              <a:rPr lang="en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vs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本地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+13.2</a:t>
            </a:r>
            <a:r>
              <a:rPr lang="en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pp</a:t>
            </a:r>
            <a:r>
              <a:rPr lang="zh-CN" altLang="e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）</a:t>
            </a:r>
            <a:endParaRPr lang="en" altLang="zh-CN" sz="8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A73651-40CD-8748-5851-709578BFB72F}"/>
              </a:ext>
            </a:extLst>
          </p:cNvPr>
          <p:cNvSpPr txBox="1"/>
          <p:nvPr/>
        </p:nvSpPr>
        <p:spPr>
          <a:xfrm>
            <a:off x="7698525" y="3566037"/>
            <a:ext cx="1257769" cy="1476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+mn-ea"/>
              </a:rPr>
              <a:t>POI</a:t>
            </a:r>
            <a:r>
              <a:rPr lang="zh-CN" altLang="en-US" sz="800" dirty="0">
                <a:latin typeface="+mn-ea"/>
              </a:rPr>
              <a:t>标签：</a:t>
            </a:r>
            <a:r>
              <a:rPr lang="zh-CN" altLang="en-US" sz="800" dirty="0"/>
              <a:t>黑珍珠必吃榜 </a:t>
            </a:r>
            <a:r>
              <a:rPr lang="en-US" altLang="zh-CN" sz="800" dirty="0"/>
              <a:t>&gt; </a:t>
            </a:r>
            <a:r>
              <a:rPr lang="zh-CN" altLang="en-US" sz="800" b="1" dirty="0"/>
              <a:t>异地榜</a:t>
            </a:r>
            <a:r>
              <a:rPr lang="zh-CN" altLang="en-US" sz="800" dirty="0"/>
              <a:t> </a:t>
            </a:r>
            <a:r>
              <a:rPr lang="en-US" altLang="zh-CN" sz="800" dirty="0"/>
              <a:t>&gt; </a:t>
            </a:r>
            <a:r>
              <a:rPr lang="zh-CN" altLang="en-US" sz="800" dirty="0"/>
              <a:t>普通榜 </a:t>
            </a:r>
            <a:r>
              <a:rPr lang="en-US" altLang="zh-CN" sz="800" dirty="0"/>
              <a:t>&gt; </a:t>
            </a:r>
            <a:r>
              <a:rPr lang="zh-CN" altLang="en-US" sz="800" dirty="0"/>
              <a:t>内容类亮点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五一当地人推荐标签日均曝光</a:t>
            </a:r>
            <a:r>
              <a:rPr lang="en-US" altLang="zh-CN" sz="800" dirty="0">
                <a:latin typeface="+mn-ea"/>
              </a:rPr>
              <a:t>133w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0.8%</a:t>
            </a:r>
            <a:r>
              <a:rPr lang="zh-CN" altLang="en-US" sz="800" dirty="0">
                <a:latin typeface="+mn-ea"/>
              </a:rPr>
              <a:t>；特色菜榜标签日均曝光</a:t>
            </a:r>
            <a:r>
              <a:rPr lang="en-US" altLang="zh-CN" sz="800" dirty="0">
                <a:latin typeface="+mn-ea"/>
              </a:rPr>
              <a:t>99.9w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1.6%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FA97266-F781-0FD1-0ED5-E1D8F88BC90A}"/>
              </a:ext>
            </a:extLst>
          </p:cNvPr>
          <p:cNvSpPr txBox="1"/>
          <p:nvPr/>
        </p:nvSpPr>
        <p:spPr>
          <a:xfrm>
            <a:off x="3693568" y="3225555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③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2E3A35-9402-F17A-353C-F73C055F68C7}"/>
              </a:ext>
            </a:extLst>
          </p:cNvPr>
          <p:cNvSpPr/>
          <p:nvPr/>
        </p:nvSpPr>
        <p:spPr>
          <a:xfrm>
            <a:off x="3896135" y="3309771"/>
            <a:ext cx="170950" cy="1446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EB9F1930-ADCE-0B6A-CEFC-AA5D5B0CE5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8885" y="959687"/>
            <a:ext cx="1162394" cy="25200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BBE6F1A-C93F-77A4-5138-6CFC68C78F0A}"/>
              </a:ext>
            </a:extLst>
          </p:cNvPr>
          <p:cNvSpPr txBox="1"/>
          <p:nvPr/>
        </p:nvSpPr>
        <p:spPr>
          <a:xfrm>
            <a:off x="6330128" y="6088739"/>
            <a:ext cx="21238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800" b="1" dirty="0">
                <a:effectLst/>
              </a:rPr>
              <a:t>点击方面：</a:t>
            </a:r>
            <a:endParaRPr lang="zh-CN" altLang="en-US" sz="800" dirty="0">
              <a:effectLst/>
            </a:endParaRPr>
          </a:p>
          <a:p>
            <a:pPr>
              <a:buNone/>
            </a:pPr>
            <a:r>
              <a:rPr lang="zh-CN" altLang="en-US" sz="800" dirty="0">
                <a:effectLst/>
              </a:rPr>
              <a:t>点击率：春节期间点击率总体日均</a:t>
            </a:r>
            <a:r>
              <a:rPr lang="en-US" altLang="zh-CN" sz="800" dirty="0">
                <a:effectLst/>
              </a:rPr>
              <a:t>6.5%</a:t>
            </a:r>
            <a:r>
              <a:rPr lang="zh-CN" altLang="en-US" sz="800" dirty="0">
                <a:effectLst/>
              </a:rPr>
              <a:t>，其中异地</a:t>
            </a:r>
            <a:r>
              <a:rPr lang="en-US" altLang="zh-CN" sz="800" dirty="0">
                <a:effectLst/>
              </a:rPr>
              <a:t>8.6%</a:t>
            </a:r>
            <a:r>
              <a:rPr lang="zh-CN" altLang="en-US" sz="800" dirty="0">
                <a:effectLst/>
              </a:rPr>
              <a:t>，本地</a:t>
            </a:r>
            <a:r>
              <a:rPr lang="en-US" altLang="zh-CN" sz="800" dirty="0">
                <a:effectLst/>
              </a:rPr>
              <a:t>4.4%</a:t>
            </a:r>
            <a:r>
              <a:rPr lang="zh-CN" altLang="en-US" sz="800" dirty="0">
                <a:effectLst/>
              </a:rPr>
              <a:t>，异地较本地高出</a:t>
            </a:r>
            <a:r>
              <a:rPr lang="en-US" altLang="zh-CN" sz="800" dirty="0">
                <a:effectLst/>
              </a:rPr>
              <a:t>4.2</a:t>
            </a:r>
            <a:r>
              <a:rPr lang="en" altLang="zh-CN" sz="800" dirty="0">
                <a:effectLst/>
              </a:rPr>
              <a:t>pp</a:t>
            </a:r>
            <a:r>
              <a:rPr lang="zh-CN" altLang="en" sz="800" dirty="0">
                <a:effectLst/>
              </a:rPr>
              <a:t>；</a:t>
            </a:r>
          </a:p>
          <a:p>
            <a:pPr>
              <a:buNone/>
            </a:pPr>
            <a:r>
              <a:rPr lang="zh-CN" altLang="en-US" sz="800" dirty="0">
                <a:effectLst/>
              </a:rPr>
              <a:t>绝对值：春节期间</a:t>
            </a:r>
            <a:r>
              <a:rPr lang="en" altLang="zh-CN" sz="800" dirty="0" err="1">
                <a:effectLst/>
              </a:rPr>
              <a:t>aoi</a:t>
            </a:r>
            <a:r>
              <a:rPr lang="zh-CN" altLang="en-US" sz="800" dirty="0">
                <a:effectLst/>
              </a:rPr>
              <a:t>点击总体日均</a:t>
            </a:r>
            <a:r>
              <a:rPr lang="en-US" altLang="zh-CN" sz="800" dirty="0">
                <a:effectLst/>
              </a:rPr>
              <a:t>1525</a:t>
            </a:r>
            <a:r>
              <a:rPr lang="zh-CN" altLang="en-US" sz="800" dirty="0">
                <a:effectLst/>
              </a:rPr>
              <a:t>，其中异地</a:t>
            </a:r>
            <a:r>
              <a:rPr lang="en-US" altLang="zh-CN" sz="800" dirty="0">
                <a:effectLst/>
              </a:rPr>
              <a:t>2323</a:t>
            </a:r>
            <a:r>
              <a:rPr lang="zh-CN" altLang="en-US" sz="800" dirty="0">
                <a:effectLst/>
              </a:rPr>
              <a:t>，本地</a:t>
            </a:r>
            <a:r>
              <a:rPr lang="en-US" altLang="zh-CN" sz="800" dirty="0">
                <a:effectLst/>
              </a:rPr>
              <a:t>753</a:t>
            </a:r>
          </a:p>
          <a:p>
            <a:pPr>
              <a:buNone/>
            </a:pPr>
            <a:r>
              <a:rPr lang="zh-CN" altLang="en-US" sz="800" b="1" dirty="0">
                <a:effectLst/>
              </a:rPr>
              <a:t>意向方面：</a:t>
            </a:r>
            <a:endParaRPr lang="zh-CN" altLang="en-US" sz="800" dirty="0">
              <a:effectLst/>
            </a:endParaRPr>
          </a:p>
          <a:p>
            <a:pPr>
              <a:buNone/>
            </a:pPr>
            <a:r>
              <a:rPr lang="zh-CN" altLang="en-US" sz="800" dirty="0">
                <a:effectLst/>
              </a:rPr>
              <a:t>意向率：春节期间意向率总体日均</a:t>
            </a:r>
            <a:r>
              <a:rPr lang="en-US" altLang="zh-CN" sz="800" dirty="0">
                <a:effectLst/>
              </a:rPr>
              <a:t>18.7%</a:t>
            </a:r>
            <a:r>
              <a:rPr lang="zh-CN" altLang="en-US" sz="800" dirty="0">
                <a:effectLst/>
              </a:rPr>
              <a:t>，其中异地</a:t>
            </a:r>
            <a:r>
              <a:rPr lang="en-US" altLang="zh-CN" sz="800" dirty="0">
                <a:effectLst/>
              </a:rPr>
              <a:t>25.3%</a:t>
            </a:r>
            <a:r>
              <a:rPr lang="zh-CN" altLang="en-US" sz="800" dirty="0">
                <a:effectLst/>
              </a:rPr>
              <a:t>，本地</a:t>
            </a:r>
            <a:r>
              <a:rPr lang="en-US" altLang="zh-CN" sz="800" dirty="0">
                <a:effectLst/>
              </a:rPr>
              <a:t>12.1%</a:t>
            </a:r>
            <a:r>
              <a:rPr lang="zh-CN" altLang="en-US" sz="800" dirty="0">
                <a:effectLst/>
              </a:rPr>
              <a:t>，异地较本地高出</a:t>
            </a:r>
            <a:r>
              <a:rPr lang="en-US" altLang="zh-CN" sz="800" dirty="0">
                <a:effectLst/>
              </a:rPr>
              <a:t>13.2</a:t>
            </a:r>
            <a:r>
              <a:rPr lang="en" altLang="zh-CN" sz="800" dirty="0">
                <a:effectLst/>
              </a:rPr>
              <a:t>pp</a:t>
            </a:r>
            <a:r>
              <a:rPr lang="zh-CN" altLang="en" sz="800" dirty="0">
                <a:effectLst/>
              </a:rPr>
              <a:t>；</a:t>
            </a:r>
          </a:p>
          <a:p>
            <a:pPr>
              <a:buNone/>
            </a:pPr>
            <a:r>
              <a:rPr lang="zh-CN" altLang="en-US" sz="800" dirty="0">
                <a:effectLst/>
              </a:rPr>
              <a:t>绝对值：春节期间</a:t>
            </a:r>
            <a:r>
              <a:rPr lang="en" altLang="zh-CN" sz="800" dirty="0" err="1">
                <a:effectLst/>
              </a:rPr>
              <a:t>aoi</a:t>
            </a:r>
            <a:r>
              <a:rPr lang="zh-CN" altLang="en-US" sz="800" dirty="0">
                <a:effectLst/>
              </a:rPr>
              <a:t>意向总体日均</a:t>
            </a:r>
            <a:r>
              <a:rPr lang="en-US" altLang="zh-CN" sz="800" dirty="0">
                <a:effectLst/>
              </a:rPr>
              <a:t>332</a:t>
            </a:r>
            <a:r>
              <a:rPr lang="zh-CN" altLang="en-US" sz="800" dirty="0">
                <a:effectLst/>
              </a:rPr>
              <a:t>，其中异地</a:t>
            </a:r>
            <a:r>
              <a:rPr lang="en-US" altLang="zh-CN" sz="800" dirty="0">
                <a:effectLst/>
              </a:rPr>
              <a:t>585</a:t>
            </a:r>
            <a:r>
              <a:rPr lang="zh-CN" altLang="en-US" sz="800" dirty="0">
                <a:effectLst/>
              </a:rPr>
              <a:t>，本地</a:t>
            </a:r>
            <a:r>
              <a:rPr lang="en-US" altLang="zh-CN" sz="800" dirty="0">
                <a:effectLst/>
              </a:rPr>
              <a:t>89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6090A8-D3F2-4870-AF6A-7CE5585C13D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227" b="21094"/>
          <a:stretch/>
        </p:blipFill>
        <p:spPr>
          <a:xfrm>
            <a:off x="599374" y="1592889"/>
            <a:ext cx="1114876" cy="1880222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EB63BF74-E9D1-4FC3-AF5F-85F294836A35}"/>
              </a:ext>
            </a:extLst>
          </p:cNvPr>
          <p:cNvSpPr txBox="1"/>
          <p:nvPr/>
        </p:nvSpPr>
        <p:spPr>
          <a:xfrm>
            <a:off x="1768621" y="6884319"/>
            <a:ext cx="14472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+mn-ea"/>
              </a:rPr>
              <a:t>美食金刚</a:t>
            </a:r>
            <a:r>
              <a:rPr lang="en-US" altLang="zh-CN" sz="900" b="1" dirty="0">
                <a:latin typeface="+mn-ea"/>
              </a:rPr>
              <a:t>UV</a:t>
            </a:r>
            <a:r>
              <a:rPr lang="zh-CN" altLang="en-US" sz="900" b="1" dirty="0">
                <a:latin typeface="+mn-ea"/>
              </a:rPr>
              <a:t> </a:t>
            </a:r>
            <a:r>
              <a:rPr lang="en-US" altLang="zh-CN" sz="900" b="1" dirty="0">
                <a:latin typeface="+mn-ea"/>
              </a:rPr>
              <a:t>500w</a:t>
            </a:r>
            <a:r>
              <a:rPr lang="zh-CN" altLang="en-US" sz="900" b="1" dirty="0">
                <a:latin typeface="+mn-ea"/>
              </a:rPr>
              <a:t>，标签曝光</a:t>
            </a:r>
            <a:r>
              <a:rPr lang="en-US" altLang="zh-CN" sz="900" b="1" dirty="0">
                <a:latin typeface="+mn-ea"/>
              </a:rPr>
              <a:t>483w</a:t>
            </a:r>
            <a:r>
              <a:rPr lang="zh-CN" altLang="en-US" sz="900" b="1" dirty="0">
                <a:latin typeface="+mn-ea"/>
              </a:rPr>
              <a:t> </a:t>
            </a:r>
            <a:endParaRPr lang="en-US" altLang="zh-CN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猜喜 </a:t>
            </a:r>
            <a:r>
              <a:rPr lang="en-US" altLang="zh-CN" sz="900" b="1" dirty="0">
                <a:latin typeface="+mn-ea"/>
              </a:rPr>
              <a:t>100w</a:t>
            </a:r>
            <a:r>
              <a:rPr lang="zh-CN" altLang="en-US" sz="900" b="1" dirty="0">
                <a:latin typeface="+mn-ea"/>
              </a:rPr>
              <a:t>，引流</a:t>
            </a:r>
            <a:r>
              <a:rPr lang="en-US" altLang="zh-CN" sz="900" b="1" dirty="0">
                <a:latin typeface="+mn-ea"/>
              </a:rPr>
              <a:t>10w</a:t>
            </a:r>
          </a:p>
          <a:p>
            <a:endParaRPr lang="en-US" altLang="zh-CN" sz="900" dirty="0">
              <a:latin typeface="+mn-ea"/>
            </a:endParaRPr>
          </a:p>
          <a:p>
            <a:r>
              <a:rPr lang="zh-CN" altLang="en-US" sz="900" dirty="0">
                <a:latin typeface="+mn-ea"/>
              </a:rPr>
              <a:t>春节“跟榜吃”金刚位</a:t>
            </a:r>
            <a:r>
              <a:rPr lang="en-US" altLang="zh-CN" sz="900" dirty="0">
                <a:latin typeface="+mn-ea"/>
              </a:rPr>
              <a:t>CTR</a:t>
            </a:r>
            <a:r>
              <a:rPr lang="zh-CN" altLang="en-US" sz="900" dirty="0">
                <a:latin typeface="+mn-ea"/>
              </a:rPr>
              <a:t> </a:t>
            </a:r>
            <a:r>
              <a:rPr lang="en-US" altLang="zh-CN" sz="900" dirty="0">
                <a:latin typeface="+mn-ea"/>
              </a:rPr>
              <a:t>4.8%</a:t>
            </a:r>
            <a:r>
              <a:rPr lang="zh-CN" altLang="en-US" sz="900" dirty="0">
                <a:latin typeface="+mn-ea"/>
              </a:rPr>
              <a:t>（</a:t>
            </a:r>
            <a:r>
              <a:rPr lang="en-US" altLang="zh-CN" sz="900" dirty="0">
                <a:latin typeface="+mn-ea"/>
              </a:rPr>
              <a:t>vs</a:t>
            </a:r>
            <a:r>
              <a:rPr lang="zh-CN" altLang="en-US" sz="900" dirty="0">
                <a:latin typeface="+mn-ea"/>
              </a:rPr>
              <a:t>元旦通投</a:t>
            </a:r>
            <a:r>
              <a:rPr lang="en-US" altLang="zh-CN" sz="900" dirty="0">
                <a:latin typeface="+mn-ea"/>
              </a:rPr>
              <a:t>+0.9pp</a:t>
            </a:r>
            <a:r>
              <a:rPr lang="zh-CN" altLang="en-US" sz="900" dirty="0">
                <a:latin typeface="+mn-ea"/>
              </a:rPr>
              <a:t>）</a:t>
            </a:r>
            <a:endParaRPr lang="en-US" altLang="zh-CN" sz="900" dirty="0">
              <a:latin typeface="+mn-ea"/>
            </a:endParaRPr>
          </a:p>
          <a:p>
            <a:endParaRPr lang="en-US" altLang="zh-CN" sz="900" dirty="0">
              <a:effectLst/>
            </a:endParaRPr>
          </a:p>
          <a:p>
            <a:r>
              <a:rPr lang="zh-CN" altLang="en-US" sz="900" dirty="0">
                <a:effectLst/>
              </a:rPr>
              <a:t>猜喜标签有效提升了业务及圈选供给整体的</a:t>
            </a:r>
            <a:r>
              <a:rPr lang="en-US" altLang="zh-CN" sz="900" dirty="0" err="1">
                <a:effectLst/>
              </a:rPr>
              <a:t>pvCTCVR</a:t>
            </a:r>
            <a:r>
              <a:rPr lang="en-US" altLang="zh-CN" sz="900" dirty="0">
                <a:effectLst/>
              </a:rPr>
              <a:t> </a:t>
            </a:r>
            <a:r>
              <a:rPr lang="zh-CN" altLang="en-US" sz="900" dirty="0">
                <a:effectLst/>
              </a:rPr>
              <a:t>转化效率</a:t>
            </a:r>
            <a:r>
              <a:rPr lang="en-US" altLang="zh-CN" sz="900" dirty="0">
                <a:effectLst/>
              </a:rPr>
              <a:t>(</a:t>
            </a:r>
            <a:r>
              <a:rPr lang="zh-CN" altLang="en-US" sz="900" dirty="0">
                <a:effectLst/>
              </a:rPr>
              <a:t>首页</a:t>
            </a:r>
            <a:r>
              <a:rPr lang="en-US" altLang="zh-CN" sz="900" dirty="0" err="1">
                <a:effectLst/>
              </a:rPr>
              <a:t>pvCTCVR</a:t>
            </a:r>
            <a:r>
              <a:rPr lang="en-US" altLang="zh-CN" sz="900" dirty="0">
                <a:effectLst/>
              </a:rPr>
              <a:t> </a:t>
            </a:r>
            <a:r>
              <a:rPr lang="zh-CN" altLang="en-US" sz="900" dirty="0">
                <a:effectLst/>
              </a:rPr>
              <a:t>显著正向</a:t>
            </a:r>
            <a:r>
              <a:rPr lang="en-US" altLang="zh-CN" sz="900" dirty="0">
                <a:effectLst/>
              </a:rPr>
              <a:t>+1%</a:t>
            </a:r>
            <a:r>
              <a:rPr lang="zh-CN" altLang="en-US" sz="900" dirty="0">
                <a:effectLst/>
              </a:rPr>
              <a:t>， 到餐首页</a:t>
            </a:r>
            <a:r>
              <a:rPr lang="en-US" altLang="zh-CN" sz="900" dirty="0" err="1">
                <a:effectLst/>
              </a:rPr>
              <a:t>pvCTCVR</a:t>
            </a:r>
            <a:r>
              <a:rPr lang="en-US" altLang="zh-CN" sz="900" dirty="0">
                <a:effectLst/>
              </a:rPr>
              <a:t> </a:t>
            </a:r>
            <a:r>
              <a:rPr lang="zh-CN" altLang="en-US" sz="900" dirty="0">
                <a:effectLst/>
              </a:rPr>
              <a:t>显著正向</a:t>
            </a:r>
            <a:r>
              <a:rPr lang="en-US" altLang="zh-CN" sz="900" dirty="0">
                <a:effectLst/>
              </a:rPr>
              <a:t>+1.38%)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17221D2-B50E-43D0-B495-0D527188608C}"/>
              </a:ext>
            </a:extLst>
          </p:cNvPr>
          <p:cNvSpPr txBox="1"/>
          <p:nvPr/>
        </p:nvSpPr>
        <p:spPr>
          <a:xfrm>
            <a:off x="12920792" y="3492098"/>
            <a:ext cx="1408264" cy="568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当地人推荐快筛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CTR0.7%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，高于大搜快筛基准值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0.22pp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AFFD718-97D6-46B4-8365-35C708937616}"/>
              </a:ext>
            </a:extLst>
          </p:cNvPr>
          <p:cNvSpPr txBox="1"/>
          <p:nvPr/>
        </p:nvSpPr>
        <p:spPr>
          <a:xfrm>
            <a:off x="433206" y="6923198"/>
            <a:ext cx="144721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/>
              <a:t>Push</a:t>
            </a:r>
            <a:r>
              <a:rPr lang="zh-CN" altLang="en-US" sz="900" b="1" dirty="0"/>
              <a:t> </a:t>
            </a:r>
            <a:r>
              <a:rPr lang="en-US" altLang="zh-CN" sz="900" b="1" dirty="0"/>
              <a:t>2.8w</a:t>
            </a:r>
          </a:p>
          <a:p>
            <a:r>
              <a:rPr lang="zh-CN" altLang="en-US" sz="900" b="1" dirty="0"/>
              <a:t>直播曝光 </a:t>
            </a:r>
            <a:r>
              <a:rPr lang="en-US" altLang="zh-CN" sz="900" b="1" dirty="0"/>
              <a:t>1w</a:t>
            </a:r>
          </a:p>
          <a:p>
            <a:endParaRPr lang="en-US" altLang="zh-CN" sz="900" dirty="0"/>
          </a:p>
          <a:p>
            <a:r>
              <a:rPr lang="zh-CN" altLang="en-US" sz="900" dirty="0">
                <a:effectLst/>
              </a:rPr>
              <a:t>宜宾当地人推荐直播宣传，榜单链接曝光</a:t>
            </a:r>
            <a:r>
              <a:rPr lang="en-US" altLang="zh-CN" sz="900" dirty="0">
                <a:effectLst/>
              </a:rPr>
              <a:t>UV1w</a:t>
            </a:r>
            <a:r>
              <a:rPr lang="zh-CN" altLang="en-US" sz="900" dirty="0">
                <a:effectLst/>
              </a:rPr>
              <a:t>，点击率</a:t>
            </a:r>
            <a:r>
              <a:rPr lang="en-US" altLang="zh-CN" sz="900" dirty="0">
                <a:effectLst/>
              </a:rPr>
              <a:t>3.4%</a:t>
            </a:r>
            <a:r>
              <a:rPr lang="zh-CN" altLang="en-US" sz="900" dirty="0">
                <a:effectLst/>
              </a:rPr>
              <a:t>；</a:t>
            </a:r>
            <a:r>
              <a:rPr lang="zh-CN" altLang="en-US" sz="900" dirty="0"/>
              <a:t>榜单</a:t>
            </a:r>
            <a:r>
              <a:rPr lang="en-US" altLang="zh-CN" sz="900" dirty="0"/>
              <a:t>deal</a:t>
            </a:r>
            <a:r>
              <a:rPr lang="zh-CN" altLang="en-US" sz="900" dirty="0"/>
              <a:t>曝光</a:t>
            </a:r>
            <a:r>
              <a:rPr lang="en-US" altLang="zh-CN" sz="900" dirty="0"/>
              <a:t>UV6.7w</a:t>
            </a:r>
            <a:r>
              <a:rPr lang="zh-CN" altLang="en-US" sz="900" dirty="0"/>
              <a:t>，点击</a:t>
            </a:r>
            <a:r>
              <a:rPr lang="en-US" altLang="zh-CN" sz="900" dirty="0"/>
              <a:t>2.07%</a:t>
            </a:r>
            <a:r>
              <a:rPr lang="zh-CN" altLang="en-US" sz="900" dirty="0"/>
              <a:t>。</a:t>
            </a:r>
            <a:endParaRPr lang="zh-CN" altLang="en-US" sz="900" dirty="0">
              <a:effectLst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D526CD5-39CC-4F43-A926-7168FF9300AD}"/>
              </a:ext>
            </a:extLst>
          </p:cNvPr>
          <p:cNvSpPr txBox="1"/>
          <p:nvPr/>
        </p:nvSpPr>
        <p:spPr>
          <a:xfrm>
            <a:off x="9247280" y="3623801"/>
            <a:ext cx="1725520" cy="14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ea"/>
              </a:rPr>
              <a:t>合作首页旅游版，强化当地特色美食，并通过图筛承接用户需求。针对搜索结果进行上榜门店的大搜提权。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 marL="0" marR="0"/>
            <a:r>
              <a:rPr lang="zh-CN" altLang="en-US" sz="800" dirty="0"/>
              <a:t>①</a:t>
            </a:r>
            <a:r>
              <a:rPr lang="zh-CN" altLang="en-US" sz="800" dirty="0">
                <a:effectLst/>
              </a:rPr>
              <a:t>铁锅炖和烧烤烤肉坑位日均曝光</a:t>
            </a:r>
            <a:r>
              <a:rPr lang="en-US" altLang="zh-CN" sz="800" dirty="0">
                <a:effectLst/>
              </a:rPr>
              <a:t>1142</a:t>
            </a:r>
            <a:r>
              <a:rPr lang="zh-CN" altLang="en-US" sz="800" dirty="0">
                <a:effectLst/>
              </a:rPr>
              <a:t>，点击率分别为</a:t>
            </a:r>
            <a:r>
              <a:rPr lang="en-US" altLang="zh-CN" sz="800" dirty="0">
                <a:effectLst/>
              </a:rPr>
              <a:t>2.7%</a:t>
            </a:r>
            <a:r>
              <a:rPr lang="zh-CN" altLang="en-US" sz="800" dirty="0">
                <a:effectLst/>
              </a:rPr>
              <a:t>和</a:t>
            </a:r>
            <a:r>
              <a:rPr lang="en-US" altLang="zh-CN" sz="800" dirty="0">
                <a:effectLst/>
              </a:rPr>
              <a:t>1.6%</a:t>
            </a:r>
            <a:r>
              <a:rPr lang="zh-CN" altLang="en-US" sz="800" dirty="0">
                <a:effectLst/>
              </a:rPr>
              <a:t>，在各坑位中属于中高水平。②大搜提权下，上榜商户曝光</a:t>
            </a:r>
            <a:r>
              <a:rPr lang="en-US" altLang="zh-CN" sz="800" dirty="0">
                <a:effectLst/>
              </a:rPr>
              <a:t>UV</a:t>
            </a:r>
            <a:r>
              <a:rPr lang="zh-CN" altLang="en-US" sz="800" dirty="0"/>
              <a:t>，较对照组</a:t>
            </a:r>
            <a:r>
              <a:rPr lang="en-US" altLang="zh-CN" sz="800" dirty="0">
                <a:effectLst/>
              </a:rPr>
              <a:t>+4.6%</a:t>
            </a:r>
            <a:endParaRPr lang="zh-CN" altLang="en-US" sz="800" dirty="0">
              <a:effectLst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5B7B178-A70E-47F6-9901-2CE26729A206}"/>
              </a:ext>
            </a:extLst>
          </p:cNvPr>
          <p:cNvGrpSpPr/>
          <p:nvPr/>
        </p:nvGrpSpPr>
        <p:grpSpPr>
          <a:xfrm>
            <a:off x="11627101" y="705377"/>
            <a:ext cx="1144518" cy="2425174"/>
            <a:chOff x="11627101" y="705377"/>
            <a:chExt cx="1144518" cy="2425174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9818FC87-5048-4DF4-96E7-8C80AD7D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627101" y="705377"/>
              <a:ext cx="1119042" cy="2425174"/>
            </a:xfrm>
            <a:prstGeom prst="rect">
              <a:avLst/>
            </a:prstGeom>
          </p:spPr>
        </p:pic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518A7BF-69EB-4142-9795-031B785B7A18}"/>
                </a:ext>
              </a:extLst>
            </p:cNvPr>
            <p:cNvSpPr/>
            <p:nvPr/>
          </p:nvSpPr>
          <p:spPr>
            <a:xfrm>
              <a:off x="11652576" y="1127939"/>
              <a:ext cx="1119043" cy="3210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441A5E1-AE62-4484-A914-DEDD4702BBC0}"/>
              </a:ext>
            </a:extLst>
          </p:cNvPr>
          <p:cNvGrpSpPr/>
          <p:nvPr/>
        </p:nvGrpSpPr>
        <p:grpSpPr>
          <a:xfrm>
            <a:off x="10439818" y="705376"/>
            <a:ext cx="1135073" cy="2459916"/>
            <a:chOff x="10439818" y="705376"/>
            <a:chExt cx="1135073" cy="2459916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B962350F-26E5-4315-AD0B-D12AA0689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39818" y="705376"/>
              <a:ext cx="1135073" cy="2459916"/>
            </a:xfrm>
            <a:prstGeom prst="rect">
              <a:avLst/>
            </a:prstGeom>
          </p:spPr>
        </p:pic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96EE39C7-4144-48B8-9B2A-B0726478E423}"/>
                </a:ext>
              </a:extLst>
            </p:cNvPr>
            <p:cNvSpPr/>
            <p:nvPr/>
          </p:nvSpPr>
          <p:spPr>
            <a:xfrm>
              <a:off x="10845799" y="1600140"/>
              <a:ext cx="361951" cy="4251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C17C73B-DEFE-49CC-B174-14FDC88C40D5}"/>
              </a:ext>
            </a:extLst>
          </p:cNvPr>
          <p:cNvGrpSpPr/>
          <p:nvPr/>
        </p:nvGrpSpPr>
        <p:grpSpPr>
          <a:xfrm>
            <a:off x="9252929" y="670634"/>
            <a:ext cx="1134680" cy="2459916"/>
            <a:chOff x="9252929" y="670634"/>
            <a:chExt cx="1134680" cy="245991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A7748CF-34F5-4A4D-8AA1-F7E615702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252929" y="670634"/>
              <a:ext cx="1134680" cy="2459916"/>
            </a:xfrm>
            <a:prstGeom prst="rect">
              <a:avLst/>
            </a:prstGeom>
          </p:spPr>
        </p:pic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66657D55-421D-46C1-BEFA-50AC5005C7EC}"/>
                </a:ext>
              </a:extLst>
            </p:cNvPr>
            <p:cNvSpPr/>
            <p:nvPr/>
          </p:nvSpPr>
          <p:spPr>
            <a:xfrm>
              <a:off x="9997029" y="1993124"/>
              <a:ext cx="373468" cy="317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61079C44-381B-45A0-8650-F97189103F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62029" y="724132"/>
            <a:ext cx="1135073" cy="2460769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3C986E7-2054-434A-ABB7-68792BEDCB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155945" y="763659"/>
            <a:ext cx="1107796" cy="240163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2C6F85A-9A5D-A550-2352-D2E638EC7A7D}"/>
              </a:ext>
            </a:extLst>
          </p:cNvPr>
          <p:cNvSpPr txBox="1"/>
          <p:nvPr/>
        </p:nvSpPr>
        <p:spPr>
          <a:xfrm>
            <a:off x="5157232" y="5312966"/>
            <a:ext cx="873948" cy="317497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31w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ABC9056-42B0-B5F4-E7B9-688420A29EF5}"/>
              </a:ext>
            </a:extLst>
          </p:cNvPr>
          <p:cNvSpPr txBox="1"/>
          <p:nvPr/>
        </p:nvSpPr>
        <p:spPr>
          <a:xfrm>
            <a:off x="6374360" y="5317085"/>
            <a:ext cx="1167740" cy="677075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9.8w</a:t>
            </a:r>
          </a:p>
          <a:p>
            <a:r>
              <a:rPr lang="zh-CN" altLang="en-US" b="1" dirty="0">
                <a:solidFill>
                  <a:schemeClr val="tx1"/>
                </a:solidFill>
              </a:rPr>
              <a:t>特色菜 </a:t>
            </a:r>
            <a:r>
              <a:rPr lang="en-US" altLang="zh-CN" b="1" dirty="0">
                <a:solidFill>
                  <a:schemeClr val="tx1"/>
                </a:solidFill>
              </a:rPr>
              <a:t>362-448</a:t>
            </a:r>
            <a:r>
              <a:rPr lang="zh-CN" altLang="en-US" b="1" dirty="0">
                <a:solidFill>
                  <a:schemeClr val="tx1"/>
                </a:solidFill>
              </a:rPr>
              <a:t>城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当地人推荐 </a:t>
            </a:r>
            <a:r>
              <a:rPr lang="en-US" altLang="zh-CN" b="1" dirty="0">
                <a:solidFill>
                  <a:schemeClr val="tx1"/>
                </a:solidFill>
              </a:rPr>
              <a:t>660</a:t>
            </a:r>
            <a:r>
              <a:rPr lang="zh-CN" altLang="en-US" b="1" dirty="0">
                <a:solidFill>
                  <a:schemeClr val="tx1"/>
                </a:solidFill>
              </a:rPr>
              <a:t>城</a:t>
            </a:r>
            <a:r>
              <a:rPr lang="en-US" altLang="zh-CN" b="1" dirty="0">
                <a:solidFill>
                  <a:schemeClr val="tx1"/>
                </a:solidFill>
              </a:rPr>
              <a:t>-670</a:t>
            </a:r>
            <a:r>
              <a:rPr lang="zh-CN" altLang="en-US" b="1" dirty="0">
                <a:solidFill>
                  <a:schemeClr val="tx1"/>
                </a:solidFill>
              </a:rPr>
              <a:t>城</a:t>
            </a:r>
            <a:endParaRPr lang="en-US" altLang="zh-CN" b="1" dirty="0">
              <a:solidFill>
                <a:schemeClr val="tx1"/>
              </a:solidFill>
            </a:endParaRPr>
          </a:p>
          <a:p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04145C-CCC8-CDEF-37AB-DBDC8CE96F11}"/>
              </a:ext>
            </a:extLst>
          </p:cNvPr>
          <p:cNvSpPr txBox="1"/>
          <p:nvPr/>
        </p:nvSpPr>
        <p:spPr>
          <a:xfrm>
            <a:off x="450229" y="8015587"/>
            <a:ext cx="1257769" cy="81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结合本异地用户</a:t>
            </a: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LBS+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个性化偏好，推荐上榜门店，并结合履约服务做推送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572813A-8A39-624D-B02B-D4FB917B4E33}"/>
              </a:ext>
            </a:extLst>
          </p:cNvPr>
          <p:cNvSpPr txBox="1"/>
          <p:nvPr/>
        </p:nvSpPr>
        <p:spPr>
          <a:xfrm>
            <a:off x="1783522" y="8956903"/>
            <a:ext cx="1257769" cy="959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面向榜单深度用户（高频使用），或潜在用户（常吃上榜门店</a:t>
            </a: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点评榜单用户），首页露出榜单入口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2409BF6-916F-4D57-8719-C940FEB88E31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-1" t="64951" r="2602" b="18741"/>
          <a:stretch/>
        </p:blipFill>
        <p:spPr>
          <a:xfrm>
            <a:off x="596552" y="1038527"/>
            <a:ext cx="1148971" cy="417067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5381D160-87AD-4B0C-9FB5-868C08DB29D1}"/>
              </a:ext>
            </a:extLst>
          </p:cNvPr>
          <p:cNvSpPr txBox="1"/>
          <p:nvPr/>
        </p:nvSpPr>
        <p:spPr>
          <a:xfrm>
            <a:off x="416788" y="5302349"/>
            <a:ext cx="1508498" cy="169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①根据定位城市推送当地特色榜单。为节假日旅游用户提供值得信赖的选择</a:t>
            </a:r>
            <a:r>
              <a:rPr lang="en-US" altLang="zh-CN" sz="800" dirty="0">
                <a:latin typeface="+mn-ea"/>
              </a:rPr>
              <a:t>;②</a:t>
            </a:r>
            <a:r>
              <a:rPr lang="zh-CN" altLang="en-US" sz="800" dirty="0">
                <a:latin typeface="+mn-ea"/>
              </a:rPr>
              <a:t>联动城市直播，主播口播宣传</a:t>
            </a:r>
            <a:r>
              <a:rPr lang="en-US" altLang="zh-CN" sz="800" dirty="0">
                <a:latin typeface="+mn-ea"/>
              </a:rPr>
              <a:t>+</a:t>
            </a:r>
            <a:r>
              <a:rPr lang="zh-CN" altLang="en-US" sz="800" dirty="0">
                <a:latin typeface="+mn-ea"/>
              </a:rPr>
              <a:t>榜单供给露出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①</a:t>
            </a:r>
            <a:r>
              <a:rPr lang="en-US" altLang="zh-CN" sz="800" dirty="0">
                <a:latin typeface="+mn-ea"/>
              </a:rPr>
              <a:t>Push</a:t>
            </a:r>
            <a:r>
              <a:rPr lang="zh-CN" altLang="en-US" sz="800" dirty="0">
                <a:latin typeface="+mn-ea"/>
              </a:rPr>
              <a:t>日均曝光</a:t>
            </a:r>
            <a:r>
              <a:rPr lang="en-US" altLang="zh-CN" sz="800" dirty="0">
                <a:latin typeface="+mn-ea"/>
              </a:rPr>
              <a:t>UV2.8w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0.4%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业务均值</a:t>
            </a:r>
            <a:r>
              <a:rPr lang="en-US" altLang="zh-CN" sz="800" dirty="0">
                <a:latin typeface="+mn-ea"/>
              </a:rPr>
              <a:t>+0.24pp</a:t>
            </a:r>
            <a:r>
              <a:rPr lang="zh-CN" altLang="en-US" sz="800" dirty="0">
                <a:latin typeface="+mn-ea"/>
              </a:rPr>
              <a:t>）；</a:t>
            </a: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单场直播榜单</a:t>
            </a:r>
            <a:r>
              <a:rPr lang="en-US" altLang="zh-CN" sz="800" dirty="0">
                <a:latin typeface="+mn-ea"/>
              </a:rPr>
              <a:t>deal</a:t>
            </a:r>
            <a:r>
              <a:rPr lang="zh-CN" altLang="en-US" sz="800" dirty="0">
                <a:latin typeface="+mn-ea"/>
              </a:rPr>
              <a:t>曝光</a:t>
            </a:r>
            <a:r>
              <a:rPr lang="en-US" altLang="zh-CN" sz="800" dirty="0">
                <a:latin typeface="+mn-ea"/>
              </a:rPr>
              <a:t>UV6.7w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2.1%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6B0FD8B-59BA-48CF-B451-2128B20C0A9C}"/>
              </a:ext>
            </a:extLst>
          </p:cNvPr>
          <p:cNvSpPr txBox="1"/>
          <p:nvPr/>
        </p:nvSpPr>
        <p:spPr>
          <a:xfrm>
            <a:off x="4762777" y="6957245"/>
            <a:ext cx="1430453" cy="140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/>
              <a:t>①</a:t>
            </a:r>
            <a:r>
              <a:rPr lang="zh-CN" altLang="en-US" sz="800" dirty="0"/>
              <a:t>结合营销通过“跟榜吃” 强化榜单心智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r>
              <a:rPr lang="en-US" altLang="zh-CN" sz="800" dirty="0"/>
              <a:t>②</a:t>
            </a:r>
            <a:r>
              <a:rPr lang="zh-CN" altLang="en-US" sz="800" dirty="0"/>
              <a:t>结合用户偏好，叠加上榜标签，帮助异地用户做发现探索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金刚</a:t>
            </a:r>
            <a:r>
              <a:rPr lang="en-US" altLang="zh-CN" sz="800" dirty="0">
                <a:latin typeface="+mn-ea"/>
              </a:rPr>
              <a:t>CTR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4.8%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通投</a:t>
            </a:r>
            <a:r>
              <a:rPr lang="en-US" altLang="zh-CN" sz="800" dirty="0">
                <a:latin typeface="+mn-ea"/>
              </a:rPr>
              <a:t>+0.9pp</a:t>
            </a:r>
            <a:r>
              <a:rPr lang="zh-CN" altLang="en-US" sz="800" dirty="0">
                <a:latin typeface="+mn-ea"/>
              </a:rPr>
              <a:t>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榜单标签</a:t>
            </a:r>
            <a:r>
              <a:rPr lang="en-US" altLang="zh-CN" sz="800" dirty="0">
                <a:latin typeface="+mn-ea"/>
              </a:rPr>
              <a:t>CTCVR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3.2%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65328CA-602C-45D4-8849-4B82D1759108}"/>
              </a:ext>
            </a:extLst>
          </p:cNvPr>
          <p:cNvSpPr txBox="1"/>
          <p:nvPr/>
        </p:nvSpPr>
        <p:spPr>
          <a:xfrm>
            <a:off x="1844469" y="5277059"/>
            <a:ext cx="1430453" cy="140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/>
              <a:t>①</a:t>
            </a:r>
            <a:r>
              <a:rPr lang="zh-CN" altLang="en-US" sz="800" dirty="0"/>
              <a:t>结合营销通过“跟榜吃” 强化榜单心智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r>
              <a:rPr lang="en-US" altLang="zh-CN" sz="800" dirty="0"/>
              <a:t>②</a:t>
            </a:r>
            <a:r>
              <a:rPr lang="zh-CN" altLang="en-US" sz="800" dirty="0"/>
              <a:t>结合用户偏好，叠加上榜标签，帮助异地用户做发现探索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金刚</a:t>
            </a:r>
            <a:r>
              <a:rPr lang="en-US" altLang="zh-CN" sz="800" dirty="0">
                <a:latin typeface="+mn-ea"/>
              </a:rPr>
              <a:t>CTR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4.8%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通投</a:t>
            </a:r>
            <a:r>
              <a:rPr lang="en-US" altLang="zh-CN" sz="800" dirty="0">
                <a:latin typeface="+mn-ea"/>
              </a:rPr>
              <a:t>+0.9pp</a:t>
            </a:r>
            <a:r>
              <a:rPr lang="zh-CN" altLang="en-US" sz="800" dirty="0">
                <a:latin typeface="+mn-ea"/>
              </a:rPr>
              <a:t>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榜单标签</a:t>
            </a:r>
            <a:r>
              <a:rPr lang="en-US" altLang="zh-CN" sz="800" dirty="0">
                <a:latin typeface="+mn-ea"/>
              </a:rPr>
              <a:t>CTCVR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3.2%</a:t>
            </a:r>
          </a:p>
        </p:txBody>
      </p:sp>
    </p:spTree>
    <p:extLst>
      <p:ext uri="{BB962C8B-B14F-4D97-AF65-F5344CB8AC3E}">
        <p14:creationId xmlns:p14="http://schemas.microsoft.com/office/powerpoint/2010/main" val="2994754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2AAD6E8-02A3-7B12-42C5-8943FDA3B5B9}"/>
              </a:ext>
            </a:extLst>
          </p:cNvPr>
          <p:cNvSpPr/>
          <p:nvPr/>
        </p:nvSpPr>
        <p:spPr>
          <a:xfrm>
            <a:off x="0" y="4756680"/>
            <a:ext cx="9144000" cy="392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004E48EA-2A7B-47D4-B60F-01B36A37ED70}"/>
              </a:ext>
            </a:extLst>
          </p:cNvPr>
          <p:cNvSpPr/>
          <p:nvPr/>
        </p:nvSpPr>
        <p:spPr>
          <a:xfrm>
            <a:off x="6198865" y="818747"/>
            <a:ext cx="2653200" cy="4233367"/>
          </a:xfrm>
          <a:prstGeom prst="roundRect">
            <a:avLst>
              <a:gd name="adj" fmla="val 4769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13">
            <a:extLst>
              <a:ext uri="{FF2B5EF4-FFF2-40B4-BE49-F238E27FC236}">
                <a16:creationId xmlns:a16="http://schemas.microsoft.com/office/drawing/2014/main" id="{E0FFFB2F-C5D7-49AD-9C85-1CF2E71E1A2F}"/>
              </a:ext>
            </a:extLst>
          </p:cNvPr>
          <p:cNvSpPr/>
          <p:nvPr/>
        </p:nvSpPr>
        <p:spPr>
          <a:xfrm>
            <a:off x="3365519" y="818747"/>
            <a:ext cx="2653200" cy="4233367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13">
            <a:extLst>
              <a:ext uri="{FF2B5EF4-FFF2-40B4-BE49-F238E27FC236}">
                <a16:creationId xmlns:a16="http://schemas.microsoft.com/office/drawing/2014/main" id="{5DEEBE23-4B86-4E26-8ACB-824F40E736B7}"/>
              </a:ext>
            </a:extLst>
          </p:cNvPr>
          <p:cNvSpPr/>
          <p:nvPr/>
        </p:nvSpPr>
        <p:spPr>
          <a:xfrm>
            <a:off x="514641" y="818747"/>
            <a:ext cx="2653200" cy="4233367"/>
          </a:xfrm>
          <a:prstGeom prst="roundRect">
            <a:avLst>
              <a:gd name="adj" fmla="val 4769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E573436D-75A1-41E7-ABA8-A419304B6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54" y="1109203"/>
            <a:ext cx="1210709" cy="2520000"/>
          </a:xfrm>
          <a:prstGeom prst="rect">
            <a:avLst/>
          </a:prstGeom>
        </p:spPr>
      </p:pic>
      <p:sp>
        <p:nvSpPr>
          <p:cNvPr id="44" name="米菲PPT9">
            <a:extLst>
              <a:ext uri="{FF2B5EF4-FFF2-40B4-BE49-F238E27FC236}">
                <a16:creationId xmlns:a16="http://schemas.microsoft.com/office/drawing/2014/main" id="{12F10D34-65FC-4D7A-8DDF-6A6ADB8FDF6B}"/>
              </a:ext>
            </a:extLst>
          </p:cNvPr>
          <p:cNvSpPr/>
          <p:nvPr/>
        </p:nvSpPr>
        <p:spPr>
          <a:xfrm>
            <a:off x="374812" y="530181"/>
            <a:ext cx="2880000" cy="237600"/>
          </a:xfrm>
          <a:prstGeom prst="homePlate">
            <a:avLst>
              <a:gd name="adj" fmla="val 3628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起心动念</a:t>
            </a:r>
          </a:p>
        </p:txBody>
      </p:sp>
      <p:sp>
        <p:nvSpPr>
          <p:cNvPr id="45" name="米菲PPT10">
            <a:extLst>
              <a:ext uri="{FF2B5EF4-FFF2-40B4-BE49-F238E27FC236}">
                <a16:creationId xmlns:a16="http://schemas.microsoft.com/office/drawing/2014/main" id="{DB85B201-6F44-43E3-A56C-9D5EF0BDA25B}"/>
              </a:ext>
            </a:extLst>
          </p:cNvPr>
          <p:cNvSpPr/>
          <p:nvPr/>
        </p:nvSpPr>
        <p:spPr>
          <a:xfrm>
            <a:off x="3233168" y="530181"/>
            <a:ext cx="2880000" cy="237600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考虑决策</a:t>
            </a:r>
          </a:p>
        </p:txBody>
      </p:sp>
      <p:sp>
        <p:nvSpPr>
          <p:cNvPr id="46" name="米菲PPT11">
            <a:extLst>
              <a:ext uri="{FF2B5EF4-FFF2-40B4-BE49-F238E27FC236}">
                <a16:creationId xmlns:a16="http://schemas.microsoft.com/office/drawing/2014/main" id="{873D7362-08E5-4D62-8CDC-032C135BF7A3}"/>
              </a:ext>
            </a:extLst>
          </p:cNvPr>
          <p:cNvSpPr/>
          <p:nvPr/>
        </p:nvSpPr>
        <p:spPr>
          <a:xfrm>
            <a:off x="6113168" y="525759"/>
            <a:ext cx="2880000" cy="237600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评估选择</a:t>
            </a: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99A86A54-FE21-4F54-854C-440019B4FCA8}"/>
              </a:ext>
            </a:extLst>
          </p:cNvPr>
          <p:cNvSpPr txBox="1"/>
          <p:nvPr/>
        </p:nvSpPr>
        <p:spPr>
          <a:xfrm>
            <a:off x="3846056" y="843746"/>
            <a:ext cx="153181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搜索结果页</a:t>
            </a:r>
            <a:endParaRPr lang="en-US" altLang="zh-CN" sz="1000" b="1" dirty="0"/>
          </a:p>
        </p:txBody>
      </p:sp>
      <p:sp>
        <p:nvSpPr>
          <p:cNvPr id="57" name="TextBox 17">
            <a:extLst>
              <a:ext uri="{FF2B5EF4-FFF2-40B4-BE49-F238E27FC236}">
                <a16:creationId xmlns:a16="http://schemas.microsoft.com/office/drawing/2014/main" id="{5269527B-1BF4-4839-BFD7-E584F0883243}"/>
              </a:ext>
            </a:extLst>
          </p:cNvPr>
          <p:cNvSpPr txBox="1"/>
          <p:nvPr/>
        </p:nvSpPr>
        <p:spPr>
          <a:xfrm>
            <a:off x="348506" y="828782"/>
            <a:ext cx="1889895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美团首页</a:t>
            </a:r>
            <a:endParaRPr lang="en-US" altLang="zh-CN" sz="1000" b="1" dirty="0"/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30D688BB-CAB7-45A5-B202-217E32B6C5C5}"/>
              </a:ext>
            </a:extLst>
          </p:cNvPr>
          <p:cNvSpPr txBox="1"/>
          <p:nvPr/>
        </p:nvSpPr>
        <p:spPr>
          <a:xfrm>
            <a:off x="1490957" y="822668"/>
            <a:ext cx="1889895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搜索</a:t>
            </a:r>
            <a:endParaRPr lang="en-US" altLang="zh-CN" sz="10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0DDF7F1-EC08-4446-AFE5-C3715D8BAAED}"/>
              </a:ext>
            </a:extLst>
          </p:cNvPr>
          <p:cNvSpPr txBox="1"/>
          <p:nvPr/>
        </p:nvSpPr>
        <p:spPr>
          <a:xfrm>
            <a:off x="1863708" y="5289370"/>
            <a:ext cx="1365094" cy="771868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180w</a:t>
            </a:r>
          </a:p>
          <a:p>
            <a:pPr algn="l"/>
            <a:r>
              <a:rPr lang="zh-CN" altLang="en-US" b="1" dirty="0">
                <a:solidFill>
                  <a:schemeClr val="tx1"/>
                </a:solidFill>
              </a:rPr>
              <a:t>大搜</a:t>
            </a:r>
            <a:r>
              <a:rPr lang="en-US" altLang="zh-CN" b="1" dirty="0" err="1">
                <a:solidFill>
                  <a:schemeClr val="tx1"/>
                </a:solidFill>
              </a:rPr>
              <a:t>sug</a:t>
            </a:r>
            <a:r>
              <a:rPr lang="zh-CN" altLang="en-US" b="1" dirty="0">
                <a:solidFill>
                  <a:schemeClr val="tx1"/>
                </a:solidFill>
              </a:rPr>
              <a:t>承接品类找店需求</a:t>
            </a:r>
            <a:r>
              <a:rPr lang="zh-CN" altLang="en-US" dirty="0"/>
              <a:t>，带来榜单页</a:t>
            </a:r>
            <a:r>
              <a:rPr lang="en-US" altLang="zh-CN" dirty="0"/>
              <a:t>DAU11</a:t>
            </a:r>
            <a:r>
              <a:rPr lang="zh-CN" altLang="en-US" dirty="0"/>
              <a:t>万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EEAA996-A525-4095-A98B-F293FE4B31F5}"/>
              </a:ext>
            </a:extLst>
          </p:cNvPr>
          <p:cNvSpPr txBox="1"/>
          <p:nvPr/>
        </p:nvSpPr>
        <p:spPr>
          <a:xfrm>
            <a:off x="415779" y="5359706"/>
            <a:ext cx="1365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/>
              <a:t>PVCTCVR= </a:t>
            </a:r>
            <a:r>
              <a:rPr lang="zh-CN" altLang="en-US" sz="900" dirty="0"/>
              <a:t>订单</a:t>
            </a:r>
            <a:r>
              <a:rPr lang="en-US" altLang="zh-CN" sz="900" dirty="0"/>
              <a:t>/</a:t>
            </a:r>
            <a:r>
              <a:rPr lang="zh-CN" altLang="en-US" sz="900" dirty="0"/>
              <a:t>曝光</a:t>
            </a:r>
            <a:r>
              <a:rPr lang="en" altLang="zh-CN" sz="900" dirty="0" err="1"/>
              <a:t>pv</a:t>
            </a:r>
            <a:r>
              <a:rPr lang="zh-CN" altLang="en" sz="900" dirty="0"/>
              <a:t>，</a:t>
            </a:r>
            <a:r>
              <a:rPr lang="zh-CN" altLang="en-US" sz="900" dirty="0"/>
              <a:t>也就是</a:t>
            </a:r>
            <a:r>
              <a:rPr lang="en" altLang="zh-CN" sz="900" dirty="0"/>
              <a:t>CTR*CVR</a:t>
            </a:r>
          </a:p>
          <a:p>
            <a:endParaRPr lang="en-US" altLang="zh-CN" sz="900" b="1" dirty="0"/>
          </a:p>
          <a:p>
            <a:r>
              <a:rPr lang="zh-CN" altLang="en-US" sz="900" b="1" dirty="0"/>
              <a:t>曝光</a:t>
            </a:r>
            <a:r>
              <a:rPr lang="en-US" altLang="zh-CN" sz="900" b="1" dirty="0"/>
              <a:t>100w</a:t>
            </a:r>
          </a:p>
          <a:p>
            <a:r>
              <a:rPr lang="zh-CN" altLang="en-US" sz="900" b="1" dirty="0"/>
              <a:t>猜喜榜单标签，</a:t>
            </a:r>
            <a:r>
              <a:rPr lang="zh-CN" altLang="en-US" sz="900" dirty="0"/>
              <a:t>清明期间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带来榜单页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DAU20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万，榜单意向率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64.5%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，访购率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8.7%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03ED75DC-8F4D-4D33-8F42-628AF266C009}"/>
              </a:ext>
            </a:extLst>
          </p:cNvPr>
          <p:cNvSpPr txBox="1"/>
          <p:nvPr/>
        </p:nvSpPr>
        <p:spPr>
          <a:xfrm>
            <a:off x="7168120" y="829163"/>
            <a:ext cx="914914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榜单集合页</a:t>
            </a:r>
            <a:endParaRPr lang="en-US" altLang="zh-CN" sz="1000" b="1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E605D2B1-7775-4EF6-BA2F-5476F64B01EC}"/>
              </a:ext>
            </a:extLst>
          </p:cNvPr>
          <p:cNvCxnSpPr/>
          <p:nvPr/>
        </p:nvCxnSpPr>
        <p:spPr>
          <a:xfrm>
            <a:off x="2682942" y="2306468"/>
            <a:ext cx="355703" cy="1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15736503-681A-4B0D-AF39-A15639775AEC}"/>
              </a:ext>
            </a:extLst>
          </p:cNvPr>
          <p:cNvCxnSpPr>
            <a:cxnSpLocks/>
          </p:cNvCxnSpPr>
          <p:nvPr/>
        </p:nvCxnSpPr>
        <p:spPr>
          <a:xfrm>
            <a:off x="5844258" y="2874233"/>
            <a:ext cx="451129" cy="1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599963-A76C-47B8-839A-FBFF35CE0478}"/>
              </a:ext>
            </a:extLst>
          </p:cNvPr>
          <p:cNvGrpSpPr/>
          <p:nvPr/>
        </p:nvGrpSpPr>
        <p:grpSpPr>
          <a:xfrm>
            <a:off x="3447832" y="1094620"/>
            <a:ext cx="1162394" cy="2520000"/>
            <a:chOff x="3143404" y="1270862"/>
            <a:chExt cx="1162394" cy="2520000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CB8C71B-CECB-4A50-A7E2-3676BDE41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3404" y="1270862"/>
              <a:ext cx="1162394" cy="2520000"/>
            </a:xfrm>
            <a:prstGeom prst="rect">
              <a:avLst/>
            </a:prstGeom>
          </p:spPr>
        </p:pic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C7A5E103-5C42-44AF-B354-694A9B11111E}"/>
                </a:ext>
              </a:extLst>
            </p:cNvPr>
            <p:cNvSpPr/>
            <p:nvPr/>
          </p:nvSpPr>
          <p:spPr>
            <a:xfrm>
              <a:off x="3472636" y="1677591"/>
              <a:ext cx="229151" cy="13242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E7791AB-967A-461B-943A-E0A35B3DD9E3}"/>
              </a:ext>
            </a:extLst>
          </p:cNvPr>
          <p:cNvGrpSpPr/>
          <p:nvPr/>
        </p:nvGrpSpPr>
        <p:grpSpPr>
          <a:xfrm>
            <a:off x="1902027" y="1102060"/>
            <a:ext cx="1162394" cy="2520000"/>
            <a:chOff x="1550608" y="1214776"/>
            <a:chExt cx="1162394" cy="25200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109680E-C0DC-4C0D-92B4-F7509405C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50608" y="1214776"/>
              <a:ext cx="1162394" cy="2520000"/>
            </a:xfrm>
            <a:prstGeom prst="rect">
              <a:avLst/>
            </a:prstGeom>
          </p:spPr>
        </p:pic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700AAAAD-53FE-4905-8B15-1DAFD46864E6}"/>
                </a:ext>
              </a:extLst>
            </p:cNvPr>
            <p:cNvSpPr/>
            <p:nvPr/>
          </p:nvSpPr>
          <p:spPr>
            <a:xfrm>
              <a:off x="1559253" y="2368464"/>
              <a:ext cx="483019" cy="146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264249C0-D4E4-4E44-AF5E-BE14F5C49DD1}"/>
              </a:ext>
            </a:extLst>
          </p:cNvPr>
          <p:cNvSpPr/>
          <p:nvPr/>
        </p:nvSpPr>
        <p:spPr>
          <a:xfrm>
            <a:off x="589050" y="3231552"/>
            <a:ext cx="619284" cy="103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9643EB1-BDEB-D673-9601-F4524A283D48}"/>
              </a:ext>
            </a:extLst>
          </p:cNvPr>
          <p:cNvSpPr txBox="1">
            <a:spLocks/>
          </p:cNvSpPr>
          <p:nvPr/>
        </p:nvSpPr>
        <p:spPr>
          <a:xfrm>
            <a:off x="252000" y="32009"/>
            <a:ext cx="7664380" cy="427313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solidFill>
                  <a:srgbClr val="FF0000"/>
                </a:solidFill>
                <a:latin typeface="+mn-ea"/>
                <a:ea typeface="+mn-ea"/>
              </a:rPr>
              <a:t>日常找店用户动线</a:t>
            </a:r>
            <a:endParaRPr lang="en-US" altLang="zh-CN" sz="21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sz="2100" dirty="0">
                <a:solidFill>
                  <a:srgbClr val="FF0000"/>
                </a:solidFill>
                <a:latin typeface="+mn-ea"/>
                <a:ea typeface="+mn-ea"/>
              </a:rPr>
              <a:t>这个是否有整体效果呢？比如找店决策用户，使用榜单满足率更高？转化率更高？</a:t>
            </a:r>
            <a:endParaRPr lang="en-US" altLang="zh-CN" sz="21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sz="2100" dirty="0">
                <a:solidFill>
                  <a:srgbClr val="FF0000"/>
                </a:solidFill>
                <a:latin typeface="+mn-ea"/>
                <a:ea typeface="+mn-ea"/>
              </a:rPr>
              <a:t>另外前面的一个结论是：</a:t>
            </a:r>
            <a:r>
              <a:rPr lang="zh-CN" altLang="en-US" sz="2400" dirty="0">
                <a:solidFill>
                  <a:srgbClr val="FF0000"/>
                </a:solidFill>
              </a:rPr>
              <a:t>逐渐优化时空</a:t>
            </a:r>
            <a:r>
              <a:rPr lang="en-US" altLang="zh-CN" sz="2400" dirty="0">
                <a:solidFill>
                  <a:srgbClr val="FF0000"/>
                </a:solidFill>
              </a:rPr>
              <a:t>x</a:t>
            </a:r>
            <a:r>
              <a:rPr lang="zh-CN" altLang="en-US" sz="2400" dirty="0">
                <a:solidFill>
                  <a:srgbClr val="FF0000"/>
                </a:solidFill>
              </a:rPr>
              <a:t>用户的动线配置，提升转化。所以可能要重点讲下接下来的主要动线动作</a:t>
            </a:r>
            <a:endParaRPr lang="en-US" altLang="zh-CN" sz="2100" dirty="0">
              <a:solidFill>
                <a:srgbClr val="FF0000"/>
              </a:solidFill>
              <a:latin typeface="+mn-ea"/>
              <a:ea typeface="+mn-ea"/>
            </a:endParaRPr>
          </a:p>
          <a:p>
            <a:endParaRPr lang="zh-CN" altLang="en-US" sz="21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3E3CDC-CB31-AEBC-2791-3D05D127C14D}"/>
              </a:ext>
            </a:extLst>
          </p:cNvPr>
          <p:cNvSpPr txBox="1"/>
          <p:nvPr/>
        </p:nvSpPr>
        <p:spPr>
          <a:xfrm>
            <a:off x="-14287" y="3898091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策略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B80CD2-CE7B-1D16-1576-5D90417735FE}"/>
              </a:ext>
            </a:extLst>
          </p:cNvPr>
          <p:cNvSpPr txBox="1"/>
          <p:nvPr/>
        </p:nvSpPr>
        <p:spPr>
          <a:xfrm>
            <a:off x="-20870" y="4597012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效果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121DCC-F2E6-1D19-1E8C-773EBB5D7F3C}"/>
              </a:ext>
            </a:extLst>
          </p:cNvPr>
          <p:cNvSpPr txBox="1"/>
          <p:nvPr/>
        </p:nvSpPr>
        <p:spPr>
          <a:xfrm>
            <a:off x="0" y="1965948"/>
            <a:ext cx="450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用户</a:t>
            </a:r>
            <a:endParaRPr lang="en-US" altLang="zh-CN" sz="1000" b="1" dirty="0"/>
          </a:p>
          <a:p>
            <a:r>
              <a:rPr lang="zh-CN" altLang="en-US" sz="1000" b="1" dirty="0"/>
              <a:t>动线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B07D28-7EC9-FFBF-1862-B0944FF61D60}"/>
              </a:ext>
            </a:extLst>
          </p:cNvPr>
          <p:cNvSpPr txBox="1"/>
          <p:nvPr/>
        </p:nvSpPr>
        <p:spPr>
          <a:xfrm>
            <a:off x="523104" y="3825280"/>
            <a:ext cx="1257769" cy="1291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结合用户偏好，通过人气上榜好店，可以持续激发用户的就餐需求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/>
              <a:t>曝光</a:t>
            </a:r>
            <a:r>
              <a:rPr lang="en-US" altLang="zh-CN" sz="800" dirty="0"/>
              <a:t>100w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带来榜单页</a:t>
            </a:r>
            <a:r>
              <a:rPr lang="en-US" altLang="zh-CN" sz="800" dirty="0">
                <a:latin typeface="+mn-ea"/>
              </a:rPr>
              <a:t>DAU20</a:t>
            </a:r>
            <a:r>
              <a:rPr lang="zh-CN" altLang="en-US" sz="800" dirty="0">
                <a:latin typeface="+mn-ea"/>
              </a:rPr>
              <a:t>万，榜单标签</a:t>
            </a:r>
            <a:r>
              <a:rPr lang="en-US" altLang="zh-CN" sz="800" dirty="0">
                <a:latin typeface="+mn-ea"/>
              </a:rPr>
              <a:t>CTCVR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3.2%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79F122E-87AB-9ACD-0EBB-5B12322B678E}"/>
              </a:ext>
            </a:extLst>
          </p:cNvPr>
          <p:cNvSpPr txBox="1"/>
          <p:nvPr/>
        </p:nvSpPr>
        <p:spPr>
          <a:xfrm>
            <a:off x="1878201" y="3842704"/>
            <a:ext cx="1257769" cy="1228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投放共计</a:t>
            </a:r>
            <a:r>
              <a:rPr lang="en-US" altLang="zh-CN" sz="800" dirty="0">
                <a:latin typeface="+mn-ea"/>
              </a:rPr>
              <a:t>1170</a:t>
            </a:r>
            <a:r>
              <a:rPr lang="zh-CN" altLang="en-US" sz="800" dirty="0">
                <a:latin typeface="+mn-ea"/>
              </a:rPr>
              <a:t>个触发词（包含品类词、菜品词、场景词等）</a:t>
            </a:r>
            <a:endParaRPr lang="en-US" altLang="zh-CN" sz="800" dirty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800" dirty="0"/>
              <a:t>曝光</a:t>
            </a:r>
            <a:r>
              <a:rPr lang="en-US" altLang="zh-CN" sz="800" dirty="0"/>
              <a:t>180w</a:t>
            </a:r>
            <a:r>
              <a:rPr lang="zh-CN" altLang="en-US" sz="800" dirty="0"/>
              <a:t>，带来榜单页</a:t>
            </a:r>
            <a:r>
              <a:rPr lang="en-US" altLang="zh-CN" sz="800" dirty="0"/>
              <a:t>DAU11</a:t>
            </a:r>
            <a:r>
              <a:rPr lang="zh-CN" altLang="en-US" sz="800" dirty="0"/>
              <a:t>万，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3.8%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其他投放</a:t>
            </a:r>
            <a:r>
              <a:rPr lang="en-US" altLang="zh-CN" sz="800" dirty="0">
                <a:latin typeface="+mn-ea"/>
              </a:rPr>
              <a:t>+1.5pp</a:t>
            </a:r>
            <a:r>
              <a:rPr lang="zh-CN" altLang="en-US" sz="800" dirty="0">
                <a:latin typeface="+mn-ea"/>
              </a:rPr>
              <a:t>），意向率：</a:t>
            </a:r>
            <a:r>
              <a:rPr lang="en-US" altLang="zh-CN" sz="800" dirty="0">
                <a:latin typeface="+mn-ea"/>
              </a:rPr>
              <a:t>38.6%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其他投放</a:t>
            </a:r>
            <a:r>
              <a:rPr lang="en-US" altLang="zh-CN" sz="800" dirty="0">
                <a:latin typeface="+mn-ea"/>
              </a:rPr>
              <a:t>+17.3pp</a:t>
            </a:r>
            <a:r>
              <a:rPr lang="zh-CN" altLang="en-US" sz="800" dirty="0">
                <a:latin typeface="+mn-ea"/>
              </a:rPr>
              <a:t>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D96B67-5FF2-4C5A-EE04-5C121E58B09E}"/>
              </a:ext>
            </a:extLst>
          </p:cNvPr>
          <p:cNvSpPr txBox="1"/>
          <p:nvPr/>
        </p:nvSpPr>
        <p:spPr>
          <a:xfrm>
            <a:off x="3424005" y="3819877"/>
            <a:ext cx="125776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在榜单可以承接的高搜低转</a:t>
            </a:r>
            <a:r>
              <a:rPr lang="en-US" altLang="zh-CN" sz="800" dirty="0">
                <a:latin typeface="+mn-ea"/>
              </a:rPr>
              <a:t>TOP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200+query</a:t>
            </a:r>
            <a:r>
              <a:rPr lang="zh-CN" altLang="en-US" sz="800" dirty="0">
                <a:latin typeface="+mn-ea"/>
              </a:rPr>
              <a:t>下增加“上榜好店”筛选帮助用户提升决策效率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800" dirty="0"/>
              <a:t>曝光</a:t>
            </a:r>
            <a:r>
              <a:rPr lang="en-US" altLang="zh-CN" sz="800" dirty="0"/>
              <a:t>40w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0.89%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基准值</a:t>
            </a:r>
            <a:r>
              <a:rPr lang="en-US" altLang="zh-CN" sz="800" dirty="0">
                <a:latin typeface="+mn-ea"/>
              </a:rPr>
              <a:t>+0.39pp</a:t>
            </a:r>
            <a:r>
              <a:rPr lang="zh-CN" altLang="en-US" sz="800" dirty="0">
                <a:latin typeface="+mn-ea"/>
              </a:rPr>
              <a:t>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ACC53B0-0E76-2CA1-FB62-91D19A17A125}"/>
              </a:ext>
            </a:extLst>
          </p:cNvPr>
          <p:cNvSpPr txBox="1"/>
          <p:nvPr/>
        </p:nvSpPr>
        <p:spPr>
          <a:xfrm>
            <a:off x="4770069" y="3829812"/>
            <a:ext cx="1257769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大搜结果页在下滑第六位用阿拉丁承接品类榜单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/>
              <a:t>曝光</a:t>
            </a:r>
            <a:r>
              <a:rPr lang="en-US" altLang="zh-CN" sz="800" dirty="0"/>
              <a:t>31w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0.8%</a:t>
            </a:r>
            <a:r>
              <a:rPr lang="zh-CN" altLang="en-US" sz="800" dirty="0">
                <a:latin typeface="+mn-ea"/>
              </a:rPr>
              <a:t>，后向意向率</a:t>
            </a:r>
            <a:r>
              <a:rPr lang="en-US" altLang="zh-CN" sz="800" dirty="0">
                <a:latin typeface="+mn-ea"/>
              </a:rPr>
              <a:t>37.4%</a:t>
            </a:r>
          </a:p>
        </p:txBody>
      </p:sp>
      <p:pic>
        <p:nvPicPr>
          <p:cNvPr id="25" name="图片 24" descr="图形用户界面&#10;&#10;AI 生成的内容可能不正确。">
            <a:extLst>
              <a:ext uri="{FF2B5EF4-FFF2-40B4-BE49-F238E27FC236}">
                <a16:creationId xmlns:a16="http://schemas.microsoft.com/office/drawing/2014/main" id="{E9FE27A7-D78D-A0FF-16E8-396E4352A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043" y="1094620"/>
            <a:ext cx="1159833" cy="25200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DB604136-F02E-40A7-A074-BBD37AB13DED}"/>
              </a:ext>
            </a:extLst>
          </p:cNvPr>
          <p:cNvSpPr txBox="1"/>
          <p:nvPr/>
        </p:nvSpPr>
        <p:spPr>
          <a:xfrm>
            <a:off x="9341678" y="3888926"/>
            <a:ext cx="1257769" cy="125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给与优质上榜门店以大搜流量扶持。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春节期间，当地人推荐及特色菜扶持门店较对照组曝光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提升</a:t>
            </a:r>
            <a:r>
              <a:rPr lang="en-US" altLang="zh-CN" sz="800" dirty="0">
                <a:latin typeface="+mn-ea"/>
              </a:rPr>
              <a:t>30.9%</a:t>
            </a:r>
            <a:r>
              <a:rPr lang="zh-CN" altLang="en-US" sz="800" dirty="0">
                <a:latin typeface="+mn-ea"/>
              </a:rPr>
              <a:t>，意向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提升</a:t>
            </a:r>
            <a:r>
              <a:rPr lang="en-US" altLang="zh-CN" sz="800" dirty="0">
                <a:latin typeface="+mn-ea"/>
              </a:rPr>
              <a:t>34.9%</a:t>
            </a:r>
            <a:r>
              <a:rPr lang="zh-CN" altLang="en-US" sz="800" dirty="0">
                <a:latin typeface="+mn-ea"/>
              </a:rPr>
              <a:t>，支付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提升</a:t>
            </a:r>
            <a:r>
              <a:rPr lang="en-US" altLang="zh-CN" sz="800" dirty="0">
                <a:latin typeface="+mn-ea"/>
              </a:rPr>
              <a:t>16.6%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D7C4DA6-5F80-4DF7-82C9-96788DDF8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4966" y="735015"/>
            <a:ext cx="1374913" cy="298072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4D2EC69-9B6E-5489-7890-0693EDC6E832}"/>
              </a:ext>
            </a:extLst>
          </p:cNvPr>
          <p:cNvSpPr txBox="1"/>
          <p:nvPr/>
        </p:nvSpPr>
        <p:spPr>
          <a:xfrm>
            <a:off x="6309822" y="3817954"/>
            <a:ext cx="1257769" cy="125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新版榜单页，强化榜单心智，目前放量</a:t>
            </a:r>
            <a:r>
              <a:rPr lang="en-US" altLang="zh-CN" sz="800" dirty="0">
                <a:latin typeface="+mn-ea"/>
              </a:rPr>
              <a:t>50%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/>
              <a:t>DAU22-35w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77.9%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旧版</a:t>
            </a:r>
            <a:r>
              <a:rPr lang="en-US" altLang="zh-CN" sz="800" dirty="0">
                <a:latin typeface="+mn-ea"/>
              </a:rPr>
              <a:t>+11.7pp</a:t>
            </a:r>
            <a:r>
              <a:rPr lang="zh-CN" altLang="en-US" sz="800" dirty="0">
                <a:latin typeface="+mn-ea"/>
              </a:rPr>
              <a:t>），意向率：</a:t>
            </a:r>
            <a:r>
              <a:rPr lang="en-US" altLang="zh-CN" sz="800" dirty="0">
                <a:latin typeface="+mn-ea"/>
              </a:rPr>
              <a:t>43.6%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旧版</a:t>
            </a:r>
            <a:r>
              <a:rPr lang="en-US" altLang="zh-CN" sz="800" dirty="0">
                <a:latin typeface="+mn-ea"/>
              </a:rPr>
              <a:t>-3.6pp</a:t>
            </a:r>
            <a:r>
              <a:rPr lang="zh-CN" altLang="en-US" sz="800" dirty="0">
                <a:latin typeface="+mn-ea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6CAAB3-21C9-EFF3-BFF2-A7D17C360476}"/>
              </a:ext>
            </a:extLst>
          </p:cNvPr>
          <p:cNvSpPr txBox="1"/>
          <p:nvPr/>
        </p:nvSpPr>
        <p:spPr>
          <a:xfrm>
            <a:off x="7607648" y="3819877"/>
            <a:ext cx="1257769" cy="1114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放开二三级</a:t>
            </a:r>
            <a:r>
              <a:rPr lang="en-US" altLang="zh-CN" sz="800" dirty="0">
                <a:latin typeface="+mn-ea"/>
              </a:rPr>
              <a:t>74</a:t>
            </a:r>
            <a:r>
              <a:rPr lang="zh-CN" altLang="en-US" sz="800" dirty="0">
                <a:latin typeface="+mn-ea"/>
              </a:rPr>
              <a:t>个品类成榜，支持更多的品类找店的需求承接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/>
              <a:t>6.9</a:t>
            </a:r>
            <a:r>
              <a:rPr lang="en-US" altLang="zh-CN" sz="800" dirty="0">
                <a:latin typeface="+mn-ea"/>
              </a:rPr>
              <a:t>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/>
              <a:t> vs</a:t>
            </a:r>
            <a:r>
              <a:rPr lang="zh-CN" altLang="en-US" sz="800" dirty="0"/>
              <a:t>增加前</a:t>
            </a:r>
            <a:r>
              <a:rPr lang="en-US" altLang="zh-CN" sz="800" dirty="0">
                <a:latin typeface="+mn-ea"/>
              </a:rPr>
              <a:t>+1.2pp</a:t>
            </a:r>
            <a:r>
              <a:rPr lang="zh-CN" altLang="en-US" sz="800" dirty="0">
                <a:latin typeface="+mn-ea"/>
              </a:rPr>
              <a:t>），</a:t>
            </a:r>
            <a:r>
              <a:rPr lang="zh-CN" altLang="en-US" sz="800" dirty="0"/>
              <a:t>意向率</a:t>
            </a:r>
            <a:r>
              <a:rPr lang="en-US" altLang="zh-CN" sz="800" dirty="0"/>
              <a:t>40.8%</a:t>
            </a:r>
            <a:r>
              <a:rPr lang="zh-CN" altLang="en-US" sz="800" dirty="0"/>
              <a:t>（</a:t>
            </a:r>
            <a:r>
              <a:rPr lang="en-US" altLang="zh-CN" sz="800" dirty="0"/>
              <a:t>vs</a:t>
            </a:r>
            <a:r>
              <a:rPr lang="zh-CN" altLang="en-US" sz="800" dirty="0"/>
              <a:t>增加前</a:t>
            </a:r>
            <a:r>
              <a:rPr lang="en-US" altLang="zh-CN" sz="800" dirty="0"/>
              <a:t>+4.8pp</a:t>
            </a:r>
            <a:r>
              <a:rPr lang="zh-CN" altLang="en-US" sz="800" dirty="0"/>
              <a:t>）</a:t>
            </a:r>
            <a:endParaRPr lang="zh-CN" altLang="en-US" sz="800" dirty="0">
              <a:latin typeface="+mn-ea"/>
            </a:endParaRPr>
          </a:p>
        </p:txBody>
      </p:sp>
      <p:pic>
        <p:nvPicPr>
          <p:cNvPr id="20" name="图片 19" descr="图形用户界面, 网站&#10;&#10;AI 生成的内容可能不正确。">
            <a:extLst>
              <a:ext uri="{FF2B5EF4-FFF2-40B4-BE49-F238E27FC236}">
                <a16:creationId xmlns:a16="http://schemas.microsoft.com/office/drawing/2014/main" id="{ED5CE1C9-4348-4E8A-3D39-684A91CC32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0674" y="1102060"/>
            <a:ext cx="1162798" cy="25200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6E21ED0D-3394-7628-EF46-B27637D2482A}"/>
              </a:ext>
            </a:extLst>
          </p:cNvPr>
          <p:cNvSpPr/>
          <p:nvPr/>
        </p:nvSpPr>
        <p:spPr>
          <a:xfrm>
            <a:off x="4742710" y="2721744"/>
            <a:ext cx="1150762" cy="304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 descr="表格&#10;&#10;AI 生成的内容可能不正确。">
            <a:extLst>
              <a:ext uri="{FF2B5EF4-FFF2-40B4-BE49-F238E27FC236}">
                <a16:creationId xmlns:a16="http://schemas.microsoft.com/office/drawing/2014/main" id="{8BED77DE-3CF7-624B-AB95-42E5EE8D14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015" y="6613827"/>
            <a:ext cx="7772400" cy="193253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D71CD3E-2099-B26B-56F1-ECFB24D80F76}"/>
              </a:ext>
            </a:extLst>
          </p:cNvPr>
          <p:cNvSpPr txBox="1"/>
          <p:nvPr/>
        </p:nvSpPr>
        <p:spPr>
          <a:xfrm>
            <a:off x="5019524" y="5372419"/>
            <a:ext cx="873948" cy="317497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31w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E1B485E-C4FF-2226-B4EC-86A4D8D5DB43}"/>
              </a:ext>
            </a:extLst>
          </p:cNvPr>
          <p:cNvSpPr txBox="1"/>
          <p:nvPr/>
        </p:nvSpPr>
        <p:spPr>
          <a:xfrm>
            <a:off x="6309822" y="5367415"/>
            <a:ext cx="1038165" cy="317497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100-120w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47BEA69-6767-65C4-5DE7-3B79FB1F67BC}"/>
              </a:ext>
            </a:extLst>
          </p:cNvPr>
          <p:cNvSpPr txBox="1"/>
          <p:nvPr/>
        </p:nvSpPr>
        <p:spPr>
          <a:xfrm>
            <a:off x="3466945" y="5379121"/>
            <a:ext cx="1124168" cy="43080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40w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200</a:t>
            </a:r>
            <a:r>
              <a:rPr lang="zh-CN" altLang="en-US" b="1" dirty="0">
                <a:solidFill>
                  <a:schemeClr val="tx1"/>
                </a:solidFill>
              </a:rPr>
              <a:t>多个高搜低转</a:t>
            </a:r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A15A8AB-BDB5-3FE2-98CC-A1DED95B3E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373" y="1086619"/>
            <a:ext cx="1160395" cy="25200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0E333E74-DEFF-E060-EB11-D6FC53CC3660}"/>
              </a:ext>
            </a:extLst>
          </p:cNvPr>
          <p:cNvSpPr txBox="1"/>
          <p:nvPr/>
        </p:nvSpPr>
        <p:spPr>
          <a:xfrm>
            <a:off x="1841241" y="6012296"/>
            <a:ext cx="1257769" cy="515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月初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针对不同城市*特色菜做产品化的</a:t>
            </a: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Sug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投放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FEBC911-7A64-0F83-90B6-E43B0CDF71F3}"/>
              </a:ext>
            </a:extLst>
          </p:cNvPr>
          <p:cNvSpPr txBox="1"/>
          <p:nvPr/>
        </p:nvSpPr>
        <p:spPr>
          <a:xfrm>
            <a:off x="4829256" y="5799118"/>
            <a:ext cx="1257769" cy="515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月底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强化上榜标签，更明显但也更稀缺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1190CF-B97E-70D4-D8DB-1AC7FF5A09EA}"/>
              </a:ext>
            </a:extLst>
          </p:cNvPr>
          <p:cNvSpPr txBox="1"/>
          <p:nvPr/>
        </p:nvSpPr>
        <p:spPr>
          <a:xfrm>
            <a:off x="3523730" y="5829627"/>
            <a:ext cx="1257769" cy="81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月中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针对泛品类、泛场景搜索词，在原本已有的图筛结果中增加品类、场景榜单的承接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6627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E09A-AF32-63ED-3377-089C07C5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B703C-E8B4-106C-8957-4B636A4AE7E5}"/>
              </a:ext>
            </a:extLst>
          </p:cNvPr>
          <p:cNvSpPr txBox="1">
            <a:spLocks/>
          </p:cNvSpPr>
          <p:nvPr/>
        </p:nvSpPr>
        <p:spPr>
          <a:xfrm>
            <a:off x="100933" y="32956"/>
            <a:ext cx="8698753" cy="4273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承接用户场景决策</a:t>
            </a:r>
            <a:r>
              <a:rPr lang="en-US" altLang="zh-CN" sz="2100" dirty="0">
                <a:solidFill>
                  <a:srgbClr val="FF0000"/>
                </a:solidFill>
                <a:latin typeface="+mj-ea"/>
              </a:rPr>
              <a:t>-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场景榜单的试点（是否有旅游、约会</a:t>
            </a:r>
            <a:r>
              <a:rPr lang="en-US" altLang="zh-CN" sz="2100" dirty="0">
                <a:solidFill>
                  <a:srgbClr val="FF0000"/>
                </a:solidFill>
                <a:latin typeface="+mj-ea"/>
              </a:rPr>
              <a:t>BC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满足情况的数据、调研，更</a:t>
            </a:r>
            <a:r>
              <a:rPr lang="en-US" altLang="zh-CN" sz="2100" dirty="0">
                <a:solidFill>
                  <a:srgbClr val="FF0000"/>
                </a:solidFill>
                <a:latin typeface="+mj-ea"/>
              </a:rPr>
              <a:t>solid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F79B24D-E51B-9DC8-80B6-405EDA822F86}"/>
              </a:ext>
            </a:extLst>
          </p:cNvPr>
          <p:cNvSpPr txBox="1"/>
          <p:nvPr/>
        </p:nvSpPr>
        <p:spPr>
          <a:xfrm>
            <a:off x="-2800225" y="-1015663"/>
            <a:ext cx="19353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增加旅游榜单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增加数据效果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下沉情况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AOI</a:t>
            </a:r>
            <a:r>
              <a:rPr lang="zh-CN" altLang="en-US" dirty="0">
                <a:solidFill>
                  <a:srgbClr val="C00000"/>
                </a:solidFill>
              </a:rPr>
              <a:t>扩充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后续开放榜与政府联名</a:t>
            </a:r>
            <a:endParaRPr lang="en-US" altLang="zh-CN" dirty="0">
              <a:solidFill>
                <a:srgbClr val="C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11556C-6A0D-4C52-9C64-0A29694C50EE}"/>
              </a:ext>
            </a:extLst>
          </p:cNvPr>
          <p:cNvGrpSpPr/>
          <p:nvPr/>
        </p:nvGrpSpPr>
        <p:grpSpPr>
          <a:xfrm>
            <a:off x="64516" y="667258"/>
            <a:ext cx="727117" cy="986393"/>
            <a:chOff x="128016" y="566928"/>
            <a:chExt cx="727117" cy="986393"/>
          </a:xfrm>
        </p:grpSpPr>
        <p:sp>
          <p:nvSpPr>
            <p:cNvPr id="4" name="Shape 14">
              <a:extLst>
                <a:ext uri="{FF2B5EF4-FFF2-40B4-BE49-F238E27FC236}">
                  <a16:creationId xmlns:a16="http://schemas.microsoft.com/office/drawing/2014/main" id="{7CC0CF4D-8B73-CCBB-25BD-BEB374E3097B}"/>
                </a:ext>
              </a:extLst>
            </p:cNvPr>
            <p:cNvSpPr/>
            <p:nvPr/>
          </p:nvSpPr>
          <p:spPr>
            <a:xfrm>
              <a:off x="128016" y="566928"/>
              <a:ext cx="727117" cy="986393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</p:sp>
        <p:sp>
          <p:nvSpPr>
            <p:cNvPr id="5" name="Text 15">
              <a:extLst>
                <a:ext uri="{FF2B5EF4-FFF2-40B4-BE49-F238E27FC236}">
                  <a16:creationId xmlns:a16="http://schemas.microsoft.com/office/drawing/2014/main" id="{652C061F-AEC3-CDDC-2595-898927A671D1}"/>
                </a:ext>
              </a:extLst>
            </p:cNvPr>
            <p:cNvSpPr/>
            <p:nvPr/>
          </p:nvSpPr>
          <p:spPr>
            <a:xfrm>
              <a:off x="128016" y="566928"/>
              <a:ext cx="727117" cy="98639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D100"/>
                  </a:solidFill>
                  <a:latin typeface="+mn-ea"/>
                  <a:cs typeface="Microsoft YaHei" pitchFamily="34" charset="-120"/>
                </a:rPr>
                <a:t>特质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D100"/>
                  </a:solidFill>
                  <a:latin typeface="+mn-ea"/>
                  <a:cs typeface="Microsoft YaHei" pitchFamily="34" charset="-120"/>
                </a:rPr>
                <a:t>定位</a:t>
              </a:r>
              <a:endParaRPr lang="en-US" sz="1100" dirty="0">
                <a:latin typeface="+mn-ea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52C7B58-7B09-4861-8EF1-D26DAC50D2EF}"/>
              </a:ext>
            </a:extLst>
          </p:cNvPr>
          <p:cNvGrpSpPr/>
          <p:nvPr/>
        </p:nvGrpSpPr>
        <p:grpSpPr>
          <a:xfrm>
            <a:off x="64516" y="1699514"/>
            <a:ext cx="727117" cy="627704"/>
            <a:chOff x="128016" y="1593716"/>
            <a:chExt cx="727117" cy="627704"/>
          </a:xfrm>
        </p:grpSpPr>
        <p:sp>
          <p:nvSpPr>
            <p:cNvPr id="6" name="Shape 16">
              <a:extLst>
                <a:ext uri="{FF2B5EF4-FFF2-40B4-BE49-F238E27FC236}">
                  <a16:creationId xmlns:a16="http://schemas.microsoft.com/office/drawing/2014/main" id="{21A1AA1E-D17E-ED89-088D-B419E3885F25}"/>
                </a:ext>
              </a:extLst>
            </p:cNvPr>
            <p:cNvSpPr/>
            <p:nvPr/>
          </p:nvSpPr>
          <p:spPr>
            <a:xfrm>
              <a:off x="128016" y="1593716"/>
              <a:ext cx="727117" cy="627704"/>
            </a:xfrm>
            <a:prstGeom prst="rect">
              <a:avLst/>
            </a:prstGeom>
            <a:solidFill>
              <a:srgbClr val="424242"/>
            </a:solidFill>
            <a:ln w="12700">
              <a:solidFill>
                <a:srgbClr val="424242"/>
              </a:solidFill>
              <a:prstDash val="solid"/>
            </a:ln>
          </p:spPr>
        </p:sp>
        <p:sp>
          <p:nvSpPr>
            <p:cNvPr id="7" name="Text 17">
              <a:extLst>
                <a:ext uri="{FF2B5EF4-FFF2-40B4-BE49-F238E27FC236}">
                  <a16:creationId xmlns:a16="http://schemas.microsoft.com/office/drawing/2014/main" id="{92D2A8E3-55F6-41A7-379D-3A2B81F182B5}"/>
                </a:ext>
              </a:extLst>
            </p:cNvPr>
            <p:cNvSpPr/>
            <p:nvPr/>
          </p:nvSpPr>
          <p:spPr>
            <a:xfrm>
              <a:off x="128016" y="1593716"/>
              <a:ext cx="727117" cy="6277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+mn-ea"/>
                  <a:cs typeface="Microsoft YaHei" pitchFamily="34" charset="-120"/>
                </a:rPr>
                <a:t>用户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+mn-ea"/>
                  <a:cs typeface="Microsoft YaHei" pitchFamily="34" charset="-120"/>
                </a:rPr>
                <a:t>结构</a:t>
              </a:r>
              <a:endParaRPr lang="en-US" sz="1100" dirty="0">
                <a:latin typeface="+mn-ea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A5D797E-6AE2-43D4-B49E-189B0DAF5DA6}"/>
              </a:ext>
            </a:extLst>
          </p:cNvPr>
          <p:cNvGrpSpPr/>
          <p:nvPr/>
        </p:nvGrpSpPr>
        <p:grpSpPr>
          <a:xfrm>
            <a:off x="64166" y="2373080"/>
            <a:ext cx="727117" cy="807049"/>
            <a:chOff x="127666" y="2283684"/>
            <a:chExt cx="727117" cy="807049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FF07410C-1614-1DDF-FE9F-F1D76122A5A5}"/>
                </a:ext>
              </a:extLst>
            </p:cNvPr>
            <p:cNvSpPr/>
            <p:nvPr/>
          </p:nvSpPr>
          <p:spPr>
            <a:xfrm>
              <a:off x="127666" y="2283684"/>
              <a:ext cx="727117" cy="807049"/>
            </a:xfrm>
            <a:prstGeom prst="rect">
              <a:avLst/>
            </a:prstGeom>
            <a:solidFill>
              <a:srgbClr val="757575"/>
            </a:solidFill>
            <a:ln w="12700">
              <a:solidFill>
                <a:srgbClr val="757575"/>
              </a:solidFill>
              <a:prstDash val="solid"/>
            </a:ln>
          </p:spPr>
        </p:sp>
        <p:sp>
          <p:nvSpPr>
            <p:cNvPr id="11" name="Text 21">
              <a:extLst>
                <a:ext uri="{FF2B5EF4-FFF2-40B4-BE49-F238E27FC236}">
                  <a16:creationId xmlns:a16="http://schemas.microsoft.com/office/drawing/2014/main" id="{A7E40818-A7C2-E7B6-F634-E427BC74B2D6}"/>
                </a:ext>
              </a:extLst>
            </p:cNvPr>
            <p:cNvSpPr/>
            <p:nvPr/>
          </p:nvSpPr>
          <p:spPr>
            <a:xfrm>
              <a:off x="127666" y="2283684"/>
              <a:ext cx="727117" cy="8070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+mn-ea"/>
                  <a:cs typeface="Microsoft YaHei" pitchFamily="34" charset="-120"/>
                </a:rPr>
                <a:t>供给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+mn-ea"/>
                  <a:cs typeface="Microsoft YaHei" pitchFamily="34" charset="-120"/>
                </a:rPr>
                <a:t>特征</a:t>
              </a:r>
              <a:endParaRPr lang="en-US" sz="1100" dirty="0">
                <a:latin typeface="+mn-ea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37B76AE-D63A-4A3C-B6E9-CED35509C43E}"/>
              </a:ext>
            </a:extLst>
          </p:cNvPr>
          <p:cNvGrpSpPr/>
          <p:nvPr/>
        </p:nvGrpSpPr>
        <p:grpSpPr>
          <a:xfrm>
            <a:off x="64166" y="3225991"/>
            <a:ext cx="727117" cy="630706"/>
            <a:chOff x="127666" y="3131128"/>
            <a:chExt cx="727117" cy="717376"/>
          </a:xfrm>
        </p:grpSpPr>
        <p:sp>
          <p:nvSpPr>
            <p:cNvPr id="12" name="Shape 22">
              <a:extLst>
                <a:ext uri="{FF2B5EF4-FFF2-40B4-BE49-F238E27FC236}">
                  <a16:creationId xmlns:a16="http://schemas.microsoft.com/office/drawing/2014/main" id="{54ECE24D-987C-63D7-B4BB-4DE155A31C48}"/>
                </a:ext>
              </a:extLst>
            </p:cNvPr>
            <p:cNvSpPr/>
            <p:nvPr/>
          </p:nvSpPr>
          <p:spPr>
            <a:xfrm>
              <a:off x="127666" y="3131128"/>
              <a:ext cx="727117" cy="717376"/>
            </a:xfrm>
            <a:prstGeom prst="rect">
              <a:avLst/>
            </a:prstGeom>
            <a:solidFill>
              <a:srgbClr val="FFD100"/>
            </a:solidFill>
            <a:ln w="12700">
              <a:solidFill>
                <a:srgbClr val="FFD100"/>
              </a:solidFill>
              <a:prstDash val="solid"/>
            </a:ln>
          </p:spPr>
        </p:sp>
        <p:sp>
          <p:nvSpPr>
            <p:cNvPr id="13" name="Text 23">
              <a:extLst>
                <a:ext uri="{FF2B5EF4-FFF2-40B4-BE49-F238E27FC236}">
                  <a16:creationId xmlns:a16="http://schemas.microsoft.com/office/drawing/2014/main" id="{E9D9CBA9-B540-A5EE-8458-2FEF6FD5E1B5}"/>
                </a:ext>
              </a:extLst>
            </p:cNvPr>
            <p:cNvSpPr/>
            <p:nvPr/>
          </p:nvSpPr>
          <p:spPr>
            <a:xfrm>
              <a:off x="127666" y="3131128"/>
              <a:ext cx="727117" cy="71737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A1A1A"/>
                  </a:solidFill>
                  <a:latin typeface="+mn-ea"/>
                  <a:cs typeface="Microsoft YaHei" pitchFamily="34" charset="-120"/>
                </a:rPr>
                <a:t>当前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A1A1A"/>
                  </a:solidFill>
                  <a:latin typeface="+mn-ea"/>
                  <a:cs typeface="Microsoft YaHei" pitchFamily="34" charset="-120"/>
                </a:rPr>
                <a:t>进展</a:t>
              </a:r>
              <a:endParaRPr lang="en-US" sz="1100" dirty="0">
                <a:latin typeface="+mn-ea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08C4992B-3A8B-45FC-A407-0802B7A84E7B}"/>
              </a:ext>
            </a:extLst>
          </p:cNvPr>
          <p:cNvGrpSpPr/>
          <p:nvPr/>
        </p:nvGrpSpPr>
        <p:grpSpPr>
          <a:xfrm>
            <a:off x="57484" y="3913958"/>
            <a:ext cx="746167" cy="1023883"/>
            <a:chOff x="108616" y="3888900"/>
            <a:chExt cx="746167" cy="538033"/>
          </a:xfrm>
        </p:grpSpPr>
        <p:sp>
          <p:nvSpPr>
            <p:cNvPr id="15" name="Shape 24">
              <a:extLst>
                <a:ext uri="{FF2B5EF4-FFF2-40B4-BE49-F238E27FC236}">
                  <a16:creationId xmlns:a16="http://schemas.microsoft.com/office/drawing/2014/main" id="{2BE73DC8-4822-3032-13DA-C9BB287C47AD}"/>
                </a:ext>
              </a:extLst>
            </p:cNvPr>
            <p:cNvSpPr/>
            <p:nvPr/>
          </p:nvSpPr>
          <p:spPr>
            <a:xfrm>
              <a:off x="108616" y="3888900"/>
              <a:ext cx="727117" cy="538033"/>
            </a:xfrm>
            <a:prstGeom prst="rect">
              <a:avLst/>
            </a:prstGeom>
            <a:solidFill>
              <a:srgbClr val="FFC300"/>
            </a:solidFill>
            <a:ln w="12700">
              <a:solidFill>
                <a:srgbClr val="FFC300"/>
              </a:solidFill>
              <a:prstDash val="solid"/>
            </a:ln>
          </p:spPr>
        </p:sp>
        <p:sp>
          <p:nvSpPr>
            <p:cNvPr id="16" name="Text 25">
              <a:extLst>
                <a:ext uri="{FF2B5EF4-FFF2-40B4-BE49-F238E27FC236}">
                  <a16:creationId xmlns:a16="http://schemas.microsoft.com/office/drawing/2014/main" id="{7D826C74-C275-CF01-5884-738ACE85C497}"/>
                </a:ext>
              </a:extLst>
            </p:cNvPr>
            <p:cNvSpPr/>
            <p:nvPr/>
          </p:nvSpPr>
          <p:spPr>
            <a:xfrm>
              <a:off x="127666" y="3888900"/>
              <a:ext cx="727117" cy="53803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A1A1A"/>
                  </a:solidFill>
                  <a:latin typeface="+mn-ea"/>
                  <a:cs typeface="Microsoft YaHei" pitchFamily="34" charset="-120"/>
                </a:rPr>
                <a:t>未来</a:t>
              </a:r>
              <a:endParaRPr lang="en-US" sz="1100" dirty="0">
                <a:latin typeface="+mn-ea"/>
              </a:endParaRPr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A1A1A"/>
                  </a:solidFill>
                  <a:latin typeface="+mn-ea"/>
                  <a:cs typeface="Microsoft YaHei" pitchFamily="34" charset="-120"/>
                </a:rPr>
                <a:t>计划</a:t>
              </a:r>
              <a:endParaRPr lang="en-US" sz="1100" dirty="0">
                <a:latin typeface="+mn-ea"/>
              </a:endParaRPr>
            </a:p>
          </p:txBody>
        </p:sp>
      </p:grpSp>
      <p:sp>
        <p:nvSpPr>
          <p:cNvPr id="18" name="Shape 27">
            <a:extLst>
              <a:ext uri="{FF2B5EF4-FFF2-40B4-BE49-F238E27FC236}">
                <a16:creationId xmlns:a16="http://schemas.microsoft.com/office/drawing/2014/main" id="{E55B11F0-7660-0483-BE26-92BF2D3E68DB}"/>
              </a:ext>
            </a:extLst>
          </p:cNvPr>
          <p:cNvSpPr/>
          <p:nvPr/>
        </p:nvSpPr>
        <p:spPr>
          <a:xfrm>
            <a:off x="4518994" y="353297"/>
            <a:ext cx="2226041" cy="24180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约会</a:t>
            </a:r>
          </a:p>
        </p:txBody>
      </p:sp>
      <p:sp>
        <p:nvSpPr>
          <p:cNvPr id="56" name="Shape 64">
            <a:extLst>
              <a:ext uri="{FF2B5EF4-FFF2-40B4-BE49-F238E27FC236}">
                <a16:creationId xmlns:a16="http://schemas.microsoft.com/office/drawing/2014/main" id="{0E7D0926-CF70-E64E-8C78-B8FE1E8C597D}"/>
              </a:ext>
            </a:extLst>
          </p:cNvPr>
          <p:cNvSpPr/>
          <p:nvPr/>
        </p:nvSpPr>
        <p:spPr>
          <a:xfrm>
            <a:off x="872423" y="353297"/>
            <a:ext cx="3538291" cy="24180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旅游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D904D4D-4873-41F0-8218-6BCA499FD46F}"/>
              </a:ext>
            </a:extLst>
          </p:cNvPr>
          <p:cNvGrpSpPr/>
          <p:nvPr/>
        </p:nvGrpSpPr>
        <p:grpSpPr>
          <a:xfrm>
            <a:off x="871724" y="661548"/>
            <a:ext cx="3538693" cy="3793479"/>
            <a:chOff x="935224" y="744098"/>
            <a:chExt cx="3068307" cy="3793479"/>
          </a:xfrm>
        </p:grpSpPr>
        <p:sp>
          <p:nvSpPr>
            <p:cNvPr id="55" name="Shape 63">
              <a:extLst>
                <a:ext uri="{FF2B5EF4-FFF2-40B4-BE49-F238E27FC236}">
                  <a16:creationId xmlns:a16="http://schemas.microsoft.com/office/drawing/2014/main" id="{8A11FCBC-FE1A-DE60-72C6-E00B7F65A1B9}"/>
                </a:ext>
              </a:extLst>
            </p:cNvPr>
            <p:cNvSpPr/>
            <p:nvPr/>
          </p:nvSpPr>
          <p:spPr>
            <a:xfrm>
              <a:off x="935574" y="744098"/>
              <a:ext cx="1746666" cy="98639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62" name="Shape 70">
              <a:extLst>
                <a:ext uri="{FF2B5EF4-FFF2-40B4-BE49-F238E27FC236}">
                  <a16:creationId xmlns:a16="http://schemas.microsoft.com/office/drawing/2014/main" id="{8FE1E31D-659B-F733-A592-3F854386EDF4}"/>
                </a:ext>
              </a:extLst>
            </p:cNvPr>
            <p:cNvSpPr/>
            <p:nvPr/>
          </p:nvSpPr>
          <p:spPr>
            <a:xfrm>
              <a:off x="935573" y="1789126"/>
              <a:ext cx="3067958" cy="61860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63" name="Text 71">
              <a:extLst>
                <a:ext uri="{FF2B5EF4-FFF2-40B4-BE49-F238E27FC236}">
                  <a16:creationId xmlns:a16="http://schemas.microsoft.com/office/drawing/2014/main" id="{EFACDD7D-FE09-6E2E-82C9-E93CC4B2940E}"/>
                </a:ext>
              </a:extLst>
            </p:cNvPr>
            <p:cNvSpPr/>
            <p:nvPr/>
          </p:nvSpPr>
          <p:spPr>
            <a:xfrm>
              <a:off x="1016365" y="1797064"/>
              <a:ext cx="1657322" cy="5199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900" dirty="0">
                <a:latin typeface="+mn-ea"/>
              </a:endParaRPr>
            </a:p>
          </p:txBody>
        </p:sp>
        <p:sp>
          <p:nvSpPr>
            <p:cNvPr id="77" name="Text 85">
              <a:extLst>
                <a:ext uri="{FF2B5EF4-FFF2-40B4-BE49-F238E27FC236}">
                  <a16:creationId xmlns:a16="http://schemas.microsoft.com/office/drawing/2014/main" id="{6A9C8A21-B3D5-2C18-8747-68BA18D85946}"/>
                </a:ext>
              </a:extLst>
            </p:cNvPr>
            <p:cNvSpPr/>
            <p:nvPr/>
          </p:nvSpPr>
          <p:spPr>
            <a:xfrm>
              <a:off x="1069876" y="2850590"/>
              <a:ext cx="1506107" cy="308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800" dirty="0">
                <a:latin typeface="+mn-ea"/>
              </a:endParaRPr>
            </a:p>
          </p:txBody>
        </p:sp>
        <p:sp>
          <p:nvSpPr>
            <p:cNvPr id="78" name="Shape 86">
              <a:extLst>
                <a:ext uri="{FF2B5EF4-FFF2-40B4-BE49-F238E27FC236}">
                  <a16:creationId xmlns:a16="http://schemas.microsoft.com/office/drawing/2014/main" id="{A85D7979-BEB4-3260-AC3E-F368E9E0EC3F}"/>
                </a:ext>
              </a:extLst>
            </p:cNvPr>
            <p:cNvSpPr/>
            <p:nvPr/>
          </p:nvSpPr>
          <p:spPr>
            <a:xfrm>
              <a:off x="935224" y="3303615"/>
              <a:ext cx="1746666" cy="637088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83" name="Shape 91">
              <a:extLst>
                <a:ext uri="{FF2B5EF4-FFF2-40B4-BE49-F238E27FC236}">
                  <a16:creationId xmlns:a16="http://schemas.microsoft.com/office/drawing/2014/main" id="{F4BAD5FA-EB57-9795-4E8C-6546EB41A7C3}"/>
                </a:ext>
              </a:extLst>
            </p:cNvPr>
            <p:cNvSpPr/>
            <p:nvPr/>
          </p:nvSpPr>
          <p:spPr>
            <a:xfrm>
              <a:off x="935481" y="3987689"/>
              <a:ext cx="1746666" cy="549888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</p:grpSp>
      <p:sp>
        <p:nvSpPr>
          <p:cNvPr id="89" name="Shape 97">
            <a:extLst>
              <a:ext uri="{FF2B5EF4-FFF2-40B4-BE49-F238E27FC236}">
                <a16:creationId xmlns:a16="http://schemas.microsoft.com/office/drawing/2014/main" id="{D749C59E-3154-6347-B87D-8681FAF2E144}"/>
              </a:ext>
            </a:extLst>
          </p:cNvPr>
          <p:cNvSpPr/>
          <p:nvPr/>
        </p:nvSpPr>
        <p:spPr>
          <a:xfrm>
            <a:off x="6825646" y="370150"/>
            <a:ext cx="2217420" cy="24180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亲子</a:t>
            </a:r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97020313-408B-41C2-89E7-55FC94F80F32}"/>
              </a:ext>
            </a:extLst>
          </p:cNvPr>
          <p:cNvGrpSpPr/>
          <p:nvPr/>
        </p:nvGrpSpPr>
        <p:grpSpPr>
          <a:xfrm>
            <a:off x="876935" y="661548"/>
            <a:ext cx="3539762" cy="3810386"/>
            <a:chOff x="-1540504" y="744098"/>
            <a:chExt cx="4229475" cy="3810386"/>
          </a:xfrm>
        </p:grpSpPr>
        <p:sp>
          <p:nvSpPr>
            <p:cNvPr id="136" name="Shape 63">
              <a:extLst>
                <a:ext uri="{FF2B5EF4-FFF2-40B4-BE49-F238E27FC236}">
                  <a16:creationId xmlns:a16="http://schemas.microsoft.com/office/drawing/2014/main" id="{CBEC1492-EDBF-464D-8393-A9558A36E895}"/>
                </a:ext>
              </a:extLst>
            </p:cNvPr>
            <p:cNvSpPr/>
            <p:nvPr/>
          </p:nvSpPr>
          <p:spPr>
            <a:xfrm>
              <a:off x="935574" y="744098"/>
              <a:ext cx="1746666" cy="98639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39" name="Text 71">
              <a:extLst>
                <a:ext uri="{FF2B5EF4-FFF2-40B4-BE49-F238E27FC236}">
                  <a16:creationId xmlns:a16="http://schemas.microsoft.com/office/drawing/2014/main" id="{6B05A129-72E9-459B-94C6-378A1EF9225B}"/>
                </a:ext>
              </a:extLst>
            </p:cNvPr>
            <p:cNvSpPr/>
            <p:nvPr/>
          </p:nvSpPr>
          <p:spPr>
            <a:xfrm>
              <a:off x="1016365" y="1797064"/>
              <a:ext cx="1657322" cy="5199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900" dirty="0">
                <a:latin typeface="+mn-ea"/>
              </a:endParaRPr>
            </a:p>
          </p:txBody>
        </p:sp>
        <p:sp>
          <p:nvSpPr>
            <p:cNvPr id="140" name="Shape 79">
              <a:extLst>
                <a:ext uri="{FF2B5EF4-FFF2-40B4-BE49-F238E27FC236}">
                  <a16:creationId xmlns:a16="http://schemas.microsoft.com/office/drawing/2014/main" id="{E7E8FA77-6517-49E4-A022-36E6FE90CA50}"/>
                </a:ext>
              </a:extLst>
            </p:cNvPr>
            <p:cNvSpPr/>
            <p:nvPr/>
          </p:nvSpPr>
          <p:spPr>
            <a:xfrm>
              <a:off x="-1540504" y="2454002"/>
              <a:ext cx="4229475" cy="80656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42" name="Text 85">
              <a:extLst>
                <a:ext uri="{FF2B5EF4-FFF2-40B4-BE49-F238E27FC236}">
                  <a16:creationId xmlns:a16="http://schemas.microsoft.com/office/drawing/2014/main" id="{4FE2CBF6-26DD-4AF4-8FFF-C604B08D8109}"/>
                </a:ext>
              </a:extLst>
            </p:cNvPr>
            <p:cNvSpPr/>
            <p:nvPr/>
          </p:nvSpPr>
          <p:spPr>
            <a:xfrm>
              <a:off x="1069876" y="2850590"/>
              <a:ext cx="1506107" cy="308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800" dirty="0">
                <a:latin typeface="+mn-ea"/>
              </a:endParaRPr>
            </a:p>
          </p:txBody>
        </p:sp>
        <p:sp>
          <p:nvSpPr>
            <p:cNvPr id="143" name="Shape 86">
              <a:extLst>
                <a:ext uri="{FF2B5EF4-FFF2-40B4-BE49-F238E27FC236}">
                  <a16:creationId xmlns:a16="http://schemas.microsoft.com/office/drawing/2014/main" id="{4B98CD65-425B-4DB3-8DE2-4DB50D80729D}"/>
                </a:ext>
              </a:extLst>
            </p:cNvPr>
            <p:cNvSpPr/>
            <p:nvPr/>
          </p:nvSpPr>
          <p:spPr>
            <a:xfrm>
              <a:off x="935224" y="3303615"/>
              <a:ext cx="1746666" cy="644698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  <p:sp>
          <p:nvSpPr>
            <p:cNvPr id="144" name="Shape 91">
              <a:extLst>
                <a:ext uri="{FF2B5EF4-FFF2-40B4-BE49-F238E27FC236}">
                  <a16:creationId xmlns:a16="http://schemas.microsoft.com/office/drawing/2014/main" id="{DCC23BE6-B6D6-4DB5-88CB-CC4FCB777133}"/>
                </a:ext>
              </a:extLst>
            </p:cNvPr>
            <p:cNvSpPr/>
            <p:nvPr/>
          </p:nvSpPr>
          <p:spPr>
            <a:xfrm>
              <a:off x="935224" y="3987689"/>
              <a:ext cx="1746666" cy="566795"/>
            </a:xfrm>
            <a:prstGeom prst="rect">
              <a:avLst/>
            </a:prstGeom>
            <a:solidFill>
              <a:srgbClr val="FFFAF0"/>
            </a:solidFill>
            <a:ln w="6350">
              <a:solidFill>
                <a:srgbClr val="FFCC80"/>
              </a:solidFill>
              <a:prstDash val="solid"/>
            </a:ln>
          </p:spPr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D67A8D46-DC22-4E4F-9C6D-3331965DFFA9}"/>
              </a:ext>
            </a:extLst>
          </p:cNvPr>
          <p:cNvGrpSpPr/>
          <p:nvPr/>
        </p:nvGrpSpPr>
        <p:grpSpPr>
          <a:xfrm>
            <a:off x="4500575" y="661548"/>
            <a:ext cx="2254260" cy="3799495"/>
            <a:chOff x="932343" y="744098"/>
            <a:chExt cx="1754292" cy="3799495"/>
          </a:xfrm>
        </p:grpSpPr>
        <p:sp>
          <p:nvSpPr>
            <p:cNvPr id="146" name="Shape 63">
              <a:extLst>
                <a:ext uri="{FF2B5EF4-FFF2-40B4-BE49-F238E27FC236}">
                  <a16:creationId xmlns:a16="http://schemas.microsoft.com/office/drawing/2014/main" id="{0A9E1AE8-0B12-444D-ACD2-46B0FD8ED03B}"/>
                </a:ext>
              </a:extLst>
            </p:cNvPr>
            <p:cNvSpPr/>
            <p:nvPr/>
          </p:nvSpPr>
          <p:spPr>
            <a:xfrm>
              <a:off x="935574" y="744098"/>
              <a:ext cx="1746666" cy="98639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accent3"/>
              </a:solidFill>
              <a:prstDash val="solid"/>
            </a:ln>
          </p:spPr>
        </p:sp>
        <p:sp>
          <p:nvSpPr>
            <p:cNvPr id="147" name="Shape 70">
              <a:extLst>
                <a:ext uri="{FF2B5EF4-FFF2-40B4-BE49-F238E27FC236}">
                  <a16:creationId xmlns:a16="http://schemas.microsoft.com/office/drawing/2014/main" id="{FD1A58EE-1110-456A-8A5A-4FCA5D1D09F9}"/>
                </a:ext>
              </a:extLst>
            </p:cNvPr>
            <p:cNvSpPr/>
            <p:nvPr/>
          </p:nvSpPr>
          <p:spPr>
            <a:xfrm>
              <a:off x="935574" y="1780030"/>
              <a:ext cx="1746666" cy="6277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accent3"/>
              </a:solidFill>
              <a:prstDash val="solid"/>
            </a:ln>
          </p:spPr>
        </p:sp>
        <p:sp>
          <p:nvSpPr>
            <p:cNvPr id="148" name="Text 71">
              <a:extLst>
                <a:ext uri="{FF2B5EF4-FFF2-40B4-BE49-F238E27FC236}">
                  <a16:creationId xmlns:a16="http://schemas.microsoft.com/office/drawing/2014/main" id="{370FFA81-5A5B-426A-89D7-994F453BEA1D}"/>
                </a:ext>
              </a:extLst>
            </p:cNvPr>
            <p:cNvSpPr/>
            <p:nvPr/>
          </p:nvSpPr>
          <p:spPr>
            <a:xfrm>
              <a:off x="1016365" y="1797064"/>
              <a:ext cx="1657322" cy="5199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900" dirty="0">
                <a:latin typeface="+mn-ea"/>
              </a:endParaRPr>
            </a:p>
          </p:txBody>
        </p:sp>
        <p:sp>
          <p:nvSpPr>
            <p:cNvPr id="149" name="Shape 79">
              <a:extLst>
                <a:ext uri="{FF2B5EF4-FFF2-40B4-BE49-F238E27FC236}">
                  <a16:creationId xmlns:a16="http://schemas.microsoft.com/office/drawing/2014/main" id="{DFF5F48E-034A-4035-B57D-7F1AF5B139E6}"/>
                </a:ext>
              </a:extLst>
            </p:cNvPr>
            <p:cNvSpPr/>
            <p:nvPr/>
          </p:nvSpPr>
          <p:spPr>
            <a:xfrm>
              <a:off x="932343" y="2454002"/>
              <a:ext cx="1746666" cy="80656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accent3"/>
              </a:solidFill>
              <a:prstDash val="solid"/>
            </a:ln>
          </p:spPr>
        </p:sp>
        <p:sp>
          <p:nvSpPr>
            <p:cNvPr id="152" name="Text 85">
              <a:extLst>
                <a:ext uri="{FF2B5EF4-FFF2-40B4-BE49-F238E27FC236}">
                  <a16:creationId xmlns:a16="http://schemas.microsoft.com/office/drawing/2014/main" id="{742BEBEF-9E07-4A2A-A69C-9B59A95F6170}"/>
                </a:ext>
              </a:extLst>
            </p:cNvPr>
            <p:cNvSpPr/>
            <p:nvPr/>
          </p:nvSpPr>
          <p:spPr>
            <a:xfrm>
              <a:off x="1069876" y="2850590"/>
              <a:ext cx="1506107" cy="308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800" dirty="0">
                <a:latin typeface="+mn-ea"/>
              </a:endParaRPr>
            </a:p>
          </p:txBody>
        </p:sp>
        <p:sp>
          <p:nvSpPr>
            <p:cNvPr id="153" name="Shape 86">
              <a:extLst>
                <a:ext uri="{FF2B5EF4-FFF2-40B4-BE49-F238E27FC236}">
                  <a16:creationId xmlns:a16="http://schemas.microsoft.com/office/drawing/2014/main" id="{4B4F5AF4-DD46-4945-824A-CC11EF392A32}"/>
                </a:ext>
              </a:extLst>
            </p:cNvPr>
            <p:cNvSpPr/>
            <p:nvPr/>
          </p:nvSpPr>
          <p:spPr>
            <a:xfrm>
              <a:off x="935110" y="3303614"/>
              <a:ext cx="1751525" cy="642665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</p:sp>
        <p:sp>
          <p:nvSpPr>
            <p:cNvPr id="154" name="Shape 91">
              <a:extLst>
                <a:ext uri="{FF2B5EF4-FFF2-40B4-BE49-F238E27FC236}">
                  <a16:creationId xmlns:a16="http://schemas.microsoft.com/office/drawing/2014/main" id="{EDFEC87D-EC69-4006-BF05-9D3284218C45}"/>
                </a:ext>
              </a:extLst>
            </p:cNvPr>
            <p:cNvSpPr/>
            <p:nvPr/>
          </p:nvSpPr>
          <p:spPr>
            <a:xfrm>
              <a:off x="932343" y="3979515"/>
              <a:ext cx="1754292" cy="564078"/>
            </a:xfrm>
            <a:prstGeom prst="rect">
              <a:avLst/>
            </a:prstGeom>
            <a:solidFill>
              <a:srgbClr val="FCF2F2"/>
            </a:solidFill>
            <a:ln w="6350">
              <a:solidFill>
                <a:schemeClr val="accent3"/>
              </a:solidFill>
              <a:prstDash val="solid"/>
            </a:ln>
          </p:spPr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A2B96D38-CD74-4BDE-B3C7-565EF0336A1C}"/>
              </a:ext>
            </a:extLst>
          </p:cNvPr>
          <p:cNvGrpSpPr/>
          <p:nvPr/>
        </p:nvGrpSpPr>
        <p:grpSpPr>
          <a:xfrm>
            <a:off x="6807409" y="661548"/>
            <a:ext cx="2262697" cy="3805009"/>
            <a:chOff x="932343" y="744098"/>
            <a:chExt cx="1760858" cy="3805009"/>
          </a:xfrm>
        </p:grpSpPr>
        <p:sp>
          <p:nvSpPr>
            <p:cNvPr id="157" name="Shape 63">
              <a:extLst>
                <a:ext uri="{FF2B5EF4-FFF2-40B4-BE49-F238E27FC236}">
                  <a16:creationId xmlns:a16="http://schemas.microsoft.com/office/drawing/2014/main" id="{11C18966-AFDD-46B1-9BBC-44D44C432001}"/>
                </a:ext>
              </a:extLst>
            </p:cNvPr>
            <p:cNvSpPr/>
            <p:nvPr/>
          </p:nvSpPr>
          <p:spPr>
            <a:xfrm>
              <a:off x="935574" y="744098"/>
              <a:ext cx="1746666" cy="98639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B050"/>
              </a:solidFill>
              <a:prstDash val="solid"/>
            </a:ln>
          </p:spPr>
        </p:sp>
        <p:sp>
          <p:nvSpPr>
            <p:cNvPr id="158" name="Shape 70">
              <a:extLst>
                <a:ext uri="{FF2B5EF4-FFF2-40B4-BE49-F238E27FC236}">
                  <a16:creationId xmlns:a16="http://schemas.microsoft.com/office/drawing/2014/main" id="{FDF343D9-2E69-4EEE-8214-A68BDFF48FD8}"/>
                </a:ext>
              </a:extLst>
            </p:cNvPr>
            <p:cNvSpPr/>
            <p:nvPr/>
          </p:nvSpPr>
          <p:spPr>
            <a:xfrm>
              <a:off x="935574" y="1780030"/>
              <a:ext cx="1746666" cy="6277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B050"/>
              </a:solidFill>
              <a:prstDash val="solid"/>
            </a:ln>
          </p:spPr>
        </p:sp>
        <p:sp>
          <p:nvSpPr>
            <p:cNvPr id="159" name="Text 71">
              <a:extLst>
                <a:ext uri="{FF2B5EF4-FFF2-40B4-BE49-F238E27FC236}">
                  <a16:creationId xmlns:a16="http://schemas.microsoft.com/office/drawing/2014/main" id="{39532288-BEBC-4152-BCD0-BA2BC02C0C84}"/>
                </a:ext>
              </a:extLst>
            </p:cNvPr>
            <p:cNvSpPr/>
            <p:nvPr/>
          </p:nvSpPr>
          <p:spPr>
            <a:xfrm>
              <a:off x="1016365" y="1797064"/>
              <a:ext cx="1657322" cy="5199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900" dirty="0">
                <a:latin typeface="+mn-ea"/>
              </a:endParaRPr>
            </a:p>
          </p:txBody>
        </p:sp>
        <p:sp>
          <p:nvSpPr>
            <p:cNvPr id="160" name="Shape 79">
              <a:extLst>
                <a:ext uri="{FF2B5EF4-FFF2-40B4-BE49-F238E27FC236}">
                  <a16:creationId xmlns:a16="http://schemas.microsoft.com/office/drawing/2014/main" id="{C59635EC-9F9D-4738-A64B-151A7838627F}"/>
                </a:ext>
              </a:extLst>
            </p:cNvPr>
            <p:cNvSpPr/>
            <p:nvPr/>
          </p:nvSpPr>
          <p:spPr>
            <a:xfrm>
              <a:off x="932343" y="2454002"/>
              <a:ext cx="1746666" cy="80656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B050"/>
              </a:solidFill>
              <a:prstDash val="solid"/>
            </a:ln>
          </p:spPr>
        </p:sp>
        <p:sp>
          <p:nvSpPr>
            <p:cNvPr id="162" name="Text 85">
              <a:extLst>
                <a:ext uri="{FF2B5EF4-FFF2-40B4-BE49-F238E27FC236}">
                  <a16:creationId xmlns:a16="http://schemas.microsoft.com/office/drawing/2014/main" id="{19F4252B-0BB0-4A9D-8D28-5733764B5B58}"/>
                </a:ext>
              </a:extLst>
            </p:cNvPr>
            <p:cNvSpPr/>
            <p:nvPr/>
          </p:nvSpPr>
          <p:spPr>
            <a:xfrm>
              <a:off x="1069876" y="2850590"/>
              <a:ext cx="1506107" cy="30883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800" dirty="0">
                <a:latin typeface="+mn-ea"/>
              </a:endParaRPr>
            </a:p>
          </p:txBody>
        </p:sp>
        <p:sp>
          <p:nvSpPr>
            <p:cNvPr id="163" name="Shape 86">
              <a:extLst>
                <a:ext uri="{FF2B5EF4-FFF2-40B4-BE49-F238E27FC236}">
                  <a16:creationId xmlns:a16="http://schemas.microsoft.com/office/drawing/2014/main" id="{B790FCF1-FF8A-4533-95C2-828AB4FB2375}"/>
                </a:ext>
              </a:extLst>
            </p:cNvPr>
            <p:cNvSpPr/>
            <p:nvPr/>
          </p:nvSpPr>
          <p:spPr>
            <a:xfrm>
              <a:off x="935110" y="3303614"/>
              <a:ext cx="1751525" cy="6264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B050"/>
              </a:solidFill>
              <a:prstDash val="solid"/>
            </a:ln>
          </p:spPr>
        </p:sp>
        <p:sp>
          <p:nvSpPr>
            <p:cNvPr id="164" name="Shape 91">
              <a:extLst>
                <a:ext uri="{FF2B5EF4-FFF2-40B4-BE49-F238E27FC236}">
                  <a16:creationId xmlns:a16="http://schemas.microsoft.com/office/drawing/2014/main" id="{6F225398-4BFF-44CF-9882-72A60C323DF2}"/>
                </a:ext>
              </a:extLst>
            </p:cNvPr>
            <p:cNvSpPr/>
            <p:nvPr/>
          </p:nvSpPr>
          <p:spPr>
            <a:xfrm>
              <a:off x="935110" y="3978208"/>
              <a:ext cx="1758091" cy="5708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00B050"/>
              </a:solidFill>
              <a:prstDash val="solid"/>
            </a:ln>
          </p:spPr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CB944D7E-7570-4DA1-B52E-72326235D8DB}"/>
              </a:ext>
            </a:extLst>
          </p:cNvPr>
          <p:cNvGrpSpPr/>
          <p:nvPr/>
        </p:nvGrpSpPr>
        <p:grpSpPr>
          <a:xfrm>
            <a:off x="847413" y="4501723"/>
            <a:ext cx="8230463" cy="436118"/>
            <a:chOff x="39167" y="4602253"/>
            <a:chExt cx="9021100" cy="441477"/>
          </a:xfrm>
        </p:grpSpPr>
        <p:sp>
          <p:nvSpPr>
            <p:cNvPr id="165" name="Shape 24">
              <a:extLst>
                <a:ext uri="{FF2B5EF4-FFF2-40B4-BE49-F238E27FC236}">
                  <a16:creationId xmlns:a16="http://schemas.microsoft.com/office/drawing/2014/main" id="{B9F3045A-ED3D-49CA-B8EB-ACA90C1F29EB}"/>
                </a:ext>
              </a:extLst>
            </p:cNvPr>
            <p:cNvSpPr/>
            <p:nvPr/>
          </p:nvSpPr>
          <p:spPr>
            <a:xfrm>
              <a:off x="65813" y="4602253"/>
              <a:ext cx="8994454" cy="4414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accent2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CEA3F79-A6B6-41FA-B5FC-45ACADE1BF1C}"/>
                </a:ext>
              </a:extLst>
            </p:cNvPr>
            <p:cNvSpPr txBox="1"/>
            <p:nvPr/>
          </p:nvSpPr>
          <p:spPr>
            <a:xfrm>
              <a:off x="39167" y="4617129"/>
              <a:ext cx="8847490" cy="373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b="1" dirty="0">
                  <a:latin typeface="+mn-ea"/>
                </a:rPr>
                <a:t>美食寻味榜：</a:t>
              </a:r>
              <a:r>
                <a:rPr lang="zh-CN" altLang="en-US" sz="900" dirty="0">
                  <a:latin typeface="+mn-ea"/>
                </a:rPr>
                <a:t>开放性榜单，建设权威榜单、明星打卡、美食影综等为主题的多元化榜单内容生态。同时联动地方政府、媒体评选打造美食榜单</a:t>
              </a:r>
              <a:r>
                <a:rPr lang="en-US" altLang="zh-CN" sz="900" dirty="0">
                  <a:latin typeface="+mn-ea"/>
                </a:rPr>
                <a:t>IP</a:t>
              </a:r>
              <a:r>
                <a:rPr lang="zh-CN" altLang="en-US" sz="900" dirty="0">
                  <a:latin typeface="+mn-ea"/>
                </a:rPr>
                <a:t>，为用户提供兼具公信力与故事感的就餐决策参考。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预计</a:t>
              </a:r>
              <a:r>
                <a:rPr kumimoji="0" lang="en-US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6</a:t>
              </a:r>
              <a:r>
                <a:rPr kumimoji="0" lang="zh-CN" altLang="en-US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月初</a:t>
              </a:r>
              <a:r>
                <a:rPr kumimoji="0" lang="zh-CN" altLang="zh-CN" sz="9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实现建设开放榜挖掘→映射→规则排序→上线一体化AI链路。</a:t>
              </a:r>
            </a:p>
          </p:txBody>
        </p:sp>
      </p:grpSp>
      <p:sp>
        <p:nvSpPr>
          <p:cNvPr id="168" name="文本框 167">
            <a:extLst>
              <a:ext uri="{FF2B5EF4-FFF2-40B4-BE49-F238E27FC236}">
                <a16:creationId xmlns:a16="http://schemas.microsoft.com/office/drawing/2014/main" id="{73CF5D47-C7B3-4DDE-86A4-75BB11EE2DAB}"/>
              </a:ext>
            </a:extLst>
          </p:cNvPr>
          <p:cNvSpPr txBox="1"/>
          <p:nvPr/>
        </p:nvSpPr>
        <p:spPr>
          <a:xfrm>
            <a:off x="871724" y="698441"/>
            <a:ext cx="1959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>
                <a:latin typeface="+mn-ea"/>
              </a:rPr>
              <a:t>当地人推荐榜：</a:t>
            </a:r>
            <a:r>
              <a:rPr lang="zh-CN" altLang="en-US" sz="900" dirty="0">
                <a:latin typeface="+mn-ea"/>
              </a:rPr>
              <a:t>基于当地用户真实消费、评价，筛选出由当地特色且好吃的餐厅。</a:t>
            </a:r>
            <a:endParaRPr lang="en-US" altLang="zh-CN" sz="900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特色菜榜：</a:t>
            </a:r>
            <a:r>
              <a:rPr lang="zh-CN" altLang="en-US" sz="900" dirty="0">
                <a:latin typeface="+mn-ea"/>
              </a:rPr>
              <a:t>目的地城市下利旧传承的菜品，以及菜品下最有人气的商家。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021C152B-E37C-4747-840E-5748AE251F4C}"/>
              </a:ext>
            </a:extLst>
          </p:cNvPr>
          <p:cNvSpPr txBox="1"/>
          <p:nvPr/>
        </p:nvSpPr>
        <p:spPr>
          <a:xfrm>
            <a:off x="2948939" y="731032"/>
            <a:ext cx="1406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</a:rPr>
              <a:t>烟火榜：</a:t>
            </a:r>
            <a:r>
              <a:rPr lang="zh-CN" altLang="en-US" sz="900" dirty="0">
                <a:effectLst/>
              </a:rPr>
              <a:t>精选全城最具烟火气的市井小店，在满足</a:t>
            </a:r>
            <a:r>
              <a:rPr lang="zh-CN" altLang="en-US" sz="900" b="1" dirty="0">
                <a:effectLst/>
              </a:rPr>
              <a:t>现炒有锅气、口味地道、价格合理</a:t>
            </a:r>
            <a:r>
              <a:rPr lang="zh-CN" altLang="en-US" sz="900" dirty="0"/>
              <a:t>的门店中</a:t>
            </a:r>
            <a:r>
              <a:rPr lang="zh-CN" altLang="en-US" sz="900" dirty="0">
                <a:effectLst/>
              </a:rPr>
              <a:t>优中选优。</a:t>
            </a:r>
            <a:endParaRPr lang="zh-CN" altLang="en-US" sz="900" dirty="0"/>
          </a:p>
        </p:txBody>
      </p: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AD6F718-6AA0-4763-B4BE-680CB7671000}"/>
              </a:ext>
            </a:extLst>
          </p:cNvPr>
          <p:cNvGrpSpPr/>
          <p:nvPr/>
        </p:nvGrpSpPr>
        <p:grpSpPr>
          <a:xfrm>
            <a:off x="1745056" y="2417942"/>
            <a:ext cx="818115" cy="261280"/>
            <a:chOff x="881143" y="2507229"/>
            <a:chExt cx="792199" cy="296233"/>
          </a:xfrm>
        </p:grpSpPr>
        <p:sp>
          <p:nvSpPr>
            <p:cNvPr id="175" name="Text 45">
              <a:extLst>
                <a:ext uri="{FF2B5EF4-FFF2-40B4-BE49-F238E27FC236}">
                  <a16:creationId xmlns:a16="http://schemas.microsoft.com/office/drawing/2014/main" id="{721F71BB-39A3-44DA-AA4C-47434ECBAE64}"/>
                </a:ext>
              </a:extLst>
            </p:cNvPr>
            <p:cNvSpPr/>
            <p:nvPr/>
          </p:nvSpPr>
          <p:spPr>
            <a:xfrm>
              <a:off x="881143" y="2507229"/>
              <a:ext cx="792199" cy="1885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900" dirty="0">
                <a:solidFill>
                  <a:schemeClr val="accent2"/>
                </a:solidFill>
                <a:latin typeface="+mn-ea"/>
              </a:endParaRPr>
            </a:p>
          </p:txBody>
        </p:sp>
        <p:sp>
          <p:nvSpPr>
            <p:cNvPr id="176" name="Text 46">
              <a:extLst>
                <a:ext uri="{FF2B5EF4-FFF2-40B4-BE49-F238E27FC236}">
                  <a16:creationId xmlns:a16="http://schemas.microsoft.com/office/drawing/2014/main" id="{B87B6294-C6D2-4563-9D19-92F011FE3CE3}"/>
                </a:ext>
              </a:extLst>
            </p:cNvPr>
            <p:cNvSpPr/>
            <p:nvPr/>
          </p:nvSpPr>
          <p:spPr>
            <a:xfrm>
              <a:off x="881143" y="2682276"/>
              <a:ext cx="792199" cy="12118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800" dirty="0">
                <a:latin typeface="+mn-ea"/>
              </a:endParaRPr>
            </a:p>
          </p:txBody>
        </p:sp>
      </p:grpSp>
      <p:sp>
        <p:nvSpPr>
          <p:cNvPr id="178" name="Shape 70">
            <a:extLst>
              <a:ext uri="{FF2B5EF4-FFF2-40B4-BE49-F238E27FC236}">
                <a16:creationId xmlns:a16="http://schemas.microsoft.com/office/drawing/2014/main" id="{5BF90440-D66B-40E7-BDE8-6E95E699E115}"/>
              </a:ext>
            </a:extLst>
          </p:cNvPr>
          <p:cNvSpPr/>
          <p:nvPr/>
        </p:nvSpPr>
        <p:spPr>
          <a:xfrm>
            <a:off x="1555952" y="-876836"/>
            <a:ext cx="2014438" cy="358269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4F3F6E11-EC7B-4358-B460-478C011A514F}"/>
              </a:ext>
            </a:extLst>
          </p:cNvPr>
          <p:cNvSpPr txBox="1"/>
          <p:nvPr/>
        </p:nvSpPr>
        <p:spPr>
          <a:xfrm>
            <a:off x="853655" y="1726871"/>
            <a:ext cx="3502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+mn-ea"/>
              </a:rPr>
              <a:t>以</a:t>
            </a:r>
            <a:r>
              <a:rPr lang="zh-CN" altLang="en-US" sz="900" b="1" dirty="0">
                <a:latin typeface="+mn-ea"/>
              </a:rPr>
              <a:t>异地旅游用户</a:t>
            </a:r>
            <a:r>
              <a:rPr lang="zh-CN" altLang="en-US" sz="900" dirty="0">
                <a:latin typeface="+mn-ea"/>
              </a:rPr>
              <a:t>为主，高频餐饮消费决策，性别分布均衡。选店决策依赖本地人背书、追求地方特色体验，希望能挖掘城市的宝藏餐厅。</a:t>
            </a:r>
            <a:endParaRPr lang="en-US" altLang="zh-CN" sz="900" dirty="0">
              <a:latin typeface="+mn-ea"/>
            </a:endParaRPr>
          </a:p>
          <a:p>
            <a:endParaRPr lang="en-US" altLang="zh-CN" sz="900" dirty="0">
              <a:latin typeface="+mn-ea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D9EEF9E7-A96E-40F3-A309-C5FC258DB4A7}"/>
              </a:ext>
            </a:extLst>
          </p:cNvPr>
          <p:cNvSpPr txBox="1"/>
          <p:nvPr/>
        </p:nvSpPr>
        <p:spPr>
          <a:xfrm>
            <a:off x="847413" y="3262750"/>
            <a:ext cx="2011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当地人推荐扩城至</a:t>
            </a:r>
            <a:r>
              <a:rPr lang="en-US" altLang="zh-CN" sz="800" dirty="0">
                <a:latin typeface="+mn-ea"/>
              </a:rPr>
              <a:t>674</a:t>
            </a:r>
            <a:r>
              <a:rPr lang="zh-CN" altLang="en-US" sz="800" dirty="0">
                <a:latin typeface="+mn-ea"/>
              </a:rPr>
              <a:t>；特色菜扩城至</a:t>
            </a:r>
            <a:r>
              <a:rPr lang="en-US" altLang="zh-CN" sz="800" dirty="0">
                <a:latin typeface="+mn-ea"/>
              </a:rPr>
              <a:t>524</a:t>
            </a:r>
            <a:r>
              <a:rPr lang="zh-CN" altLang="en-US" sz="800" dirty="0">
                <a:latin typeface="+mn-ea"/>
              </a:rPr>
              <a:t>，新增菜品至</a:t>
            </a:r>
            <a:r>
              <a:rPr lang="en-US" altLang="zh-CN" sz="800" dirty="0">
                <a:latin typeface="+mn-ea"/>
              </a:rPr>
              <a:t>4119</a:t>
            </a:r>
            <a:r>
              <a:rPr lang="zh-CN" altLang="en-US" sz="800" dirty="0">
                <a:latin typeface="+mn-ea"/>
              </a:rPr>
              <a:t>。</a:t>
            </a:r>
            <a:endParaRPr lang="en-US" altLang="zh-CN" sz="800" dirty="0">
              <a:latin typeface="+mn-ea"/>
            </a:endParaRPr>
          </a:p>
          <a:p>
            <a:r>
              <a:rPr lang="en-US" altLang="zh-CN" sz="800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五一期间日均曝光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万（</a:t>
            </a:r>
            <a:r>
              <a:rPr lang="en-US" altLang="zh-CN" sz="800" dirty="0">
                <a:latin typeface="+mn-ea"/>
              </a:rPr>
              <a:t>YoY+18.8%</a:t>
            </a:r>
            <a:r>
              <a:rPr lang="zh-CN" altLang="en-US" sz="800" dirty="0">
                <a:latin typeface="+mn-ea"/>
              </a:rPr>
              <a:t>）</a:t>
            </a:r>
            <a:r>
              <a:rPr lang="en-US" altLang="zh-CN" sz="800" dirty="0">
                <a:latin typeface="+mn-ea"/>
              </a:rPr>
              <a:t>,</a:t>
            </a:r>
            <a:r>
              <a:rPr lang="zh-CN" altLang="en-US" sz="800" dirty="0">
                <a:latin typeface="+mn-ea"/>
              </a:rPr>
              <a:t>意向率日均</a:t>
            </a:r>
            <a:r>
              <a:rPr lang="en-US" altLang="zh-CN" sz="800" dirty="0">
                <a:latin typeface="+mn-ea"/>
              </a:rPr>
              <a:t>44.6%</a:t>
            </a:r>
            <a:r>
              <a:rPr lang="zh-CN" altLang="en-US" sz="800" dirty="0">
                <a:latin typeface="+mn-ea"/>
              </a:rPr>
              <a:t>；</a:t>
            </a:r>
            <a:endParaRPr lang="en-US" altLang="zh-CN" sz="800" dirty="0">
              <a:latin typeface="+mn-ea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23FF9037-017C-417F-BCE6-162F17593BB1}"/>
              </a:ext>
            </a:extLst>
          </p:cNvPr>
          <p:cNvSpPr txBox="1"/>
          <p:nvPr/>
        </p:nvSpPr>
        <p:spPr>
          <a:xfrm>
            <a:off x="2910472" y="3265598"/>
            <a:ext cx="14934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+mn-ea"/>
              </a:rPr>
              <a:t>·</a:t>
            </a:r>
            <a:r>
              <a:rPr lang="en-US" altLang="zh-CN" sz="800" dirty="0">
                <a:latin typeface="+mn-ea"/>
              </a:rPr>
              <a:t>5</a:t>
            </a:r>
            <a:r>
              <a:rPr lang="zh-CN" altLang="en-US" sz="800" dirty="0">
                <a:latin typeface="+mn-ea"/>
              </a:rPr>
              <a:t>月</a:t>
            </a:r>
            <a:r>
              <a:rPr lang="en-US" altLang="zh-CN" sz="800" dirty="0">
                <a:latin typeface="+mn-ea"/>
              </a:rPr>
              <a:t>14</a:t>
            </a:r>
            <a:r>
              <a:rPr lang="zh-CN" altLang="en-US" sz="800" dirty="0">
                <a:latin typeface="+mn-ea"/>
              </a:rPr>
              <a:t>日上线</a:t>
            </a:r>
            <a:r>
              <a:rPr lang="en-US" altLang="zh-CN" sz="800" dirty="0">
                <a:latin typeface="+mn-ea"/>
              </a:rPr>
              <a:t>10</a:t>
            </a:r>
            <a:r>
              <a:rPr lang="zh-CN" altLang="en-US" sz="800" dirty="0">
                <a:latin typeface="+mn-ea"/>
              </a:rPr>
              <a:t>个试点城市</a:t>
            </a:r>
            <a:endParaRPr lang="en-US" altLang="zh-CN" sz="800" dirty="0">
              <a:latin typeface="+mn-ea"/>
            </a:endParaRPr>
          </a:p>
          <a:p>
            <a:r>
              <a:rPr lang="en-US" altLang="zh-CN" sz="800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榜单页</a:t>
            </a:r>
            <a:r>
              <a:rPr lang="zh-CN" altLang="en-US" sz="800" dirty="0"/>
              <a:t>日均曝光</a:t>
            </a:r>
            <a:r>
              <a:rPr lang="en-US" altLang="zh-CN" sz="800" dirty="0"/>
              <a:t>UV1,435</a:t>
            </a:r>
            <a:r>
              <a:rPr lang="zh-CN" altLang="en-US" sz="800" dirty="0"/>
              <a:t>，意向率</a:t>
            </a:r>
            <a:r>
              <a:rPr lang="en-US" altLang="zh-CN" sz="800" dirty="0"/>
              <a:t>30.9%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58AB5FE9-860F-44D4-8F46-10BD8E8EE429}"/>
              </a:ext>
            </a:extLst>
          </p:cNvPr>
          <p:cNvSpPr txBox="1"/>
          <p:nvPr/>
        </p:nvSpPr>
        <p:spPr>
          <a:xfrm>
            <a:off x="2910473" y="3915791"/>
            <a:ext cx="1461832" cy="523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b="1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成榜策略迭代，聚焦小店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b="1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联动餐饮生态，推进点亮“烟火小店”计划</a:t>
            </a:r>
            <a:endParaRPr lang="en-US" altLang="zh-CN" sz="900" dirty="0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CA5B1401-C2A2-42A8-B31E-504FF145D119}"/>
              </a:ext>
            </a:extLst>
          </p:cNvPr>
          <p:cNvSpPr txBox="1"/>
          <p:nvPr/>
        </p:nvSpPr>
        <p:spPr>
          <a:xfrm>
            <a:off x="815889" y="3915877"/>
            <a:ext cx="2133049" cy="523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b="1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建立美团侧挖掘流程，进一步提升低线城市的供给覆盖</a:t>
            </a:r>
            <a:r>
              <a:rPr lang="en-US" altLang="zh-CN" sz="800" dirty="0">
                <a:latin typeface="+mn-ea"/>
              </a:rPr>
              <a:t>/</a:t>
            </a:r>
            <a:r>
              <a:rPr lang="zh-CN" altLang="en-US" sz="800" dirty="0">
                <a:latin typeface="+mn-ea"/>
              </a:rPr>
              <a:t>规模，联动下沉完成暑假旅游城市用户需求承接</a:t>
            </a:r>
            <a:endParaRPr lang="en-US" altLang="zh-CN" sz="900" dirty="0"/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1455FEE0-4468-4F45-B9F6-370519547581}"/>
              </a:ext>
            </a:extLst>
          </p:cNvPr>
          <p:cNvSpPr txBox="1"/>
          <p:nvPr/>
        </p:nvSpPr>
        <p:spPr>
          <a:xfrm>
            <a:off x="-2699503" y="5949301"/>
            <a:ext cx="245153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1050" i="1" dirty="0">
                <a:solidFill>
                  <a:srgbClr val="7F7F7F"/>
                </a:solidFill>
              </a:rPr>
              <a:t>上榜商户</a:t>
            </a:r>
            <a:r>
              <a:rPr lang="zh-CN" altLang="en-US" sz="1050" i="1" dirty="0">
                <a:solidFill>
                  <a:srgbClr val="7F7F7F"/>
                </a:solidFill>
                <a:effectLst/>
              </a:rPr>
              <a:t>：“不清楚上榜了，但是这个榜单挺适合我们这儿</a:t>
            </a:r>
            <a:r>
              <a:rPr lang="zh-CN" altLang="en-US" sz="1050" i="1" dirty="0">
                <a:solidFill>
                  <a:srgbClr val="7F7F7F"/>
                </a:solidFill>
              </a:rPr>
              <a:t>的，可以给我们传个榜单物料放在门口</a:t>
            </a:r>
            <a:r>
              <a:rPr lang="zh-CN" altLang="en-US" sz="1050" i="1" dirty="0">
                <a:solidFill>
                  <a:srgbClr val="7F7F7F"/>
                </a:solidFill>
                <a:effectLst/>
              </a:rPr>
              <a:t>；</a:t>
            </a:r>
            <a:endParaRPr lang="zh-CN" altLang="en-US" sz="1050" dirty="0">
              <a:effectLst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0E2F9810-692C-4893-9DF2-62DB0499DEAD}"/>
              </a:ext>
            </a:extLst>
          </p:cNvPr>
          <p:cNvSpPr txBox="1"/>
          <p:nvPr/>
        </p:nvSpPr>
        <p:spPr>
          <a:xfrm>
            <a:off x="4568218" y="746267"/>
            <a:ext cx="21296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effectLst/>
              </a:rPr>
              <a:t>约会榜：</a:t>
            </a:r>
            <a:r>
              <a:rPr lang="zh-CN" altLang="en-US" sz="900" dirty="0">
                <a:latin typeface="+mn-ea"/>
              </a:rPr>
              <a:t>精选全城最适合约会的品质餐厅，综合</a:t>
            </a:r>
            <a:r>
              <a:rPr lang="zh-CN" altLang="en-US" sz="900" b="1" dirty="0">
                <a:latin typeface="+mn-ea"/>
              </a:rPr>
              <a:t>环境</a:t>
            </a:r>
            <a:r>
              <a:rPr lang="zh-CN" altLang="en-US" sz="900" b="1" dirty="0">
                <a:effectLst/>
              </a:rPr>
              <a:t>氛围、服务体验、菜品品质</a:t>
            </a:r>
            <a:r>
              <a:rPr lang="zh-CN" altLang="en-US" sz="900" dirty="0">
                <a:effectLst/>
              </a:rPr>
              <a:t>等多维度优中选优，为用户提供浪漫且不踩雷的决策参考。</a:t>
            </a:r>
          </a:p>
          <a:p>
            <a:endParaRPr lang="zh-CN" altLang="en-US" sz="900" dirty="0"/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B14B63C6-D84E-4CEE-BF30-901C4CA5451C}"/>
              </a:ext>
            </a:extLst>
          </p:cNvPr>
          <p:cNvSpPr txBox="1"/>
          <p:nvPr/>
        </p:nvSpPr>
        <p:spPr>
          <a:xfrm>
            <a:off x="4568218" y="1739167"/>
            <a:ext cx="2129654" cy="72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effectLst/>
              </a:rPr>
              <a:t>一二线及新一线城市的年轻情侣、女性和部分闺蜜</a:t>
            </a:r>
            <a:r>
              <a:rPr lang="en-US" altLang="zh-CN" sz="900" dirty="0">
                <a:effectLst/>
              </a:rPr>
              <a:t>/</a:t>
            </a:r>
            <a:r>
              <a:rPr lang="zh-CN" altLang="en-US" sz="900" dirty="0">
                <a:effectLst/>
              </a:rPr>
              <a:t>朋友群体，注重用餐仪式感和社交体验。</a:t>
            </a:r>
          </a:p>
          <a:p>
            <a:endParaRPr lang="en-US" altLang="zh-CN" sz="900" dirty="0">
              <a:latin typeface="+mn-ea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D92BB5E-610B-4200-9A92-6BE6B6BF4CE4}"/>
              </a:ext>
            </a:extLst>
          </p:cNvPr>
          <p:cNvSpPr txBox="1"/>
          <p:nvPr/>
        </p:nvSpPr>
        <p:spPr>
          <a:xfrm>
            <a:off x="4480103" y="3245205"/>
            <a:ext cx="2193741" cy="682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</a:t>
            </a:r>
            <a:r>
              <a:rPr lang="en-US" altLang="zh-CN" sz="800" dirty="0">
                <a:latin typeface="+mn-ea"/>
              </a:rPr>
              <a:t>5</a:t>
            </a:r>
            <a:r>
              <a:rPr lang="zh-CN" altLang="en-US" sz="800" dirty="0">
                <a:latin typeface="+mn-ea"/>
              </a:rPr>
              <a:t>月</a:t>
            </a:r>
            <a:r>
              <a:rPr lang="en-US" altLang="zh-CN" sz="800" dirty="0">
                <a:latin typeface="+mn-ea"/>
              </a:rPr>
              <a:t>18</a:t>
            </a:r>
            <a:r>
              <a:rPr lang="zh-CN" altLang="en-US" sz="800" dirty="0">
                <a:latin typeface="+mn-ea"/>
              </a:rPr>
              <a:t>日已覆盖</a:t>
            </a:r>
            <a:r>
              <a:rPr lang="en-US" altLang="zh-CN" sz="800" dirty="0">
                <a:latin typeface="+mn-ea"/>
              </a:rPr>
              <a:t>SAB</a:t>
            </a:r>
            <a:r>
              <a:rPr lang="zh-CN" altLang="en-US" sz="800" dirty="0">
                <a:latin typeface="+mn-ea"/>
              </a:rPr>
              <a:t>级</a:t>
            </a:r>
            <a:r>
              <a:rPr lang="en-US" altLang="zh-CN" sz="800" dirty="0">
                <a:latin typeface="+mn-ea"/>
              </a:rPr>
              <a:t>35</a:t>
            </a:r>
            <a:r>
              <a:rPr lang="zh-CN" altLang="en-US" sz="800" dirty="0">
                <a:latin typeface="+mn-ea"/>
              </a:rPr>
              <a:t>个城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effectLst/>
                <a:latin typeface="+mn-ea"/>
              </a:rPr>
              <a:t>·520</a:t>
            </a:r>
            <a:r>
              <a:rPr lang="zh-CN" altLang="en-US" sz="800" dirty="0">
                <a:latin typeface="+mn-ea"/>
              </a:rPr>
              <a:t>榜单曝光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达</a:t>
            </a:r>
            <a:r>
              <a:rPr lang="en-US" altLang="zh-CN" sz="800" dirty="0">
                <a:latin typeface="+mn-ea"/>
              </a:rPr>
              <a:t>3</a:t>
            </a:r>
            <a:r>
              <a:rPr lang="zh-CN" altLang="en-US" sz="800" dirty="0">
                <a:latin typeface="+mn-ea"/>
              </a:rPr>
              <a:t>万，意向率</a:t>
            </a:r>
            <a:r>
              <a:rPr lang="en-US" altLang="zh-CN" sz="800" dirty="0">
                <a:latin typeface="+mn-ea"/>
              </a:rPr>
              <a:t>41.2%</a:t>
            </a:r>
            <a:r>
              <a:rPr lang="zh-CN" altLang="en-US" sz="800" dirty="0">
                <a:latin typeface="+mn-ea"/>
              </a:rPr>
              <a:t>，榜单决策</a:t>
            </a:r>
            <a:r>
              <a:rPr lang="en-US" altLang="zh-CN" sz="800" dirty="0">
                <a:latin typeface="+mn-ea"/>
              </a:rPr>
              <a:t>UV4.6</a:t>
            </a:r>
            <a:r>
              <a:rPr lang="zh-CN" altLang="en-US" sz="800" dirty="0">
                <a:latin typeface="+mn-ea"/>
              </a:rPr>
              <a:t>万，为上榜门店贡献</a:t>
            </a:r>
            <a:r>
              <a:rPr lang="en-US" altLang="zh-CN" sz="800" dirty="0">
                <a:latin typeface="+mn-ea"/>
              </a:rPr>
              <a:t>4.7%</a:t>
            </a:r>
            <a:r>
              <a:rPr lang="zh-CN" altLang="en-US" sz="800" dirty="0">
                <a:latin typeface="+mn-ea"/>
              </a:rPr>
              <a:t>流量。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effectLst/>
              <a:latin typeface="+mn-ea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8569DF91-FFD5-429C-8336-70F4A8938393}"/>
              </a:ext>
            </a:extLst>
          </p:cNvPr>
          <p:cNvSpPr txBox="1"/>
          <p:nvPr/>
        </p:nvSpPr>
        <p:spPr>
          <a:xfrm>
            <a:off x="4518571" y="3924670"/>
            <a:ext cx="1901280" cy="51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基于</a:t>
            </a:r>
            <a:r>
              <a:rPr lang="en-US" altLang="zh-CN" sz="800" dirty="0">
                <a:latin typeface="+mn-ea"/>
              </a:rPr>
              <a:t>520</a:t>
            </a:r>
            <a:r>
              <a:rPr lang="zh-CN" altLang="en-US" sz="800" dirty="0">
                <a:latin typeface="+mn-ea"/>
              </a:rPr>
              <a:t>数据分析，优化</a:t>
            </a:r>
            <a:r>
              <a:rPr lang="zh-CN" altLang="en-US" sz="800" dirty="0">
                <a:effectLst/>
                <a:latin typeface="+mn-ea"/>
              </a:rPr>
              <a:t>成榜策略</a:t>
            </a:r>
            <a:endParaRPr lang="en-US" altLang="zh-CN" sz="800" dirty="0">
              <a:effectLst/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榜单页强化预约、套餐等交履表达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effectLst/>
                <a:latin typeface="+mn-ea"/>
              </a:rPr>
              <a:t>·</a:t>
            </a:r>
            <a:r>
              <a:rPr lang="zh-CN" altLang="en-US" sz="800" dirty="0">
                <a:effectLst/>
                <a:latin typeface="+mn-ea"/>
              </a:rPr>
              <a:t>加强商家宣导，铺设荣誉物料</a:t>
            </a:r>
            <a:endParaRPr lang="en-US" altLang="zh-CN" sz="800" dirty="0">
              <a:effectLst/>
              <a:latin typeface="+mn-ea"/>
            </a:endParaRPr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7FE38DCB-E58B-4DCD-9C19-2DF9468836D0}"/>
              </a:ext>
            </a:extLst>
          </p:cNvPr>
          <p:cNvSpPr txBox="1"/>
          <p:nvPr/>
        </p:nvSpPr>
        <p:spPr>
          <a:xfrm>
            <a:off x="6886982" y="746267"/>
            <a:ext cx="212965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/>
              <a:t>亲子</a:t>
            </a:r>
            <a:r>
              <a:rPr lang="zh-CN" altLang="en-US" sz="900" b="1" dirty="0">
                <a:effectLst/>
              </a:rPr>
              <a:t>榜：</a:t>
            </a:r>
            <a:r>
              <a:rPr lang="zh-CN" altLang="en-US" sz="900" dirty="0">
                <a:latin typeface="+mn-ea"/>
              </a:rPr>
              <a:t>精选全城品质亲子餐厅，综合特色体验、服务设施、主题场景等多维度优中选优，满足家长带孩子吃玩的一站式需求。</a:t>
            </a:r>
          </a:p>
          <a:p>
            <a:endParaRPr lang="zh-CN" altLang="en-US" sz="900" dirty="0"/>
          </a:p>
        </p:txBody>
      </p:sp>
      <p:sp>
        <p:nvSpPr>
          <p:cNvPr id="216" name="Shape 86">
            <a:extLst>
              <a:ext uri="{FF2B5EF4-FFF2-40B4-BE49-F238E27FC236}">
                <a16:creationId xmlns:a16="http://schemas.microsoft.com/office/drawing/2014/main" id="{F0BFE1FF-C6BF-4B89-A78B-08B909797B3B}"/>
              </a:ext>
            </a:extLst>
          </p:cNvPr>
          <p:cNvSpPr/>
          <p:nvPr/>
        </p:nvSpPr>
        <p:spPr>
          <a:xfrm>
            <a:off x="942252" y="2768040"/>
            <a:ext cx="3430053" cy="348215"/>
          </a:xfrm>
          <a:prstGeom prst="rect">
            <a:avLst/>
          </a:prstGeom>
          <a:solidFill>
            <a:srgbClr val="FFFBF3"/>
          </a:solidFill>
          <a:ln w="635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273016D6-0F37-4BB0-A1E5-C0C869A1B98A}"/>
              </a:ext>
            </a:extLst>
          </p:cNvPr>
          <p:cNvSpPr txBox="1"/>
          <p:nvPr/>
        </p:nvSpPr>
        <p:spPr>
          <a:xfrm>
            <a:off x="6834840" y="1718311"/>
            <a:ext cx="2129654" cy="72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effectLst/>
              </a:rPr>
              <a:t>一线及新一线城市的</a:t>
            </a:r>
            <a:r>
              <a:rPr lang="en-US" altLang="zh-CN" sz="900" dirty="0"/>
              <a:t>30</a:t>
            </a:r>
            <a:r>
              <a:rPr lang="en-US" altLang="zh-CN" sz="900" dirty="0">
                <a:effectLst/>
              </a:rPr>
              <a:t>-40</a:t>
            </a:r>
            <a:r>
              <a:rPr lang="zh-CN" altLang="en-US" sz="900" dirty="0">
                <a:effectLst/>
              </a:rPr>
              <a:t>岁的家长，消费能力中等偏高，女性决策导向，注重吃玩一体、安全和营业搭配的儿童餐。</a:t>
            </a:r>
          </a:p>
          <a:p>
            <a:endParaRPr lang="en-US" altLang="zh-CN" sz="900" dirty="0">
              <a:latin typeface="+mn-ea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DA28B9AD-273F-4F60-AA85-3825460AA908}"/>
              </a:ext>
            </a:extLst>
          </p:cNvPr>
          <p:cNvSpPr txBox="1"/>
          <p:nvPr/>
        </p:nvSpPr>
        <p:spPr>
          <a:xfrm>
            <a:off x="6839446" y="3258783"/>
            <a:ext cx="2193741" cy="242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</a:t>
            </a:r>
            <a:r>
              <a:rPr lang="zh-CN" altLang="en-US" sz="800" dirty="0"/>
              <a:t>完成亲子用户需求调研、供给分析</a:t>
            </a:r>
            <a:endParaRPr lang="en-US" altLang="zh-CN" sz="800" dirty="0">
              <a:effectLst/>
              <a:latin typeface="+mn-ea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44BAA7CA-F897-40F7-8BE4-178E862EAA1A}"/>
              </a:ext>
            </a:extLst>
          </p:cNvPr>
          <p:cNvSpPr txBox="1"/>
          <p:nvPr/>
        </p:nvSpPr>
        <p:spPr>
          <a:xfrm>
            <a:off x="6802796" y="3924274"/>
            <a:ext cx="2193741" cy="386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</a:t>
            </a:r>
            <a:r>
              <a:rPr lang="zh-CN" altLang="en-US" sz="800" dirty="0"/>
              <a:t>预计</a:t>
            </a:r>
            <a:r>
              <a:rPr lang="en-US" altLang="zh-CN" sz="800" dirty="0"/>
              <a:t>6</a:t>
            </a:r>
            <a:r>
              <a:rPr lang="zh-CN" altLang="en-US" sz="800" dirty="0"/>
              <a:t>月下旬上线，覆盖</a:t>
            </a:r>
            <a:r>
              <a:rPr lang="en-US" altLang="zh-CN" sz="800" dirty="0"/>
              <a:t>SAB</a:t>
            </a:r>
            <a:r>
              <a:rPr lang="zh-CN" altLang="en-US" sz="800" dirty="0"/>
              <a:t>级城市，承接暑假亲子找店需求。</a:t>
            </a:r>
            <a:endParaRPr lang="en-US" altLang="zh-CN" sz="800" dirty="0">
              <a:effectLst/>
              <a:latin typeface="+mn-ea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902F3F6B-67B6-4050-BF75-79FCDBA13B38}"/>
              </a:ext>
            </a:extLst>
          </p:cNvPr>
          <p:cNvGrpSpPr/>
          <p:nvPr/>
        </p:nvGrpSpPr>
        <p:grpSpPr>
          <a:xfrm>
            <a:off x="2447852" y="2410132"/>
            <a:ext cx="1612749" cy="321327"/>
            <a:chOff x="1440725" y="2424531"/>
            <a:chExt cx="1612749" cy="321327"/>
          </a:xfrm>
        </p:grpSpPr>
        <p:sp>
          <p:nvSpPr>
            <p:cNvPr id="214" name="Text 45">
              <a:extLst>
                <a:ext uri="{FF2B5EF4-FFF2-40B4-BE49-F238E27FC236}">
                  <a16:creationId xmlns:a16="http://schemas.microsoft.com/office/drawing/2014/main" id="{7CE69812-CC3E-4F0F-BF7D-08597B07E6AE}"/>
                </a:ext>
              </a:extLst>
            </p:cNvPr>
            <p:cNvSpPr/>
            <p:nvPr/>
          </p:nvSpPr>
          <p:spPr>
            <a:xfrm>
              <a:off x="1440725" y="2424531"/>
              <a:ext cx="1612749" cy="19555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900" b="1" dirty="0">
                  <a:solidFill>
                    <a:schemeClr val="accent2"/>
                  </a:solidFill>
                  <a:latin typeface="+mn-ea"/>
                </a:rPr>
                <a:t>地方菜</a:t>
              </a:r>
              <a:r>
                <a:rPr lang="en-US" altLang="zh-CN" sz="900" b="1" dirty="0">
                  <a:solidFill>
                    <a:schemeClr val="accent2"/>
                  </a:solidFill>
                  <a:latin typeface="+mn-ea"/>
                </a:rPr>
                <a:t>/</a:t>
              </a:r>
              <a:r>
                <a:rPr lang="zh-CN" altLang="en-US" sz="900" b="1" dirty="0">
                  <a:solidFill>
                    <a:schemeClr val="accent2"/>
                  </a:solidFill>
                  <a:latin typeface="+mn-ea"/>
                </a:rPr>
                <a:t>小吃快餐</a:t>
              </a:r>
              <a:endParaRPr lang="en-US" sz="900" b="1" dirty="0">
                <a:solidFill>
                  <a:schemeClr val="accent2"/>
                </a:solidFill>
                <a:latin typeface="+mn-ea"/>
              </a:endParaRPr>
            </a:p>
          </p:txBody>
        </p:sp>
        <p:sp>
          <p:nvSpPr>
            <p:cNvPr id="215" name="Text 46">
              <a:extLst>
                <a:ext uri="{FF2B5EF4-FFF2-40B4-BE49-F238E27FC236}">
                  <a16:creationId xmlns:a16="http://schemas.microsoft.com/office/drawing/2014/main" id="{32CCCA12-8A1A-48AE-8FA6-66AB8682CB83}"/>
                </a:ext>
              </a:extLst>
            </p:cNvPr>
            <p:cNvSpPr/>
            <p:nvPr/>
          </p:nvSpPr>
          <p:spPr>
            <a:xfrm>
              <a:off x="1749853" y="2584503"/>
              <a:ext cx="937523" cy="16135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800" dirty="0">
                  <a:solidFill>
                    <a:srgbClr val="777777"/>
                  </a:solidFill>
                  <a:latin typeface="+mn-ea"/>
                  <a:cs typeface="Microsoft YaHei" pitchFamily="34" charset="-120"/>
                </a:rPr>
                <a:t>核心品类</a:t>
              </a:r>
              <a:endParaRPr lang="en-US" sz="800" dirty="0">
                <a:latin typeface="+mn-ea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2EFB57B0-6FA8-467C-8BFA-52C0BBD7BEEC}"/>
              </a:ext>
            </a:extLst>
          </p:cNvPr>
          <p:cNvGrpSpPr/>
          <p:nvPr/>
        </p:nvGrpSpPr>
        <p:grpSpPr>
          <a:xfrm>
            <a:off x="1336829" y="2391342"/>
            <a:ext cx="744925" cy="261280"/>
            <a:chOff x="881143" y="2507229"/>
            <a:chExt cx="792199" cy="296233"/>
          </a:xfrm>
        </p:grpSpPr>
        <p:sp>
          <p:nvSpPr>
            <p:cNvPr id="170" name="Text 45">
              <a:extLst>
                <a:ext uri="{FF2B5EF4-FFF2-40B4-BE49-F238E27FC236}">
                  <a16:creationId xmlns:a16="http://schemas.microsoft.com/office/drawing/2014/main" id="{232FA475-0CD5-4599-9F7C-7AA9F1A686CE}"/>
                </a:ext>
              </a:extLst>
            </p:cNvPr>
            <p:cNvSpPr/>
            <p:nvPr/>
          </p:nvSpPr>
          <p:spPr>
            <a:xfrm>
              <a:off x="881143" y="2507229"/>
              <a:ext cx="792199" cy="1885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chemeClr val="accent2"/>
                  </a:solidFill>
                  <a:latin typeface="+mn-ea"/>
                </a:rPr>
                <a:t>100</a:t>
              </a:r>
              <a:r>
                <a:rPr lang="zh-CN" altLang="en-US" sz="900" b="1" dirty="0">
                  <a:solidFill>
                    <a:schemeClr val="accent2"/>
                  </a:solidFill>
                  <a:latin typeface="+mn-ea"/>
                </a:rPr>
                <a:t>元以内</a:t>
              </a:r>
              <a:endParaRPr lang="en-US" sz="900" b="1" dirty="0">
                <a:solidFill>
                  <a:schemeClr val="accent2"/>
                </a:solidFill>
                <a:latin typeface="+mn-ea"/>
              </a:endParaRPr>
            </a:p>
          </p:txBody>
        </p:sp>
        <p:sp>
          <p:nvSpPr>
            <p:cNvPr id="171" name="Text 46">
              <a:extLst>
                <a:ext uri="{FF2B5EF4-FFF2-40B4-BE49-F238E27FC236}">
                  <a16:creationId xmlns:a16="http://schemas.microsoft.com/office/drawing/2014/main" id="{8EAC19D8-8203-464B-B40D-89A0FC34C8CB}"/>
                </a:ext>
              </a:extLst>
            </p:cNvPr>
            <p:cNvSpPr/>
            <p:nvPr/>
          </p:nvSpPr>
          <p:spPr>
            <a:xfrm>
              <a:off x="881143" y="2682276"/>
              <a:ext cx="792199" cy="12118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777777"/>
                  </a:solidFill>
                  <a:latin typeface="+mn-ea"/>
                  <a:cs typeface="Microsoft YaHei" pitchFamily="34" charset="-120"/>
                </a:rPr>
                <a:t>价格带</a:t>
              </a:r>
              <a:endParaRPr lang="en-US" sz="800" dirty="0">
                <a:latin typeface="+mn-ea"/>
              </a:endParaRPr>
            </a:p>
          </p:txBody>
        </p:sp>
      </p:grp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C7D5E1B4-3345-4EDD-A6F7-0F7AB9A9811A}"/>
              </a:ext>
            </a:extLst>
          </p:cNvPr>
          <p:cNvGrpSpPr/>
          <p:nvPr/>
        </p:nvGrpSpPr>
        <p:grpSpPr>
          <a:xfrm>
            <a:off x="6954710" y="2417942"/>
            <a:ext cx="744925" cy="261280"/>
            <a:chOff x="881143" y="2507229"/>
            <a:chExt cx="792199" cy="296233"/>
          </a:xfrm>
        </p:grpSpPr>
        <p:sp>
          <p:nvSpPr>
            <p:cNvPr id="226" name="Text 45">
              <a:extLst>
                <a:ext uri="{FF2B5EF4-FFF2-40B4-BE49-F238E27FC236}">
                  <a16:creationId xmlns:a16="http://schemas.microsoft.com/office/drawing/2014/main" id="{A8A2A3D8-7CBB-4FE8-B61E-EE55C01790E8}"/>
                </a:ext>
              </a:extLst>
            </p:cNvPr>
            <p:cNvSpPr/>
            <p:nvPr/>
          </p:nvSpPr>
          <p:spPr>
            <a:xfrm>
              <a:off x="881143" y="2507229"/>
              <a:ext cx="792199" cy="1885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chemeClr val="accent6">
                      <a:lumMod val="75000"/>
                    </a:schemeClr>
                  </a:solidFill>
                  <a:latin typeface="+mn-ea"/>
                </a:rPr>
                <a:t>50-150</a:t>
              </a:r>
              <a:r>
                <a:rPr lang="zh-CN" altLang="en-US" sz="900" b="1" dirty="0">
                  <a:solidFill>
                    <a:schemeClr val="accent6">
                      <a:lumMod val="75000"/>
                    </a:schemeClr>
                  </a:solidFill>
                  <a:latin typeface="+mn-ea"/>
                </a:rPr>
                <a:t>元</a:t>
              </a:r>
              <a:endParaRPr lang="en-US" sz="900" b="1" dirty="0">
                <a:solidFill>
                  <a:schemeClr val="accent6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27" name="Text 46">
              <a:extLst>
                <a:ext uri="{FF2B5EF4-FFF2-40B4-BE49-F238E27FC236}">
                  <a16:creationId xmlns:a16="http://schemas.microsoft.com/office/drawing/2014/main" id="{E32904F8-2BC4-4457-AA43-C29A381CE282}"/>
                </a:ext>
              </a:extLst>
            </p:cNvPr>
            <p:cNvSpPr/>
            <p:nvPr/>
          </p:nvSpPr>
          <p:spPr>
            <a:xfrm>
              <a:off x="881143" y="2682276"/>
              <a:ext cx="792199" cy="12118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777777"/>
                  </a:solidFill>
                  <a:latin typeface="+mn-ea"/>
                  <a:cs typeface="Microsoft YaHei" pitchFamily="34" charset="-120"/>
                </a:rPr>
                <a:t>价格带</a:t>
              </a:r>
              <a:endParaRPr lang="en-US" sz="800" dirty="0">
                <a:latin typeface="+mn-ea"/>
              </a:endParaRPr>
            </a:p>
          </p:txBody>
        </p:sp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44D874A0-BF5A-4DD5-A1D2-E23DE137A077}"/>
              </a:ext>
            </a:extLst>
          </p:cNvPr>
          <p:cNvGrpSpPr/>
          <p:nvPr/>
        </p:nvGrpSpPr>
        <p:grpSpPr>
          <a:xfrm>
            <a:off x="7809172" y="2417942"/>
            <a:ext cx="1110309" cy="261280"/>
            <a:chOff x="881143" y="2507229"/>
            <a:chExt cx="792199" cy="296233"/>
          </a:xfrm>
        </p:grpSpPr>
        <p:sp>
          <p:nvSpPr>
            <p:cNvPr id="229" name="Text 45">
              <a:extLst>
                <a:ext uri="{FF2B5EF4-FFF2-40B4-BE49-F238E27FC236}">
                  <a16:creationId xmlns:a16="http://schemas.microsoft.com/office/drawing/2014/main" id="{2A13FCF0-1EF8-42DC-A688-D43B82E1991F}"/>
                </a:ext>
              </a:extLst>
            </p:cNvPr>
            <p:cNvSpPr/>
            <p:nvPr/>
          </p:nvSpPr>
          <p:spPr>
            <a:xfrm>
              <a:off x="881143" y="2507229"/>
              <a:ext cx="792199" cy="1885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900" b="1" dirty="0">
                  <a:solidFill>
                    <a:schemeClr val="accent6">
                      <a:lumMod val="75000"/>
                    </a:schemeClr>
                  </a:solidFill>
                  <a:latin typeface="+mn-ea"/>
                </a:rPr>
                <a:t>西餐</a:t>
              </a:r>
              <a:r>
                <a:rPr lang="en-US" altLang="zh-CN" sz="900" b="1" dirty="0">
                  <a:solidFill>
                    <a:schemeClr val="accent6">
                      <a:lumMod val="75000"/>
                    </a:schemeClr>
                  </a:solidFill>
                  <a:latin typeface="+mn-ea"/>
                </a:rPr>
                <a:t>/</a:t>
              </a:r>
              <a:r>
                <a:rPr lang="zh-CN" altLang="en-US" sz="900" b="1" dirty="0">
                  <a:solidFill>
                    <a:schemeClr val="accent6">
                      <a:lumMod val="75000"/>
                    </a:schemeClr>
                  </a:solidFill>
                  <a:latin typeface="+mn-ea"/>
                </a:rPr>
                <a:t>地方菜</a:t>
              </a:r>
              <a:r>
                <a:rPr lang="en-US" altLang="zh-CN" sz="900" b="1" dirty="0">
                  <a:solidFill>
                    <a:schemeClr val="accent6">
                      <a:lumMod val="75000"/>
                    </a:schemeClr>
                  </a:solidFill>
                  <a:latin typeface="+mn-ea"/>
                </a:rPr>
                <a:t>/</a:t>
              </a:r>
              <a:r>
                <a:rPr lang="zh-CN" altLang="en-US" sz="900" b="1" dirty="0">
                  <a:solidFill>
                    <a:schemeClr val="accent6">
                      <a:lumMod val="75000"/>
                    </a:schemeClr>
                  </a:solidFill>
                  <a:latin typeface="+mn-ea"/>
                </a:rPr>
                <a:t>自助</a:t>
              </a:r>
              <a:endParaRPr lang="en-US" sz="900" b="1" dirty="0">
                <a:solidFill>
                  <a:schemeClr val="accent6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30" name="Text 46">
              <a:extLst>
                <a:ext uri="{FF2B5EF4-FFF2-40B4-BE49-F238E27FC236}">
                  <a16:creationId xmlns:a16="http://schemas.microsoft.com/office/drawing/2014/main" id="{0006A2CA-E09C-4218-B396-7FCB9DFCFF92}"/>
                </a:ext>
              </a:extLst>
            </p:cNvPr>
            <p:cNvSpPr/>
            <p:nvPr/>
          </p:nvSpPr>
          <p:spPr>
            <a:xfrm>
              <a:off x="881143" y="2682276"/>
              <a:ext cx="792199" cy="12118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777777"/>
                  </a:solidFill>
                  <a:latin typeface="+mn-ea"/>
                  <a:cs typeface="Microsoft YaHei" pitchFamily="34" charset="-120"/>
                </a:rPr>
                <a:t>价格带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236" name="Shape 86">
            <a:extLst>
              <a:ext uri="{FF2B5EF4-FFF2-40B4-BE49-F238E27FC236}">
                <a16:creationId xmlns:a16="http://schemas.microsoft.com/office/drawing/2014/main" id="{B86C5701-D185-45BD-BD4E-32332F643767}"/>
              </a:ext>
            </a:extLst>
          </p:cNvPr>
          <p:cNvSpPr/>
          <p:nvPr/>
        </p:nvSpPr>
        <p:spPr>
          <a:xfrm>
            <a:off x="6861486" y="2770395"/>
            <a:ext cx="2135052" cy="3796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51BD3A87-8AD4-4C21-A969-4F4A5488D213}"/>
              </a:ext>
            </a:extLst>
          </p:cNvPr>
          <p:cNvSpPr txBox="1"/>
          <p:nvPr/>
        </p:nvSpPr>
        <p:spPr>
          <a:xfrm>
            <a:off x="6826289" y="2746336"/>
            <a:ext cx="2170248" cy="525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·</a:t>
            </a:r>
            <a:r>
              <a:rPr lang="zh-CN" altLang="en-US" sz="800" dirty="0">
                <a:latin typeface="+mn-ea"/>
              </a:rPr>
              <a:t>有一定的品牌集中度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·</a:t>
            </a:r>
            <a:r>
              <a:rPr lang="zh-CN" altLang="en-US" sz="800" dirty="0"/>
              <a:t>多位于大型商场，配套设施服务齐全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endParaRPr lang="en-US" altLang="zh-CN" sz="800" dirty="0"/>
          </a:p>
        </p:txBody>
      </p: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46F42962-9D95-4D8D-8BA4-E98DB3CB808F}"/>
              </a:ext>
            </a:extLst>
          </p:cNvPr>
          <p:cNvGrpSpPr/>
          <p:nvPr/>
        </p:nvGrpSpPr>
        <p:grpSpPr>
          <a:xfrm>
            <a:off x="4642309" y="2417942"/>
            <a:ext cx="744925" cy="261280"/>
            <a:chOff x="881143" y="2507229"/>
            <a:chExt cx="792199" cy="296233"/>
          </a:xfrm>
        </p:grpSpPr>
        <p:sp>
          <p:nvSpPr>
            <p:cNvPr id="240" name="Text 45">
              <a:extLst>
                <a:ext uri="{FF2B5EF4-FFF2-40B4-BE49-F238E27FC236}">
                  <a16:creationId xmlns:a16="http://schemas.microsoft.com/office/drawing/2014/main" id="{08CFB43A-E6AE-4AC9-82A0-953E97B30B1F}"/>
                </a:ext>
              </a:extLst>
            </p:cNvPr>
            <p:cNvSpPr/>
            <p:nvPr/>
          </p:nvSpPr>
          <p:spPr>
            <a:xfrm>
              <a:off x="881143" y="2507229"/>
              <a:ext cx="792199" cy="1885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chemeClr val="accent3"/>
                  </a:solidFill>
                  <a:latin typeface="+mn-ea"/>
                </a:rPr>
                <a:t>80-150</a:t>
              </a:r>
              <a:r>
                <a:rPr lang="zh-CN" altLang="en-US" sz="900" b="1" dirty="0">
                  <a:solidFill>
                    <a:schemeClr val="accent3"/>
                  </a:solidFill>
                  <a:latin typeface="+mn-ea"/>
                </a:rPr>
                <a:t>元</a:t>
              </a:r>
              <a:endParaRPr lang="en-US" sz="900" b="1" dirty="0">
                <a:solidFill>
                  <a:schemeClr val="accent3"/>
                </a:solidFill>
                <a:latin typeface="+mn-ea"/>
              </a:endParaRPr>
            </a:p>
          </p:txBody>
        </p:sp>
        <p:sp>
          <p:nvSpPr>
            <p:cNvPr id="241" name="Text 46">
              <a:extLst>
                <a:ext uri="{FF2B5EF4-FFF2-40B4-BE49-F238E27FC236}">
                  <a16:creationId xmlns:a16="http://schemas.microsoft.com/office/drawing/2014/main" id="{0F8CD9F6-B8D6-4218-B23A-79F8CB2D3D4D}"/>
                </a:ext>
              </a:extLst>
            </p:cNvPr>
            <p:cNvSpPr/>
            <p:nvPr/>
          </p:nvSpPr>
          <p:spPr>
            <a:xfrm>
              <a:off x="881143" y="2682276"/>
              <a:ext cx="792199" cy="12118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777777"/>
                  </a:solidFill>
                  <a:latin typeface="+mn-ea"/>
                  <a:cs typeface="Microsoft YaHei" pitchFamily="34" charset="-120"/>
                </a:rPr>
                <a:t>价格带</a:t>
              </a:r>
              <a:endParaRPr lang="en-US" sz="800" dirty="0">
                <a:latin typeface="+mn-ea"/>
              </a:endParaRPr>
            </a:p>
          </p:txBody>
        </p:sp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A6AD7D93-5E23-4663-A973-105BBEF7F323}"/>
              </a:ext>
            </a:extLst>
          </p:cNvPr>
          <p:cNvGrpSpPr/>
          <p:nvPr/>
        </p:nvGrpSpPr>
        <p:grpSpPr>
          <a:xfrm>
            <a:off x="5496771" y="2417942"/>
            <a:ext cx="1110309" cy="261280"/>
            <a:chOff x="881143" y="2507229"/>
            <a:chExt cx="792199" cy="296233"/>
          </a:xfrm>
        </p:grpSpPr>
        <p:sp>
          <p:nvSpPr>
            <p:cNvPr id="243" name="Text 45">
              <a:extLst>
                <a:ext uri="{FF2B5EF4-FFF2-40B4-BE49-F238E27FC236}">
                  <a16:creationId xmlns:a16="http://schemas.microsoft.com/office/drawing/2014/main" id="{CAA06D62-3E78-4FB9-9532-23789BEAFA1E}"/>
                </a:ext>
              </a:extLst>
            </p:cNvPr>
            <p:cNvSpPr/>
            <p:nvPr/>
          </p:nvSpPr>
          <p:spPr>
            <a:xfrm>
              <a:off x="881143" y="2507229"/>
              <a:ext cx="792199" cy="1885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zh-CN" altLang="en-US" sz="900" b="1" dirty="0">
                  <a:solidFill>
                    <a:schemeClr val="accent3"/>
                  </a:solidFill>
                  <a:latin typeface="+mn-ea"/>
                </a:rPr>
                <a:t>西餐</a:t>
              </a:r>
              <a:r>
                <a:rPr lang="en-US" altLang="zh-CN" sz="900" b="1" dirty="0">
                  <a:solidFill>
                    <a:schemeClr val="accent3"/>
                  </a:solidFill>
                  <a:latin typeface="+mn-ea"/>
                </a:rPr>
                <a:t>/</a:t>
              </a:r>
              <a:r>
                <a:rPr lang="zh-CN" altLang="en-US" sz="900" b="1" dirty="0">
                  <a:solidFill>
                    <a:schemeClr val="accent3"/>
                  </a:solidFill>
                  <a:latin typeface="+mn-ea"/>
                </a:rPr>
                <a:t>融合菜</a:t>
              </a:r>
              <a:r>
                <a:rPr lang="en-US" altLang="zh-CN" sz="900" b="1" dirty="0">
                  <a:solidFill>
                    <a:schemeClr val="accent3"/>
                  </a:solidFill>
                  <a:latin typeface="+mn-ea"/>
                </a:rPr>
                <a:t>/</a:t>
              </a:r>
              <a:r>
                <a:rPr lang="zh-CN" altLang="en-US" sz="900" b="1" dirty="0">
                  <a:solidFill>
                    <a:schemeClr val="accent3"/>
                  </a:solidFill>
                  <a:latin typeface="+mn-ea"/>
                </a:rPr>
                <a:t>日料</a:t>
              </a:r>
              <a:endParaRPr lang="en-US" sz="900" b="1" dirty="0">
                <a:solidFill>
                  <a:schemeClr val="accent3"/>
                </a:solidFill>
                <a:latin typeface="+mn-ea"/>
              </a:endParaRPr>
            </a:p>
          </p:txBody>
        </p:sp>
        <p:sp>
          <p:nvSpPr>
            <p:cNvPr id="244" name="Text 46">
              <a:extLst>
                <a:ext uri="{FF2B5EF4-FFF2-40B4-BE49-F238E27FC236}">
                  <a16:creationId xmlns:a16="http://schemas.microsoft.com/office/drawing/2014/main" id="{C99635FF-0F3C-46D0-BBA1-BC737894B062}"/>
                </a:ext>
              </a:extLst>
            </p:cNvPr>
            <p:cNvSpPr/>
            <p:nvPr/>
          </p:nvSpPr>
          <p:spPr>
            <a:xfrm>
              <a:off x="881143" y="2682276"/>
              <a:ext cx="792199" cy="12118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 err="1">
                  <a:solidFill>
                    <a:srgbClr val="777777"/>
                  </a:solidFill>
                  <a:latin typeface="+mn-ea"/>
                  <a:cs typeface="Microsoft YaHei" pitchFamily="34" charset="-120"/>
                </a:rPr>
                <a:t>价格带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245" name="Shape 86">
            <a:extLst>
              <a:ext uri="{FF2B5EF4-FFF2-40B4-BE49-F238E27FC236}">
                <a16:creationId xmlns:a16="http://schemas.microsoft.com/office/drawing/2014/main" id="{8C86DA18-9220-4C7B-A43A-01322E1A3FF7}"/>
              </a:ext>
            </a:extLst>
          </p:cNvPr>
          <p:cNvSpPr/>
          <p:nvPr/>
        </p:nvSpPr>
        <p:spPr>
          <a:xfrm>
            <a:off x="4549085" y="2769125"/>
            <a:ext cx="2135052" cy="3796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92814980-C39D-4421-951C-1094BE458E02}"/>
              </a:ext>
            </a:extLst>
          </p:cNvPr>
          <p:cNvSpPr txBox="1"/>
          <p:nvPr/>
        </p:nvSpPr>
        <p:spPr>
          <a:xfrm>
            <a:off x="4539288" y="2754595"/>
            <a:ext cx="2170248" cy="394467"/>
          </a:xfrm>
          <a:prstGeom prst="rect">
            <a:avLst/>
          </a:prstGeom>
          <a:solidFill>
            <a:srgbClr val="FCF2F2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900" dirty="0">
                <a:latin typeface="+mn-ea"/>
              </a:rPr>
              <a:t>·</a:t>
            </a:r>
            <a:r>
              <a:rPr lang="zh-CN" altLang="en-US" sz="900" dirty="0">
                <a:latin typeface="+mn-ea"/>
              </a:rPr>
              <a:t>连锁</a:t>
            </a:r>
            <a:r>
              <a:rPr lang="zh-CN" altLang="en-US" sz="800" dirty="0"/>
              <a:t>品牌集中度高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·</a:t>
            </a:r>
            <a:r>
              <a:rPr lang="zh-CN" altLang="en-US" sz="800" dirty="0"/>
              <a:t>多位于核心商圈、城市地标附近</a:t>
            </a:r>
            <a:endParaRPr lang="en-US" altLang="zh-CN" sz="800" dirty="0"/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788544EB-871D-4C69-97B2-0673E0ABAAE3}"/>
              </a:ext>
            </a:extLst>
          </p:cNvPr>
          <p:cNvSpPr txBox="1"/>
          <p:nvPr/>
        </p:nvSpPr>
        <p:spPr>
          <a:xfrm>
            <a:off x="870762" y="2746138"/>
            <a:ext cx="3484936" cy="50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1" dirty="0">
                <a:latin typeface="+mn-ea"/>
              </a:rPr>
              <a:t>当地人推荐：</a:t>
            </a:r>
            <a:r>
              <a:rPr lang="zh-CN" altLang="en-US" sz="800" dirty="0">
                <a:latin typeface="+mn-ea"/>
              </a:rPr>
              <a:t>客单价相对更高、正餐为主</a:t>
            </a:r>
            <a:r>
              <a:rPr lang="en-US" altLang="zh-CN" sz="800" dirty="0">
                <a:latin typeface="+mn-ea"/>
              </a:rPr>
              <a:t>,</a:t>
            </a:r>
            <a:r>
              <a:rPr lang="zh-CN" altLang="en-US" sz="800" dirty="0">
                <a:latin typeface="+mn-ea"/>
              </a:rPr>
              <a:t>品类分布更均衡；</a:t>
            </a:r>
            <a:r>
              <a:rPr lang="zh-CN" altLang="en-US" sz="800" b="1" dirty="0"/>
              <a:t>特色菜：</a:t>
            </a:r>
            <a:r>
              <a:rPr lang="zh-CN" altLang="en-US" sz="800" dirty="0"/>
              <a:t>小吃快餐比例更高。</a:t>
            </a:r>
            <a:r>
              <a:rPr lang="zh-CN" altLang="en-US" sz="800" b="1" dirty="0">
                <a:latin typeface="+mn-ea"/>
              </a:rPr>
              <a:t>烟火榜：</a:t>
            </a:r>
            <a:r>
              <a:rPr lang="zh-CN" altLang="en-US" sz="800" dirty="0">
                <a:latin typeface="+mn-ea"/>
              </a:rPr>
              <a:t>独立小店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多位于居民区、老城区附近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endParaRPr lang="en-US" altLang="zh-CN" sz="700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1A8758D-FF26-1DA8-A0B9-A6CE8EC1D827}"/>
              </a:ext>
            </a:extLst>
          </p:cNvPr>
          <p:cNvSpPr txBox="1">
            <a:spLocks/>
          </p:cNvSpPr>
          <p:nvPr/>
        </p:nvSpPr>
        <p:spPr>
          <a:xfrm>
            <a:off x="8799687" y="2408389"/>
            <a:ext cx="2226041" cy="25324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这个</a:t>
            </a:r>
            <a:r>
              <a:rPr lang="en-US" altLang="zh-CN" sz="2100" dirty="0">
                <a:solidFill>
                  <a:srgbClr val="FF0000"/>
                </a:solidFill>
                <a:latin typeface="+mj-ea"/>
              </a:rPr>
              <a:t>know-how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准确么？</a:t>
            </a:r>
          </a:p>
        </p:txBody>
      </p:sp>
    </p:spTree>
    <p:extLst>
      <p:ext uri="{BB962C8B-B14F-4D97-AF65-F5344CB8AC3E}">
        <p14:creationId xmlns:p14="http://schemas.microsoft.com/office/powerpoint/2010/main" val="3368071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20246AA1-3FFF-D83E-C68E-B2B3AB0D2145}"/>
              </a:ext>
            </a:extLst>
          </p:cNvPr>
          <p:cNvSpPr/>
          <p:nvPr/>
        </p:nvSpPr>
        <p:spPr>
          <a:xfrm>
            <a:off x="133026" y="36166"/>
            <a:ext cx="55667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FF0000"/>
                </a:solidFill>
                <a:latin typeface="+mn-ea"/>
              </a:rPr>
              <a:t>承接用户品类决策：</a:t>
            </a:r>
            <a:r>
              <a:rPr lang="zh-CN" altLang="en-US" sz="2100" dirty="0">
                <a:latin typeface="+mn-ea"/>
              </a:rPr>
              <a:t>指数榜</a:t>
            </a:r>
            <a:r>
              <a:rPr lang="en-US" altLang="zh-CN" sz="2100" dirty="0">
                <a:latin typeface="+mn-ea"/>
              </a:rPr>
              <a:t>-</a:t>
            </a:r>
            <a:r>
              <a:rPr lang="zh-CN" altLang="en-US" sz="2100" dirty="0">
                <a:latin typeface="+mn-ea"/>
              </a:rPr>
              <a:t>品类扩充</a:t>
            </a:r>
            <a:endParaRPr lang="en-US" sz="2100" dirty="0"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C8EBAC-7ED3-CA6E-DEC9-78ACB035B5AD}"/>
              </a:ext>
            </a:extLst>
          </p:cNvPr>
          <p:cNvSpPr txBox="1"/>
          <p:nvPr/>
        </p:nvSpPr>
        <p:spPr>
          <a:xfrm>
            <a:off x="50800" y="312066"/>
            <a:ext cx="8942040" cy="48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ts val="1600"/>
              </a:lnSpc>
            </a:pPr>
            <a:r>
              <a:rPr lang="zh-CN" altLang="en-US" sz="1100" dirty="0">
                <a:effectLst/>
                <a:latin typeface="+mn-ea"/>
              </a:rPr>
              <a:t>目的使美团榜单更好的满足用户找店决策需求，对榜单类目进行精细化扩充，</a:t>
            </a:r>
            <a:r>
              <a:rPr lang="zh-CN" altLang="en-US" sz="1100" b="0" i="0" dirty="0">
                <a:solidFill>
                  <a:srgbClr val="111925"/>
                </a:solidFill>
                <a:effectLst/>
                <a:latin typeface="+mn-ea"/>
              </a:rPr>
              <a:t>为商户开辟差异化赛道、提升公信力的同时，增加曝光转化渠道，</a:t>
            </a:r>
            <a:r>
              <a:rPr lang="zh-CN" altLang="en-US" sz="1100" dirty="0">
                <a:effectLst/>
                <a:latin typeface="+mn-ea"/>
              </a:rPr>
              <a:t>牵引更多优质商户丰富线上供给。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2DA58B7-D3CA-7DBA-5CC1-FD8DB64F3D58}"/>
              </a:ext>
            </a:extLst>
          </p:cNvPr>
          <p:cNvSpPr txBox="1"/>
          <p:nvPr/>
        </p:nvSpPr>
        <p:spPr>
          <a:xfrm>
            <a:off x="35077" y="4977723"/>
            <a:ext cx="156966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baseline="-25000" dirty="0">
                <a:latin typeface="+mn-ea"/>
              </a:rPr>
              <a:t>注：榜单品类分析以人气榜为主进行分析</a:t>
            </a:r>
          </a:p>
        </p:txBody>
      </p:sp>
      <p:sp>
        <p:nvSpPr>
          <p:cNvPr id="5" name="矩形: 圆角 5">
            <a:extLst>
              <a:ext uri="{FF2B5EF4-FFF2-40B4-BE49-F238E27FC236}">
                <a16:creationId xmlns:a16="http://schemas.microsoft.com/office/drawing/2014/main" id="{E891DD1F-18EF-9FE2-D986-0BB6C7897C07}"/>
              </a:ext>
            </a:extLst>
          </p:cNvPr>
          <p:cNvSpPr/>
          <p:nvPr/>
        </p:nvSpPr>
        <p:spPr>
          <a:xfrm>
            <a:off x="3136557" y="5240013"/>
            <a:ext cx="2868142" cy="4258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上榜商户覆盖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60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万→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67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万，覆盖增加约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7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万家，（正餐商户增加约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万，轻快餐增加约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6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万）</a:t>
            </a:r>
          </a:p>
        </p:txBody>
      </p:sp>
      <p:sp>
        <p:nvSpPr>
          <p:cNvPr id="7" name="米菲PPT13">
            <a:extLst>
              <a:ext uri="{FF2B5EF4-FFF2-40B4-BE49-F238E27FC236}">
                <a16:creationId xmlns:a16="http://schemas.microsoft.com/office/drawing/2014/main" id="{D11C718D-DD8A-9C05-4339-8123B023AF36}"/>
              </a:ext>
            </a:extLst>
          </p:cNvPr>
          <p:cNvSpPr/>
          <p:nvPr/>
        </p:nvSpPr>
        <p:spPr>
          <a:xfrm>
            <a:off x="10101904" y="4603065"/>
            <a:ext cx="2977031" cy="180000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+mn-ea"/>
              </a:rPr>
              <a:t>②上榜机会扩容驱动商家曝光转化</a:t>
            </a:r>
          </a:p>
        </p:txBody>
      </p:sp>
      <p:sp>
        <p:nvSpPr>
          <p:cNvPr id="9" name="米菲PPT13">
            <a:extLst>
              <a:ext uri="{FF2B5EF4-FFF2-40B4-BE49-F238E27FC236}">
                <a16:creationId xmlns:a16="http://schemas.microsoft.com/office/drawing/2014/main" id="{9EE207BA-D41C-BD3E-6B38-551C8F1266FC}"/>
              </a:ext>
            </a:extLst>
          </p:cNvPr>
          <p:cNvSpPr/>
          <p:nvPr/>
        </p:nvSpPr>
        <p:spPr>
          <a:xfrm>
            <a:off x="10100065" y="4129844"/>
            <a:ext cx="2977031" cy="180000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+mn-ea"/>
              </a:rPr>
              <a:t>③榜单赛道拓宽有力牵引商家供给</a:t>
            </a:r>
            <a:endParaRPr lang="en-US" altLang="zh-CN" sz="1000" b="1" dirty="0">
              <a:latin typeface="+mn-ea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F1902D3-412D-427D-45AC-D18459F41FBC}"/>
              </a:ext>
            </a:extLst>
          </p:cNvPr>
          <p:cNvGrpSpPr/>
          <p:nvPr/>
        </p:nvGrpSpPr>
        <p:grpSpPr>
          <a:xfrm>
            <a:off x="10102953" y="36597"/>
            <a:ext cx="2998962" cy="3786325"/>
            <a:chOff x="6113272" y="1216313"/>
            <a:chExt cx="2998962" cy="3786325"/>
          </a:xfrm>
        </p:grpSpPr>
        <p:graphicFrame>
          <p:nvGraphicFramePr>
            <p:cNvPr id="12" name="图表 11">
              <a:extLst>
                <a:ext uri="{FF2B5EF4-FFF2-40B4-BE49-F238E27FC236}">
                  <a16:creationId xmlns:a16="http://schemas.microsoft.com/office/drawing/2014/main" id="{450D8A88-D7B3-8FFB-544B-D6F2AA45F09C}"/>
                </a:ext>
              </a:extLst>
            </p:cNvPr>
            <p:cNvGraphicFramePr/>
            <p:nvPr/>
          </p:nvGraphicFramePr>
          <p:xfrm>
            <a:off x="6181164" y="1235923"/>
            <a:ext cx="2744216" cy="25439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68065AD-8297-20F9-F152-63D158DE7D97}"/>
                </a:ext>
              </a:extLst>
            </p:cNvPr>
            <p:cNvSpPr txBox="1"/>
            <p:nvPr/>
          </p:nvSpPr>
          <p:spPr>
            <a:xfrm>
              <a:off x="6181164" y="1515359"/>
              <a:ext cx="6463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i="1" u="sng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单位：亿</a:t>
              </a:r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59285E64-6625-1211-5853-B47DEEA9B5E2}"/>
                </a:ext>
              </a:extLst>
            </p:cNvPr>
            <p:cNvSpPr/>
            <p:nvPr/>
          </p:nvSpPr>
          <p:spPr>
            <a:xfrm>
              <a:off x="6113272" y="3857197"/>
              <a:ext cx="2880000" cy="10730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61913" tIns="0" rIns="0" bIns="0" rtlCol="0" anchor="ctr"/>
            <a:lstStyle/>
            <a:p>
              <a:pPr marL="61913" indent="-61913">
                <a:lnSpc>
                  <a:spcPts val="1900"/>
                </a:lnSpc>
                <a:buSzPct val="100000"/>
                <a:buChar char="•"/>
              </a:pPr>
              <a:r>
                <a:rPr lang="en-US" altLang="zh-CN" sz="1100" dirty="0">
                  <a:latin typeface="+mn-ea"/>
                </a:rPr>
                <a:t> 7</a:t>
              </a:r>
              <a:r>
                <a:rPr lang="zh-CN" altLang="en-US" sz="1100" dirty="0">
                  <a:latin typeface="+mn-ea"/>
                </a:rPr>
                <a:t>日内浏览榜单引导交易在扩充类目后大幅提升，周期内实付</a:t>
              </a:r>
              <a:r>
                <a:rPr lang="en-US" altLang="zh-CN" sz="1100" dirty="0">
                  <a:latin typeface="+mn-ea"/>
                </a:rPr>
                <a:t>GTV1,59</a:t>
              </a:r>
              <a:r>
                <a:rPr lang="zh-CN" altLang="en-US" sz="1100" dirty="0">
                  <a:latin typeface="+mn-ea"/>
                </a:rPr>
                <a:t>亿，提升</a:t>
              </a:r>
              <a:r>
                <a:rPr lang="en-US" altLang="zh-CN" sz="1100" dirty="0">
                  <a:latin typeface="+mn-ea"/>
                </a:rPr>
                <a:t>5600</a:t>
              </a:r>
              <a:r>
                <a:rPr lang="zh-CN" altLang="en-US" sz="1100" dirty="0">
                  <a:latin typeface="+mn-ea"/>
                </a:rPr>
                <a:t>万</a:t>
              </a:r>
              <a:endParaRPr lang="en-US" altLang="zh-CN" sz="1100" dirty="0">
                <a:latin typeface="+mn-ea"/>
              </a:endParaRPr>
            </a:p>
            <a:p>
              <a:pPr marL="61913" indent="-61913">
                <a:lnSpc>
                  <a:spcPts val="1900"/>
                </a:lnSpc>
                <a:buSzPct val="100000"/>
                <a:buChar char="•"/>
              </a:pPr>
              <a:r>
                <a:rPr lang="en-US" altLang="zh-CN" sz="1100" dirty="0">
                  <a:latin typeface="+mn-ea"/>
                </a:rPr>
                <a:t> </a:t>
              </a:r>
              <a:r>
                <a:rPr lang="zh-CN" altLang="en-US" sz="1100" dirty="0">
                  <a:latin typeface="+mn-ea"/>
                </a:rPr>
                <a:t>占比到餐大盘</a:t>
              </a:r>
              <a:r>
                <a:rPr lang="en-US" altLang="zh-CN" sz="1100" dirty="0">
                  <a:latin typeface="+mn-ea"/>
                </a:rPr>
                <a:t>2.6%</a:t>
              </a:r>
              <a:r>
                <a:rPr lang="zh-CN" altLang="en-US" sz="1100" dirty="0">
                  <a:latin typeface="+mn-ea"/>
                </a:rPr>
                <a:t>，提升</a:t>
              </a:r>
              <a:r>
                <a:rPr lang="en-US" altLang="zh-CN" sz="1100" dirty="0">
                  <a:latin typeface="+mn-ea"/>
                </a:rPr>
                <a:t>1%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047BAAC-EDAC-CC8F-0100-62A9235CD840}"/>
                </a:ext>
              </a:extLst>
            </p:cNvPr>
            <p:cNvSpPr txBox="1"/>
            <p:nvPr/>
          </p:nvSpPr>
          <p:spPr>
            <a:xfrm>
              <a:off x="6181163" y="3369428"/>
              <a:ext cx="2788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900" i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品类扩充前周期：</a:t>
              </a:r>
              <a:r>
                <a:rPr lang="en-US" altLang="zh-CN" sz="900" i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316~329</a:t>
              </a:r>
            </a:p>
            <a:p>
              <a:pPr algn="l"/>
              <a:r>
                <a:rPr lang="zh-CN" altLang="en-US" sz="900" i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品类扩充后周期：</a:t>
              </a:r>
              <a:r>
                <a:rPr lang="en-US" altLang="zh-CN" sz="900" i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330~410</a:t>
              </a:r>
              <a:endParaRPr lang="zh-CN" altLang="en-US" sz="900" i="1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24" name="米菲PPT1">
              <a:extLst>
                <a:ext uri="{FF2B5EF4-FFF2-40B4-BE49-F238E27FC236}">
                  <a16:creationId xmlns:a16="http://schemas.microsoft.com/office/drawing/2014/main" id="{2970AA43-1E1F-D0B5-DD18-69C49707EE24}"/>
                </a:ext>
              </a:extLst>
            </p:cNvPr>
            <p:cNvSpPr/>
            <p:nvPr/>
          </p:nvSpPr>
          <p:spPr>
            <a:xfrm>
              <a:off x="6135203" y="1216313"/>
              <a:ext cx="2977031" cy="3786325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chemeClr val="accent2">
                  <a:lumMod val="40000"/>
                  <a:lumOff val="60000"/>
                  <a:alpha val="78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t">
              <a:noAutofit/>
            </a:bodyPr>
            <a:lstStyle/>
            <a:p>
              <a:pPr algn="ctr"/>
              <a:endParaRPr lang="en-US" altLang="zh-CN" sz="2000" i="1" u="sng" dirty="0">
                <a:solidFill>
                  <a:srgbClr val="C7723D"/>
                </a:solidFill>
                <a:latin typeface="+mn-ea"/>
              </a:endParaRPr>
            </a:p>
          </p:txBody>
        </p:sp>
      </p:grpSp>
      <p:pic>
        <p:nvPicPr>
          <p:cNvPr id="89" name="图片 88">
            <a:extLst>
              <a:ext uri="{FF2B5EF4-FFF2-40B4-BE49-F238E27FC236}">
                <a16:creationId xmlns:a16="http://schemas.microsoft.com/office/drawing/2014/main" id="{7F041171-B539-3044-85B0-463D588F9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529" y="7144816"/>
            <a:ext cx="2868142" cy="1797269"/>
          </a:xfrm>
          <a:prstGeom prst="rect">
            <a:avLst/>
          </a:prstGeom>
        </p:spPr>
      </p:pic>
      <p:sp>
        <p:nvSpPr>
          <p:cNvPr id="93" name="文本框 92">
            <a:extLst>
              <a:ext uri="{FF2B5EF4-FFF2-40B4-BE49-F238E27FC236}">
                <a16:creationId xmlns:a16="http://schemas.microsoft.com/office/drawing/2014/main" id="{AC5C9E8B-004F-945C-EDF3-16D7D5D9791B}"/>
              </a:ext>
            </a:extLst>
          </p:cNvPr>
          <p:cNvSpPr txBox="1"/>
          <p:nvPr/>
        </p:nvSpPr>
        <p:spPr>
          <a:xfrm>
            <a:off x="-598924" y="6948918"/>
            <a:ext cx="32712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+mn-ea"/>
              </a:rPr>
              <a:t>品类扩充自助餐数据：</a:t>
            </a:r>
          </a:p>
          <a:p>
            <a:pPr>
              <a:buNone/>
            </a:pPr>
            <a:r>
              <a:rPr lang="zh-CN" altLang="en-US" sz="1000" dirty="0">
                <a:effectLst/>
                <a:latin typeface="+mn-ea"/>
              </a:rPr>
              <a:t>品类模块点击率从</a:t>
            </a:r>
            <a:r>
              <a:rPr lang="en-US" altLang="zh-CN" sz="1000" dirty="0">
                <a:effectLst/>
                <a:latin typeface="+mn-ea"/>
              </a:rPr>
              <a:t>8.1%→11%</a:t>
            </a:r>
            <a:r>
              <a:rPr lang="zh-CN" altLang="en-US" sz="1000" dirty="0">
                <a:effectLst/>
                <a:latin typeface="+mn-ea"/>
              </a:rPr>
              <a:t>，提升</a:t>
            </a:r>
            <a:r>
              <a:rPr lang="en-US" altLang="zh-CN" sz="1000" dirty="0">
                <a:effectLst/>
                <a:latin typeface="+mn-ea"/>
              </a:rPr>
              <a:t>2.9</a:t>
            </a:r>
            <a:r>
              <a:rPr lang="en" altLang="zh-CN" sz="1000" dirty="0">
                <a:effectLst/>
                <a:latin typeface="+mn-ea"/>
              </a:rPr>
              <a:t>PP</a:t>
            </a:r>
            <a:br>
              <a:rPr lang="en" altLang="zh-CN" sz="1000" dirty="0">
                <a:effectLst/>
                <a:latin typeface="+mn-ea"/>
              </a:rPr>
            </a:br>
            <a:endParaRPr lang="en" altLang="zh-CN" sz="1000" dirty="0">
              <a:effectLst/>
              <a:latin typeface="+mn-ea"/>
            </a:endParaRPr>
          </a:p>
          <a:p>
            <a:pPr>
              <a:buNone/>
            </a:pPr>
            <a:r>
              <a:rPr lang="zh-CN" altLang="en-US" sz="1000" dirty="0">
                <a:effectLst/>
                <a:latin typeface="+mn-ea"/>
              </a:rPr>
              <a:t>自助餐新增上榜商户数</a:t>
            </a:r>
            <a:r>
              <a:rPr lang="en-US" altLang="zh-CN" sz="1000" dirty="0">
                <a:effectLst/>
                <a:latin typeface="+mn-ea"/>
              </a:rPr>
              <a:t>1619</a:t>
            </a:r>
            <a:r>
              <a:rPr lang="zh-CN" altLang="en-US" sz="1000" dirty="0">
                <a:effectLst/>
                <a:latin typeface="+mn-ea"/>
              </a:rPr>
              <a:t>家，（新上榜：扩充品类前三周未上榜，扩充后两周上榜）</a:t>
            </a:r>
            <a:br>
              <a:rPr lang="zh-CN" altLang="en-US" sz="1000" dirty="0">
                <a:effectLst/>
                <a:latin typeface="+mn-ea"/>
              </a:rPr>
            </a:br>
            <a:endParaRPr lang="en-US" altLang="zh-CN" sz="1000" dirty="0">
              <a:effectLst/>
              <a:latin typeface="+mn-ea"/>
            </a:endParaRPr>
          </a:p>
          <a:p>
            <a:pPr>
              <a:buNone/>
            </a:pPr>
            <a:r>
              <a:rPr lang="zh-CN" altLang="en-US" sz="1000" dirty="0">
                <a:effectLst/>
                <a:latin typeface="+mn-ea"/>
              </a:rPr>
              <a:t>店均实付</a:t>
            </a:r>
            <a:r>
              <a:rPr lang="en" altLang="zh-CN" sz="1000" dirty="0">
                <a:effectLst/>
                <a:latin typeface="+mn-ea"/>
              </a:rPr>
              <a:t>GTV</a:t>
            </a:r>
            <a:r>
              <a:rPr lang="zh-CN" altLang="en-US" sz="1000" dirty="0">
                <a:effectLst/>
                <a:latin typeface="+mn-ea"/>
              </a:rPr>
              <a:t>提升</a:t>
            </a:r>
            <a:r>
              <a:rPr lang="en-US" altLang="zh-CN" sz="1000" dirty="0">
                <a:effectLst/>
                <a:latin typeface="+mn-ea"/>
              </a:rPr>
              <a:t>3588</a:t>
            </a:r>
            <a:r>
              <a:rPr lang="zh-CN" altLang="en-US" sz="1000" dirty="0">
                <a:effectLst/>
                <a:latin typeface="+mn-ea"/>
              </a:rPr>
              <a:t>元（</a:t>
            </a:r>
            <a:r>
              <a:rPr lang="en-US" altLang="zh-CN" sz="1000" dirty="0">
                <a:effectLst/>
                <a:latin typeface="+mn-ea"/>
              </a:rPr>
              <a:t>3284→6872</a:t>
            </a:r>
            <a:r>
              <a:rPr lang="zh-CN" altLang="en-US" sz="1000" dirty="0">
                <a:effectLst/>
                <a:latin typeface="+mn-ea"/>
              </a:rPr>
              <a:t>）</a:t>
            </a:r>
            <a:r>
              <a:rPr lang="en-US" altLang="zh-CN" sz="1000" dirty="0">
                <a:effectLst/>
                <a:latin typeface="+mn-ea"/>
              </a:rPr>
              <a:t>,</a:t>
            </a:r>
            <a:r>
              <a:rPr lang="zh-CN" altLang="en-US" sz="1000" dirty="0">
                <a:effectLst/>
                <a:latin typeface="+mn-ea"/>
              </a:rPr>
              <a:t>环比提升</a:t>
            </a:r>
            <a:r>
              <a:rPr lang="en-US" altLang="zh-CN" sz="1000" dirty="0">
                <a:effectLst/>
                <a:latin typeface="+mn-ea"/>
              </a:rPr>
              <a:t>109%</a:t>
            </a:r>
            <a:br>
              <a:rPr lang="en-US" altLang="zh-CN" sz="1000" dirty="0">
                <a:effectLst/>
                <a:latin typeface="+mn-ea"/>
              </a:rPr>
            </a:br>
            <a:r>
              <a:rPr lang="en" altLang="zh-CN" sz="1000" dirty="0">
                <a:effectLst/>
                <a:latin typeface="+mn-ea"/>
              </a:rPr>
              <a:t>poi</a:t>
            </a:r>
            <a:r>
              <a:rPr lang="zh-CN" altLang="en-US" sz="1000" dirty="0">
                <a:effectLst/>
                <a:latin typeface="+mn-ea"/>
              </a:rPr>
              <a:t>意向</a:t>
            </a:r>
            <a:r>
              <a:rPr lang="en" altLang="zh-CN" sz="1000" dirty="0" err="1">
                <a:effectLst/>
                <a:latin typeface="+mn-ea"/>
              </a:rPr>
              <a:t>uv</a:t>
            </a:r>
            <a:r>
              <a:rPr lang="zh-CN" altLang="en-US" sz="1000" dirty="0">
                <a:effectLst/>
                <a:latin typeface="+mn-ea"/>
              </a:rPr>
              <a:t>提升</a:t>
            </a:r>
            <a:r>
              <a:rPr lang="en-US" altLang="zh-CN" sz="1000" dirty="0">
                <a:effectLst/>
                <a:latin typeface="+mn-ea"/>
              </a:rPr>
              <a:t>109</a:t>
            </a:r>
            <a:r>
              <a:rPr lang="zh-CN" altLang="en-US" sz="1000" dirty="0">
                <a:effectLst/>
                <a:latin typeface="+mn-ea"/>
              </a:rPr>
              <a:t>元（</a:t>
            </a:r>
            <a:r>
              <a:rPr lang="en-US" altLang="zh-CN" sz="1000" dirty="0">
                <a:effectLst/>
                <a:latin typeface="+mn-ea"/>
              </a:rPr>
              <a:t>1517→1625</a:t>
            </a:r>
            <a:r>
              <a:rPr lang="zh-CN" altLang="en-US" sz="1000" dirty="0">
                <a:effectLst/>
                <a:latin typeface="+mn-ea"/>
              </a:rPr>
              <a:t>），环比提升</a:t>
            </a:r>
            <a:r>
              <a:rPr lang="en-US" altLang="zh-CN" sz="1000" dirty="0">
                <a:effectLst/>
                <a:latin typeface="+mn-ea"/>
              </a:rPr>
              <a:t>7%</a:t>
            </a:r>
            <a:br>
              <a:rPr lang="en-US" altLang="zh-CN" sz="1000" dirty="0">
                <a:effectLst/>
                <a:latin typeface="+mn-ea"/>
              </a:rPr>
            </a:br>
            <a:r>
              <a:rPr lang="zh-CN" altLang="en-US" sz="1000" dirty="0">
                <a:effectLst/>
                <a:latin typeface="+mn-ea"/>
              </a:rPr>
              <a:t>在线项目数增加</a:t>
            </a:r>
            <a:r>
              <a:rPr lang="en-US" altLang="zh-CN" sz="1000" dirty="0">
                <a:effectLst/>
                <a:latin typeface="+mn-ea"/>
              </a:rPr>
              <a:t>1762</a:t>
            </a:r>
            <a:r>
              <a:rPr lang="zh-CN" altLang="en-US" sz="1000" dirty="0">
                <a:effectLst/>
                <a:latin typeface="+mn-ea"/>
              </a:rPr>
              <a:t>（</a:t>
            </a:r>
            <a:r>
              <a:rPr lang="en-US" altLang="zh-CN" sz="1000" dirty="0">
                <a:effectLst/>
                <a:latin typeface="+mn-ea"/>
              </a:rPr>
              <a:t>8932→10693</a:t>
            </a:r>
            <a:r>
              <a:rPr lang="zh-CN" altLang="en-US" sz="1000" dirty="0">
                <a:effectLst/>
                <a:latin typeface="+mn-ea"/>
              </a:rPr>
              <a:t>），环比提升</a:t>
            </a:r>
            <a:r>
              <a:rPr lang="en-US" altLang="zh-CN" sz="1000" dirty="0">
                <a:effectLst/>
                <a:latin typeface="+mn-ea"/>
              </a:rPr>
              <a:t>20%</a:t>
            </a:r>
            <a:br>
              <a:rPr lang="en-US" altLang="zh-CN" sz="1000" dirty="0">
                <a:effectLst/>
                <a:latin typeface="+mn-ea"/>
              </a:rPr>
            </a:br>
            <a:r>
              <a:rPr lang="zh-CN" altLang="en-US" sz="1000" dirty="0">
                <a:effectLst/>
                <a:latin typeface="+mn-ea"/>
              </a:rPr>
              <a:t>动销项目数增加</a:t>
            </a:r>
            <a:r>
              <a:rPr lang="en-US" altLang="zh-CN" sz="1000" dirty="0">
                <a:effectLst/>
                <a:latin typeface="+mn-ea"/>
              </a:rPr>
              <a:t>2055</a:t>
            </a:r>
            <a:r>
              <a:rPr lang="zh-CN" altLang="en-US" sz="1000" dirty="0">
                <a:effectLst/>
                <a:latin typeface="+mn-ea"/>
              </a:rPr>
              <a:t>（</a:t>
            </a:r>
            <a:r>
              <a:rPr lang="en-US" altLang="zh-CN" sz="1000" dirty="0">
                <a:effectLst/>
                <a:latin typeface="+mn-ea"/>
              </a:rPr>
              <a:t>4038→6092</a:t>
            </a:r>
            <a:r>
              <a:rPr lang="zh-CN" altLang="en-US" sz="1000" dirty="0">
                <a:effectLst/>
                <a:latin typeface="+mn-ea"/>
              </a:rPr>
              <a:t>）</a:t>
            </a:r>
            <a:r>
              <a:rPr lang="en-US" altLang="zh-CN" sz="1000" dirty="0">
                <a:effectLst/>
                <a:latin typeface="+mn-ea"/>
              </a:rPr>
              <a:t>,</a:t>
            </a:r>
            <a:r>
              <a:rPr lang="zh-CN" altLang="en-US" sz="1000" dirty="0">
                <a:effectLst/>
                <a:latin typeface="+mn-ea"/>
              </a:rPr>
              <a:t>环比提升</a:t>
            </a:r>
            <a:r>
              <a:rPr lang="en-US" altLang="zh-CN" sz="1000" dirty="0">
                <a:effectLst/>
                <a:latin typeface="+mn-ea"/>
              </a:rPr>
              <a:t>51%</a:t>
            </a:r>
            <a:br>
              <a:rPr lang="en-US" altLang="zh-CN" sz="1000" dirty="0">
                <a:effectLst/>
                <a:latin typeface="+mn-ea"/>
              </a:rPr>
            </a:br>
            <a:r>
              <a:rPr lang="zh-CN" altLang="en-US" sz="1000" dirty="0">
                <a:effectLst/>
                <a:latin typeface="+mn-ea"/>
              </a:rPr>
              <a:t>（其中低于八折项目增加</a:t>
            </a:r>
            <a:r>
              <a:rPr lang="en-US" altLang="zh-CN" sz="1000" dirty="0">
                <a:effectLst/>
                <a:latin typeface="+mn-ea"/>
              </a:rPr>
              <a:t>1710</a:t>
            </a:r>
            <a:r>
              <a:rPr lang="zh-CN" altLang="en-US" sz="1000" dirty="0">
                <a:effectLst/>
                <a:latin typeface="+mn-ea"/>
              </a:rPr>
              <a:t>，从</a:t>
            </a:r>
            <a:r>
              <a:rPr lang="en-US" altLang="zh-CN" sz="1000" dirty="0">
                <a:effectLst/>
                <a:latin typeface="+mn-ea"/>
              </a:rPr>
              <a:t>3282→4992</a:t>
            </a:r>
            <a:r>
              <a:rPr lang="zh-CN" altLang="en-US" sz="1000" dirty="0">
                <a:effectLst/>
                <a:latin typeface="+mn-ea"/>
              </a:rPr>
              <a:t>）</a:t>
            </a:r>
            <a:r>
              <a:rPr lang="en-US" altLang="zh-CN" sz="1000" dirty="0">
                <a:effectLst/>
                <a:latin typeface="+mn-ea"/>
              </a:rPr>
              <a:t>,</a:t>
            </a:r>
            <a:r>
              <a:rPr lang="zh-CN" altLang="en-US" sz="1000" dirty="0">
                <a:effectLst/>
                <a:latin typeface="+mn-ea"/>
              </a:rPr>
              <a:t>环比提升</a:t>
            </a:r>
            <a:r>
              <a:rPr lang="en-US" altLang="zh-CN" sz="1000" dirty="0">
                <a:effectLst/>
                <a:latin typeface="+mn-ea"/>
              </a:rPr>
              <a:t>52%</a:t>
            </a:r>
          </a:p>
        </p:txBody>
      </p:sp>
      <p:sp>
        <p:nvSpPr>
          <p:cNvPr id="96" name="矩形: 圆角 5">
            <a:extLst>
              <a:ext uri="{FF2B5EF4-FFF2-40B4-BE49-F238E27FC236}">
                <a16:creationId xmlns:a16="http://schemas.microsoft.com/office/drawing/2014/main" id="{8E5D8909-7A47-2FCE-49E4-384D9FF6722D}"/>
              </a:ext>
            </a:extLst>
          </p:cNvPr>
          <p:cNvSpPr/>
          <p:nvPr/>
        </p:nvSpPr>
        <p:spPr>
          <a:xfrm>
            <a:off x="6209298" y="5221317"/>
            <a:ext cx="2868142" cy="4258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接下来会根据大搜的用户高需品类*城市继续扩充品类榜单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94DA7309-7AF2-605E-C0A4-73AF360CA2E9}"/>
              </a:ext>
            </a:extLst>
          </p:cNvPr>
          <p:cNvSpPr txBox="1"/>
          <p:nvPr/>
        </p:nvSpPr>
        <p:spPr>
          <a:xfrm>
            <a:off x="6766463" y="5665857"/>
            <a:ext cx="17926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+mn-ea"/>
              </a:rPr>
              <a:t>（其中低于</a:t>
            </a:r>
            <a:r>
              <a:rPr lang="en-US" altLang="zh-CN" sz="1100" dirty="0">
                <a:latin typeface="+mn-ea"/>
              </a:rPr>
              <a:t>8</a:t>
            </a:r>
            <a:r>
              <a:rPr lang="zh-CN" altLang="en-US" sz="1100" dirty="0">
                <a:latin typeface="+mn-ea"/>
              </a:rPr>
              <a:t>折项目</a:t>
            </a:r>
            <a:r>
              <a:rPr lang="en-US" altLang="zh-CN" sz="1100" dirty="0">
                <a:latin typeface="+mn-ea"/>
              </a:rPr>
              <a:t>3.5</a:t>
            </a:r>
            <a:r>
              <a:rPr lang="zh-CN" altLang="en-US" sz="1100" dirty="0">
                <a:latin typeface="+mn-ea"/>
              </a:rPr>
              <a:t>万）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F97F78-D7B6-87DF-FDC5-7F0FEC0FD116}"/>
              </a:ext>
            </a:extLst>
          </p:cNvPr>
          <p:cNvSpPr txBox="1"/>
          <p:nvPr/>
        </p:nvSpPr>
        <p:spPr>
          <a:xfrm>
            <a:off x="2938218" y="-735929"/>
            <a:ext cx="6417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  <a:latin typeface="+mn-ea"/>
              </a:rPr>
              <a:t>基于需求机会（品类</a:t>
            </a:r>
            <a:r>
              <a:rPr lang="en" altLang="zh-CN" sz="1800" dirty="0">
                <a:solidFill>
                  <a:srgbClr val="C00000"/>
                </a:solidFill>
                <a:latin typeface="+mn-ea"/>
              </a:rPr>
              <a:t>x</a:t>
            </a:r>
            <a:r>
              <a:rPr lang="zh-CN" altLang="en-US" sz="1800" dirty="0">
                <a:solidFill>
                  <a:srgbClr val="C00000"/>
                </a:solidFill>
                <a:latin typeface="+mn-ea"/>
              </a:rPr>
              <a:t>区域），我们扩了品类</a:t>
            </a:r>
            <a:r>
              <a:rPr lang="en-US" altLang="zh-CN" sz="1800" dirty="0">
                <a:solidFill>
                  <a:srgbClr val="C00000"/>
                </a:solidFill>
                <a:latin typeface="+mn-ea"/>
              </a:rPr>
              <a:t>/</a:t>
            </a:r>
            <a:r>
              <a:rPr lang="zh-CN" altLang="en-US" sz="1800" dirty="0">
                <a:solidFill>
                  <a:srgbClr val="C00000"/>
                </a:solidFill>
                <a:latin typeface="+mn-ea"/>
              </a:rPr>
              <a:t>区域，对</a:t>
            </a:r>
            <a:r>
              <a:rPr lang="en" altLang="zh-CN" sz="1800" dirty="0">
                <a:solidFill>
                  <a:srgbClr val="C00000"/>
                </a:solidFill>
                <a:latin typeface="+mn-ea"/>
              </a:rPr>
              <a:t>BC</a:t>
            </a:r>
            <a:r>
              <a:rPr lang="zh-CN" altLang="en-US" sz="1800" dirty="0">
                <a:solidFill>
                  <a:srgbClr val="C00000"/>
                </a:solidFill>
                <a:latin typeface="+mn-ea"/>
              </a:rPr>
              <a:t>的影响，进一步计划（如「需求」品类、）</a:t>
            </a:r>
            <a:endParaRPr lang="zh-CN" altLang="en-US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1029DE0-BA4A-13DF-5A93-B6C6ACDD720D}"/>
              </a:ext>
            </a:extLst>
          </p:cNvPr>
          <p:cNvGrpSpPr/>
          <p:nvPr/>
        </p:nvGrpSpPr>
        <p:grpSpPr>
          <a:xfrm>
            <a:off x="50798" y="3280149"/>
            <a:ext cx="9058125" cy="809605"/>
            <a:chOff x="50798" y="3018462"/>
            <a:chExt cx="9058125" cy="809605"/>
          </a:xfrm>
        </p:grpSpPr>
        <p:sp>
          <p:nvSpPr>
            <p:cNvPr id="23" name="米菲PPT1">
              <a:extLst>
                <a:ext uri="{FF2B5EF4-FFF2-40B4-BE49-F238E27FC236}">
                  <a16:creationId xmlns:a16="http://schemas.microsoft.com/office/drawing/2014/main" id="{84A3BB70-8C88-17CE-9B4E-F96826EE2EDB}"/>
                </a:ext>
              </a:extLst>
            </p:cNvPr>
            <p:cNvSpPr/>
            <p:nvPr/>
          </p:nvSpPr>
          <p:spPr>
            <a:xfrm>
              <a:off x="50799" y="3050601"/>
              <a:ext cx="9058124" cy="742322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chemeClr val="accent2">
                  <a:lumMod val="40000"/>
                  <a:lumOff val="60000"/>
                  <a:alpha val="78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t">
              <a:noAutofit/>
            </a:bodyPr>
            <a:lstStyle/>
            <a:p>
              <a:pPr algn="ctr"/>
              <a:endParaRPr lang="en-US" altLang="zh-CN" sz="2000" i="1" u="sng" dirty="0">
                <a:solidFill>
                  <a:srgbClr val="C7723D"/>
                </a:solidFill>
                <a:latin typeface="+mn-ea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2A16506-A886-EB7B-4F86-EAEB5DEC6AF3}"/>
                </a:ext>
              </a:extLst>
            </p:cNvPr>
            <p:cNvSpPr txBox="1"/>
            <p:nvPr/>
          </p:nvSpPr>
          <p:spPr>
            <a:xfrm>
              <a:off x="50798" y="3018462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i="1" dirty="0">
                  <a:solidFill>
                    <a:srgbClr val="C00000"/>
                  </a:solidFill>
                  <a:latin typeface="+mn-ea"/>
                </a:rPr>
                <a:t>销售原声：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A56161AB-AAC4-2583-72B7-0121B18DAA7C}"/>
                </a:ext>
              </a:extLst>
            </p:cNvPr>
            <p:cNvSpPr txBox="1"/>
            <p:nvPr/>
          </p:nvSpPr>
          <p:spPr>
            <a:xfrm>
              <a:off x="50799" y="3210654"/>
              <a:ext cx="9058123" cy="6174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ts val="14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i="1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“会更方便消费者更有针对性的选择自己想尝试的品类，那对于商家来说，竞争也会显得更公平一些，像之前如果品类太大了，那其实你一个类目榜单下的门店，他的实际区别其实还是差蛮多的，所以我觉得这改变挺好的”</a:t>
              </a:r>
              <a:r>
                <a:rPr lang="en-US" altLang="zh-CN" sz="1000" i="1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---</a:t>
              </a:r>
              <a:r>
                <a:rPr lang="zh-CN" altLang="en-US" sz="1000" i="1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区域品牌客户部</a:t>
              </a:r>
              <a:r>
                <a:rPr lang="en-US" altLang="zh-CN" sz="1000" i="1" dirty="0">
                  <a:solidFill>
                    <a:schemeClr val="bg1">
                      <a:lumMod val="50000"/>
                    </a:schemeClr>
                  </a:solidFill>
                  <a:effectLst/>
                  <a:latin typeface="+mn-ea"/>
                </a:rPr>
                <a:t>—</a:t>
              </a:r>
              <a:r>
                <a:rPr lang="zh-CN" altLang="en-US" sz="1000" i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福州三组</a:t>
              </a:r>
              <a:endParaRPr lang="en-US" altLang="zh-CN" sz="1000" i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  <a:p>
              <a:pPr marL="171450" indent="-171450">
                <a:lnSpc>
                  <a:spcPts val="14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i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“目前下来没有收到商户什么意见和投诉，整体改动还是不错的</a:t>
              </a:r>
              <a:r>
                <a:rPr lang="en-US" altLang="zh-CN" sz="1000" i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~</a:t>
              </a:r>
              <a:r>
                <a:rPr lang="zh-CN" altLang="en-US" sz="1000" i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”</a:t>
              </a:r>
              <a:r>
                <a:rPr lang="en-US" altLang="zh-CN" sz="1000" i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---</a:t>
              </a:r>
              <a:r>
                <a:rPr lang="zh-CN" altLang="en-US" sz="1000" i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蜂窝</a:t>
              </a:r>
              <a:r>
                <a:rPr lang="en-US" altLang="zh-CN" sz="1000" i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-</a:t>
              </a:r>
              <a:r>
                <a:rPr lang="zh-CN" altLang="en-US" sz="1000" i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苏州二区</a:t>
              </a:r>
            </a:p>
          </p:txBody>
        </p:sp>
      </p:grpSp>
      <p:sp>
        <p:nvSpPr>
          <p:cNvPr id="53" name="米菲PPT1">
            <a:extLst>
              <a:ext uri="{FF2B5EF4-FFF2-40B4-BE49-F238E27FC236}">
                <a16:creationId xmlns:a16="http://schemas.microsoft.com/office/drawing/2014/main" id="{483E02CD-7097-FD88-76A0-A72866DE3BE0}"/>
              </a:ext>
            </a:extLst>
          </p:cNvPr>
          <p:cNvSpPr/>
          <p:nvPr/>
        </p:nvSpPr>
        <p:spPr>
          <a:xfrm>
            <a:off x="50799" y="4090019"/>
            <a:ext cx="9058124" cy="903286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下一步计划</a:t>
            </a:r>
            <a:endParaRPr lang="en-US" altLang="zh-CN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26A1A35-557B-2E68-79B6-E69814295BFA}"/>
              </a:ext>
            </a:extLst>
          </p:cNvPr>
          <p:cNvSpPr txBox="1"/>
          <p:nvPr/>
        </p:nvSpPr>
        <p:spPr>
          <a:xfrm>
            <a:off x="133027" y="4241069"/>
            <a:ext cx="8856912" cy="758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+mn-ea"/>
              </a:rPr>
              <a:t>① 细化城市 </a:t>
            </a:r>
            <a:r>
              <a:rPr lang="en-US" altLang="zh-CN" sz="1000" b="1" i="0" dirty="0">
                <a:solidFill>
                  <a:srgbClr val="0D0D0D"/>
                </a:solidFill>
                <a:effectLst/>
                <a:latin typeface="+mn-ea"/>
              </a:rPr>
              <a:t>x</a:t>
            </a:r>
            <a:r>
              <a:rPr lang="zh-CN" altLang="en-US" sz="1000" b="1" i="0" dirty="0">
                <a:solidFill>
                  <a:srgbClr val="0D0D0D"/>
                </a:solidFill>
                <a:effectLst/>
                <a:latin typeface="+mn-ea"/>
              </a:rPr>
              <a:t> </a:t>
            </a:r>
            <a:r>
              <a:rPr lang="zh-CN" altLang="en-US" sz="1000" b="1" dirty="0">
                <a:solidFill>
                  <a:srgbClr val="0D0D0D"/>
                </a:solidFill>
                <a:latin typeface="+mn-ea"/>
              </a:rPr>
              <a:t>特色</a:t>
            </a:r>
            <a:r>
              <a:rPr lang="zh-CN" altLang="en-US" sz="1000" b="1" i="0" dirty="0">
                <a:solidFill>
                  <a:srgbClr val="0D0D0D"/>
                </a:solidFill>
                <a:effectLst/>
                <a:latin typeface="+mn-ea"/>
              </a:rPr>
              <a:t>品类榜：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+mn-ea"/>
              </a:rPr>
              <a:t>依托城市维度的差异化品类需求洞察，持续扩充个性化榜单品类覆盖广度，提升榜单对本地化消费场景的精准适配能力。</a:t>
            </a: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+mn-ea"/>
              </a:rPr>
              <a:t>② 识别需求缺口品类：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+mn-ea"/>
              </a:rPr>
              <a:t>基于用户搜索意图数据，系统性识别当前榜单尚未有效承接的品类需求缺口，以需求为导向持续迭代完善榜单品类体系。</a:t>
            </a: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+mn-ea"/>
              </a:rPr>
              <a:t>③ 监测潜力赛道：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+mn-ea"/>
              </a:rPr>
              <a:t>紧跟餐饮行业热点趋势动态，重点关注新兴品类的孵化与成长路径，定期盘点高增速细分赛道，前瞻性布局潜力品类。</a:t>
            </a:r>
            <a:endParaRPr lang="zh-CN" altLang="en-US" sz="1000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5A35BC-73E2-9683-8244-3240E8E0145B}"/>
              </a:ext>
            </a:extLst>
          </p:cNvPr>
          <p:cNvSpPr txBox="1"/>
          <p:nvPr/>
        </p:nvSpPr>
        <p:spPr>
          <a:xfrm>
            <a:off x="-2582879" y="1843344"/>
            <a:ext cx="1691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用户需求的提升用数据提升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弱化后面的图</a:t>
            </a:r>
            <a:endParaRPr lang="en-US" altLang="zh-CN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" name="米菲PPT1">
            <a:extLst>
              <a:ext uri="{FF2B5EF4-FFF2-40B4-BE49-F238E27FC236}">
                <a16:creationId xmlns:a16="http://schemas.microsoft.com/office/drawing/2014/main" id="{10AB337F-9302-E9F9-AAF5-A49CD07E952B}"/>
              </a:ext>
            </a:extLst>
          </p:cNvPr>
          <p:cNvSpPr/>
          <p:nvPr/>
        </p:nvSpPr>
        <p:spPr>
          <a:xfrm>
            <a:off x="23546" y="796685"/>
            <a:ext cx="2262048" cy="2477223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bg1">
                <a:lumMod val="5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AF46998C-51A5-8A75-55E6-88F02A70B5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457" b="2271"/>
          <a:stretch/>
        </p:blipFill>
        <p:spPr>
          <a:xfrm>
            <a:off x="71736" y="1069913"/>
            <a:ext cx="2179911" cy="21744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0464F019-C3D1-1C41-BED6-7151E627853B}"/>
              </a:ext>
            </a:extLst>
          </p:cNvPr>
          <p:cNvSpPr txBox="1"/>
          <p:nvPr/>
        </p:nvSpPr>
        <p:spPr>
          <a:xfrm>
            <a:off x="787168" y="769286"/>
            <a:ext cx="954107" cy="276999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zh-CN" altLang="en-US" sz="1200" b="1" i="1" u="sng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品类扩充前</a:t>
            </a:r>
          </a:p>
        </p:txBody>
      </p:sp>
      <p:sp>
        <p:nvSpPr>
          <p:cNvPr id="48" name="米菲PPT1">
            <a:extLst>
              <a:ext uri="{FF2B5EF4-FFF2-40B4-BE49-F238E27FC236}">
                <a16:creationId xmlns:a16="http://schemas.microsoft.com/office/drawing/2014/main" id="{03B1FBDC-F39F-635F-5BB0-46F332A94351}"/>
              </a:ext>
            </a:extLst>
          </p:cNvPr>
          <p:cNvSpPr/>
          <p:nvPr/>
        </p:nvSpPr>
        <p:spPr>
          <a:xfrm>
            <a:off x="2331554" y="796686"/>
            <a:ext cx="4570457" cy="2477223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8909283-C1A5-F73A-3523-EB2FD8C0B1BB}"/>
              </a:ext>
            </a:extLst>
          </p:cNvPr>
          <p:cNvSpPr txBox="1"/>
          <p:nvPr/>
        </p:nvSpPr>
        <p:spPr>
          <a:xfrm>
            <a:off x="3940509" y="77520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i="1" u="sng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品类扩充后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E0E58F3F-AFD3-F04D-978C-8C0BCD31CB3E}"/>
              </a:ext>
            </a:extLst>
          </p:cNvPr>
          <p:cNvGrpSpPr/>
          <p:nvPr/>
        </p:nvGrpSpPr>
        <p:grpSpPr>
          <a:xfrm>
            <a:off x="2379069" y="1072586"/>
            <a:ext cx="4522942" cy="2182666"/>
            <a:chOff x="2379069" y="1072586"/>
            <a:chExt cx="4522942" cy="2182666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3CD511F4-3C25-5A70-5DC3-870E93EDD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99577" y="1072912"/>
              <a:ext cx="1521719" cy="217049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822FC2F4-F3EA-97CA-9DCB-249376197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28289" y="1072586"/>
              <a:ext cx="1573722" cy="217049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4AEB9E24-7DA9-91B8-C4FB-49CADC71B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79069" y="1084755"/>
              <a:ext cx="1400862" cy="2170497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D2AC63B6-CEC8-2F7F-FC45-0312C735AA61}"/>
              </a:ext>
            </a:extLst>
          </p:cNvPr>
          <p:cNvSpPr/>
          <p:nvPr/>
        </p:nvSpPr>
        <p:spPr>
          <a:xfrm>
            <a:off x="2331554" y="1363980"/>
            <a:ext cx="487515" cy="28194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5EDC98C9-7842-F8EC-B538-AFC7AE21C6F1}"/>
              </a:ext>
            </a:extLst>
          </p:cNvPr>
          <p:cNvSpPr/>
          <p:nvPr/>
        </p:nvSpPr>
        <p:spPr>
          <a:xfrm>
            <a:off x="3814192" y="1423705"/>
            <a:ext cx="395645" cy="1346363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08317E2-538F-1ECA-B7E0-558F34C2393E}"/>
              </a:ext>
            </a:extLst>
          </p:cNvPr>
          <p:cNvSpPr/>
          <p:nvPr/>
        </p:nvSpPr>
        <p:spPr>
          <a:xfrm>
            <a:off x="5339505" y="1979543"/>
            <a:ext cx="1584437" cy="620619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7" name="米菲PPT1">
            <a:extLst>
              <a:ext uri="{FF2B5EF4-FFF2-40B4-BE49-F238E27FC236}">
                <a16:creationId xmlns:a16="http://schemas.microsoft.com/office/drawing/2014/main" id="{A3B3163E-C863-F32D-900F-FBDE697B64D0}"/>
              </a:ext>
            </a:extLst>
          </p:cNvPr>
          <p:cNvSpPr/>
          <p:nvPr/>
        </p:nvSpPr>
        <p:spPr>
          <a:xfrm>
            <a:off x="6945873" y="796687"/>
            <a:ext cx="2147329" cy="247722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>
              <a:lnSpc>
                <a:spcPts val="16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①品类扩充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</a:rPr>
              <a:t>35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个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b="1" dirty="0">
                <a:solidFill>
                  <a:schemeClr val="tx1"/>
                </a:solidFill>
                <a:latin typeface="+mn-ea"/>
              </a:rPr>
              <a:t>39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→</a:t>
            </a:r>
            <a:r>
              <a:rPr lang="en-US" altLang="zh-CN" sz="900" b="1" dirty="0">
                <a:solidFill>
                  <a:schemeClr val="tx1"/>
                </a:solidFill>
                <a:latin typeface="+mn-ea"/>
              </a:rPr>
              <a:t>74</a:t>
            </a:r>
            <a:r>
              <a:rPr lang="zh-CN" altLang="en-US" sz="900" b="1" dirty="0">
                <a:solidFill>
                  <a:schemeClr val="tx1"/>
                </a:solidFill>
                <a:latin typeface="+mn-ea"/>
              </a:rPr>
              <a:t>）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后向意向率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提升</a:t>
            </a:r>
            <a:r>
              <a:rPr lang="en-US" altLang="zh-CN" sz="1000" dirty="0">
                <a:solidFill>
                  <a:srgbClr val="C00000"/>
                </a:solidFill>
                <a:latin typeface="+mn-ea"/>
              </a:rPr>
              <a:t>+4.8pp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36%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 →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40.8%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）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，用户需求承接更加精准。</a:t>
            </a:r>
            <a:r>
              <a:rPr lang="zh-CN" altLang="en-US" sz="1000" dirty="0">
                <a:solidFill>
                  <a:srgbClr val="FF0000"/>
                </a:solidFill>
                <a:latin typeface="+mn-ea"/>
              </a:rPr>
              <a:t>有需求进线承接的数据么？</a:t>
            </a:r>
            <a:endParaRPr lang="en-US" altLang="zh-CN" sz="10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ts val="16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②榜单赛道拓宽有力牵引商家供给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，新上榜商户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实付</a:t>
            </a:r>
            <a:r>
              <a:rPr lang="en-US" altLang="zh-CN" sz="1000" dirty="0" err="1">
                <a:solidFill>
                  <a:srgbClr val="C00000"/>
                </a:solidFill>
                <a:latin typeface="+mn-ea"/>
              </a:rPr>
              <a:t>gtv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平均一家店周度提升约</a:t>
            </a:r>
            <a:r>
              <a:rPr lang="en-US" altLang="zh-CN" sz="1000" dirty="0">
                <a:solidFill>
                  <a:srgbClr val="C00000"/>
                </a:solidFill>
                <a:latin typeface="+mn-ea"/>
              </a:rPr>
              <a:t>370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元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834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元→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1211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元），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poi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意向</a:t>
            </a:r>
            <a:r>
              <a:rPr lang="en-US" altLang="zh-CN" sz="1000" dirty="0" err="1">
                <a:solidFill>
                  <a:schemeClr val="tx1"/>
                </a:solidFill>
                <a:latin typeface="+mn-ea"/>
              </a:rPr>
              <a:t>uv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提升约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20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101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 →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121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 ）</a:t>
            </a:r>
          </a:p>
          <a:p>
            <a:pPr>
              <a:lnSpc>
                <a:spcPts val="16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③上榜机会扩容驱动商家曝光转化</a:t>
            </a:r>
          </a:p>
          <a:p>
            <a:pPr>
              <a:lnSpc>
                <a:spcPts val="1600"/>
              </a:lnSpc>
            </a:pP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由于品类扩充新上榜的商户，对于上线套代买项目冲榜动作显著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,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对比之前，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在线项目数增加约</a:t>
            </a:r>
            <a:r>
              <a:rPr lang="en-US" altLang="zh-CN" sz="1000" dirty="0">
                <a:solidFill>
                  <a:srgbClr val="C00000"/>
                </a:solidFill>
                <a:latin typeface="+mn-ea"/>
              </a:rPr>
              <a:t>4</a:t>
            </a:r>
            <a:r>
              <a:rPr lang="zh-CN" altLang="en-US" sz="1000" dirty="0">
                <a:solidFill>
                  <a:srgbClr val="C00000"/>
                </a:solidFill>
                <a:latin typeface="+mn-ea"/>
              </a:rPr>
              <a:t>万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，动销项目数增加约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</a:t>
            </a:r>
          </a:p>
        </p:txBody>
      </p:sp>
      <p:sp>
        <p:nvSpPr>
          <p:cNvPr id="88" name="箭头: 右 87">
            <a:extLst>
              <a:ext uri="{FF2B5EF4-FFF2-40B4-BE49-F238E27FC236}">
                <a16:creationId xmlns:a16="http://schemas.microsoft.com/office/drawing/2014/main" id="{0239A430-4406-EE74-5B12-E7BFB24FAC72}"/>
              </a:ext>
            </a:extLst>
          </p:cNvPr>
          <p:cNvSpPr/>
          <p:nvPr/>
        </p:nvSpPr>
        <p:spPr>
          <a:xfrm>
            <a:off x="1834517" y="647783"/>
            <a:ext cx="1136012" cy="385966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32000">
                <a:srgbClr val="FFFBE6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  <a:effectLst>
            <a:outerShdw blurRad="50800" dist="50800" dir="5400000" sx="1000" sy="1000" algn="ctr" rotWithShape="0">
              <a:srgbClr val="000000">
                <a:alpha val="9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8EB2F6-8954-0D53-3B95-3BA4A8D38D77}"/>
              </a:ext>
            </a:extLst>
          </p:cNvPr>
          <p:cNvSpPr txBox="1"/>
          <p:nvPr/>
        </p:nvSpPr>
        <p:spPr>
          <a:xfrm>
            <a:off x="5316905" y="1471646"/>
            <a:ext cx="17847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+mn-ea"/>
              </a:rPr>
              <a:t>特意举小吃快餐，是因为</a:t>
            </a:r>
            <a:r>
              <a:rPr lang="en-US" altLang="zh-CN" sz="1000" dirty="0">
                <a:solidFill>
                  <a:srgbClr val="FF0000"/>
                </a:solidFill>
                <a:latin typeface="+mn-ea"/>
              </a:rPr>
              <a:t>?</a:t>
            </a:r>
            <a:endParaRPr lang="zh-CN" altLang="en-US" sz="1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8EC8A1-CEA8-A1B3-D51B-BFE406A54A80}"/>
              </a:ext>
            </a:extLst>
          </p:cNvPr>
          <p:cNvSpPr txBox="1"/>
          <p:nvPr/>
        </p:nvSpPr>
        <p:spPr>
          <a:xfrm>
            <a:off x="900755" y="3284699"/>
            <a:ext cx="1366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+mn-ea"/>
              </a:rPr>
              <a:t>有用户原声么？</a:t>
            </a:r>
            <a:endParaRPr lang="zh-CN" altLang="en-US" sz="1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B314D3-5352-5B16-88F0-3FD1AC9AC9C9}"/>
              </a:ext>
            </a:extLst>
          </p:cNvPr>
          <p:cNvSpPr txBox="1"/>
          <p:nvPr/>
        </p:nvSpPr>
        <p:spPr>
          <a:xfrm>
            <a:off x="8366061" y="4519777"/>
            <a:ext cx="1366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</a:rPr>
              <a:t>备例</a:t>
            </a:r>
          </a:p>
        </p:txBody>
      </p:sp>
    </p:spTree>
    <p:extLst>
      <p:ext uri="{BB962C8B-B14F-4D97-AF65-F5344CB8AC3E}">
        <p14:creationId xmlns:p14="http://schemas.microsoft.com/office/powerpoint/2010/main" val="19182300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米菲PPT15">
            <a:extLst>
              <a:ext uri="{FF2B5EF4-FFF2-40B4-BE49-F238E27FC236}">
                <a16:creationId xmlns:a16="http://schemas.microsoft.com/office/drawing/2014/main" id="{7831419F-FA1F-A954-90AF-7E55C0BB4BA2}"/>
              </a:ext>
            </a:extLst>
          </p:cNvPr>
          <p:cNvSpPr/>
          <p:nvPr/>
        </p:nvSpPr>
        <p:spPr>
          <a:xfrm rot="5400000" flipV="1">
            <a:off x="1593666" y="-982750"/>
            <a:ext cx="288787" cy="271386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5" name="米菲PPT42">
            <a:extLst>
              <a:ext uri="{FF2B5EF4-FFF2-40B4-BE49-F238E27FC236}">
                <a16:creationId xmlns:a16="http://schemas.microsoft.com/office/drawing/2014/main" id="{D0C47D1C-9E64-39C0-4136-955453AD75CC}"/>
              </a:ext>
            </a:extLst>
          </p:cNvPr>
          <p:cNvSpPr/>
          <p:nvPr/>
        </p:nvSpPr>
        <p:spPr>
          <a:xfrm>
            <a:off x="536540" y="308850"/>
            <a:ext cx="2355968" cy="2097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r>
              <a:rPr lang="zh-CN" altLang="en-US" sz="1054" b="1" dirty="0"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权重方案一：重指数</a:t>
            </a:r>
            <a:r>
              <a:rPr lang="en-US" altLang="zh-CN" sz="1054" b="1" dirty="0"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(GTV)</a:t>
            </a:r>
            <a:endParaRPr sz="1054" b="1" dirty="0">
              <a:latin typeface="+mj-ea"/>
              <a:ea typeface="+mj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6" name="米菲PPT15">
            <a:extLst>
              <a:ext uri="{FF2B5EF4-FFF2-40B4-BE49-F238E27FC236}">
                <a16:creationId xmlns:a16="http://schemas.microsoft.com/office/drawing/2014/main" id="{B5283680-5754-3DBE-A2CC-6B8753131A98}"/>
              </a:ext>
            </a:extLst>
          </p:cNvPr>
          <p:cNvSpPr/>
          <p:nvPr/>
        </p:nvSpPr>
        <p:spPr>
          <a:xfrm rot="5400000" flipV="1">
            <a:off x="4462941" y="-982748"/>
            <a:ext cx="288788" cy="271386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7" name="米菲PPT42">
            <a:extLst>
              <a:ext uri="{FF2B5EF4-FFF2-40B4-BE49-F238E27FC236}">
                <a16:creationId xmlns:a16="http://schemas.microsoft.com/office/drawing/2014/main" id="{7164F3CE-6176-C1D0-42A0-C376ECE3DA13}"/>
              </a:ext>
            </a:extLst>
          </p:cNvPr>
          <p:cNvSpPr/>
          <p:nvPr/>
        </p:nvSpPr>
        <p:spPr>
          <a:xfrm>
            <a:off x="3405815" y="308851"/>
            <a:ext cx="2355968" cy="2097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r>
              <a:rPr lang="zh-CN" altLang="en-US" sz="1054" b="1" dirty="0"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权重方案二：重发现</a:t>
            </a:r>
            <a:endParaRPr sz="1054" b="1" dirty="0">
              <a:latin typeface="+mj-ea"/>
              <a:ea typeface="+mj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8" name="米菲PPT15">
            <a:extLst>
              <a:ext uri="{FF2B5EF4-FFF2-40B4-BE49-F238E27FC236}">
                <a16:creationId xmlns:a16="http://schemas.microsoft.com/office/drawing/2014/main" id="{64929797-2609-BDD1-7386-E47E13BB8049}"/>
              </a:ext>
            </a:extLst>
          </p:cNvPr>
          <p:cNvSpPr/>
          <p:nvPr/>
        </p:nvSpPr>
        <p:spPr>
          <a:xfrm rot="5400000" flipV="1">
            <a:off x="7332216" y="-982749"/>
            <a:ext cx="288787" cy="271386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9" name="米菲PPT42">
            <a:extLst>
              <a:ext uri="{FF2B5EF4-FFF2-40B4-BE49-F238E27FC236}">
                <a16:creationId xmlns:a16="http://schemas.microsoft.com/office/drawing/2014/main" id="{AEBA8891-5332-D184-A5AB-7EA4F7AC4995}"/>
              </a:ext>
            </a:extLst>
          </p:cNvPr>
          <p:cNvSpPr/>
          <p:nvPr/>
        </p:nvSpPr>
        <p:spPr>
          <a:xfrm>
            <a:off x="6275090" y="308851"/>
            <a:ext cx="2355968" cy="2097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r>
              <a:rPr lang="zh-CN" altLang="en-US" sz="1054" b="1" dirty="0"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权重方案二：折中</a:t>
            </a:r>
            <a:endParaRPr sz="1054" b="1" dirty="0">
              <a:latin typeface="+mj-ea"/>
              <a:ea typeface="+mj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1685118-76FC-14EA-1DD6-107557141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678" y="620426"/>
            <a:ext cx="2614810" cy="42368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C3C11D8-D65C-05D5-4487-624BB8CB6158}"/>
              </a:ext>
            </a:extLst>
          </p:cNvPr>
          <p:cNvSpPr/>
          <p:nvPr/>
        </p:nvSpPr>
        <p:spPr>
          <a:xfrm>
            <a:off x="6149975" y="620426"/>
            <a:ext cx="311150" cy="269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17781F-D6F7-3943-310B-60C899FB0E33}"/>
              </a:ext>
            </a:extLst>
          </p:cNvPr>
          <p:cNvSpPr txBox="1"/>
          <p:nvPr/>
        </p:nvSpPr>
        <p:spPr>
          <a:xfrm>
            <a:off x="6061801" y="597638"/>
            <a:ext cx="96764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" dirty="0"/>
              <a:t>回头客质量</a:t>
            </a:r>
            <a:r>
              <a:rPr kumimoji="1" lang="zh-CN" altLang="en-US" sz="400" baseline="-25000" dirty="0"/>
              <a:t>（复购率、距离、深度）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EDCEBE-D97F-FE2D-6CFF-BB0C770D19A8}"/>
              </a:ext>
            </a:extLst>
          </p:cNvPr>
          <p:cNvSpPr txBox="1"/>
          <p:nvPr/>
        </p:nvSpPr>
        <p:spPr>
          <a:xfrm>
            <a:off x="6061800" y="785672"/>
            <a:ext cx="48749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" dirty="0"/>
              <a:t>回头客规模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DB2124-1C09-F18D-446A-97782451C75D}"/>
              </a:ext>
            </a:extLst>
          </p:cNvPr>
          <p:cNvSpPr txBox="1"/>
          <p:nvPr/>
        </p:nvSpPr>
        <p:spPr>
          <a:xfrm>
            <a:off x="6061799" y="690650"/>
            <a:ext cx="487497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" dirty="0"/>
              <a:t>回头客</a:t>
            </a:r>
            <a:r>
              <a:rPr kumimoji="1" lang="en-US" altLang="zh-CN" sz="400" dirty="0"/>
              <a:t>GTV</a:t>
            </a:r>
            <a:endParaRPr kumimoji="1" lang="zh-CN" altLang="en-US" sz="4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8EFCE43-889B-CAC9-E722-89F640DB2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678" y="1044107"/>
            <a:ext cx="2613600" cy="48754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A0F85B6-532C-859E-9BC0-057EEF7E0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809" y="1531649"/>
            <a:ext cx="2613600" cy="11241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16D6EBA-AA51-D445-60AC-1DDF580CD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809" y="2655812"/>
            <a:ext cx="2613600" cy="31757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BC3E9F8-58C6-3E79-EE59-5794BF68EE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9809" y="2973382"/>
            <a:ext cx="2613600" cy="70856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1EB0E85-8F97-E779-328E-3EF2C5342E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809" y="3779975"/>
            <a:ext cx="2613600" cy="98708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39E19F3-8F5E-B3FE-452B-5FBD57D9A7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5090" y="4767059"/>
            <a:ext cx="2613600" cy="68646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434193D-E23F-DC48-5550-5906A8999B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5090" y="5453522"/>
            <a:ext cx="2613600" cy="59712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DB8A21D9-09D7-FFF3-921F-989CB5C47C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5090" y="6050648"/>
            <a:ext cx="2613600" cy="126621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C049F04C-73BC-A40C-161B-504A6FE797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791" y="651294"/>
            <a:ext cx="2743200" cy="39281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F183473B-C867-9A2D-39FF-E429A9EEF5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581" y="1044107"/>
            <a:ext cx="2613600" cy="47973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5CB6521E-DB22-3F09-2CBD-1FCE6698D0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5647" y="1531649"/>
            <a:ext cx="2613600" cy="1133609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4F2E5B46-C128-AB0E-9450-0AC581C17A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5647" y="2673069"/>
            <a:ext cx="2613600" cy="32274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DA1B0A6-62F0-4226-130D-A54713F229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5647" y="3003624"/>
            <a:ext cx="2613600" cy="699239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A15C5947-9F33-FB1E-E0A8-22BA2FE12F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591" y="3702863"/>
            <a:ext cx="2613600" cy="99211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02CAF945-6807-3517-A0C1-4FB906B38C7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0581" y="4694977"/>
            <a:ext cx="2613600" cy="67427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B63A94B-D32B-226E-9635-42E885E93F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0581" y="5364229"/>
            <a:ext cx="2613600" cy="597394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5503B5B-7D75-99CA-2E6D-717566D3F49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0581" y="5961623"/>
            <a:ext cx="2613600" cy="127040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D66A2C7-F93D-BCC2-E02F-28DE10D62BC1}"/>
              </a:ext>
            </a:extLst>
          </p:cNvPr>
          <p:cNvSpPr txBox="1"/>
          <p:nvPr/>
        </p:nvSpPr>
        <p:spPr>
          <a:xfrm>
            <a:off x="124509" y="-52663"/>
            <a:ext cx="1366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</a:rPr>
              <a:t>兼顾下可读性</a:t>
            </a:r>
          </a:p>
        </p:txBody>
      </p:sp>
    </p:spTree>
    <p:extLst>
      <p:ext uri="{BB962C8B-B14F-4D97-AF65-F5344CB8AC3E}">
        <p14:creationId xmlns:p14="http://schemas.microsoft.com/office/powerpoint/2010/main" val="328257325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3AE6440-BFDB-7720-B374-BEA6DDF08B83}"/>
              </a:ext>
            </a:extLst>
          </p:cNvPr>
          <p:cNvSpPr txBox="1"/>
          <p:nvPr/>
        </p:nvSpPr>
        <p:spPr>
          <a:xfrm>
            <a:off x="-3558212" y="3067063"/>
            <a:ext cx="36652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准备几组测试数据，看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Ka/</a:t>
            </a:r>
            <a:r>
              <a:rPr lang="en-US" altLang="zh-CN" dirty="0" err="1">
                <a:solidFill>
                  <a:srgbClr val="C00000"/>
                </a:solidFill>
              </a:rPr>
              <a:t>cka</a:t>
            </a:r>
            <a:r>
              <a:rPr lang="zh-CN" altLang="en-US" dirty="0">
                <a:solidFill>
                  <a:srgbClr val="C00000"/>
                </a:solidFill>
              </a:rPr>
              <a:t>、 蜂窝结构占比，</a:t>
            </a:r>
            <a:r>
              <a:rPr lang="en-US" altLang="zh-CN" dirty="0" err="1">
                <a:solidFill>
                  <a:srgbClr val="C00000"/>
                </a:solidFill>
              </a:rPr>
              <a:t>sabc</a:t>
            </a:r>
            <a:r>
              <a:rPr lang="zh-CN" altLang="en-US" dirty="0">
                <a:solidFill>
                  <a:srgbClr val="C00000"/>
                </a:solidFill>
              </a:rPr>
              <a:t>看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星级、门店卡控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解决不了太多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引入回头客榜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" name="米菲PPT27">
            <a:extLst>
              <a:ext uri="{FF2B5EF4-FFF2-40B4-BE49-F238E27FC236}">
                <a16:creationId xmlns:a16="http://schemas.microsoft.com/office/drawing/2014/main" id="{ED9910AF-EC55-64A4-E6BC-32AA6C5B1D10}"/>
              </a:ext>
            </a:extLst>
          </p:cNvPr>
          <p:cNvSpPr/>
          <p:nvPr/>
        </p:nvSpPr>
        <p:spPr>
          <a:xfrm>
            <a:off x="827528" y="4059004"/>
            <a:ext cx="1596415" cy="931734"/>
          </a:xfrm>
          <a:prstGeom prst="roundRect">
            <a:avLst>
              <a:gd name="adj" fmla="val 4579"/>
            </a:avLst>
          </a:prstGeom>
          <a:gradFill>
            <a:gsLst>
              <a:gs pos="100000">
                <a:schemeClr val="accent3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accent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4" name="米菲PPT7">
            <a:extLst>
              <a:ext uri="{FF2B5EF4-FFF2-40B4-BE49-F238E27FC236}">
                <a16:creationId xmlns:a16="http://schemas.microsoft.com/office/drawing/2014/main" id="{506CE695-F266-7D56-4EE8-7FD890BDFFFF}"/>
              </a:ext>
            </a:extLst>
          </p:cNvPr>
          <p:cNvSpPr/>
          <p:nvPr/>
        </p:nvSpPr>
        <p:spPr>
          <a:xfrm>
            <a:off x="827532" y="1360213"/>
            <a:ext cx="4816026" cy="2534179"/>
          </a:xfrm>
          <a:prstGeom prst="rect">
            <a:avLst/>
          </a:prstGeom>
          <a:solidFill>
            <a:schemeClr val="accent2"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4" dirty="0"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12" name="米菲PPT6">
            <a:extLst>
              <a:ext uri="{FF2B5EF4-FFF2-40B4-BE49-F238E27FC236}">
                <a16:creationId xmlns:a16="http://schemas.microsoft.com/office/drawing/2014/main" id="{43D1C21D-B3D2-A2EC-1408-C4B04466E8A0}"/>
              </a:ext>
            </a:extLst>
          </p:cNvPr>
          <p:cNvSpPr/>
          <p:nvPr/>
        </p:nvSpPr>
        <p:spPr>
          <a:xfrm>
            <a:off x="5729283" y="1314104"/>
            <a:ext cx="2720724" cy="2532546"/>
          </a:xfrm>
          <a:prstGeom prst="rect">
            <a:avLst/>
          </a:prstGeom>
          <a:solidFill>
            <a:schemeClr val="accent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4" dirty="0"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14" name="米菲PPT62">
            <a:extLst>
              <a:ext uri="{FF2B5EF4-FFF2-40B4-BE49-F238E27FC236}">
                <a16:creationId xmlns:a16="http://schemas.microsoft.com/office/drawing/2014/main" id="{5E1B9A08-E65A-4B72-E67B-688CA5C2B121}"/>
              </a:ext>
            </a:extLst>
          </p:cNvPr>
          <p:cNvSpPr/>
          <p:nvPr/>
        </p:nvSpPr>
        <p:spPr>
          <a:xfrm rot="5400000" flipV="1">
            <a:off x="2085092" y="242012"/>
            <a:ext cx="2313304" cy="4803619"/>
          </a:xfrm>
          <a:prstGeom prst="roundRect">
            <a:avLst>
              <a:gd name="adj" fmla="val 2925"/>
            </a:avLst>
          </a:prstGeom>
          <a:solidFill>
            <a:schemeClr val="accent2">
              <a:lumMod val="20000"/>
              <a:lumOff val="80000"/>
              <a:alpha val="27000"/>
            </a:schemeClr>
          </a:solidFill>
          <a:ln w="6350">
            <a:solidFill>
              <a:schemeClr val="accent2">
                <a:alpha val="22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6" dirty="0"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15" name="米菲PPT3">
            <a:extLst>
              <a:ext uri="{FF2B5EF4-FFF2-40B4-BE49-F238E27FC236}">
                <a16:creationId xmlns:a16="http://schemas.microsoft.com/office/drawing/2014/main" id="{041CF5DE-F15B-42D0-FA66-D766FA5A35D8}"/>
              </a:ext>
            </a:extLst>
          </p:cNvPr>
          <p:cNvSpPr/>
          <p:nvPr/>
        </p:nvSpPr>
        <p:spPr>
          <a:xfrm rot="5400000" flipV="1">
            <a:off x="6950759" y="919963"/>
            <a:ext cx="981735" cy="2017421"/>
          </a:xfrm>
          <a:prstGeom prst="roundRect">
            <a:avLst>
              <a:gd name="adj" fmla="val 2925"/>
            </a:avLst>
          </a:prstGeom>
          <a:gradFill flip="none" rotWithShape="1">
            <a:gsLst>
              <a:gs pos="0">
                <a:schemeClr val="accent2">
                  <a:alpha val="65000"/>
                </a:schemeClr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6" dirty="0"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16" name="米菲PPT4">
            <a:extLst>
              <a:ext uri="{FF2B5EF4-FFF2-40B4-BE49-F238E27FC236}">
                <a16:creationId xmlns:a16="http://schemas.microsoft.com/office/drawing/2014/main" id="{D6B4D6FF-6418-EE0F-F141-C63CCD9B79A0}"/>
              </a:ext>
            </a:extLst>
          </p:cNvPr>
          <p:cNvSpPr/>
          <p:nvPr/>
        </p:nvSpPr>
        <p:spPr>
          <a:xfrm rot="5400000" flipV="1">
            <a:off x="5939081" y="2493269"/>
            <a:ext cx="307731" cy="553877"/>
          </a:xfrm>
          <a:prstGeom prst="roundRect">
            <a:avLst>
              <a:gd name="adj" fmla="val 15416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17" name="米菲PPT5">
            <a:extLst>
              <a:ext uri="{FF2B5EF4-FFF2-40B4-BE49-F238E27FC236}">
                <a16:creationId xmlns:a16="http://schemas.microsoft.com/office/drawing/2014/main" id="{BBCE4D96-4795-75A2-1362-517EE53560A0}"/>
              </a:ext>
            </a:extLst>
          </p:cNvPr>
          <p:cNvSpPr/>
          <p:nvPr/>
        </p:nvSpPr>
        <p:spPr>
          <a:xfrm rot="5400000" flipV="1">
            <a:off x="5921920" y="1409921"/>
            <a:ext cx="342055" cy="553877"/>
          </a:xfrm>
          <a:prstGeom prst="roundRect">
            <a:avLst>
              <a:gd name="adj" fmla="val 15416"/>
            </a:avLst>
          </a:prstGeom>
          <a:solidFill>
            <a:schemeClr val="accent2"/>
          </a:soli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+mj-ea"/>
              <a:ea typeface="+mj-ea"/>
              <a:cs typeface="MiSans Bold" panose="00000800000000000000" pitchFamily="2" charset="-122"/>
            </a:endParaRPr>
          </a:p>
        </p:txBody>
      </p:sp>
      <p:sp>
        <p:nvSpPr>
          <p:cNvPr id="18" name="米菲PPT13">
            <a:extLst>
              <a:ext uri="{FF2B5EF4-FFF2-40B4-BE49-F238E27FC236}">
                <a16:creationId xmlns:a16="http://schemas.microsoft.com/office/drawing/2014/main" id="{1F3B54EE-8D97-A9C9-422D-E8A92BBB4A77}"/>
              </a:ext>
            </a:extLst>
          </p:cNvPr>
          <p:cNvSpPr/>
          <p:nvPr/>
        </p:nvSpPr>
        <p:spPr>
          <a:xfrm>
            <a:off x="818168" y="484646"/>
            <a:ext cx="7832103" cy="261158"/>
          </a:xfrm>
          <a:prstGeom prst="trapezoid">
            <a:avLst>
              <a:gd name="adj" fmla="val 153377"/>
            </a:avLst>
          </a:prstGeom>
          <a:gradFill>
            <a:gsLst>
              <a:gs pos="15000">
                <a:schemeClr val="accent1">
                  <a:alpha val="1000"/>
                </a:schemeClr>
              </a:gs>
              <a:gs pos="95000">
                <a:schemeClr val="accent1">
                  <a:alpha val="8000"/>
                </a:schemeClr>
              </a:gs>
            </a:gsLst>
            <a:lin ang="5400000" scaled="1"/>
          </a:gradFill>
          <a:ln w="1778">
            <a:gradFill flip="none" rotWithShape="1"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5400000" scaled="1"/>
              <a:tileRect/>
            </a:gra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405" tIns="19205" rIns="38405" bIns="19205" rtlCol="0" anchor="ctr"/>
          <a:lstStyle/>
          <a:p>
            <a:pPr algn="ctr" defTabSz="685800">
              <a:defRPr/>
            </a:pPr>
            <a:endParaRPr lang="zh-CN" altLang="en-US" sz="758" dirty="0">
              <a:solidFill>
                <a:prstClr val="white"/>
              </a:solidFill>
              <a:latin typeface="+mj-ea"/>
              <a:ea typeface="+mj-ea"/>
              <a:cs typeface="+mn-ea"/>
            </a:endParaRPr>
          </a:p>
        </p:txBody>
      </p:sp>
      <p:sp>
        <p:nvSpPr>
          <p:cNvPr id="19" name="米菲PPT14">
            <a:extLst>
              <a:ext uri="{FF2B5EF4-FFF2-40B4-BE49-F238E27FC236}">
                <a16:creationId xmlns:a16="http://schemas.microsoft.com/office/drawing/2014/main" id="{AE1CEAA9-56CE-A15B-7C32-24026B931A5A}"/>
              </a:ext>
            </a:extLst>
          </p:cNvPr>
          <p:cNvSpPr/>
          <p:nvPr/>
        </p:nvSpPr>
        <p:spPr>
          <a:xfrm rot="5400000" flipV="1">
            <a:off x="2992891" y="-1324155"/>
            <a:ext cx="497703" cy="480362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>
            <a:outerShdw blurRad="469900" dist="139700" dir="5400000" algn="t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+mj-ea"/>
              <a:ea typeface="+mj-ea"/>
              <a:cs typeface="MiSans Bold" panose="00000800000000000000" pitchFamily="2" charset="-122"/>
            </a:endParaRPr>
          </a:p>
        </p:txBody>
      </p:sp>
      <p:sp>
        <p:nvSpPr>
          <p:cNvPr id="20" name="米菲PPT15">
            <a:extLst>
              <a:ext uri="{FF2B5EF4-FFF2-40B4-BE49-F238E27FC236}">
                <a16:creationId xmlns:a16="http://schemas.microsoft.com/office/drawing/2014/main" id="{E5333317-6172-D84C-01DD-C09FD677E240}"/>
              </a:ext>
            </a:extLst>
          </p:cNvPr>
          <p:cNvSpPr/>
          <p:nvPr/>
        </p:nvSpPr>
        <p:spPr>
          <a:xfrm rot="5400000" flipV="1">
            <a:off x="6843529" y="-279268"/>
            <a:ext cx="497703" cy="271386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21" name="米菲PPT40">
            <a:extLst>
              <a:ext uri="{FF2B5EF4-FFF2-40B4-BE49-F238E27FC236}">
                <a16:creationId xmlns:a16="http://schemas.microsoft.com/office/drawing/2014/main" id="{6C953910-9721-9450-D218-F2B2E9357B78}"/>
              </a:ext>
            </a:extLst>
          </p:cNvPr>
          <p:cNvSpPr/>
          <p:nvPr/>
        </p:nvSpPr>
        <p:spPr>
          <a:xfrm>
            <a:off x="1083945" y="944894"/>
            <a:ext cx="2062939" cy="18363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endParaRPr sz="1054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2" name="米菲PPT41">
            <a:extLst>
              <a:ext uri="{FF2B5EF4-FFF2-40B4-BE49-F238E27FC236}">
                <a16:creationId xmlns:a16="http://schemas.microsoft.com/office/drawing/2014/main" id="{3509D9C9-8C81-2596-2FD8-DD65305D64BD}"/>
              </a:ext>
            </a:extLst>
          </p:cNvPr>
          <p:cNvSpPr/>
          <p:nvPr/>
        </p:nvSpPr>
        <p:spPr>
          <a:xfrm>
            <a:off x="2158280" y="1015937"/>
            <a:ext cx="2062939" cy="17567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r>
              <a:rPr lang="zh-CN" altLang="en-US" sz="105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</a:rPr>
              <a:t>各指数榜数据及门店结构对比分析</a:t>
            </a:r>
            <a:endParaRPr sz="1050" b="1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26" name="米菲PPT42">
            <a:extLst>
              <a:ext uri="{FF2B5EF4-FFF2-40B4-BE49-F238E27FC236}">
                <a16:creationId xmlns:a16="http://schemas.microsoft.com/office/drawing/2014/main" id="{FA0DA5CB-BCEE-EBB5-2CAF-7E5B0E46FD37}"/>
              </a:ext>
            </a:extLst>
          </p:cNvPr>
          <p:cNvSpPr/>
          <p:nvPr/>
        </p:nvSpPr>
        <p:spPr>
          <a:xfrm>
            <a:off x="5890861" y="1016845"/>
            <a:ext cx="2355968" cy="2097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3000"/>
              </a:lnSpc>
            </a:pPr>
            <a:r>
              <a:rPr lang="zh-CN" altLang="en-US" sz="1054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一线原声反馈</a:t>
            </a:r>
            <a:endParaRPr sz="1054" b="1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7" name="米菲PPT46">
            <a:extLst>
              <a:ext uri="{FF2B5EF4-FFF2-40B4-BE49-F238E27FC236}">
                <a16:creationId xmlns:a16="http://schemas.microsoft.com/office/drawing/2014/main" id="{46DCB6D5-A0A3-99D9-F959-12BC6A9DA931}"/>
              </a:ext>
            </a:extLst>
          </p:cNvPr>
          <p:cNvSpPr/>
          <p:nvPr/>
        </p:nvSpPr>
        <p:spPr>
          <a:xfrm>
            <a:off x="925660" y="1372861"/>
            <a:ext cx="4803618" cy="1331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指数榜中回头客榜较人气榜提升更多蜂窝好店，同时较好评榜保留更高覆盖率，辐射到更多行政区商圈</a:t>
            </a:r>
            <a:endParaRPr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28" name="米菲PPT48">
            <a:extLst>
              <a:ext uri="{FF2B5EF4-FFF2-40B4-BE49-F238E27FC236}">
                <a16:creationId xmlns:a16="http://schemas.microsoft.com/office/drawing/2014/main" id="{5120E871-0B3D-B8B5-3640-D50F031783F3}"/>
              </a:ext>
            </a:extLst>
          </p:cNvPr>
          <p:cNvSpPr/>
          <p:nvPr/>
        </p:nvSpPr>
        <p:spPr>
          <a:xfrm>
            <a:off x="2578133" y="474335"/>
            <a:ext cx="4984717" cy="28429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8" rIns="0" bIns="0"/>
          <a:lstStyle/>
          <a:p>
            <a:pPr marL="232886" indent="-223361" eaLnBrk="0">
              <a:lnSpc>
                <a:spcPct val="130000"/>
              </a:lnSpc>
            </a:pPr>
            <a:r>
              <a:rPr lang="zh-CN" altLang="en-US" sz="1354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为不同城市地区的用户提供丰富便捷的全品类榜单筛选决策</a:t>
            </a:r>
          </a:p>
        </p:txBody>
      </p:sp>
      <p:sp>
        <p:nvSpPr>
          <p:cNvPr id="29" name="米菲PPT49">
            <a:extLst>
              <a:ext uri="{FF2B5EF4-FFF2-40B4-BE49-F238E27FC236}">
                <a16:creationId xmlns:a16="http://schemas.microsoft.com/office/drawing/2014/main" id="{ABF24E66-4C3E-E5DE-D1A5-F44D6FD1A543}"/>
              </a:ext>
            </a:extLst>
          </p:cNvPr>
          <p:cNvSpPr/>
          <p:nvPr/>
        </p:nvSpPr>
        <p:spPr>
          <a:xfrm>
            <a:off x="48402" y="2286220"/>
            <a:ext cx="772814" cy="68013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sp>
        <p:nvSpPr>
          <p:cNvPr id="30" name="米菲PPT50">
            <a:extLst>
              <a:ext uri="{FF2B5EF4-FFF2-40B4-BE49-F238E27FC236}">
                <a16:creationId xmlns:a16="http://schemas.microsoft.com/office/drawing/2014/main" id="{77D09E0D-C318-1414-B245-6B8C15393553}"/>
              </a:ext>
            </a:extLst>
          </p:cNvPr>
          <p:cNvSpPr/>
          <p:nvPr/>
        </p:nvSpPr>
        <p:spPr>
          <a:xfrm>
            <a:off x="113273" y="455515"/>
            <a:ext cx="643064" cy="4677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algn="ctr" eaLnBrk="0">
              <a:lnSpc>
                <a:spcPct val="83000"/>
              </a:lnSpc>
            </a:pPr>
            <a:r>
              <a:rPr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  <a:sym typeface="MiSans Medium" panose="00000600000000000000" pitchFamily="2" charset="-122"/>
              </a:rPr>
              <a:t>目标</a:t>
            </a:r>
          </a:p>
        </p:txBody>
      </p:sp>
      <p:sp>
        <p:nvSpPr>
          <p:cNvPr id="31" name="米菲PPT51">
            <a:extLst>
              <a:ext uri="{FF2B5EF4-FFF2-40B4-BE49-F238E27FC236}">
                <a16:creationId xmlns:a16="http://schemas.microsoft.com/office/drawing/2014/main" id="{0761CD5B-8D1C-BFD9-562F-19A1316E2783}"/>
              </a:ext>
            </a:extLst>
          </p:cNvPr>
          <p:cNvSpPr/>
          <p:nvPr/>
        </p:nvSpPr>
        <p:spPr>
          <a:xfrm>
            <a:off x="5870773" y="1645544"/>
            <a:ext cx="444345" cy="18571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r>
              <a:rPr lang="zh-CN" altLang="en-US" sz="832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用户原声</a:t>
            </a:r>
            <a:endParaRPr sz="832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32" name="米菲PPT52">
            <a:extLst>
              <a:ext uri="{FF2B5EF4-FFF2-40B4-BE49-F238E27FC236}">
                <a16:creationId xmlns:a16="http://schemas.microsoft.com/office/drawing/2014/main" id="{BE76CC95-B54B-8D1D-03F7-4C87020B1BC7}"/>
              </a:ext>
            </a:extLst>
          </p:cNvPr>
          <p:cNvSpPr/>
          <p:nvPr/>
        </p:nvSpPr>
        <p:spPr>
          <a:xfrm>
            <a:off x="5877830" y="2720617"/>
            <a:ext cx="444345" cy="18571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eaLnBrk="0">
              <a:lnSpc>
                <a:spcPct val="79000"/>
              </a:lnSpc>
            </a:pPr>
            <a:r>
              <a:rPr lang="zh-CN" altLang="en-US" sz="832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</a:rPr>
              <a:t>商户原声</a:t>
            </a:r>
            <a:endParaRPr sz="832" dirty="0">
              <a:solidFill>
                <a:schemeClr val="bg1"/>
              </a:solidFill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34" name="米菲PPT123">
            <a:extLst>
              <a:ext uri="{FF2B5EF4-FFF2-40B4-BE49-F238E27FC236}">
                <a16:creationId xmlns:a16="http://schemas.microsoft.com/office/drawing/2014/main" id="{CBBB45EF-BA06-E2DA-D576-90D3578B70F9}"/>
              </a:ext>
            </a:extLst>
          </p:cNvPr>
          <p:cNvSpPr/>
          <p:nvPr/>
        </p:nvSpPr>
        <p:spPr>
          <a:xfrm rot="5400000" flipV="1">
            <a:off x="6894602" y="2077163"/>
            <a:ext cx="1115717" cy="1993702"/>
          </a:xfrm>
          <a:prstGeom prst="roundRect">
            <a:avLst>
              <a:gd name="adj" fmla="val 2925"/>
            </a:avLst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65000"/>
                </a:schemeClr>
              </a:gs>
            </a:gsLst>
            <a:lin ang="16200000" scaled="1"/>
            <a:tileRect/>
          </a:gra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4067" tIns="37031" rIns="74067" bIns="37031" rtlCol="0" anchor="ctr">
            <a:noAutofit/>
          </a:bodyPr>
          <a:lstStyle/>
          <a:p>
            <a:pPr algn="ctr" defTabSz="685800"/>
            <a:endParaRPr lang="zh-CN" altLang="en-US" sz="1459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35" name="米菲PPT147">
            <a:extLst>
              <a:ext uri="{FF2B5EF4-FFF2-40B4-BE49-F238E27FC236}">
                <a16:creationId xmlns:a16="http://schemas.microsoft.com/office/drawing/2014/main" id="{7111D64D-218D-7D61-8BD8-CDE810EBE105}"/>
              </a:ext>
            </a:extLst>
          </p:cNvPr>
          <p:cNvSpPr/>
          <p:nvPr/>
        </p:nvSpPr>
        <p:spPr>
          <a:xfrm>
            <a:off x="187758" y="4369319"/>
            <a:ext cx="483765" cy="68013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eaLnBrk="0">
              <a:lnSpc>
                <a:spcPct val="83000"/>
              </a:lnSpc>
            </a:pP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  <a:sym typeface="MiSans Medium" panose="00000600000000000000" pitchFamily="2" charset="-122"/>
              </a:rPr>
              <a:t>AI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Medium" panose="00000600000000000000" pitchFamily="2" charset="-122"/>
                <a:sym typeface="MiSans Medium" panose="00000600000000000000" pitchFamily="2" charset="-122"/>
              </a:rPr>
              <a:t>指数榜应用建设</a:t>
            </a:r>
            <a:endParaRPr sz="9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cxnSp>
        <p:nvCxnSpPr>
          <p:cNvPr id="36" name="米菲PPT148">
            <a:extLst>
              <a:ext uri="{FF2B5EF4-FFF2-40B4-BE49-F238E27FC236}">
                <a16:creationId xmlns:a16="http://schemas.microsoft.com/office/drawing/2014/main" id="{CEBF6903-D268-8BB3-7BA9-1910A7890525}"/>
              </a:ext>
            </a:extLst>
          </p:cNvPr>
          <p:cNvCxnSpPr/>
          <p:nvPr/>
        </p:nvCxnSpPr>
        <p:spPr>
          <a:xfrm flipH="1">
            <a:off x="150448" y="745801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米菲PPT149">
            <a:extLst>
              <a:ext uri="{FF2B5EF4-FFF2-40B4-BE49-F238E27FC236}">
                <a16:creationId xmlns:a16="http://schemas.microsoft.com/office/drawing/2014/main" id="{4235215E-2E9E-9000-2817-4A2FD118A777}"/>
              </a:ext>
            </a:extLst>
          </p:cNvPr>
          <p:cNvCxnSpPr/>
          <p:nvPr/>
        </p:nvCxnSpPr>
        <p:spPr>
          <a:xfrm>
            <a:off x="434805" y="852786"/>
            <a:ext cx="0" cy="1196471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米菲PPT150">
            <a:extLst>
              <a:ext uri="{FF2B5EF4-FFF2-40B4-BE49-F238E27FC236}">
                <a16:creationId xmlns:a16="http://schemas.microsoft.com/office/drawing/2014/main" id="{86BC2A79-45B1-0D53-338A-1B0759F19FAD}"/>
              </a:ext>
            </a:extLst>
          </p:cNvPr>
          <p:cNvCxnSpPr/>
          <p:nvPr/>
        </p:nvCxnSpPr>
        <p:spPr>
          <a:xfrm>
            <a:off x="434805" y="3983865"/>
            <a:ext cx="0" cy="172274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米菲PPT151">
            <a:extLst>
              <a:ext uri="{FF2B5EF4-FFF2-40B4-BE49-F238E27FC236}">
                <a16:creationId xmlns:a16="http://schemas.microsoft.com/office/drawing/2014/main" id="{77139B03-4569-0218-E7F3-A3451A1413F7}"/>
              </a:ext>
            </a:extLst>
          </p:cNvPr>
          <p:cNvCxnSpPr/>
          <p:nvPr/>
        </p:nvCxnSpPr>
        <p:spPr>
          <a:xfrm flipH="1">
            <a:off x="150448" y="4990737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米菲PPT152">
            <a:extLst>
              <a:ext uri="{FF2B5EF4-FFF2-40B4-BE49-F238E27FC236}">
                <a16:creationId xmlns:a16="http://schemas.microsoft.com/office/drawing/2014/main" id="{3F5CB9B5-B458-8E8E-D334-E2542A11447E}"/>
              </a:ext>
            </a:extLst>
          </p:cNvPr>
          <p:cNvSpPr txBox="1"/>
          <p:nvPr/>
        </p:nvSpPr>
        <p:spPr>
          <a:xfrm>
            <a:off x="96702" y="2185509"/>
            <a:ext cx="665879" cy="226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>
            <a:defPPr>
              <a:defRPr lang="en-US"/>
            </a:defPPr>
            <a:lvl1pPr algn="ctr" eaLnBrk="0">
              <a:lnSpc>
                <a:spcPct val="83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r>
              <a:rPr lang="zh-CN" altLang="en-US" sz="900" dirty="0">
                <a:latin typeface="+mj-ea"/>
                <a:ea typeface="+mj-ea"/>
                <a:cs typeface="MiSans Medium" panose="00000600000000000000" pitchFamily="2" charset="-122"/>
              </a:rPr>
              <a:t>维度</a:t>
            </a:r>
            <a:endParaRPr lang="en-US" altLang="zh-CN" sz="900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r>
              <a:rPr lang="zh-CN" altLang="en-US" sz="900" dirty="0">
                <a:latin typeface="+mj-ea"/>
                <a:ea typeface="+mj-ea"/>
                <a:cs typeface="MiSans Medium" panose="00000600000000000000" pitchFamily="2" charset="-122"/>
              </a:rPr>
              <a:t>对比</a:t>
            </a:r>
          </a:p>
        </p:txBody>
      </p:sp>
      <p:cxnSp>
        <p:nvCxnSpPr>
          <p:cNvPr id="41" name="米菲PPT153">
            <a:extLst>
              <a:ext uri="{FF2B5EF4-FFF2-40B4-BE49-F238E27FC236}">
                <a16:creationId xmlns:a16="http://schemas.microsoft.com/office/drawing/2014/main" id="{9CDADCE9-C559-D4EB-5898-0D8B1284E065}"/>
              </a:ext>
            </a:extLst>
          </p:cNvPr>
          <p:cNvCxnSpPr/>
          <p:nvPr/>
        </p:nvCxnSpPr>
        <p:spPr>
          <a:xfrm flipH="1">
            <a:off x="150448" y="3927132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米菲PPT154">
            <a:extLst>
              <a:ext uri="{FF2B5EF4-FFF2-40B4-BE49-F238E27FC236}">
                <a16:creationId xmlns:a16="http://schemas.microsoft.com/office/drawing/2014/main" id="{AA810C58-E7D8-1658-DBA8-4912D9804093}"/>
              </a:ext>
            </a:extLst>
          </p:cNvPr>
          <p:cNvCxnSpPr/>
          <p:nvPr/>
        </p:nvCxnSpPr>
        <p:spPr>
          <a:xfrm flipH="1">
            <a:off x="150448" y="828801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米菲PPT155">
            <a:extLst>
              <a:ext uri="{FF2B5EF4-FFF2-40B4-BE49-F238E27FC236}">
                <a16:creationId xmlns:a16="http://schemas.microsoft.com/office/drawing/2014/main" id="{BE69C5D4-1AF1-E805-5394-CA3D588D24AB}"/>
              </a:ext>
            </a:extLst>
          </p:cNvPr>
          <p:cNvCxnSpPr>
            <a:cxnSpLocks/>
          </p:cNvCxnSpPr>
          <p:nvPr/>
        </p:nvCxnSpPr>
        <p:spPr>
          <a:xfrm>
            <a:off x="434805" y="2493692"/>
            <a:ext cx="0" cy="1306781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米菲PPT156">
            <a:extLst>
              <a:ext uri="{FF2B5EF4-FFF2-40B4-BE49-F238E27FC236}">
                <a16:creationId xmlns:a16="http://schemas.microsoft.com/office/drawing/2014/main" id="{139C7BDD-8461-7376-F7AB-A9809AF68E4A}"/>
              </a:ext>
            </a:extLst>
          </p:cNvPr>
          <p:cNvCxnSpPr/>
          <p:nvPr/>
        </p:nvCxnSpPr>
        <p:spPr>
          <a:xfrm>
            <a:off x="434805" y="4771859"/>
            <a:ext cx="0" cy="179924"/>
          </a:xfrm>
          <a:prstGeom prst="line">
            <a:avLst/>
          </a:prstGeom>
          <a:ln w="6350">
            <a:solidFill>
              <a:schemeClr val="bg1">
                <a:lumMod val="75000"/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米菲PPT157">
            <a:extLst>
              <a:ext uri="{FF2B5EF4-FFF2-40B4-BE49-F238E27FC236}">
                <a16:creationId xmlns:a16="http://schemas.microsoft.com/office/drawing/2014/main" id="{27B41E36-873A-6169-65B8-D3C59B91CF72}"/>
              </a:ext>
            </a:extLst>
          </p:cNvPr>
          <p:cNvCxnSpPr/>
          <p:nvPr/>
        </p:nvCxnSpPr>
        <p:spPr>
          <a:xfrm flipH="1">
            <a:off x="150448" y="479597"/>
            <a:ext cx="568714" cy="0"/>
          </a:xfrm>
          <a:prstGeom prst="line">
            <a:avLst/>
          </a:prstGeom>
          <a:ln w="12700">
            <a:solidFill>
              <a:schemeClr val="bg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标题 1">
            <a:extLst>
              <a:ext uri="{FF2B5EF4-FFF2-40B4-BE49-F238E27FC236}">
                <a16:creationId xmlns:a16="http://schemas.microsoft.com/office/drawing/2014/main" id="{56616912-4B2E-8F0D-0AEB-376DD471C3C9}"/>
              </a:ext>
            </a:extLst>
          </p:cNvPr>
          <p:cNvSpPr txBox="1">
            <a:spLocks/>
          </p:cNvSpPr>
          <p:nvPr/>
        </p:nvSpPr>
        <p:spPr>
          <a:xfrm>
            <a:off x="66126" y="40618"/>
            <a:ext cx="7664380" cy="4273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美团指数榜定位结构及</a:t>
            </a:r>
            <a:r>
              <a:rPr lang="en-US" altLang="zh-CN" sz="2100" dirty="0">
                <a:latin typeface="+mj-ea"/>
              </a:rPr>
              <a:t>AI</a:t>
            </a:r>
            <a:r>
              <a:rPr lang="zh-CN" altLang="en-US" sz="2100" dirty="0">
                <a:latin typeface="+mj-ea"/>
              </a:rPr>
              <a:t>智能化建设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（先</a:t>
            </a:r>
            <a:r>
              <a:rPr lang="en-US" altLang="zh-CN" sz="2100" dirty="0">
                <a:solidFill>
                  <a:srgbClr val="FF0000"/>
                </a:solidFill>
                <a:latin typeface="+mj-ea"/>
              </a:rPr>
              <a:t>pend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，等前面</a:t>
            </a:r>
            <a:r>
              <a:rPr lang="en-US" altLang="zh-CN" sz="2100" dirty="0" err="1">
                <a:solidFill>
                  <a:srgbClr val="FF0000"/>
                </a:solidFill>
                <a:latin typeface="+mj-ea"/>
              </a:rPr>
              <a:t>chuachua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合并后一起看）</a:t>
            </a:r>
          </a:p>
        </p:txBody>
      </p: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D9036742-4987-A628-C863-F263E52C5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714568"/>
              </p:ext>
            </p:extLst>
          </p:nvPr>
        </p:nvGraphicFramePr>
        <p:xfrm>
          <a:off x="987584" y="1645696"/>
          <a:ext cx="4457343" cy="1986176"/>
        </p:xfrm>
        <a:graphic>
          <a:graphicData uri="http://schemas.openxmlformats.org/drawingml/2006/table">
            <a:tbl>
              <a:tblPr/>
              <a:tblGrid>
                <a:gridCol w="941224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641320">
                  <a:extLst>
                    <a:ext uri="{9D8B030D-6E8A-4147-A177-3AD203B41FA5}">
                      <a16:colId xmlns:a16="http://schemas.microsoft.com/office/drawing/2014/main" val="1618764127"/>
                    </a:ext>
                  </a:extLst>
                </a:gridCol>
                <a:gridCol w="763617">
                  <a:extLst>
                    <a:ext uri="{9D8B030D-6E8A-4147-A177-3AD203B41FA5}">
                      <a16:colId xmlns:a16="http://schemas.microsoft.com/office/drawing/2014/main" val="823836141"/>
                    </a:ext>
                  </a:extLst>
                </a:gridCol>
                <a:gridCol w="534796">
                  <a:extLst>
                    <a:ext uri="{9D8B030D-6E8A-4147-A177-3AD203B41FA5}">
                      <a16:colId xmlns:a16="http://schemas.microsoft.com/office/drawing/2014/main" val="131001751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6861543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3343775395"/>
                    </a:ext>
                  </a:extLst>
                </a:gridCol>
                <a:gridCol w="500061">
                  <a:extLst>
                    <a:ext uri="{9D8B030D-6E8A-4147-A177-3AD203B41FA5}">
                      <a16:colId xmlns:a16="http://schemas.microsoft.com/office/drawing/2014/main" val="720347061"/>
                    </a:ext>
                  </a:extLst>
                </a:gridCol>
              </a:tblGrid>
              <a:tr h="90486">
                <a:tc>
                  <a:txBody>
                    <a:bodyPr/>
                    <a:lstStyle/>
                    <a:p>
                      <a:pPr marL="0" marR="0" algn="ctr" fontAlgn="ctr"/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美团指数榜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ctr"/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ctr"/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ctr"/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点评指数榜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ctr"/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389374"/>
                  </a:ext>
                </a:extLst>
              </a:tr>
              <a:tr h="171346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数据维度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人气榜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人气榜</a:t>
                      </a:r>
                      <a:r>
                        <a:rPr lang="en-US" altLang="zh-CN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(</a:t>
                      </a:r>
                      <a:r>
                        <a:rPr lang="zh-CN" altLang="en-US" sz="700" b="1" kern="1200" dirty="0">
                          <a:solidFill>
                            <a:srgbClr val="0D0D0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引入</a:t>
                      </a:r>
                      <a:r>
                        <a:rPr lang="en-US" altLang="zh-CN" sz="700" b="1" kern="1200" dirty="0">
                          <a:solidFill>
                            <a:srgbClr val="0D0D0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GTV</a:t>
                      </a:r>
                      <a:r>
                        <a:rPr lang="en-US" altLang="zh-CN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)</a:t>
                      </a:r>
                      <a:endParaRPr lang="zh-CN" altLang="en-US" sz="700" b="1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好评榜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回头客榜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销量榜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回头客榜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614898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总门店数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673,438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667,943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208,557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545,386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183,627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149,103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覆盖城市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69229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覆盖行政区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5,872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5,870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3,530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5,340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975936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覆盖商圈数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12,692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12,668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7,329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11,718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6,298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5,127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80927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上榜门店日均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UV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12086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上榜门店日均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GTV(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元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1,398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1,421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2,701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1,641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3,762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3,987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600088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上榜门店日均订单量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176940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上榜门店单均价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元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342436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平均上榜门店美团星级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9743822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上榜门店分类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占比：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2531402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KA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197,439/29%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197,418/30%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34,508/17%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140,453/26%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31,934/17%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32,163/22%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574574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CKA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100,220/15%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98,342/15%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34,520/17%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89,389/16%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48,181/26%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41,598/28%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705039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lvl="1"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蜂窝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245,310/36%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241,835/36%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94,344/45%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213,102/40%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87,720/48%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64,983/44%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255171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lvl="1"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下沉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65,485/10%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66,435/10%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23,111/11%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51,083/9%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3,374/2%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1,188/1%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16505"/>
                  </a:ext>
                </a:extLst>
              </a:tr>
              <a:tr h="85673">
                <a:tc>
                  <a:txBody>
                    <a:bodyPr/>
                    <a:lstStyle/>
                    <a:p>
                      <a:pPr lvl="1" algn="l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其他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64,984/10%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63,913/9%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22,074/10%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51,359/9%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12,418/7%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9,171/5%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112491"/>
                  </a:ext>
                </a:extLst>
              </a:tr>
            </a:tbl>
          </a:graphicData>
        </a:graphic>
      </p:graphicFrame>
      <p:sp>
        <p:nvSpPr>
          <p:cNvPr id="48" name="米菲PPT41">
            <a:extLst>
              <a:ext uri="{FF2B5EF4-FFF2-40B4-BE49-F238E27FC236}">
                <a16:creationId xmlns:a16="http://schemas.microsoft.com/office/drawing/2014/main" id="{32CBF4CC-F3AB-0FE2-C753-9A51098D547B}"/>
              </a:ext>
            </a:extLst>
          </p:cNvPr>
          <p:cNvSpPr/>
          <p:nvPr/>
        </p:nvSpPr>
        <p:spPr>
          <a:xfrm>
            <a:off x="6431708" y="2589994"/>
            <a:ext cx="1890338" cy="989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rtl="0" eaLnBrk="0">
              <a:lnSpc>
                <a:spcPct val="83000"/>
              </a:lnSpc>
            </a:pPr>
            <a:r>
              <a:rPr lang="en-US" altLang="zh-CN" sz="800" i="1" dirty="0">
                <a:latin typeface="+mj-ea"/>
                <a:ea typeface="+mj-ea"/>
                <a:cs typeface="MiSans Medium" panose="00000600000000000000" pitchFamily="2" charset="-122"/>
              </a:rPr>
              <a:t>——</a:t>
            </a:r>
            <a:r>
              <a:rPr lang="zh-CN" altLang="en-US" sz="800" i="1" dirty="0">
                <a:latin typeface="+mj-ea"/>
                <a:ea typeface="+mj-ea"/>
                <a:cs typeface="MiSans Medium" panose="00000600000000000000" pitchFamily="2" charset="-122"/>
              </a:rPr>
              <a:t>“美团的人气榜如果想刷单、评价都能刷上去，我们干这一行的都知道，希望美团榜单能更看重数据真实性一些，做更多丰富的测算、检核，评选好榜单”</a:t>
            </a:r>
            <a:endParaRPr lang="en-US" altLang="zh-CN" sz="800" i="1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 rtl="0" eaLnBrk="0">
              <a:lnSpc>
                <a:spcPct val="83000"/>
              </a:lnSpc>
            </a:pPr>
            <a:endParaRPr lang="en-US" altLang="zh-CN" sz="800" i="1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 rtl="0" eaLnBrk="0">
              <a:lnSpc>
                <a:spcPct val="83000"/>
              </a:lnSpc>
            </a:pPr>
            <a:r>
              <a:rPr lang="en-US" altLang="zh-CN" sz="800" i="1" dirty="0">
                <a:latin typeface="+mj-ea"/>
                <a:ea typeface="+mj-ea"/>
                <a:cs typeface="MiSans Medium" panose="00000600000000000000" pitchFamily="2" charset="-122"/>
              </a:rPr>
              <a:t>——</a:t>
            </a:r>
            <a:r>
              <a:rPr lang="zh-CN" altLang="en-US" sz="800" i="1" dirty="0">
                <a:latin typeface="+mj-ea"/>
                <a:ea typeface="+mj-ea"/>
                <a:cs typeface="MiSans Medium" panose="00000600000000000000" pitchFamily="2" charset="-122"/>
              </a:rPr>
              <a:t>“我们这个店主打“现炒”，新客不多，但老客占比差不多有</a:t>
            </a:r>
            <a:r>
              <a:rPr lang="en-US" altLang="zh-CN" sz="800" i="1" dirty="0">
                <a:latin typeface="+mj-ea"/>
                <a:ea typeface="+mj-ea"/>
                <a:cs typeface="MiSans Medium" panose="00000600000000000000" pitchFamily="2" charset="-122"/>
              </a:rPr>
              <a:t>60%</a:t>
            </a:r>
            <a:r>
              <a:rPr lang="zh-CN" altLang="en-US" sz="800" i="1" dirty="0">
                <a:latin typeface="+mj-ea"/>
                <a:ea typeface="+mj-ea"/>
                <a:cs typeface="MiSans Medium" panose="00000600000000000000" pitchFamily="2" charset="-122"/>
              </a:rPr>
              <a:t>，有些客人一周甚至能来</a:t>
            </a:r>
            <a:r>
              <a:rPr lang="en-US" altLang="zh-CN" sz="800" i="1" dirty="0">
                <a:latin typeface="+mj-ea"/>
                <a:ea typeface="+mj-ea"/>
                <a:cs typeface="MiSans Medium" panose="00000600000000000000" pitchFamily="2" charset="-122"/>
              </a:rPr>
              <a:t>3-5</a:t>
            </a:r>
            <a:r>
              <a:rPr lang="zh-CN" altLang="en-US" sz="800" i="1" dirty="0">
                <a:latin typeface="+mj-ea"/>
                <a:ea typeface="+mj-ea"/>
                <a:cs typeface="MiSans Medium" panose="00000600000000000000" pitchFamily="2" charset="-122"/>
              </a:rPr>
              <a:t>天，我们不是那种做流量营销的店，就想做好自己的小店”</a:t>
            </a:r>
          </a:p>
        </p:txBody>
      </p:sp>
      <p:sp>
        <p:nvSpPr>
          <p:cNvPr id="49" name="米菲PPT41">
            <a:extLst>
              <a:ext uri="{FF2B5EF4-FFF2-40B4-BE49-F238E27FC236}">
                <a16:creationId xmlns:a16="http://schemas.microsoft.com/office/drawing/2014/main" id="{761CA18D-18FC-A8A6-74D2-08E52BC31EE1}"/>
              </a:ext>
            </a:extLst>
          </p:cNvPr>
          <p:cNvSpPr/>
          <p:nvPr/>
        </p:nvSpPr>
        <p:spPr>
          <a:xfrm>
            <a:off x="6461649" y="1470387"/>
            <a:ext cx="1854819" cy="90509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rtl="0" eaLnBrk="0">
              <a:lnSpc>
                <a:spcPct val="83000"/>
              </a:lnSpc>
            </a:pPr>
            <a:r>
              <a:rPr lang="en-US" altLang="zh-CN" sz="800" i="1" dirty="0">
                <a:latin typeface="+mj-ea"/>
                <a:ea typeface="+mj-ea"/>
                <a:cs typeface="MiSans Medium" panose="00000600000000000000" pitchFamily="2" charset="-122"/>
              </a:rPr>
              <a:t>——</a:t>
            </a:r>
            <a:r>
              <a:rPr lang="zh-CN" altLang="en-US" sz="800" i="1" dirty="0">
                <a:latin typeface="+mj-ea"/>
                <a:ea typeface="+mj-ea"/>
                <a:cs typeface="MiSans Medium" panose="00000600000000000000" pitchFamily="2" charset="-122"/>
              </a:rPr>
              <a:t>“人气榜、好评榜评价维度太单一，感觉很不可信，人气榜销量高，可能是“做”出来的”；好评榜好评多，可能因为“送东西要好评”</a:t>
            </a:r>
            <a:endParaRPr lang="en-US" altLang="zh-CN" sz="800" i="1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 rtl="0" eaLnBrk="0">
              <a:lnSpc>
                <a:spcPct val="83000"/>
              </a:lnSpc>
            </a:pPr>
            <a:endParaRPr lang="en-US" altLang="zh-CN" sz="800" i="1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 rtl="0" eaLnBrk="0">
              <a:lnSpc>
                <a:spcPct val="83000"/>
              </a:lnSpc>
            </a:pPr>
            <a:r>
              <a:rPr lang="en-US" altLang="zh-CN" sz="800" i="1" dirty="0">
                <a:latin typeface="+mj-ea"/>
                <a:ea typeface="+mj-ea"/>
                <a:cs typeface="MiSans Medium" panose="00000600000000000000" pitchFamily="2" charset="-122"/>
              </a:rPr>
              <a:t>——</a:t>
            </a:r>
            <a:r>
              <a:rPr lang="zh-CN" altLang="en-US" sz="800" i="1" dirty="0">
                <a:latin typeface="+mj-ea"/>
                <a:ea typeface="+mj-ea"/>
                <a:cs typeface="MiSans Medium" panose="00000600000000000000" pitchFamily="2" charset="-122"/>
              </a:rPr>
              <a:t>“人气榜上面遗漏很多那种不会经营数据的“本地老字号”，基本都是偏网红，排队多的门店”</a:t>
            </a:r>
          </a:p>
        </p:txBody>
      </p:sp>
      <p:sp>
        <p:nvSpPr>
          <p:cNvPr id="63" name="米菲PPT9">
            <a:extLst>
              <a:ext uri="{FF2B5EF4-FFF2-40B4-BE49-F238E27FC236}">
                <a16:creationId xmlns:a16="http://schemas.microsoft.com/office/drawing/2014/main" id="{B1D400AE-2C27-AB0A-EC9C-AFD23B20386E}"/>
              </a:ext>
            </a:extLst>
          </p:cNvPr>
          <p:cNvSpPr/>
          <p:nvPr/>
        </p:nvSpPr>
        <p:spPr>
          <a:xfrm>
            <a:off x="839932" y="3873303"/>
            <a:ext cx="1596415" cy="145643"/>
          </a:xfrm>
          <a:prstGeom prst="homePlate">
            <a:avLst>
              <a:gd name="adj" fmla="val 36289"/>
            </a:avLst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80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AI</a:t>
            </a:r>
            <a:r>
              <a:rPr lang="zh-CN" altLang="en-US" sz="80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需求识别与关键判断</a:t>
            </a:r>
          </a:p>
        </p:txBody>
      </p:sp>
      <p:sp>
        <p:nvSpPr>
          <p:cNvPr id="960" name="米菲PPT9">
            <a:extLst>
              <a:ext uri="{FF2B5EF4-FFF2-40B4-BE49-F238E27FC236}">
                <a16:creationId xmlns:a16="http://schemas.microsoft.com/office/drawing/2014/main" id="{6576F68F-DE70-8D69-7047-E63E17C85BC9}"/>
              </a:ext>
            </a:extLst>
          </p:cNvPr>
          <p:cNvSpPr/>
          <p:nvPr/>
        </p:nvSpPr>
        <p:spPr>
          <a:xfrm>
            <a:off x="2482995" y="3869198"/>
            <a:ext cx="1596415" cy="145643"/>
          </a:xfrm>
          <a:prstGeom prst="homePlate">
            <a:avLst>
              <a:gd name="adj" fmla="val 36289"/>
            </a:avLst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zh-CN" altLang="en-US" sz="80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指数规则计算及调参</a:t>
            </a:r>
          </a:p>
        </p:txBody>
      </p:sp>
      <p:sp>
        <p:nvSpPr>
          <p:cNvPr id="961" name="米菲PPT9">
            <a:extLst>
              <a:ext uri="{FF2B5EF4-FFF2-40B4-BE49-F238E27FC236}">
                <a16:creationId xmlns:a16="http://schemas.microsoft.com/office/drawing/2014/main" id="{CDC0B3DD-ACF9-86DA-33A2-7BD02019B5A6}"/>
              </a:ext>
            </a:extLst>
          </p:cNvPr>
          <p:cNvSpPr/>
          <p:nvPr/>
        </p:nvSpPr>
        <p:spPr>
          <a:xfrm>
            <a:off x="4146714" y="3861418"/>
            <a:ext cx="1596415" cy="145643"/>
          </a:xfrm>
          <a:prstGeom prst="homePlate">
            <a:avLst>
              <a:gd name="adj" fmla="val 36289"/>
            </a:avLst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zh-CN" altLang="en-US" sz="80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榜单模拟及价值评估</a:t>
            </a:r>
          </a:p>
        </p:txBody>
      </p:sp>
      <p:sp>
        <p:nvSpPr>
          <p:cNvPr id="962" name="米菲PPT9">
            <a:extLst>
              <a:ext uri="{FF2B5EF4-FFF2-40B4-BE49-F238E27FC236}">
                <a16:creationId xmlns:a16="http://schemas.microsoft.com/office/drawing/2014/main" id="{A0F47287-AA10-D609-87DB-016BF2A1143A}"/>
              </a:ext>
            </a:extLst>
          </p:cNvPr>
          <p:cNvSpPr/>
          <p:nvPr/>
        </p:nvSpPr>
        <p:spPr>
          <a:xfrm>
            <a:off x="5801517" y="3857501"/>
            <a:ext cx="1596415" cy="145643"/>
          </a:xfrm>
          <a:prstGeom prst="homePlate">
            <a:avLst>
              <a:gd name="adj" fmla="val 36289"/>
            </a:avLst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zh-CN" altLang="en-US" sz="80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智能调试及修改</a:t>
            </a:r>
          </a:p>
        </p:txBody>
      </p:sp>
      <p:sp>
        <p:nvSpPr>
          <p:cNvPr id="963" name="米菲PPT9">
            <a:extLst>
              <a:ext uri="{FF2B5EF4-FFF2-40B4-BE49-F238E27FC236}">
                <a16:creationId xmlns:a16="http://schemas.microsoft.com/office/drawing/2014/main" id="{FDA3E27A-5324-ABE2-3E35-D818D7B5F2BC}"/>
              </a:ext>
            </a:extLst>
          </p:cNvPr>
          <p:cNvSpPr/>
          <p:nvPr/>
        </p:nvSpPr>
        <p:spPr>
          <a:xfrm>
            <a:off x="7453496" y="3857501"/>
            <a:ext cx="1596415" cy="145643"/>
          </a:xfrm>
          <a:prstGeom prst="homePlate">
            <a:avLst>
              <a:gd name="adj" fmla="val 36289"/>
            </a:avLst>
          </a:prstGeom>
          <a:solidFill>
            <a:schemeClr val="accent1">
              <a:lumMod val="75000"/>
            </a:schemeClr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zh-CN" altLang="en-US" sz="80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交付后端完成</a:t>
            </a:r>
            <a:r>
              <a:rPr lang="en-US" altLang="zh-CN" sz="80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C</a:t>
            </a:r>
            <a:r>
              <a:rPr lang="zh-CN" altLang="en-US" sz="800" b="1" dirty="0">
                <a:solidFill>
                  <a:schemeClr val="bg1"/>
                </a:solidFill>
                <a:latin typeface="+mj-ea"/>
                <a:ea typeface="+mj-ea"/>
                <a:cs typeface="MiSans Medium" panose="00000600000000000000" pitchFamily="2" charset="-122"/>
                <a:sym typeface="MiSans Bold" panose="00000800000000000000" pitchFamily="2" charset="-122"/>
              </a:rPr>
              <a:t>端生成</a:t>
            </a:r>
          </a:p>
        </p:txBody>
      </p:sp>
      <p:sp>
        <p:nvSpPr>
          <p:cNvPr id="964" name="米菲PPT47">
            <a:extLst>
              <a:ext uri="{FF2B5EF4-FFF2-40B4-BE49-F238E27FC236}">
                <a16:creationId xmlns:a16="http://schemas.microsoft.com/office/drawing/2014/main" id="{410412A7-EE59-32FD-5DF0-739E289E40DD}"/>
              </a:ext>
            </a:extLst>
          </p:cNvPr>
          <p:cNvSpPr txBox="1"/>
          <p:nvPr/>
        </p:nvSpPr>
        <p:spPr>
          <a:xfrm>
            <a:off x="778214" y="4016947"/>
            <a:ext cx="168001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需求识别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：根据运营对指数榜信息的回收，例如季节性品类需求、用户商户反馈需求等，通过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AI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读取输入，完成供给侧快速摸底并确认需求信号。</a:t>
            </a:r>
            <a:endParaRPr lang="en-US" altLang="zh-CN" sz="650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关键输出判断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：输出一份结构化的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“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需求判断分析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”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，包含：是否建议建榜、榜单类型、预估覆盖量级、核心风险点，作为后续步骤的输入依据</a:t>
            </a:r>
          </a:p>
        </p:txBody>
      </p:sp>
      <p:sp>
        <p:nvSpPr>
          <p:cNvPr id="965" name="米菲PPT27">
            <a:extLst>
              <a:ext uri="{FF2B5EF4-FFF2-40B4-BE49-F238E27FC236}">
                <a16:creationId xmlns:a16="http://schemas.microsoft.com/office/drawing/2014/main" id="{E4456F9A-E4E5-8FB5-0ED5-08354D79A99A}"/>
              </a:ext>
            </a:extLst>
          </p:cNvPr>
          <p:cNvSpPr/>
          <p:nvPr/>
        </p:nvSpPr>
        <p:spPr>
          <a:xfrm>
            <a:off x="2482995" y="4059004"/>
            <a:ext cx="1596415" cy="927073"/>
          </a:xfrm>
          <a:prstGeom prst="roundRect">
            <a:avLst>
              <a:gd name="adj" fmla="val 4579"/>
            </a:avLst>
          </a:prstGeom>
          <a:gradFill>
            <a:gsLst>
              <a:gs pos="100000">
                <a:schemeClr val="accent3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accent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66" name="米菲PPT27">
            <a:extLst>
              <a:ext uri="{FF2B5EF4-FFF2-40B4-BE49-F238E27FC236}">
                <a16:creationId xmlns:a16="http://schemas.microsoft.com/office/drawing/2014/main" id="{B10761E5-B7E8-ED36-DC92-E7AC7FDB7DF5}"/>
              </a:ext>
            </a:extLst>
          </p:cNvPr>
          <p:cNvSpPr/>
          <p:nvPr/>
        </p:nvSpPr>
        <p:spPr>
          <a:xfrm>
            <a:off x="4149860" y="4059004"/>
            <a:ext cx="1596415" cy="927073"/>
          </a:xfrm>
          <a:prstGeom prst="roundRect">
            <a:avLst>
              <a:gd name="adj" fmla="val 4579"/>
            </a:avLst>
          </a:prstGeom>
          <a:gradFill>
            <a:gsLst>
              <a:gs pos="100000">
                <a:schemeClr val="accent3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accent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67" name="米菲PPT27">
            <a:extLst>
              <a:ext uri="{FF2B5EF4-FFF2-40B4-BE49-F238E27FC236}">
                <a16:creationId xmlns:a16="http://schemas.microsoft.com/office/drawing/2014/main" id="{9B3E534F-0E34-E3A8-AA5C-41837BD66A48}"/>
              </a:ext>
            </a:extLst>
          </p:cNvPr>
          <p:cNvSpPr/>
          <p:nvPr/>
        </p:nvSpPr>
        <p:spPr>
          <a:xfrm>
            <a:off x="5799075" y="4059003"/>
            <a:ext cx="1596415" cy="927073"/>
          </a:xfrm>
          <a:prstGeom prst="roundRect">
            <a:avLst>
              <a:gd name="adj" fmla="val 4579"/>
            </a:avLst>
          </a:prstGeom>
          <a:gradFill>
            <a:gsLst>
              <a:gs pos="100000">
                <a:schemeClr val="accent3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accent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68" name="米菲PPT27">
            <a:extLst>
              <a:ext uri="{FF2B5EF4-FFF2-40B4-BE49-F238E27FC236}">
                <a16:creationId xmlns:a16="http://schemas.microsoft.com/office/drawing/2014/main" id="{33FABB82-239E-0C59-DE60-919EC0931F6C}"/>
              </a:ext>
            </a:extLst>
          </p:cNvPr>
          <p:cNvSpPr/>
          <p:nvPr/>
        </p:nvSpPr>
        <p:spPr>
          <a:xfrm>
            <a:off x="7448290" y="4061161"/>
            <a:ext cx="1596415" cy="927073"/>
          </a:xfrm>
          <a:prstGeom prst="roundRect">
            <a:avLst>
              <a:gd name="adj" fmla="val 4579"/>
            </a:avLst>
          </a:prstGeom>
          <a:gradFill>
            <a:gsLst>
              <a:gs pos="100000">
                <a:schemeClr val="accent3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200" dirty="0">
              <a:solidFill>
                <a:schemeClr val="accent1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69" name="米菲PPT47">
            <a:extLst>
              <a:ext uri="{FF2B5EF4-FFF2-40B4-BE49-F238E27FC236}">
                <a16:creationId xmlns:a16="http://schemas.microsoft.com/office/drawing/2014/main" id="{2107D02E-EEC8-AA49-8015-60C5E1AAF155}"/>
              </a:ext>
            </a:extLst>
          </p:cNvPr>
          <p:cNvSpPr txBox="1"/>
          <p:nvPr/>
        </p:nvSpPr>
        <p:spPr>
          <a:xfrm>
            <a:off x="2436343" y="4003144"/>
            <a:ext cx="168001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核心指标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：根据一阶段输出的榜单类型，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AI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从提前建设好的指标规则库中选定本次榜单适配指标，同时匹配最接近的基础模板。</a:t>
            </a:r>
            <a:endParaRPr lang="en-US" altLang="zh-CN" sz="650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规则校准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：对目标品类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×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区域的历史数据做相关性分析，检验各指标最终呈现合理性，例如在这一步完成贝叶斯平滑、最大最小归一化等细节权重处理。</a:t>
            </a:r>
          </a:p>
        </p:txBody>
      </p:sp>
      <p:sp>
        <p:nvSpPr>
          <p:cNvPr id="970" name="米菲PPT47">
            <a:extLst>
              <a:ext uri="{FF2B5EF4-FFF2-40B4-BE49-F238E27FC236}">
                <a16:creationId xmlns:a16="http://schemas.microsoft.com/office/drawing/2014/main" id="{9302CFB6-A81D-08F6-0661-B9D1AAC4AC6D}"/>
              </a:ext>
            </a:extLst>
          </p:cNvPr>
          <p:cNvSpPr txBox="1"/>
          <p:nvPr/>
        </p:nvSpPr>
        <p:spPr>
          <a:xfrm>
            <a:off x="4094143" y="4003144"/>
            <a:ext cx="168001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全量模拟跑榜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：用当前规则对目标品类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×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区域的所有门店跑一遍评分，生成完整的模拟榜单（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Top N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），输出每家门店的得分明细和排名，可具象化看到榜单效果。</a:t>
            </a:r>
            <a:endParaRPr lang="en-US" altLang="zh-CN" sz="650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价值预估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：对比模拟榜单和历史上线过的同类榜单数据，自动评估本次榜单价值预估对照，例如回头客榜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VS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人气榜平均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GTV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、流量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UV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、评分、规模分布等。</a:t>
            </a:r>
          </a:p>
        </p:txBody>
      </p:sp>
      <p:sp>
        <p:nvSpPr>
          <p:cNvPr id="971" name="米菲PPT47">
            <a:extLst>
              <a:ext uri="{FF2B5EF4-FFF2-40B4-BE49-F238E27FC236}">
                <a16:creationId xmlns:a16="http://schemas.microsoft.com/office/drawing/2014/main" id="{01881A36-2E70-5A3E-0E29-195EF2D98DDB}"/>
              </a:ext>
            </a:extLst>
          </p:cNvPr>
          <p:cNvSpPr txBox="1"/>
          <p:nvPr/>
        </p:nvSpPr>
        <p:spPr>
          <a:xfrm>
            <a:off x="5759346" y="4007061"/>
            <a:ext cx="1680011" cy="1036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参数敏感性分析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：针对模拟榜单及评估结果不满意，可调参调权，当权重从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0.2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提到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0.5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，榜单前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10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名变动情况，整体排名变化幅度约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15%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、逆序率、重叠率等。</a:t>
            </a:r>
            <a:endParaRPr lang="en-US" altLang="zh-CN" sz="650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迭代版本管理及收敛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：每次调参后，保存版本快照，形成完整的调试历史，当反复调参榜单变化越来越小，提示规则稳定，避免无意义过度调优，准备进入交付。</a:t>
            </a:r>
          </a:p>
        </p:txBody>
      </p:sp>
      <p:sp>
        <p:nvSpPr>
          <p:cNvPr id="972" name="米菲PPT47">
            <a:extLst>
              <a:ext uri="{FF2B5EF4-FFF2-40B4-BE49-F238E27FC236}">
                <a16:creationId xmlns:a16="http://schemas.microsoft.com/office/drawing/2014/main" id="{0DA065DB-6E97-57A4-21A6-4BE3BDC45673}"/>
              </a:ext>
            </a:extLst>
          </p:cNvPr>
          <p:cNvSpPr txBox="1"/>
          <p:nvPr/>
        </p:nvSpPr>
        <p:spPr>
          <a:xfrm>
            <a:off x="7421389" y="4112679"/>
            <a:ext cx="1680011" cy="796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自动发送配置平台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：针对前序已确认完成的待上线版本榜单数据，自动发送至榜单配置平台，开始接口测试。</a:t>
            </a:r>
            <a:endParaRPr lang="en-US" altLang="zh-CN" sz="650" dirty="0">
              <a:latin typeface="+mj-ea"/>
              <a:ea typeface="+mj-ea"/>
              <a:cs typeface="MiSans Medium" panose="00000600000000000000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·</a:t>
            </a:r>
            <a:r>
              <a:rPr lang="zh-CN" altLang="en-US" sz="650" b="1" dirty="0">
                <a:latin typeface="+mj-ea"/>
                <a:ea typeface="+mj-ea"/>
                <a:cs typeface="MiSans Medium" panose="00000600000000000000" pitchFamily="2" charset="-122"/>
              </a:rPr>
              <a:t>测试用例生成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：交付配置平台后，通过后续平台生成</a:t>
            </a:r>
            <a:r>
              <a:rPr lang="en-US" altLang="zh-CN" sz="650" dirty="0">
                <a:latin typeface="+mj-ea"/>
                <a:ea typeface="+mj-ea"/>
                <a:cs typeface="MiSans Medium" panose="00000600000000000000" pitchFamily="2" charset="-122"/>
              </a:rPr>
              <a:t>skill</a:t>
            </a:r>
            <a:r>
              <a:rPr lang="zh-CN" altLang="en-US" sz="650" dirty="0">
                <a:latin typeface="+mj-ea"/>
                <a:ea typeface="+mj-ea"/>
                <a:cs typeface="MiSans Medium" panose="00000600000000000000" pitchFamily="2" charset="-122"/>
              </a:rPr>
              <a:t>，生成测试用例，并进行上线结果验收。</a:t>
            </a:r>
          </a:p>
        </p:txBody>
      </p:sp>
      <p:graphicFrame>
        <p:nvGraphicFramePr>
          <p:cNvPr id="973" name="表格 972">
            <a:extLst>
              <a:ext uri="{FF2B5EF4-FFF2-40B4-BE49-F238E27FC236}">
                <a16:creationId xmlns:a16="http://schemas.microsoft.com/office/drawing/2014/main" id="{23576CD5-7192-5FA8-D75F-1A0474426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614808"/>
              </p:ext>
            </p:extLst>
          </p:nvPr>
        </p:nvGraphicFramePr>
        <p:xfrm>
          <a:off x="-2861119" y="693278"/>
          <a:ext cx="2436147" cy="2112146"/>
        </p:xfrm>
        <a:graphic>
          <a:graphicData uri="http://schemas.openxmlformats.org/drawingml/2006/table">
            <a:tbl>
              <a:tblPr/>
              <a:tblGrid>
                <a:gridCol w="582151">
                  <a:extLst>
                    <a:ext uri="{9D8B030D-6E8A-4147-A177-3AD203B41FA5}">
                      <a16:colId xmlns:a16="http://schemas.microsoft.com/office/drawing/2014/main" val="431460902"/>
                    </a:ext>
                  </a:extLst>
                </a:gridCol>
                <a:gridCol w="488897">
                  <a:extLst>
                    <a:ext uri="{9D8B030D-6E8A-4147-A177-3AD203B41FA5}">
                      <a16:colId xmlns:a16="http://schemas.microsoft.com/office/drawing/2014/main" val="1618764127"/>
                    </a:ext>
                  </a:extLst>
                </a:gridCol>
                <a:gridCol w="608626">
                  <a:extLst>
                    <a:ext uri="{9D8B030D-6E8A-4147-A177-3AD203B41FA5}">
                      <a16:colId xmlns:a16="http://schemas.microsoft.com/office/drawing/2014/main" val="1310017515"/>
                    </a:ext>
                  </a:extLst>
                </a:gridCol>
                <a:gridCol w="756473">
                  <a:extLst>
                    <a:ext uri="{9D8B030D-6E8A-4147-A177-3AD203B41FA5}">
                      <a16:colId xmlns:a16="http://schemas.microsoft.com/office/drawing/2014/main" val="2686154303"/>
                    </a:ext>
                  </a:extLst>
                </a:gridCol>
              </a:tblGrid>
              <a:tr h="140192"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对比维度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人气榜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好评榜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ctr"/>
                      <a:r>
                        <a:rPr lang="zh-CN" altLang="en-US" sz="700" b="1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回头客榜（新）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614898"/>
                  </a:ext>
                </a:extLst>
              </a:tr>
              <a:tr h="2671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核心数据逻辑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上周核销量总和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星级 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+ 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好评数综合值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复购规模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+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复购质量 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+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复购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GTV</a:t>
                      </a:r>
                      <a:endParaRPr lang="zh-CN" altLang="en-US" sz="700" dirty="0">
                        <a:solidFill>
                          <a:srgbClr val="0D0D0D"/>
                        </a:solidFill>
                        <a:effectLst/>
                        <a:latin typeface="+mj-lt"/>
                        <a:ea typeface="+mj-ea"/>
                      </a:endParaRP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673429"/>
                  </a:ext>
                </a:extLst>
              </a:tr>
              <a:tr h="2671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有利于哪类门店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大体量、高单量门店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运营能力强、有较强认知的门店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本地高频、用户粘性强的门店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569229"/>
                  </a:ext>
                </a:extLst>
              </a:tr>
              <a:tr h="2671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抗刷单能力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弱（核销量可刷）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弱（好评可刷）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较强（复购链条难，加权分相对综合，批量伪造有难度）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12086"/>
                  </a:ext>
                </a:extLst>
              </a:tr>
              <a:tr h="2671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对中小好店挖掘程度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低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中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较高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600088"/>
                  </a:ext>
                </a:extLst>
              </a:tr>
              <a:tr h="2671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用户决策参考价值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适合找热门流量店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适合找口碑好评店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跟着用户吃，适合找日常用户忠实认可的老店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176940"/>
                  </a:ext>
                </a:extLst>
              </a:tr>
              <a:tr h="267157"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数据统计周期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上上周日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-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上周六（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7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天）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上上周日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-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上周六（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7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天）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ctr"/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近</a:t>
                      </a:r>
                      <a:r>
                        <a:rPr lang="en-US" altLang="zh-CN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90</a:t>
                      </a:r>
                      <a:r>
                        <a:rPr lang="zh-CN" altLang="en-US" sz="700" dirty="0">
                          <a:solidFill>
                            <a:srgbClr val="0D0D0D"/>
                          </a:solidFill>
                          <a:effectLst/>
                          <a:latin typeface="+mj-lt"/>
                          <a:ea typeface="+mj-ea"/>
                        </a:rPr>
                        <a:t>天滚动窗口</a:t>
                      </a:r>
                    </a:p>
                  </a:txBody>
                  <a:tcPr marL="50800" marR="50800" marT="6350" marB="635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342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2640-3262-7A34-7BE4-17CFA34D9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米菲PPT1">
            <a:extLst>
              <a:ext uri="{FF2B5EF4-FFF2-40B4-BE49-F238E27FC236}">
                <a16:creationId xmlns:a16="http://schemas.microsoft.com/office/drawing/2014/main" id="{B89DCA26-F7A8-4D50-B3A6-76394F3347BF}"/>
              </a:ext>
            </a:extLst>
          </p:cNvPr>
          <p:cNvSpPr/>
          <p:nvPr/>
        </p:nvSpPr>
        <p:spPr>
          <a:xfrm>
            <a:off x="3146866" y="771828"/>
            <a:ext cx="2865134" cy="2274168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105" name="Text 5">
            <a:extLst>
              <a:ext uri="{FF2B5EF4-FFF2-40B4-BE49-F238E27FC236}">
                <a16:creationId xmlns:a16="http://schemas.microsoft.com/office/drawing/2014/main" id="{8579F11B-EBF9-4FE4-895A-8BAD1FA58250}"/>
              </a:ext>
            </a:extLst>
          </p:cNvPr>
          <p:cNvSpPr/>
          <p:nvPr/>
        </p:nvSpPr>
        <p:spPr>
          <a:xfrm>
            <a:off x="9261935" y="2659356"/>
            <a:ext cx="181507" cy="684208"/>
          </a:xfrm>
          <a:prstGeom prst="roundRect">
            <a:avLst>
              <a:gd name="adj" fmla="val 32020"/>
            </a:avLst>
          </a:prstGeom>
          <a:solidFill>
            <a:schemeClr val="accent2"/>
          </a:solidFill>
          <a:ln/>
        </p:spPr>
        <p:txBody>
          <a:bodyPr vert="eaVert"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规则说明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84BDACD0-C6D0-6AF7-6D93-3FC26CFC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6" y="40618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美团指数榜</a:t>
            </a:r>
            <a:r>
              <a:rPr lang="en-US" altLang="zh-CN" sz="2100" dirty="0"/>
              <a:t>-</a:t>
            </a:r>
            <a:r>
              <a:rPr lang="zh-CN" altLang="en-US" sz="2100" dirty="0"/>
              <a:t>回头客榜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（先</a:t>
            </a:r>
            <a:r>
              <a:rPr lang="en-US" altLang="zh-CN" sz="2100" dirty="0">
                <a:solidFill>
                  <a:srgbClr val="FF0000"/>
                </a:solidFill>
                <a:latin typeface="+mj-ea"/>
              </a:rPr>
              <a:t>pend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，等前面</a:t>
            </a:r>
            <a:r>
              <a:rPr lang="en-US" altLang="zh-CN" sz="2100" dirty="0" err="1">
                <a:solidFill>
                  <a:srgbClr val="FF0000"/>
                </a:solidFill>
                <a:latin typeface="+mj-ea"/>
              </a:rPr>
              <a:t>chuachua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合并后一起看）</a:t>
            </a:r>
            <a:r>
              <a:rPr lang="zh-CN" altLang="en-US" sz="2100" dirty="0"/>
              <a:t>     </a:t>
            </a:r>
          </a:p>
        </p:txBody>
      </p:sp>
      <p:sp>
        <p:nvSpPr>
          <p:cNvPr id="958" name="米菲PPT13">
            <a:extLst>
              <a:ext uri="{FF2B5EF4-FFF2-40B4-BE49-F238E27FC236}">
                <a16:creationId xmlns:a16="http://schemas.microsoft.com/office/drawing/2014/main" id="{C025B9E2-9DBE-459A-ADBA-8918DE05E9CB}"/>
              </a:ext>
            </a:extLst>
          </p:cNvPr>
          <p:cNvSpPr/>
          <p:nvPr/>
        </p:nvSpPr>
        <p:spPr>
          <a:xfrm>
            <a:off x="155053" y="467683"/>
            <a:ext cx="2880000" cy="243197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背景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&amp;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价值</a:t>
            </a:r>
          </a:p>
        </p:txBody>
      </p:sp>
      <p:sp>
        <p:nvSpPr>
          <p:cNvPr id="961" name="米菲PPT13">
            <a:extLst>
              <a:ext uri="{FF2B5EF4-FFF2-40B4-BE49-F238E27FC236}">
                <a16:creationId xmlns:a16="http://schemas.microsoft.com/office/drawing/2014/main" id="{019BBE52-9EC8-4691-8072-10F11C0263E9}"/>
              </a:ext>
            </a:extLst>
          </p:cNvPr>
          <p:cNvSpPr/>
          <p:nvPr/>
        </p:nvSpPr>
        <p:spPr>
          <a:xfrm>
            <a:off x="3132000" y="471577"/>
            <a:ext cx="2880000" cy="239304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榜单规则</a:t>
            </a:r>
            <a:r>
              <a:rPr lang="en-US" altLang="zh-CN" sz="11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&amp;</a:t>
            </a:r>
            <a:r>
              <a:rPr lang="zh-CN" altLang="en-US" sz="11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优势</a:t>
            </a:r>
          </a:p>
        </p:txBody>
      </p:sp>
      <p:sp>
        <p:nvSpPr>
          <p:cNvPr id="962" name="米菲PPT1">
            <a:extLst>
              <a:ext uri="{FF2B5EF4-FFF2-40B4-BE49-F238E27FC236}">
                <a16:creationId xmlns:a16="http://schemas.microsoft.com/office/drawing/2014/main" id="{81B9CA48-0BC3-4F9D-B433-B8B498A587E9}"/>
              </a:ext>
            </a:extLst>
          </p:cNvPr>
          <p:cNvSpPr/>
          <p:nvPr/>
        </p:nvSpPr>
        <p:spPr>
          <a:xfrm>
            <a:off x="170895" y="771831"/>
            <a:ext cx="2853682" cy="2274171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945" dirty="0">
              <a:solidFill>
                <a:srgbClr val="FFFFFF"/>
              </a:solidFill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66" name="米菲PPT62-7">
            <a:extLst>
              <a:ext uri="{FF2B5EF4-FFF2-40B4-BE49-F238E27FC236}">
                <a16:creationId xmlns:a16="http://schemas.microsoft.com/office/drawing/2014/main" id="{94FAFDCA-5DB0-4FB1-9CF5-2BE696575E3B}"/>
              </a:ext>
            </a:extLst>
          </p:cNvPr>
          <p:cNvSpPr txBox="1"/>
          <p:nvPr/>
        </p:nvSpPr>
        <p:spPr>
          <a:xfrm>
            <a:off x="-2841039" y="771832"/>
            <a:ext cx="24516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kern="0" dirty="0">
                <a:latin typeface="+mj-ea"/>
                <a:ea typeface="+mj-ea"/>
                <a:cs typeface="MiSans Medium" panose="00000600000000000000" pitchFamily="2" charset="-122"/>
                <a:sym typeface="MiSans Medium" panose="00000600000000000000" pitchFamily="2" charset="-122"/>
              </a:rPr>
              <a:t>美团指数榜当前现状 </a:t>
            </a:r>
            <a:r>
              <a:rPr lang="en-US" altLang="zh-CN" sz="800" kern="0" dirty="0">
                <a:latin typeface="+mj-ea"/>
                <a:ea typeface="+mj-ea"/>
                <a:cs typeface="MiSans Medium" panose="00000600000000000000" pitchFamily="2" charset="-122"/>
                <a:sym typeface="MiSans Medium" panose="00000600000000000000" pitchFamily="2" charset="-122"/>
              </a:rPr>
              <a:t>VS</a:t>
            </a:r>
            <a:r>
              <a:rPr lang="zh-CN" altLang="en-US" sz="800" kern="0" dirty="0">
                <a:latin typeface="+mj-ea"/>
                <a:ea typeface="+mj-ea"/>
                <a:cs typeface="MiSans Medium" panose="00000600000000000000" pitchFamily="2" charset="-122"/>
                <a:sym typeface="MiSans Medium" panose="00000600000000000000" pitchFamily="2" charset="-122"/>
              </a:rPr>
              <a:t> 点评指数榜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MiSans Medium" panose="00000600000000000000" pitchFamily="2" charset="-122"/>
              <a:sym typeface="MiSans Medium" panose="00000600000000000000" pitchFamily="2" charset="-122"/>
            </a:endParaRPr>
          </a:p>
        </p:txBody>
      </p:sp>
      <p:graphicFrame>
        <p:nvGraphicFramePr>
          <p:cNvPr id="967" name="表格 966">
            <a:extLst>
              <a:ext uri="{FF2B5EF4-FFF2-40B4-BE49-F238E27FC236}">
                <a16:creationId xmlns:a16="http://schemas.microsoft.com/office/drawing/2014/main" id="{4697D017-6CFA-49D8-A70E-717F7A994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587456"/>
              </p:ext>
            </p:extLst>
          </p:nvPr>
        </p:nvGraphicFramePr>
        <p:xfrm>
          <a:off x="-2751488" y="964621"/>
          <a:ext cx="2491694" cy="2564690"/>
        </p:xfrm>
        <a:graphic>
          <a:graphicData uri="http://schemas.openxmlformats.org/drawingml/2006/table">
            <a:tbl>
              <a:tblPr/>
              <a:tblGrid>
                <a:gridCol w="364638">
                  <a:extLst>
                    <a:ext uri="{9D8B030D-6E8A-4147-A177-3AD203B41FA5}">
                      <a16:colId xmlns:a16="http://schemas.microsoft.com/office/drawing/2014/main" val="26452913"/>
                    </a:ext>
                  </a:extLst>
                </a:gridCol>
                <a:gridCol w="962471">
                  <a:extLst>
                    <a:ext uri="{9D8B030D-6E8A-4147-A177-3AD203B41FA5}">
                      <a16:colId xmlns:a16="http://schemas.microsoft.com/office/drawing/2014/main" val="367590243"/>
                    </a:ext>
                  </a:extLst>
                </a:gridCol>
                <a:gridCol w="1164585">
                  <a:extLst>
                    <a:ext uri="{9D8B030D-6E8A-4147-A177-3AD203B41FA5}">
                      <a16:colId xmlns:a16="http://schemas.microsoft.com/office/drawing/2014/main" val="160153952"/>
                    </a:ext>
                  </a:extLst>
                </a:gridCol>
              </a:tblGrid>
              <a:tr h="302334"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700" b="1" dirty="0">
                          <a:effectLst/>
                        </a:rPr>
                        <a:t>指数榜</a:t>
                      </a:r>
                      <a:endParaRPr lang="zh-CN" altLang="en-US" sz="700" dirty="0">
                        <a:effectLst/>
                      </a:endParaRP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700" b="1" dirty="0">
                          <a:effectLst/>
                        </a:rPr>
                        <a:t>入选门槛</a:t>
                      </a:r>
                      <a:endParaRPr lang="zh-CN" altLang="en-US" sz="700" dirty="0">
                        <a:effectLst/>
                      </a:endParaRP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700" b="1" dirty="0">
                          <a:effectLst/>
                        </a:rPr>
                        <a:t>排序规则</a:t>
                      </a:r>
                      <a:endParaRPr lang="zh-CN" altLang="en-US" sz="700" dirty="0">
                        <a:effectLst/>
                      </a:endParaRP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6252059"/>
                  </a:ext>
                </a:extLst>
              </a:tr>
              <a:tr h="44897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dirty="0">
                          <a:effectLst/>
                        </a:rPr>
                        <a:t>人气榜</a:t>
                      </a:r>
                      <a:endParaRPr lang="zh-CN" altLang="en-US" sz="700" dirty="0">
                        <a:effectLst/>
                      </a:endParaRP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美团星级 ≥ 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effectLst/>
                        </a:rPr>
                        <a:t>3 </a:t>
                      </a:r>
                    </a:p>
                    <a:p>
                      <a:pPr marL="0" marR="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门店在线：门店在上一周榜单统计时间内处于营业中，未有停业歇业等行为 </a:t>
                      </a:r>
                    </a:p>
                    <a:p>
                      <a:pPr marL="0" marR="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门店周核销量 ≥ 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根据商户</a:t>
                      </a:r>
                      <a:r>
                        <a:rPr lang="zh-CN" altLang="en-US" sz="700" b="1" dirty="0">
                          <a:solidFill>
                            <a:srgbClr val="FF0000"/>
                          </a:solidFill>
                          <a:effectLst/>
                        </a:rPr>
                        <a:t>上周核销量</a:t>
                      </a:r>
                      <a:r>
                        <a:rPr lang="zh-CN" altLang="en-US" sz="700" dirty="0">
                          <a:effectLst/>
                        </a:rPr>
                        <a:t>总和进行排序</a:t>
                      </a: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361921"/>
                  </a:ext>
                </a:extLst>
              </a:tr>
              <a:tr h="44897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1" dirty="0">
                          <a:effectLst/>
                        </a:rPr>
                        <a:t>好评榜</a:t>
                      </a:r>
                      <a:endParaRPr lang="zh-CN" altLang="en-US" sz="700" dirty="0">
                        <a:effectLst/>
                      </a:endParaRP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美团星级 ≥ 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  <a:p>
                      <a:pPr marL="0" marR="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门店在线：门店在上一周榜单统计时间内处于营业中，未有停业歇业等行为 </a:t>
                      </a:r>
                    </a:p>
                    <a:p>
                      <a:pPr marL="0" marR="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门店评价数：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天内有字过审评论数，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effectLst/>
                        </a:rPr>
                        <a:t>mt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侧≥ 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条，存量评论双侧总和≥ 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effectLst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effectLst/>
                        </a:rPr>
                        <a:t>条</a:t>
                      </a: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effectLst/>
                        </a:rPr>
                        <a:t>根据商户</a:t>
                      </a:r>
                      <a:r>
                        <a:rPr lang="zh-CN" altLang="en-US" sz="700" b="1" dirty="0">
                          <a:solidFill>
                            <a:srgbClr val="FF0000"/>
                          </a:solidFill>
                          <a:effectLst/>
                        </a:rPr>
                        <a:t>上周星级及好评数量</a:t>
                      </a:r>
                      <a:r>
                        <a:rPr lang="zh-CN" altLang="en-US" sz="700" dirty="0">
                          <a:effectLst/>
                        </a:rPr>
                        <a:t>计算综合好评值进行排序</a:t>
                      </a: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27082"/>
                  </a:ext>
                </a:extLst>
              </a:tr>
              <a:tr h="187907">
                <a:tc>
                  <a:txBody>
                    <a:bodyPr/>
                    <a:lstStyle/>
                    <a:p>
                      <a:pPr marL="0" marR="0"/>
                      <a:r>
                        <a:rPr lang="zh-CN" altLang="en-US" sz="700" b="1" dirty="0">
                          <a:effectLst/>
                        </a:rPr>
                        <a:t>回头客榜（点评）</a:t>
                      </a: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lang="zh-CN" altLang="en-US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星级≥</a:t>
                      </a:r>
                      <a:r>
                        <a:rPr lang="en-US" altLang="zh-CN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  <a:r>
                        <a:rPr lang="zh-CN" altLang="en-US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星，评价数≥</a:t>
                      </a:r>
                      <a:r>
                        <a:rPr lang="en-US" altLang="zh-CN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r>
                        <a:rPr lang="zh-CN" altLang="en-US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条（中高线）</a:t>
                      </a:r>
                      <a:endParaRPr lang="en-US" altLang="zh-CN" sz="7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lang="zh-CN" altLang="en-US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有真实消费（团购</a:t>
                      </a:r>
                      <a:r>
                        <a:rPr lang="en-US" altLang="zh-CN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代金券</a:t>
                      </a:r>
                      <a:r>
                        <a:rPr lang="en-US" altLang="zh-CN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买单等任一）</a:t>
                      </a:r>
                    </a:p>
                    <a:p>
                      <a:pPr marL="0" marR="0" lvl="0" indent="0" algn="l" defTabSz="685800" rtl="0" eaLnBrk="1" latinLnBrk="0" hangingPunct="1">
                        <a:spcAft>
                          <a:spcPts val="400"/>
                        </a:spcAft>
                        <a:buFont typeface="Arial" panose="020B0604020202020204" pitchFamily="34" charset="0"/>
                        <a:buNone/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lang="zh-CN" altLang="en-US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近</a:t>
                      </a:r>
                      <a:r>
                        <a:rPr lang="en-US" altLang="zh-CN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zh-CN" altLang="en-US" sz="7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天有新增评价</a:t>
                      </a:r>
                    </a:p>
                  </a:txBody>
                  <a:tcPr marL="36208" marR="36208" marT="4526" marB="4526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回头客指数主要依据商户在点评平台近</a:t>
                      </a:r>
                      <a:r>
                        <a:rPr lang="en-US" altLang="zh-CN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zh-CN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天</a:t>
                      </a:r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的 </a:t>
                      </a:r>
                      <a:r>
                        <a:rPr lang="zh-CN" altLang="en-US" sz="7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回头客人数</a:t>
                      </a:r>
                      <a:r>
                        <a:rPr lang="zh-CN" altLang="en-US" sz="7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和 </a:t>
                      </a:r>
                      <a:r>
                        <a:rPr lang="zh-CN" altLang="en-US" sz="7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回头客销售额 </a:t>
                      </a:r>
                      <a:r>
                        <a:rPr lang="zh-CN" altLang="en-US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进行综合排序</a:t>
                      </a:r>
                    </a:p>
                  </a:txBody>
                  <a:tcPr marL="36208" marR="36208" marT="4526" marB="452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038820"/>
                  </a:ext>
                </a:extLst>
              </a:tr>
            </a:tbl>
          </a:graphicData>
        </a:graphic>
      </p:graphicFrame>
      <p:sp>
        <p:nvSpPr>
          <p:cNvPr id="969" name="米菲PPT62-7">
            <a:extLst>
              <a:ext uri="{FF2B5EF4-FFF2-40B4-BE49-F238E27FC236}">
                <a16:creationId xmlns:a16="http://schemas.microsoft.com/office/drawing/2014/main" id="{EA759418-36F8-4A8F-8EA0-DD8FF410DEFC}"/>
              </a:ext>
            </a:extLst>
          </p:cNvPr>
          <p:cNvSpPr txBox="1"/>
          <p:nvPr/>
        </p:nvSpPr>
        <p:spPr>
          <a:xfrm>
            <a:off x="168891" y="833496"/>
            <a:ext cx="2911047" cy="51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defRPr/>
            </a:pPr>
            <a:r>
              <a:rPr lang="zh-CN" altLang="en-US" sz="1000" kern="0" dirty="0">
                <a:latin typeface="+mj-ea"/>
                <a:ea typeface="+mj-ea"/>
                <a:cs typeface="MiSans Medium" panose="00000600000000000000" pitchFamily="2" charset="-122"/>
                <a:sym typeface="MiSans Medium" panose="00000600000000000000" pitchFamily="2" charset="-122"/>
              </a:rPr>
              <a:t>美团指数榜现存问题：</a:t>
            </a:r>
            <a:endParaRPr lang="en-US" altLang="zh-CN" sz="1000" kern="0" dirty="0">
              <a:latin typeface="+mj-ea"/>
              <a:ea typeface="+mj-ea"/>
              <a:cs typeface="MiSans Medium" panose="00000600000000000000" pitchFamily="2" charset="-122"/>
              <a:sym typeface="MiSans Medium" panose="00000600000000000000" pitchFamily="2" charset="-122"/>
            </a:endParaRPr>
          </a:p>
          <a:p>
            <a:pPr lvl="0" defTabSz="457200">
              <a:lnSpc>
                <a:spcPct val="150000"/>
              </a:lnSpc>
              <a:defRPr/>
            </a:pPr>
            <a:r>
              <a:rPr lang="en-US" altLang="zh-CN" sz="1000" kern="0" dirty="0">
                <a:latin typeface="+mj-ea"/>
                <a:ea typeface="+mj-ea"/>
                <a:sym typeface="MiSans Bold" panose="00000800000000000000" pitchFamily="2" charset="-122"/>
              </a:rPr>
              <a:t>①</a:t>
            </a:r>
            <a:r>
              <a:rPr lang="zh-CN" altLang="en-US" sz="1000" kern="0" dirty="0">
                <a:latin typeface="+mj-ea"/>
                <a:ea typeface="+mj-ea"/>
                <a:sym typeface="MiSans Bold" panose="00000800000000000000" pitchFamily="2" charset="-122"/>
              </a:rPr>
              <a:t>榜单指标单一 </a:t>
            </a:r>
            <a:r>
              <a:rPr lang="en-US" altLang="zh-CN" sz="1000" kern="0" dirty="0">
                <a:latin typeface="+mj-ea"/>
                <a:ea typeface="+mj-ea"/>
                <a:sym typeface="MiSans Bold" panose="00000800000000000000" pitchFamily="2" charset="-122"/>
              </a:rPr>
              <a:t>②</a:t>
            </a:r>
            <a:r>
              <a:rPr lang="zh-CN" altLang="en-US" sz="1000" kern="0" dirty="0">
                <a:latin typeface="+mj-ea"/>
                <a:ea typeface="+mj-ea"/>
                <a:sym typeface="MiSans Bold" panose="00000800000000000000" pitchFamily="2" charset="-122"/>
              </a:rPr>
              <a:t>公信力弱 </a:t>
            </a:r>
            <a:r>
              <a:rPr lang="en-US" altLang="zh-CN" sz="1000" kern="0" dirty="0">
                <a:latin typeface="+mj-ea"/>
                <a:ea typeface="+mj-ea"/>
                <a:sym typeface="MiSans Bold" panose="00000800000000000000" pitchFamily="2" charset="-122"/>
              </a:rPr>
              <a:t>③</a:t>
            </a:r>
            <a:r>
              <a:rPr lang="zh-CN" altLang="en-US" sz="1000" kern="0" dirty="0">
                <a:latin typeface="+mj-ea"/>
                <a:ea typeface="+mj-ea"/>
                <a:sym typeface="MiSans Bold" panose="00000800000000000000" pitchFamily="2" charset="-122"/>
              </a:rPr>
              <a:t>好店发掘不足</a:t>
            </a:r>
            <a:endParaRPr lang="zh-CN" altLang="en-US" sz="1000" kern="0" dirty="0">
              <a:latin typeface="+mj-ea"/>
              <a:ea typeface="+mj-ea"/>
              <a:sym typeface="MiSans Medium" panose="00000600000000000000" pitchFamily="2" charset="-122"/>
            </a:endParaRPr>
          </a:p>
        </p:txBody>
      </p:sp>
      <p:sp>
        <p:nvSpPr>
          <p:cNvPr id="1100" name="Text 7">
            <a:extLst>
              <a:ext uri="{FF2B5EF4-FFF2-40B4-BE49-F238E27FC236}">
                <a16:creationId xmlns:a16="http://schemas.microsoft.com/office/drawing/2014/main" id="{5A894CD9-24D5-4C5F-9DA4-1E258D149C7A}"/>
              </a:ext>
            </a:extLst>
          </p:cNvPr>
          <p:cNvSpPr/>
          <p:nvPr/>
        </p:nvSpPr>
        <p:spPr>
          <a:xfrm>
            <a:off x="9481405" y="2444892"/>
            <a:ext cx="3087749" cy="1032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defRPr/>
            </a:pP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·时间窗口：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近90天滚动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，覆盖多品类复购周期</a:t>
            </a:r>
            <a:endParaRPr lang="en-US" altLang="zh-CN" sz="900" dirty="0">
              <a:solidFill>
                <a:srgbClr val="444444"/>
              </a:solidFill>
              <a:latin typeface="+mj-ea"/>
              <a:cs typeface="Arial" pitchFamily="34" charset="-120"/>
            </a:endParaRPr>
          </a:p>
          <a:p>
            <a:pPr>
              <a:spcAft>
                <a:spcPts val="500"/>
              </a:spcAft>
              <a:defRPr/>
            </a:pP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·</a:t>
            </a:r>
            <a:r>
              <a:rPr lang="zh-CN" altLang="en-US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防假复购</a:t>
            </a: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：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以核销为准，同店内两笔核销订单间隔≥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3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小时</a:t>
            </a:r>
            <a:endParaRPr lang="en-US" altLang="zh-CN" sz="900" dirty="0">
              <a:solidFill>
                <a:srgbClr val="444444"/>
              </a:solidFill>
              <a:latin typeface="+mj-ea"/>
              <a:cs typeface="Arial" pitchFamily="34" charset="-120"/>
            </a:endParaRPr>
          </a:p>
          <a:p>
            <a:pPr>
              <a:spcAft>
                <a:spcPts val="500"/>
              </a:spcAft>
              <a:defRPr/>
            </a:pP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·</a:t>
            </a:r>
            <a:r>
              <a:rPr lang="zh-CN" altLang="en-US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双侧数据</a:t>
            </a: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：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美团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+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点评双平台数据融合计算</a:t>
            </a:r>
            <a:endParaRPr lang="en-US" altLang="zh-CN" sz="900" dirty="0">
              <a:solidFill>
                <a:srgbClr val="444444"/>
              </a:solidFill>
              <a:latin typeface="+mj-ea"/>
              <a:cs typeface="Arial" pitchFamily="34" charset="-120"/>
            </a:endParaRPr>
          </a:p>
          <a:p>
            <a:pPr>
              <a:spcAft>
                <a:spcPts val="500"/>
              </a:spcAft>
              <a:defRPr/>
            </a:pP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·</a:t>
            </a:r>
            <a:r>
              <a:rPr lang="zh-CN" altLang="en-US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交易范围</a:t>
            </a: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：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套代买、一键买单、智能点餐、在线点</a:t>
            </a:r>
            <a:endParaRPr lang="en-US" altLang="zh-CN" sz="900" dirty="0">
              <a:solidFill>
                <a:prstClr val="black"/>
              </a:solidFill>
              <a:latin typeface="+mj-ea"/>
            </a:endParaRPr>
          </a:p>
          <a:p>
            <a:pPr>
              <a:spcAft>
                <a:spcPts val="500"/>
              </a:spcAft>
              <a:defRPr/>
            </a:pP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·</a:t>
            </a:r>
            <a:r>
              <a:rPr lang="zh-CN" altLang="en-US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连锁降权</a:t>
            </a: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：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连锁品牌用户认知度高，榜单中对用户帮助较低</a:t>
            </a:r>
            <a:endParaRPr lang="en-US" altLang="zh-CN" sz="900" dirty="0">
              <a:solidFill>
                <a:prstClr val="black"/>
              </a:solidFill>
              <a:latin typeface="+mj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12" name="Text 5">
            <a:extLst>
              <a:ext uri="{FF2B5EF4-FFF2-40B4-BE49-F238E27FC236}">
                <a16:creationId xmlns:a16="http://schemas.microsoft.com/office/drawing/2014/main" id="{33B9FD02-0389-4E2E-A2E1-5514EEEA560E}"/>
              </a:ext>
            </a:extLst>
          </p:cNvPr>
          <p:cNvSpPr/>
          <p:nvPr/>
        </p:nvSpPr>
        <p:spPr>
          <a:xfrm>
            <a:off x="9270180" y="3601596"/>
            <a:ext cx="181507" cy="697597"/>
          </a:xfrm>
          <a:prstGeom prst="roundRect">
            <a:avLst>
              <a:gd name="adj" fmla="val 32020"/>
            </a:avLst>
          </a:prstGeom>
          <a:solidFill>
            <a:schemeClr val="accent2"/>
          </a:solidFill>
          <a:ln/>
        </p:spPr>
        <p:txBody>
          <a:bodyPr vert="eaVert"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排序逻辑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14" name="Text 7">
            <a:extLst>
              <a:ext uri="{FF2B5EF4-FFF2-40B4-BE49-F238E27FC236}">
                <a16:creationId xmlns:a16="http://schemas.microsoft.com/office/drawing/2014/main" id="{33DA076F-6C06-42C9-8C39-A9737D9D208E}"/>
              </a:ext>
            </a:extLst>
          </p:cNvPr>
          <p:cNvSpPr/>
          <p:nvPr/>
        </p:nvSpPr>
        <p:spPr>
          <a:xfrm>
            <a:off x="9555533" y="3601428"/>
            <a:ext cx="2975165" cy="61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itchFamily="34" charset="-120"/>
              </a:rPr>
              <a:t>复购规模 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itchFamily="34" charset="-120"/>
              </a:rPr>
              <a:t>· 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itchFamily="34" charset="-120"/>
              </a:rPr>
              <a:t>复购粘性 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itchFamily="34" charset="-120"/>
              </a:rPr>
              <a:t>· 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itchFamily="34" charset="-120"/>
              </a:rPr>
              <a:t>复购价值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itchFamily="34" charset="-120"/>
            </a:endParaRPr>
          </a:p>
          <a:p>
            <a:pPr>
              <a:spcAft>
                <a:spcPts val="500"/>
              </a:spcAft>
              <a:defRPr/>
            </a:pP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·</a:t>
            </a:r>
            <a:r>
              <a:rPr lang="zh-CN" altLang="en-US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规模</a:t>
            </a: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：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周期内达成核销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2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次以上的复购用户总规模</a:t>
            </a:r>
            <a:endParaRPr lang="en-US" altLang="zh-CN" sz="900" dirty="0">
              <a:solidFill>
                <a:srgbClr val="444444"/>
              </a:solidFill>
              <a:latin typeface="+mj-ea"/>
              <a:cs typeface="Arial" pitchFamily="34" charset="-120"/>
            </a:endParaRPr>
          </a:p>
          <a:p>
            <a:pPr>
              <a:spcAft>
                <a:spcPts val="500"/>
              </a:spcAft>
              <a:defRPr/>
            </a:pP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·</a:t>
            </a:r>
            <a:r>
              <a:rPr lang="zh-CN" altLang="en-US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粘性</a:t>
            </a: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：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周期内复购用户粘性分层：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2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次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/3-5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次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/5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次以上</a:t>
            </a:r>
            <a:endParaRPr lang="en-US" altLang="zh-CN" sz="900" dirty="0">
              <a:solidFill>
                <a:srgbClr val="444444"/>
              </a:solidFill>
              <a:latin typeface="+mj-ea"/>
              <a:cs typeface="Arial" pitchFamily="34" charset="-120"/>
            </a:endParaRPr>
          </a:p>
          <a:p>
            <a:pPr>
              <a:spcAft>
                <a:spcPts val="500"/>
              </a:spcAft>
              <a:defRPr/>
            </a:pP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·</a:t>
            </a:r>
            <a:r>
              <a:rPr lang="zh-CN" altLang="en-US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价值</a:t>
            </a:r>
            <a:r>
              <a:rPr lang="en-US" altLang="zh-CN" sz="900" b="1" dirty="0">
                <a:solidFill>
                  <a:srgbClr val="444444"/>
                </a:solidFill>
                <a:latin typeface="+mj-ea"/>
                <a:cs typeface="Arial" pitchFamily="34" charset="-120"/>
              </a:rPr>
              <a:t>：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周期内复购核销门店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GTV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总值</a:t>
            </a:r>
            <a:endParaRPr lang="en-US" altLang="zh-CN" sz="900" dirty="0">
              <a:solidFill>
                <a:prstClr val="black"/>
              </a:solidFill>
              <a:latin typeface="+mj-ea"/>
            </a:endParaRPr>
          </a:p>
          <a:p>
            <a:pPr>
              <a:spcAft>
                <a:spcPts val="500"/>
              </a:spcAft>
              <a:defRPr/>
            </a:pPr>
            <a:endParaRPr lang="en-US" altLang="zh-CN" sz="900" dirty="0">
              <a:solidFill>
                <a:prstClr val="black"/>
              </a:solidFill>
              <a:latin typeface="+mj-ea"/>
            </a:endParaRPr>
          </a:p>
          <a:p>
            <a:pPr>
              <a:spcAft>
                <a:spcPts val="500"/>
              </a:spcAft>
              <a:defRPr/>
            </a:pPr>
            <a:endParaRPr lang="en-US" altLang="zh-CN" sz="900" dirty="0">
              <a:solidFill>
                <a:prstClr val="black"/>
              </a:solidFill>
              <a:latin typeface="+mj-ea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1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itchFamily="34" charset="-120"/>
            </a:endParaRPr>
          </a:p>
        </p:txBody>
      </p:sp>
      <p:sp>
        <p:nvSpPr>
          <p:cNvPr id="1121" name="米菲PPT62-7">
            <a:extLst>
              <a:ext uri="{FF2B5EF4-FFF2-40B4-BE49-F238E27FC236}">
                <a16:creationId xmlns:a16="http://schemas.microsoft.com/office/drawing/2014/main" id="{0B72017E-A2DF-46F1-87B0-BCD6A51B56BB}"/>
              </a:ext>
            </a:extLst>
          </p:cNvPr>
          <p:cNvSpPr txBox="1"/>
          <p:nvPr/>
        </p:nvSpPr>
        <p:spPr>
          <a:xfrm>
            <a:off x="3213257" y="740459"/>
            <a:ext cx="271748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000" b="1" i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综合评分</a:t>
            </a:r>
            <a:r>
              <a:rPr lang="zh-CN" altLang="en-US" sz="1000" b="1" i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1000" b="1" i="1" dirty="0">
                <a:solidFill>
                  <a:srgbClr val="C00000"/>
                </a:solidFill>
                <a:latin typeface="+mj-ea"/>
                <a:ea typeface="+mj-ea"/>
                <a:cs typeface="Arial" pitchFamily="34" charset="-120"/>
              </a:rPr>
              <a:t>=</a:t>
            </a:r>
            <a:r>
              <a:rPr lang="zh-CN" altLang="en-US" sz="1000" b="1" i="1" dirty="0">
                <a:solidFill>
                  <a:srgbClr val="C00000"/>
                </a:solidFill>
                <a:latin typeface="+mj-ea"/>
                <a:ea typeface="+mj-ea"/>
                <a:cs typeface="Arial" pitchFamily="34" charset="-120"/>
              </a:rPr>
              <a:t>复购人数归一化</a:t>
            </a:r>
            <a:r>
              <a:rPr lang="en-US" altLang="zh-CN" sz="1000" b="1" i="1" dirty="0">
                <a:solidFill>
                  <a:srgbClr val="C00000"/>
                </a:solidFill>
                <a:latin typeface="+mj-ea"/>
                <a:cs typeface="Arial" pitchFamily="34" charset="-120"/>
              </a:rPr>
              <a:t>×</a:t>
            </a:r>
            <a:r>
              <a:rPr lang="zh-CN" altLang="en-US" sz="1000" b="1" i="1" dirty="0">
                <a:solidFill>
                  <a:srgbClr val="C00000"/>
                </a:solidFill>
                <a:latin typeface="+mj-ea"/>
                <a:cs typeface="Arial" pitchFamily="34" charset="-120"/>
              </a:rPr>
              <a:t>权重</a:t>
            </a:r>
            <a:r>
              <a:rPr lang="en-US" altLang="zh-CN" sz="1000" b="1" i="1" dirty="0">
                <a:solidFill>
                  <a:srgbClr val="C00000"/>
                </a:solidFill>
                <a:latin typeface="+mj-ea"/>
                <a:cs typeface="Arial" pitchFamily="34" charset="-120"/>
              </a:rPr>
              <a:t>%</a:t>
            </a:r>
            <a:r>
              <a:rPr lang="en-US" altLang="zh-CN" sz="1000" b="1" i="1" dirty="0">
                <a:solidFill>
                  <a:srgbClr val="C00000"/>
                </a:solidFill>
                <a:latin typeface="+mj-ea"/>
                <a:ea typeface="+mj-ea"/>
                <a:cs typeface="Arial" pitchFamily="34" charset="-120"/>
              </a:rPr>
              <a:t>+</a:t>
            </a:r>
            <a:r>
              <a:rPr lang="zh-CN" altLang="en-US" sz="1000" b="1" i="1" dirty="0">
                <a:solidFill>
                  <a:srgbClr val="C00000"/>
                </a:solidFill>
                <a:latin typeface="+mj-ea"/>
                <a:ea typeface="+mj-ea"/>
                <a:cs typeface="Arial" pitchFamily="34" charset="-120"/>
              </a:rPr>
              <a:t>复购</a:t>
            </a:r>
            <a:r>
              <a:rPr lang="en-US" altLang="zh-CN" sz="1000" b="1" i="1" dirty="0">
                <a:solidFill>
                  <a:srgbClr val="C00000"/>
                </a:solidFill>
                <a:latin typeface="+mj-ea"/>
                <a:ea typeface="+mj-ea"/>
                <a:cs typeface="Arial" pitchFamily="34" charset="-120"/>
              </a:rPr>
              <a:t>GTV</a:t>
            </a:r>
            <a:r>
              <a:rPr lang="zh-CN" altLang="en-US" sz="1000" b="1" i="1" dirty="0">
                <a:solidFill>
                  <a:srgbClr val="C00000"/>
                </a:solidFill>
                <a:latin typeface="+mj-ea"/>
                <a:ea typeface="+mj-ea"/>
                <a:cs typeface="Arial" pitchFamily="34" charset="-120"/>
              </a:rPr>
              <a:t>归一化</a:t>
            </a:r>
            <a:r>
              <a:rPr lang="en-US" altLang="zh-CN" sz="1000" b="1" i="1" dirty="0">
                <a:solidFill>
                  <a:srgbClr val="C00000"/>
                </a:solidFill>
                <a:latin typeface="+mj-ea"/>
                <a:cs typeface="Arial" pitchFamily="34" charset="-120"/>
              </a:rPr>
              <a:t>×</a:t>
            </a:r>
            <a:r>
              <a:rPr lang="zh-CN" altLang="en-US" sz="1000" b="1" i="1" dirty="0">
                <a:solidFill>
                  <a:srgbClr val="C00000"/>
                </a:solidFill>
                <a:latin typeface="+mj-ea"/>
                <a:cs typeface="Arial" pitchFamily="34" charset="-120"/>
              </a:rPr>
              <a:t>权重</a:t>
            </a:r>
            <a:r>
              <a:rPr lang="en-US" altLang="zh-CN" sz="1000" b="1" i="1" dirty="0">
                <a:solidFill>
                  <a:srgbClr val="C00000"/>
                </a:solidFill>
                <a:latin typeface="+mj-ea"/>
                <a:cs typeface="Arial" pitchFamily="34" charset="-120"/>
              </a:rPr>
              <a:t>%</a:t>
            </a:r>
            <a:endParaRPr lang="en-US" altLang="zh-CN" sz="1000" b="1" i="1" dirty="0">
              <a:solidFill>
                <a:srgbClr val="C00000"/>
              </a:solidFill>
              <a:latin typeface="+mj-ea"/>
              <a:ea typeface="+mj-ea"/>
              <a:cs typeface="Arial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altLang="zh-CN" sz="7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*</a:t>
            </a:r>
            <a:r>
              <a:rPr lang="zh-CN" altLang="en-US" sz="7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其中：复购人数</a:t>
            </a:r>
            <a:r>
              <a:rPr lang="en-US" altLang="zh-CN" sz="7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=</a:t>
            </a:r>
            <a:r>
              <a:rPr lang="zh-CN" altLang="en-US" sz="7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复购深度用户分层</a:t>
            </a:r>
            <a:r>
              <a:rPr lang="en-US" altLang="zh-CN" sz="7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×</a:t>
            </a:r>
            <a:r>
              <a:rPr lang="zh-CN" altLang="en-US" sz="7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不同权重比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6D51F3D-C315-70A4-8866-56093BB59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922699"/>
              </p:ext>
            </p:extLst>
          </p:nvPr>
        </p:nvGraphicFramePr>
        <p:xfrm>
          <a:off x="252786" y="1456934"/>
          <a:ext cx="2667115" cy="1325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50413">
                  <a:extLst>
                    <a:ext uri="{9D8B030D-6E8A-4147-A177-3AD203B41FA5}">
                      <a16:colId xmlns:a16="http://schemas.microsoft.com/office/drawing/2014/main" val="1985683401"/>
                    </a:ext>
                  </a:extLst>
                </a:gridCol>
                <a:gridCol w="947521">
                  <a:extLst>
                    <a:ext uri="{9D8B030D-6E8A-4147-A177-3AD203B41FA5}">
                      <a16:colId xmlns:a16="http://schemas.microsoft.com/office/drawing/2014/main" val="1678700269"/>
                    </a:ext>
                  </a:extLst>
                </a:gridCol>
                <a:gridCol w="969181">
                  <a:extLst>
                    <a:ext uri="{9D8B030D-6E8A-4147-A177-3AD203B41FA5}">
                      <a16:colId xmlns:a16="http://schemas.microsoft.com/office/drawing/2014/main" val="2297677508"/>
                    </a:ext>
                  </a:extLst>
                </a:gridCol>
              </a:tblGrid>
              <a:tr h="144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指数榜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价值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局限性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168929"/>
                  </a:ext>
                </a:extLst>
              </a:tr>
              <a:tr h="3912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人气榜</a:t>
                      </a:r>
                      <a:endParaRPr lang="zh-CN" altLang="en-US" sz="900" dirty="0">
                        <a:solidFill>
                          <a:srgbClr val="1A1A1A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900" dirty="0">
                          <a:solidFill>
                            <a:srgbClr val="1A1A1A"/>
                          </a:solidFill>
                          <a:effectLst/>
                        </a:rPr>
                        <a:t>消费热度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900" dirty="0">
                          <a:solidFill>
                            <a:srgbClr val="1A1A1A"/>
                          </a:solidFill>
                          <a:effectLst/>
                        </a:rPr>
                        <a:t>易被大店垄断，中小店难上榜，易被刷单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330014"/>
                  </a:ext>
                </a:extLst>
              </a:tr>
              <a:tr h="2264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>
                          <a:solidFill>
                            <a:srgbClr val="1A1A1A"/>
                          </a:solidFill>
                          <a:effectLst/>
                        </a:rPr>
                        <a:t>好评榜</a:t>
                      </a:r>
                      <a:endParaRPr lang="zh-CN" altLang="en-US" sz="900">
                        <a:solidFill>
                          <a:srgbClr val="1A1A1A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900">
                          <a:solidFill>
                            <a:srgbClr val="1A1A1A"/>
                          </a:solidFill>
                          <a:effectLst/>
                        </a:rPr>
                        <a:t>口碑满意度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900" dirty="0">
                          <a:solidFill>
                            <a:srgbClr val="1A1A1A"/>
                          </a:solidFill>
                          <a:effectLst/>
                        </a:rPr>
                        <a:t>主观性强，资产密度低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10696"/>
                  </a:ext>
                </a:extLst>
              </a:tr>
              <a:tr h="2264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回头客榜</a:t>
                      </a:r>
                      <a:endParaRPr lang="zh-CN" altLang="en-US" sz="900" dirty="0">
                        <a:solidFill>
                          <a:srgbClr val="1A1A1A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消费忠诚度</a:t>
                      </a:r>
                      <a:endParaRPr lang="zh-CN" altLang="en-US" sz="900" dirty="0">
                        <a:solidFill>
                          <a:srgbClr val="1A1A1A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900" dirty="0">
                          <a:solidFill>
                            <a:srgbClr val="1A1A1A"/>
                          </a:solidFill>
                          <a:effectLst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676466"/>
                  </a:ext>
                </a:extLst>
              </a:tr>
            </a:tbl>
          </a:graphicData>
        </a:graphic>
      </p:graphicFrame>
      <p:sp>
        <p:nvSpPr>
          <p:cNvPr id="924" name="米菲PPT8">
            <a:extLst>
              <a:ext uri="{FF2B5EF4-FFF2-40B4-BE49-F238E27FC236}">
                <a16:creationId xmlns:a16="http://schemas.microsoft.com/office/drawing/2014/main" id="{51782B44-0A3D-31AE-454B-3AE86F12A13A}"/>
              </a:ext>
            </a:extLst>
          </p:cNvPr>
          <p:cNvSpPr txBox="1"/>
          <p:nvPr/>
        </p:nvSpPr>
        <p:spPr>
          <a:xfrm>
            <a:off x="7389296" y="1284638"/>
            <a:ext cx="119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4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月底</a:t>
            </a:r>
            <a:endParaRPr lang="zh-CN" altLang="en-US" sz="900" dirty="0">
              <a:solidFill>
                <a:schemeClr val="bg2">
                  <a:lumMod val="2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Bold" panose="000008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25" name="米菲PPT9">
            <a:extLst>
              <a:ext uri="{FF2B5EF4-FFF2-40B4-BE49-F238E27FC236}">
                <a16:creationId xmlns:a16="http://schemas.microsoft.com/office/drawing/2014/main" id="{CB8A2CDE-3A6C-20E7-88C7-62B85AE66473}"/>
              </a:ext>
            </a:extLst>
          </p:cNvPr>
          <p:cNvSpPr txBox="1"/>
          <p:nvPr/>
        </p:nvSpPr>
        <p:spPr>
          <a:xfrm>
            <a:off x="6253350" y="1044037"/>
            <a:ext cx="2890320" cy="24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完成规则制定，保证合理性，确认上榜门店质量</a:t>
            </a:r>
            <a:endParaRPr lang="en-US" altLang="zh-CN" sz="900" b="0" i="0" dirty="0">
              <a:solidFill>
                <a:schemeClr val="accent1">
                  <a:lumMod val="75000"/>
                </a:schemeClr>
              </a:solidFill>
              <a:effectLst/>
              <a:latin typeface="MiSans Bold" panose="00000800000000000000" pitchFamily="2" charset="-122"/>
              <a:ea typeface="MiSans Medium" panose="00000600000000000000" pitchFamily="2" charset="-122"/>
              <a:cs typeface="MiSans Bold" panose="00000800000000000000" pitchFamily="2" charset="-122"/>
            </a:endParaRPr>
          </a:p>
        </p:txBody>
      </p:sp>
      <p:sp>
        <p:nvSpPr>
          <p:cNvPr id="928" name="米菲PPT14">
            <a:extLst>
              <a:ext uri="{FF2B5EF4-FFF2-40B4-BE49-F238E27FC236}">
                <a16:creationId xmlns:a16="http://schemas.microsoft.com/office/drawing/2014/main" id="{4E57C779-2275-9960-2C9D-104A26074FAA}"/>
              </a:ext>
            </a:extLst>
          </p:cNvPr>
          <p:cNvSpPr txBox="1"/>
          <p:nvPr/>
        </p:nvSpPr>
        <p:spPr>
          <a:xfrm>
            <a:off x="7384096" y="798276"/>
            <a:ext cx="119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4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月中旬</a:t>
            </a:r>
            <a:endParaRPr lang="zh-CN" altLang="en-US" sz="900" dirty="0">
              <a:solidFill>
                <a:schemeClr val="bg2">
                  <a:lumMod val="2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Bold" panose="000008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29" name="米菲PPT15">
            <a:extLst>
              <a:ext uri="{FF2B5EF4-FFF2-40B4-BE49-F238E27FC236}">
                <a16:creationId xmlns:a16="http://schemas.microsoft.com/office/drawing/2014/main" id="{8FEE7650-193C-F237-5A40-1601394E4EAB}"/>
              </a:ext>
            </a:extLst>
          </p:cNvPr>
          <p:cNvSpPr txBox="1"/>
          <p:nvPr/>
        </p:nvSpPr>
        <p:spPr>
          <a:xfrm>
            <a:off x="6253058" y="1535658"/>
            <a:ext cx="2872770" cy="23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与产研团队沟通完成内部评审</a:t>
            </a:r>
            <a:endParaRPr lang="en-US" altLang="zh-CN" sz="900" dirty="0">
              <a:solidFill>
                <a:srgbClr val="444444"/>
              </a:solidFill>
              <a:latin typeface="+mj-ea"/>
              <a:cs typeface="Arial" pitchFamily="34" charset="-120"/>
            </a:endParaRPr>
          </a:p>
        </p:txBody>
      </p:sp>
      <p:sp>
        <p:nvSpPr>
          <p:cNvPr id="932" name="米菲PPT23">
            <a:extLst>
              <a:ext uri="{FF2B5EF4-FFF2-40B4-BE49-F238E27FC236}">
                <a16:creationId xmlns:a16="http://schemas.microsoft.com/office/drawing/2014/main" id="{91349AF3-B999-EEC6-DEBA-150C81DCDFDC}"/>
              </a:ext>
            </a:extLst>
          </p:cNvPr>
          <p:cNvSpPr txBox="1"/>
          <p:nvPr/>
        </p:nvSpPr>
        <p:spPr>
          <a:xfrm>
            <a:off x="7384096" y="1833657"/>
            <a:ext cx="119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5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月底</a:t>
            </a:r>
            <a:endParaRPr lang="zh-CN" altLang="en-US" sz="900" dirty="0">
              <a:solidFill>
                <a:schemeClr val="bg2">
                  <a:lumMod val="2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Bold" panose="000008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33" name="米菲PPT24">
            <a:extLst>
              <a:ext uri="{FF2B5EF4-FFF2-40B4-BE49-F238E27FC236}">
                <a16:creationId xmlns:a16="http://schemas.microsoft.com/office/drawing/2014/main" id="{36489CE4-2C3F-304B-6EA4-C838B235A4BE}"/>
              </a:ext>
            </a:extLst>
          </p:cNvPr>
          <p:cNvSpPr txBox="1"/>
          <p:nvPr/>
        </p:nvSpPr>
        <p:spPr>
          <a:xfrm>
            <a:off x="6252226" y="2043319"/>
            <a:ext cx="2775048" cy="409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试点城市销售提前宣导，灰度上线，收集基础数据及反馈，持续调优</a:t>
            </a:r>
            <a:endParaRPr lang="en-US" altLang="zh-CN" sz="900" dirty="0">
              <a:solidFill>
                <a:schemeClr val="accent1">
                  <a:lumMod val="75000"/>
                </a:schemeClr>
              </a:solidFill>
              <a:latin typeface="MiSans Bold" panose="00000800000000000000" pitchFamily="2" charset="-122"/>
              <a:ea typeface="MiSans Medium" panose="00000600000000000000" pitchFamily="2" charset="-122"/>
              <a:cs typeface="MiSans Bold" panose="00000800000000000000" pitchFamily="2" charset="-122"/>
            </a:endParaRPr>
          </a:p>
        </p:txBody>
      </p:sp>
      <p:sp>
        <p:nvSpPr>
          <p:cNvPr id="936" name="米菲PPT29">
            <a:extLst>
              <a:ext uri="{FF2B5EF4-FFF2-40B4-BE49-F238E27FC236}">
                <a16:creationId xmlns:a16="http://schemas.microsoft.com/office/drawing/2014/main" id="{3161AFBE-7EDD-70E6-2141-70F1BAAD258D}"/>
              </a:ext>
            </a:extLst>
          </p:cNvPr>
          <p:cNvSpPr txBox="1"/>
          <p:nvPr/>
        </p:nvSpPr>
        <p:spPr>
          <a:xfrm>
            <a:off x="7384096" y="2492273"/>
            <a:ext cx="119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6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月中旬</a:t>
            </a:r>
            <a:endParaRPr lang="zh-CN" altLang="en-US" sz="900" dirty="0">
              <a:solidFill>
                <a:schemeClr val="bg2">
                  <a:lumMod val="2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Bold" panose="000008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37" name="米菲PPT30">
            <a:extLst>
              <a:ext uri="{FF2B5EF4-FFF2-40B4-BE49-F238E27FC236}">
                <a16:creationId xmlns:a16="http://schemas.microsoft.com/office/drawing/2014/main" id="{10E859BD-85EB-C29E-DC6F-ED5A775B3454}"/>
              </a:ext>
            </a:extLst>
          </p:cNvPr>
          <p:cNvSpPr txBox="1"/>
          <p:nvPr/>
        </p:nvSpPr>
        <p:spPr>
          <a:xfrm>
            <a:off x="6252225" y="2718078"/>
            <a:ext cx="2891774" cy="24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全国正式推广，接入榜单落地页，并列展示</a:t>
            </a:r>
            <a:endParaRPr lang="en-US" altLang="zh-CN" sz="900" dirty="0">
              <a:gradFill>
                <a:gsLst>
                  <a:gs pos="100000">
                    <a:schemeClr val="accent2">
                      <a:lumMod val="94000"/>
                    </a:schemeClr>
                  </a:gs>
                  <a:gs pos="0">
                    <a:schemeClr val="accent2">
                      <a:lumMod val="81000"/>
                    </a:schemeClr>
                  </a:gs>
                </a:gsLst>
                <a:lin ang="5400000" scaled="1"/>
              </a:gradFill>
              <a:latin typeface="MiSans Bold" panose="00000800000000000000" pitchFamily="2" charset="-122"/>
              <a:ea typeface="MiSans Medium" panose="00000600000000000000" pitchFamily="2" charset="-122"/>
              <a:cs typeface="MiSans Bold" panose="00000800000000000000" pitchFamily="2" charset="-122"/>
            </a:endParaRPr>
          </a:p>
        </p:txBody>
      </p:sp>
      <p:sp>
        <p:nvSpPr>
          <p:cNvPr id="942" name="文本框 941">
            <a:extLst>
              <a:ext uri="{FF2B5EF4-FFF2-40B4-BE49-F238E27FC236}">
                <a16:creationId xmlns:a16="http://schemas.microsoft.com/office/drawing/2014/main" id="{DBA54436-4EFA-D6A7-4BA4-FA7DB160F951}"/>
              </a:ext>
            </a:extLst>
          </p:cNvPr>
          <p:cNvSpPr txBox="1"/>
          <p:nvPr/>
        </p:nvSpPr>
        <p:spPr>
          <a:xfrm>
            <a:off x="9144000" y="5107771"/>
            <a:ext cx="260227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/>
              <a:t>考虑到复购榜的出发点，是为用户挖掘老客爱吃的好店，而大连锁品牌门店本身具有品牌势能，已经存在用户心智，故我们对全国连锁超过</a:t>
            </a:r>
            <a:r>
              <a:rPr lang="en-US" altLang="zh-CN" sz="1200" dirty="0"/>
              <a:t>200</a:t>
            </a:r>
            <a:r>
              <a:rPr lang="zh-CN" altLang="en-US" sz="1200" dirty="0"/>
              <a:t>家的门店，做一定的</a:t>
            </a:r>
            <a:r>
              <a:rPr lang="zh-CN" altLang="en-US" sz="1200" b="1" dirty="0"/>
              <a:t>降权、排序</a:t>
            </a:r>
            <a:r>
              <a:rPr lang="zh-CN" altLang="en-US" sz="1200" dirty="0"/>
              <a:t>规则处理：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/>
              <a:t>降权：根据复购榜综合分模型，针对上述连锁品牌门店在综合分基础上降权</a:t>
            </a:r>
            <a:r>
              <a:rPr lang="en-US" altLang="zh-CN" sz="1200" dirty="0"/>
              <a:t>-50%</a:t>
            </a:r>
            <a:r>
              <a:rPr lang="zh-CN" altLang="en-US" sz="1200" dirty="0"/>
              <a:t>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/>
              <a:t>排序：以城市、行政区、商圈维度</a:t>
            </a:r>
            <a:r>
              <a:rPr lang="en-US" altLang="zh-CN" sz="1200" dirty="0"/>
              <a:t>×</a:t>
            </a:r>
            <a:r>
              <a:rPr lang="zh-CN" altLang="en-US" sz="1200" dirty="0"/>
              <a:t>品类门店排序时，上述连锁品牌门店根据其最终综合分，在</a:t>
            </a:r>
            <a:r>
              <a:rPr lang="en" altLang="zh-CN" sz="1200" dirty="0"/>
              <a:t>top5</a:t>
            </a:r>
            <a:r>
              <a:rPr lang="zh-CN" altLang="en-US" sz="1200" dirty="0"/>
              <a:t>以后开始参与正常排序</a:t>
            </a:r>
          </a:p>
          <a:p>
            <a:pPr>
              <a:buNone/>
            </a:pPr>
            <a:r>
              <a:rPr lang="zh-CN" altLang="en-US" sz="1200" dirty="0"/>
              <a:t>实现效果：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/>
              <a:t>中高线城市：供给本身较为充足，确保有足够多的非连锁小众复购数据优秀的店优先呈现在榜单上；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dirty="0"/>
              <a:t>下沉城市：针对供给不太充足的地区，优先排列非连锁</a:t>
            </a:r>
            <a:r>
              <a:rPr lang="en" altLang="zh-CN" sz="1200" dirty="0"/>
              <a:t>top5</a:t>
            </a:r>
            <a:r>
              <a:rPr lang="zh-CN" altLang="en-US" sz="1200" dirty="0"/>
              <a:t>综合复购分门店后，品牌门店做后置补位</a:t>
            </a:r>
          </a:p>
          <a:p>
            <a:pPr>
              <a:buNone/>
            </a:pPr>
            <a:r>
              <a:rPr lang="zh-CN" altLang="en-US" sz="1200" dirty="0"/>
              <a:t>*注：全国连锁门店临界于</a:t>
            </a:r>
            <a:r>
              <a:rPr lang="en-US" altLang="zh-CN" sz="1200" dirty="0"/>
              <a:t>200</a:t>
            </a:r>
            <a:r>
              <a:rPr lang="zh-CN" altLang="en-US" sz="1200" dirty="0"/>
              <a:t>左右的品牌示例：萍姐火锅、煲仔皇、正谈炸鸡、魏家凉皮</a:t>
            </a:r>
          </a:p>
        </p:txBody>
      </p:sp>
      <p:graphicFrame>
        <p:nvGraphicFramePr>
          <p:cNvPr id="970" name="表格 969">
            <a:extLst>
              <a:ext uri="{FF2B5EF4-FFF2-40B4-BE49-F238E27FC236}">
                <a16:creationId xmlns:a16="http://schemas.microsoft.com/office/drawing/2014/main" id="{2A213C55-8EE3-DAB3-82DD-BFBA1F31B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831471"/>
              </p:ext>
            </p:extLst>
          </p:nvPr>
        </p:nvGraphicFramePr>
        <p:xfrm>
          <a:off x="168891" y="3151541"/>
          <a:ext cx="4229378" cy="18905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6867">
                  <a:extLst>
                    <a:ext uri="{9D8B030D-6E8A-4147-A177-3AD203B41FA5}">
                      <a16:colId xmlns:a16="http://schemas.microsoft.com/office/drawing/2014/main" val="78052517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29107377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1841367003"/>
                    </a:ext>
                  </a:extLst>
                </a:gridCol>
                <a:gridCol w="554111">
                  <a:extLst>
                    <a:ext uri="{9D8B030D-6E8A-4147-A177-3AD203B41FA5}">
                      <a16:colId xmlns:a16="http://schemas.microsoft.com/office/drawing/2014/main" val="2435272822"/>
                    </a:ext>
                  </a:extLst>
                </a:gridCol>
              </a:tblGrid>
              <a:tr h="1864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北京全城上榜商户名称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回头客榜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人气榜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100" b="1" u="none" strike="noStrike" dirty="0">
                          <a:effectLst/>
                        </a:rPr>
                        <a:t>rank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3418"/>
                  </a:ext>
                </a:extLst>
              </a:tr>
              <a:tr h="91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胡大饭馆 </a:t>
                      </a:r>
                      <a:r>
                        <a:rPr lang="en-US" altLang="zh-CN" sz="1050" u="none" strike="noStrike" dirty="0">
                          <a:effectLst/>
                        </a:rPr>
                        <a:t>24</a:t>
                      </a:r>
                      <a:r>
                        <a:rPr lang="en" sz="1050" u="none" strike="noStrike" dirty="0">
                          <a:effectLst/>
                        </a:rPr>
                        <a:t>h（</a:t>
                      </a:r>
                      <a:r>
                        <a:rPr lang="zh-CN" altLang="en-US" sz="1050" u="none" strike="noStrike" dirty="0">
                          <a:effectLst/>
                        </a:rPr>
                        <a:t>簋街总店）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-3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79796"/>
                  </a:ext>
                </a:extLst>
              </a:tr>
              <a:tr h="91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小初色</a:t>
                      </a:r>
                      <a:r>
                        <a:rPr lang="en-US" altLang="zh-CN" sz="1050" u="none" strike="noStrike" dirty="0">
                          <a:effectLst/>
                        </a:rPr>
                        <a:t>·</a:t>
                      </a:r>
                      <a:r>
                        <a:rPr lang="zh-CN" altLang="en-US" sz="1050" u="none" strike="noStrike" dirty="0">
                          <a:effectLst/>
                        </a:rPr>
                        <a:t>海鲜火锅（公益西桥店）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2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23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-21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864499"/>
                  </a:ext>
                </a:extLst>
              </a:tr>
              <a:tr h="1400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作作烧肉（中关村大融城店）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3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-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841336"/>
                  </a:ext>
                </a:extLst>
              </a:tr>
              <a:tr h="91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牛街清真满恒記（平安里西大街店）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4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1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3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07978"/>
                  </a:ext>
                </a:extLst>
              </a:tr>
              <a:tr h="1781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牛满福潮州鲜牛肉粿条（中关村大融城店）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5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10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-5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353127"/>
                  </a:ext>
                </a:extLst>
              </a:tr>
              <a:tr h="91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绥兴盛（</a:t>
                      </a:r>
                      <a:r>
                        <a:rPr lang="ko-KR" altLang="en-US" sz="1050" u="none" strike="noStrike" dirty="0">
                          <a:effectLst/>
                        </a:rPr>
                        <a:t>큰집 설렁탕）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6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34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-28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36089"/>
                  </a:ext>
                </a:extLst>
              </a:tr>
              <a:tr h="1400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宽板凳老灶火锅（沙河店）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7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无</a:t>
                      </a:r>
                      <a:endParaRPr kumimoji="0" lang="zh-CN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-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529648"/>
                  </a:ext>
                </a:extLst>
              </a:tr>
              <a:tr h="1400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>
                          <a:effectLst/>
                        </a:rPr>
                        <a:t>九十九顶毡房（清河店）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8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无</a:t>
                      </a:r>
                      <a:endParaRPr kumimoji="0" lang="zh-CN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-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824834"/>
                  </a:ext>
                </a:extLst>
              </a:tr>
              <a:tr h="1400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>
                          <a:effectLst/>
                        </a:rPr>
                        <a:t>滨寿司（北京中关村领展广场店）</a:t>
                      </a:r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9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无</a:t>
                      </a:r>
                      <a:endParaRPr kumimoji="0" lang="zh-CN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楷体" panose="02010609060101010101" pitchFamily="49" charset="-122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-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717519"/>
                  </a:ext>
                </a:extLst>
              </a:tr>
              <a:tr h="1619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dirty="0">
                          <a:effectLst/>
                        </a:rPr>
                        <a:t>鲜攸辣</a:t>
                      </a:r>
                      <a:r>
                        <a:rPr lang="en-US" altLang="zh-CN" sz="1050" u="none" strike="noStrike" dirty="0">
                          <a:effectLst/>
                        </a:rPr>
                        <a:t>·</a:t>
                      </a:r>
                      <a:r>
                        <a:rPr lang="zh-CN" altLang="en-US" sz="1050" u="none" strike="noStrike" dirty="0">
                          <a:effectLst/>
                        </a:rPr>
                        <a:t>重庆小面</a:t>
                      </a:r>
                      <a:r>
                        <a:rPr lang="en-US" altLang="zh-CN" sz="1050" u="none" strike="noStrike" dirty="0">
                          <a:effectLst/>
                        </a:rPr>
                        <a:t>·</a:t>
                      </a:r>
                      <a:r>
                        <a:rPr lang="zh-CN" altLang="en-US" sz="1050" u="none" strike="noStrike" dirty="0">
                          <a:effectLst/>
                        </a:rPr>
                        <a:t>川菜馆（酒仙桥店）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>
                          <a:effectLst/>
                        </a:rPr>
                        <a:t>10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u="none" strike="noStrike" dirty="0">
                          <a:effectLst/>
                        </a:rPr>
                        <a:t>-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678772"/>
                  </a:ext>
                </a:extLst>
              </a:tr>
            </a:tbl>
          </a:graphicData>
        </a:graphic>
      </p:graphicFrame>
      <p:graphicFrame>
        <p:nvGraphicFramePr>
          <p:cNvPr id="986" name="表格 985">
            <a:extLst>
              <a:ext uri="{FF2B5EF4-FFF2-40B4-BE49-F238E27FC236}">
                <a16:creationId xmlns:a16="http://schemas.microsoft.com/office/drawing/2014/main" id="{2D00B689-A6C7-9A3C-B826-6F0EDB8D6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882290"/>
              </p:ext>
            </p:extLst>
          </p:nvPr>
        </p:nvGraphicFramePr>
        <p:xfrm>
          <a:off x="3234231" y="1611500"/>
          <a:ext cx="2663319" cy="1371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44708">
                  <a:extLst>
                    <a:ext uri="{9D8B030D-6E8A-4147-A177-3AD203B41FA5}">
                      <a16:colId xmlns:a16="http://schemas.microsoft.com/office/drawing/2014/main" val="1985683401"/>
                    </a:ext>
                  </a:extLst>
                </a:gridCol>
                <a:gridCol w="620171">
                  <a:extLst>
                    <a:ext uri="{9D8B030D-6E8A-4147-A177-3AD203B41FA5}">
                      <a16:colId xmlns:a16="http://schemas.microsoft.com/office/drawing/2014/main" val="1678700269"/>
                    </a:ext>
                  </a:extLst>
                </a:gridCol>
                <a:gridCol w="532610">
                  <a:extLst>
                    <a:ext uri="{9D8B030D-6E8A-4147-A177-3AD203B41FA5}">
                      <a16:colId xmlns:a16="http://schemas.microsoft.com/office/drawing/2014/main" val="2297677508"/>
                    </a:ext>
                  </a:extLst>
                </a:gridCol>
                <a:gridCol w="665830">
                  <a:extLst>
                    <a:ext uri="{9D8B030D-6E8A-4147-A177-3AD203B41FA5}">
                      <a16:colId xmlns:a16="http://schemas.microsoft.com/office/drawing/2014/main" val="1714239588"/>
                    </a:ext>
                  </a:extLst>
                </a:gridCol>
              </a:tblGrid>
              <a:tr h="2163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结构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人气榜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好评榜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回头客榜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168929"/>
                  </a:ext>
                </a:extLst>
              </a:tr>
              <a:tr h="21635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dirty="0">
                          <a:solidFill>
                            <a:srgbClr val="1A1A1A"/>
                          </a:solidFill>
                          <a:effectLst/>
                        </a:rPr>
                        <a:t>ka/</a:t>
                      </a:r>
                      <a:r>
                        <a:rPr lang="en-US" altLang="zh-CN" sz="900" b="1" dirty="0" err="1">
                          <a:solidFill>
                            <a:srgbClr val="1A1A1A"/>
                          </a:solidFill>
                          <a:effectLst/>
                        </a:rPr>
                        <a:t>cka</a:t>
                      </a:r>
                      <a:endParaRPr lang="zh-CN" altLang="en-US" sz="900" b="1" dirty="0">
                        <a:solidFill>
                          <a:srgbClr val="1A1A1A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330014"/>
                  </a:ext>
                </a:extLst>
              </a:tr>
              <a:tr h="2163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蜂窝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6676466"/>
                  </a:ext>
                </a:extLst>
              </a:tr>
              <a:tr h="2163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其他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92809"/>
                  </a:ext>
                </a:extLst>
              </a:tr>
              <a:tr h="2163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上榜商户数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673,438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208,557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545,386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282254"/>
                  </a:ext>
                </a:extLst>
              </a:tr>
              <a:tr h="2163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900" b="1" dirty="0">
                          <a:solidFill>
                            <a:srgbClr val="1A1A1A"/>
                          </a:solidFill>
                          <a:effectLst/>
                        </a:rPr>
                        <a:t>门店质量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727937"/>
                  </a:ext>
                </a:extLst>
              </a:tr>
            </a:tbl>
          </a:graphicData>
        </a:graphic>
      </p:graphicFrame>
      <p:sp>
        <p:nvSpPr>
          <p:cNvPr id="987" name="标题 1">
            <a:extLst>
              <a:ext uri="{FF2B5EF4-FFF2-40B4-BE49-F238E27FC236}">
                <a16:creationId xmlns:a16="http://schemas.microsoft.com/office/drawing/2014/main" id="{50EA0FEB-762C-4BEB-7EB1-B275D2118DBF}"/>
              </a:ext>
            </a:extLst>
          </p:cNvPr>
          <p:cNvSpPr txBox="1">
            <a:spLocks/>
          </p:cNvSpPr>
          <p:nvPr/>
        </p:nvSpPr>
        <p:spPr>
          <a:xfrm>
            <a:off x="66125" y="5143500"/>
            <a:ext cx="4332143" cy="1449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补充纯新上榜商户（全国</a:t>
            </a:r>
            <a:r>
              <a:rPr lang="en-US" altLang="zh-CN" sz="1200" dirty="0">
                <a:solidFill>
                  <a:srgbClr val="FF0000"/>
                </a:solidFill>
              </a:rPr>
              <a:t>12.5</a:t>
            </a:r>
            <a:r>
              <a:rPr lang="zh-CN" altLang="en-US" sz="1200" dirty="0">
                <a:solidFill>
                  <a:srgbClr val="FF0000"/>
                </a:solidFill>
              </a:rPr>
              <a:t>万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），</a:t>
            </a:r>
            <a:r>
              <a:rPr lang="zh-CN" altLang="en-US" sz="1200" dirty="0">
                <a:solidFill>
                  <a:srgbClr val="FF0000"/>
                </a:solidFill>
              </a:rPr>
              <a:t>其中中小店（小连锁</a:t>
            </a:r>
            <a:r>
              <a:rPr lang="en-US" altLang="zh-CN" sz="1200" dirty="0">
                <a:solidFill>
                  <a:srgbClr val="FF0000"/>
                </a:solidFill>
              </a:rPr>
              <a:t>+</a:t>
            </a:r>
            <a:r>
              <a:rPr lang="zh-CN" altLang="en-US" sz="1200" dirty="0">
                <a:solidFill>
                  <a:srgbClr val="FF0000"/>
                </a:solidFill>
              </a:rPr>
              <a:t>蜂窝）占比</a:t>
            </a:r>
            <a:r>
              <a:rPr lang="en-US" altLang="zh-CN" sz="1200" dirty="0">
                <a:solidFill>
                  <a:srgbClr val="FF0000"/>
                </a:solidFill>
              </a:rPr>
              <a:t>62%</a:t>
            </a:r>
            <a:r>
              <a:rPr lang="zh-CN" altLang="en-US" sz="1200" dirty="0">
                <a:solidFill>
                  <a:srgbClr val="FF0000"/>
                </a:solidFill>
              </a:rPr>
              <a:t>，较人气榜提升</a:t>
            </a:r>
            <a:r>
              <a:rPr lang="en-US" altLang="zh-CN" sz="1200" dirty="0">
                <a:solidFill>
                  <a:srgbClr val="FF0000"/>
                </a:solidFill>
              </a:rPr>
              <a:t>8pp</a:t>
            </a:r>
            <a:endParaRPr lang="en-US" altLang="zh-CN" sz="1200" dirty="0">
              <a:solidFill>
                <a:srgbClr val="FF0000"/>
              </a:solidFill>
              <a:latin typeface="+mn-ea"/>
              <a:ea typeface="+mn-ea"/>
            </a:endParaRPr>
          </a:p>
          <a:p>
            <a:endParaRPr lang="en-US" altLang="zh-CN" sz="12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未上榜任何榜单前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上了前三（北京正餐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ea typeface="+mn-ea"/>
              </a:rPr>
              <a:t>133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个）</a:t>
            </a:r>
            <a:endParaRPr lang="en-US" altLang="zh-CN" sz="12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和点评的重合度 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ea typeface="+mn-ea"/>
              </a:rPr>
              <a:t>84.6%</a:t>
            </a:r>
          </a:p>
          <a:p>
            <a:endParaRPr lang="en-US" altLang="zh-CN" sz="12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自助餐案例：襄阳全城金滏山第一，烤禧第四，但如果看复购的话烤禧会更高</a:t>
            </a:r>
            <a:endParaRPr lang="en-US" altLang="zh-CN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88" name="米菲PPT13">
            <a:extLst>
              <a:ext uri="{FF2B5EF4-FFF2-40B4-BE49-F238E27FC236}">
                <a16:creationId xmlns:a16="http://schemas.microsoft.com/office/drawing/2014/main" id="{D874968D-A1EC-E96C-0565-307F0B9263C5}"/>
              </a:ext>
            </a:extLst>
          </p:cNvPr>
          <p:cNvSpPr/>
          <p:nvPr/>
        </p:nvSpPr>
        <p:spPr>
          <a:xfrm>
            <a:off x="6108947" y="467683"/>
            <a:ext cx="2880000" cy="239304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上线计划</a:t>
            </a:r>
          </a:p>
        </p:txBody>
      </p:sp>
      <p:sp>
        <p:nvSpPr>
          <p:cNvPr id="990" name="米菲PPT1">
            <a:extLst>
              <a:ext uri="{FF2B5EF4-FFF2-40B4-BE49-F238E27FC236}">
                <a16:creationId xmlns:a16="http://schemas.microsoft.com/office/drawing/2014/main" id="{B07153DB-7DE4-F069-6996-16FE454D7C2D}"/>
              </a:ext>
            </a:extLst>
          </p:cNvPr>
          <p:cNvSpPr/>
          <p:nvPr/>
        </p:nvSpPr>
        <p:spPr>
          <a:xfrm>
            <a:off x="6134289" y="767146"/>
            <a:ext cx="2865134" cy="2274169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945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991" name="文本框 990">
            <a:extLst>
              <a:ext uri="{FF2B5EF4-FFF2-40B4-BE49-F238E27FC236}">
                <a16:creationId xmlns:a16="http://schemas.microsoft.com/office/drawing/2014/main" id="{D0FC27C0-6E6D-05C2-9A4E-1435C4BDC586}"/>
              </a:ext>
            </a:extLst>
          </p:cNvPr>
          <p:cNvSpPr txBox="1"/>
          <p:nvPr/>
        </p:nvSpPr>
        <p:spPr>
          <a:xfrm>
            <a:off x="3117901" y="1242168"/>
            <a:ext cx="292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效果：相较人气榜更能挖掘出中小店（</a:t>
            </a:r>
            <a:r>
              <a:rPr lang="en-US" altLang="zh-CN" sz="900" dirty="0"/>
              <a:t>+6k</a:t>
            </a:r>
            <a:r>
              <a:rPr lang="zh-CN" altLang="en-US" sz="900" dirty="0"/>
              <a:t>家），相较好评上榜门店数量更多（</a:t>
            </a:r>
            <a:r>
              <a:rPr lang="en-US" altLang="zh-CN" sz="900" dirty="0"/>
              <a:t>+39w</a:t>
            </a:r>
            <a:r>
              <a:rPr lang="zh-CN" altLang="en-US" sz="900" dirty="0"/>
              <a:t>家），门店质量居中</a:t>
            </a:r>
          </a:p>
        </p:txBody>
      </p:sp>
      <p:graphicFrame>
        <p:nvGraphicFramePr>
          <p:cNvPr id="992" name="表格 991">
            <a:extLst>
              <a:ext uri="{FF2B5EF4-FFF2-40B4-BE49-F238E27FC236}">
                <a16:creationId xmlns:a16="http://schemas.microsoft.com/office/drawing/2014/main" id="{1E1124FF-E9B3-AA49-CA49-AE592F7A6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184924"/>
              </p:ext>
            </p:extLst>
          </p:nvPr>
        </p:nvGraphicFramePr>
        <p:xfrm>
          <a:off x="4608602" y="3162925"/>
          <a:ext cx="4229378" cy="17949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3317">
                  <a:extLst>
                    <a:ext uri="{9D8B030D-6E8A-4147-A177-3AD203B41FA5}">
                      <a16:colId xmlns:a16="http://schemas.microsoft.com/office/drawing/2014/main" val="780525175"/>
                    </a:ext>
                  </a:extLst>
                </a:gridCol>
                <a:gridCol w="523910">
                  <a:extLst>
                    <a:ext uri="{9D8B030D-6E8A-4147-A177-3AD203B41FA5}">
                      <a16:colId xmlns:a16="http://schemas.microsoft.com/office/drawing/2014/main" val="3829107377"/>
                    </a:ext>
                  </a:extLst>
                </a:gridCol>
                <a:gridCol w="1092151">
                  <a:extLst>
                    <a:ext uri="{9D8B030D-6E8A-4147-A177-3AD203B41FA5}">
                      <a16:colId xmlns:a16="http://schemas.microsoft.com/office/drawing/2014/main" val="1841367003"/>
                    </a:ext>
                  </a:extLst>
                </a:gridCol>
              </a:tblGrid>
              <a:tr h="3076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纯新上榜商户（北京举例）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所上榜单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3418"/>
                  </a:ext>
                </a:extLst>
              </a:tr>
              <a:tr h="294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丹江渔村（龙旗店）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北京湖北菜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79796"/>
                  </a:ext>
                </a:extLst>
              </a:tr>
              <a:tr h="294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巴依老爷新疆美食（牡丹园店）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北京新疆菜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607978"/>
                  </a:ext>
                </a:extLst>
              </a:tr>
              <a:tr h="3094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PHO THE ONE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福万越南餐厅（五棵松万达店）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北京异域料理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353127"/>
                  </a:ext>
                </a:extLst>
              </a:tr>
              <a:tr h="294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杏花堂（北京中海大吉巷店）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北京山西菜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717519"/>
                  </a:ext>
                </a:extLst>
              </a:tr>
              <a:tr h="294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麦家小馆鲜羊肉烧烤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西北名吃（龙玥城店）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次渠烧烤烤串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678772"/>
                  </a:ext>
                </a:extLst>
              </a:tr>
            </a:tbl>
          </a:graphicData>
        </a:graphic>
      </p:graphicFrame>
      <p:graphicFrame>
        <p:nvGraphicFramePr>
          <p:cNvPr id="994" name="表格 993">
            <a:extLst>
              <a:ext uri="{FF2B5EF4-FFF2-40B4-BE49-F238E27FC236}">
                <a16:creationId xmlns:a16="http://schemas.microsoft.com/office/drawing/2014/main" id="{BCB2A263-B3AE-0C46-BC5F-0594E78A1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924709"/>
              </p:ext>
            </p:extLst>
          </p:nvPr>
        </p:nvGraphicFramePr>
        <p:xfrm>
          <a:off x="4763655" y="5218858"/>
          <a:ext cx="4380345" cy="18812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6599">
                  <a:extLst>
                    <a:ext uri="{9D8B030D-6E8A-4147-A177-3AD203B41FA5}">
                      <a16:colId xmlns:a16="http://schemas.microsoft.com/office/drawing/2014/main" val="780525175"/>
                    </a:ext>
                  </a:extLst>
                </a:gridCol>
                <a:gridCol w="506186">
                  <a:extLst>
                    <a:ext uri="{9D8B030D-6E8A-4147-A177-3AD203B41FA5}">
                      <a16:colId xmlns:a16="http://schemas.microsoft.com/office/drawing/2014/main" val="3829107377"/>
                    </a:ext>
                  </a:extLst>
                </a:gridCol>
                <a:gridCol w="1167560">
                  <a:extLst>
                    <a:ext uri="{9D8B030D-6E8A-4147-A177-3AD203B41FA5}">
                      <a16:colId xmlns:a16="http://schemas.microsoft.com/office/drawing/2014/main" val="1841367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纯新上榜商户（北京举例）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所上榜单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53418"/>
                  </a:ext>
                </a:extLst>
              </a:tr>
              <a:tr h="91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丹江渔村（龙旗店）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北京湖北菜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379796"/>
                  </a:ext>
                </a:extLst>
              </a:tr>
              <a:tr h="91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鲜潭蒸汽石锅鱼（昌平悦荟店）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北京云南菜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864499"/>
                  </a:ext>
                </a:extLst>
              </a:tr>
              <a:tr h="1400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船歌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鱼水饺青岛菜（国贸商城店）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北京鲁菜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841336"/>
                  </a:ext>
                </a:extLst>
              </a:tr>
              <a:tr h="91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巴依老爷新疆美食（牡丹园店）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北京新疆菜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07978"/>
                  </a:ext>
                </a:extLst>
              </a:tr>
              <a:tr h="1781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PHO THE ONE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福万越南餐厅（五棵松万达店）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北京异域料理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353127"/>
                  </a:ext>
                </a:extLst>
              </a:tr>
              <a:tr h="916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牛角烧肉（翠微百货店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海淀区日式烧肉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36089"/>
                  </a:ext>
                </a:extLst>
              </a:tr>
              <a:tr h="1400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云海肴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汽锅鸡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云南菜（万科广场店）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大兴区云南菜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824834"/>
                  </a:ext>
                </a:extLst>
              </a:tr>
              <a:tr h="1400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带你去趟佳木斯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非遗烧烤（百子湾创始店）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百子湾烧烤烤串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05762"/>
                  </a:ext>
                </a:extLst>
              </a:tr>
              <a:tr h="14008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杏花堂（北京中海大吉巷店）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北京山西菜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717519"/>
                  </a:ext>
                </a:extLst>
              </a:tr>
              <a:tr h="16192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麦家小馆鲜羊肉烧烤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·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西北名吃（龙玥城店）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次渠烧烤烤串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678772"/>
                  </a:ext>
                </a:extLst>
              </a:tr>
            </a:tbl>
          </a:graphicData>
        </a:graphic>
      </p:graphicFrame>
      <p:sp>
        <p:nvSpPr>
          <p:cNvPr id="996" name="矩形: 圆角 80">
            <a:extLst>
              <a:ext uri="{FF2B5EF4-FFF2-40B4-BE49-F238E27FC236}">
                <a16:creationId xmlns:a16="http://schemas.microsoft.com/office/drawing/2014/main" id="{177FB004-9D2F-1660-8A2F-ABBBBE758694}"/>
              </a:ext>
            </a:extLst>
          </p:cNvPr>
          <p:cNvSpPr/>
          <p:nvPr/>
        </p:nvSpPr>
        <p:spPr>
          <a:xfrm>
            <a:off x="6215547" y="804455"/>
            <a:ext cx="1188000" cy="22153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Bold" panose="00000800000000000000" pitchFamily="2" charset="-122"/>
                <a:sym typeface="MiSans Bold" panose="00000800000000000000" pitchFamily="2" charset="-122"/>
              </a:rPr>
              <a:t>阶段一：数据验证</a:t>
            </a:r>
          </a:p>
        </p:txBody>
      </p:sp>
      <p:sp>
        <p:nvSpPr>
          <p:cNvPr id="997" name="矩形: 圆角 80">
            <a:extLst>
              <a:ext uri="{FF2B5EF4-FFF2-40B4-BE49-F238E27FC236}">
                <a16:creationId xmlns:a16="http://schemas.microsoft.com/office/drawing/2014/main" id="{70BB9076-D468-A9AB-9ED5-1184CA441F8C}"/>
              </a:ext>
            </a:extLst>
          </p:cNvPr>
          <p:cNvSpPr/>
          <p:nvPr/>
        </p:nvSpPr>
        <p:spPr>
          <a:xfrm>
            <a:off x="6211865" y="1825173"/>
            <a:ext cx="1188000" cy="22153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Bold" panose="00000800000000000000" pitchFamily="2" charset="-122"/>
                <a:sym typeface="MiSans Bold" panose="00000800000000000000" pitchFamily="2" charset="-122"/>
              </a:rPr>
              <a:t>阶段三：城市试点</a:t>
            </a:r>
          </a:p>
        </p:txBody>
      </p:sp>
      <p:sp>
        <p:nvSpPr>
          <p:cNvPr id="998" name="矩形: 圆角 80">
            <a:extLst>
              <a:ext uri="{FF2B5EF4-FFF2-40B4-BE49-F238E27FC236}">
                <a16:creationId xmlns:a16="http://schemas.microsoft.com/office/drawing/2014/main" id="{2E6581AA-5FFF-0A8E-B1C2-678FF1F30BB0}"/>
              </a:ext>
            </a:extLst>
          </p:cNvPr>
          <p:cNvSpPr/>
          <p:nvPr/>
        </p:nvSpPr>
        <p:spPr>
          <a:xfrm>
            <a:off x="6211865" y="1291711"/>
            <a:ext cx="1188000" cy="22153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Bold" panose="00000800000000000000" pitchFamily="2" charset="-122"/>
                <a:sym typeface="MiSans Bold" panose="00000800000000000000" pitchFamily="2" charset="-122"/>
              </a:rPr>
              <a:t>阶段二：评审</a:t>
            </a:r>
            <a:r>
              <a:rPr lang="en-US" altLang="zh-CN" sz="900" dirty="0">
                <a:solidFill>
                  <a:schemeClr val="tx1"/>
                </a:solidFill>
                <a:latin typeface="+mn-ea"/>
                <a:cs typeface="MiSans Bold" panose="00000800000000000000" pitchFamily="2" charset="-122"/>
                <a:sym typeface="MiSans Bold" panose="00000800000000000000" pitchFamily="2" charset="-122"/>
              </a:rPr>
              <a:t>&amp;</a:t>
            </a:r>
            <a:r>
              <a:rPr lang="zh-CN" altLang="en-US" sz="900" dirty="0">
                <a:solidFill>
                  <a:schemeClr val="tx1"/>
                </a:solidFill>
                <a:latin typeface="+mn-ea"/>
                <a:cs typeface="MiSans Bold" panose="00000800000000000000" pitchFamily="2" charset="-122"/>
                <a:sym typeface="MiSans Bold" panose="00000800000000000000" pitchFamily="2" charset="-122"/>
              </a:rPr>
              <a:t>宣导</a:t>
            </a:r>
          </a:p>
        </p:txBody>
      </p:sp>
      <p:sp>
        <p:nvSpPr>
          <p:cNvPr id="999" name="矩形: 圆角 80">
            <a:extLst>
              <a:ext uri="{FF2B5EF4-FFF2-40B4-BE49-F238E27FC236}">
                <a16:creationId xmlns:a16="http://schemas.microsoft.com/office/drawing/2014/main" id="{E9BEF3CA-B684-1B41-4F13-566AA7A0545A}"/>
              </a:ext>
            </a:extLst>
          </p:cNvPr>
          <p:cNvSpPr/>
          <p:nvPr/>
        </p:nvSpPr>
        <p:spPr>
          <a:xfrm>
            <a:off x="6211865" y="2494136"/>
            <a:ext cx="1188000" cy="22153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cs typeface="MiSans Bold" panose="00000800000000000000" pitchFamily="2" charset="-122"/>
                <a:sym typeface="MiSans Bold" panose="00000800000000000000" pitchFamily="2" charset="-122"/>
              </a:rPr>
              <a:t>阶段四：全量扩城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3F0B4E-A6CC-A461-0FA8-00F3605DC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33665" y="3778250"/>
            <a:ext cx="3236716" cy="161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51792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2640-3262-7A34-7BE4-17CFA34D9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84BDACD0-C6D0-6AF7-6D93-3FC26CFC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6" y="40618"/>
            <a:ext cx="7664380" cy="427313"/>
          </a:xfrm>
        </p:spPr>
        <p:txBody>
          <a:bodyPr>
            <a:normAutofit fontScale="90000"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FF0000"/>
                </a:solidFill>
                <a:latin typeface="+mn-ea"/>
              </a:rPr>
              <a:t>承接用户地址决策：</a:t>
            </a:r>
            <a:r>
              <a:rPr lang="zh-CN" altLang="en-US" sz="2100" dirty="0">
                <a:latin typeface="+mn-ea"/>
              </a:rPr>
              <a:t>指数榜</a:t>
            </a:r>
            <a:r>
              <a:rPr lang="en-US" altLang="zh-CN" sz="2100" dirty="0">
                <a:latin typeface="+mn-ea"/>
              </a:rPr>
              <a:t>-</a:t>
            </a:r>
            <a:r>
              <a:rPr lang="zh-CN" altLang="en-US" sz="2100" dirty="0">
                <a:latin typeface="+mn-ea"/>
              </a:rPr>
              <a:t>地址扩充。缺一个地址维度，要不要提</a:t>
            </a:r>
            <a:endParaRPr lang="en-US" altLang="zh-CN" sz="21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365600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010B3377-3EE7-069F-BD69-94153EA90EF5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6674623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菜品需求及试点</a:t>
            </a:r>
            <a:r>
              <a:rPr lang="zh-CN" altLang="en-US" sz="2100" dirty="0">
                <a:solidFill>
                  <a:srgbClr val="FF0000"/>
                </a:solidFill>
                <a:latin typeface="+mj-ea"/>
              </a:rPr>
              <a:t>（看下前面的以菜找店要不要放这）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9D0299-CADC-E2AA-8851-F595337E6624}"/>
              </a:ext>
            </a:extLst>
          </p:cNvPr>
          <p:cNvSpPr/>
          <p:nvPr/>
        </p:nvSpPr>
        <p:spPr>
          <a:xfrm>
            <a:off x="100584" y="428937"/>
            <a:ext cx="8933687" cy="1763698"/>
          </a:xfrm>
          <a:prstGeom prst="rect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6F8097-BC92-4A3E-6A9C-FB8BF3F727D1}"/>
              </a:ext>
            </a:extLst>
          </p:cNvPr>
          <p:cNvSpPr/>
          <p:nvPr/>
        </p:nvSpPr>
        <p:spPr>
          <a:xfrm>
            <a:off x="100584" y="2224889"/>
            <a:ext cx="8942832" cy="1831202"/>
          </a:xfrm>
          <a:prstGeom prst="rect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7FACD5C-8852-2854-0AF2-97C948CBB935}"/>
              </a:ext>
            </a:extLst>
          </p:cNvPr>
          <p:cNvSpPr/>
          <p:nvPr/>
        </p:nvSpPr>
        <p:spPr>
          <a:xfrm>
            <a:off x="100583" y="4096552"/>
            <a:ext cx="8933687" cy="926552"/>
          </a:xfrm>
          <a:prstGeom prst="rect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zh-CN" altLang="en-US" sz="1000" b="0" i="0" dirty="0">
              <a:solidFill>
                <a:srgbClr val="0D0D0D"/>
              </a:solidFill>
              <a:effectLst/>
              <a:latin typeface="-apple-system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BD3626B-1F78-19F1-017C-8646758DFB99}"/>
              </a:ext>
            </a:extLst>
          </p:cNvPr>
          <p:cNvSpPr/>
          <p:nvPr/>
        </p:nvSpPr>
        <p:spPr>
          <a:xfrm>
            <a:off x="144568" y="2256236"/>
            <a:ext cx="246923" cy="1764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菜品需求榜单承接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F74AC05-6E76-88CD-DE0E-A452F5C43F65}"/>
              </a:ext>
            </a:extLst>
          </p:cNvPr>
          <p:cNvSpPr txBox="1"/>
          <p:nvPr/>
        </p:nvSpPr>
        <p:spPr>
          <a:xfrm>
            <a:off x="-1045371" y="428937"/>
            <a:ext cx="10453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</a:rPr>
              <a:t>补充原子菜的情况规模</a:t>
            </a:r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zh-CN" altLang="en-US" sz="1200" dirty="0">
                <a:solidFill>
                  <a:srgbClr val="C00000"/>
                </a:solidFill>
              </a:rPr>
              <a:t>增加特色菜的需求承接</a:t>
            </a:r>
            <a:endParaRPr lang="en-US" altLang="zh-CN" sz="1200" dirty="0">
              <a:solidFill>
                <a:srgbClr val="C00000"/>
              </a:solidFill>
            </a:endParaRPr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zh-CN" altLang="en-US" sz="1200" dirty="0">
                <a:solidFill>
                  <a:srgbClr val="C00000"/>
                </a:solidFill>
              </a:rPr>
              <a:t>从</a:t>
            </a:r>
            <a:r>
              <a:rPr lang="en-US" altLang="zh-CN" sz="1200" dirty="0">
                <a:solidFill>
                  <a:srgbClr val="C00000"/>
                </a:solidFill>
              </a:rPr>
              <a:t>query</a:t>
            </a:r>
            <a:r>
              <a:rPr lang="zh-CN" altLang="en-US" sz="1200" dirty="0">
                <a:solidFill>
                  <a:srgbClr val="C00000"/>
                </a:solidFill>
              </a:rPr>
              <a:t>看菜品需求</a:t>
            </a:r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zh-CN" altLang="en-US" sz="1200" dirty="0">
                <a:solidFill>
                  <a:srgbClr val="C00000"/>
                </a:solidFill>
              </a:rPr>
              <a:t>城市特色菜</a:t>
            </a:r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zh-CN" altLang="en-US" sz="1200" dirty="0">
                <a:solidFill>
                  <a:srgbClr val="C00000"/>
                </a:solidFill>
              </a:rPr>
              <a:t>时令菜</a:t>
            </a:r>
            <a:r>
              <a:rPr lang="en-US" altLang="zh-CN" sz="1200" dirty="0">
                <a:solidFill>
                  <a:srgbClr val="C00000"/>
                </a:solidFill>
              </a:rPr>
              <a:t>-</a:t>
            </a:r>
            <a:r>
              <a:rPr lang="zh-CN" altLang="en-US" sz="1200" dirty="0">
                <a:solidFill>
                  <a:srgbClr val="C00000"/>
                </a:solidFill>
              </a:rPr>
              <a:t>春鲜榜</a:t>
            </a:r>
            <a:endParaRPr lang="en-US" altLang="zh-CN" sz="1200" dirty="0">
              <a:solidFill>
                <a:srgbClr val="C00000"/>
              </a:solidFill>
            </a:endParaRPr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zh-CN" altLang="en-US" sz="1200" dirty="0">
                <a:solidFill>
                  <a:srgbClr val="C00000"/>
                </a:solidFill>
              </a:rPr>
              <a:t>原子菜的卡点和计划在某些城市覆盖度高的城市先行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AC4D1465-50CB-2E04-FB07-F8B6E4D43C5F}"/>
              </a:ext>
            </a:extLst>
          </p:cNvPr>
          <p:cNvGraphicFramePr/>
          <p:nvPr/>
        </p:nvGraphicFramePr>
        <p:xfrm>
          <a:off x="109729" y="856250"/>
          <a:ext cx="8942833" cy="649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B4D1CC9-1686-4C0C-A4EA-1D5BD01218D0}"/>
              </a:ext>
            </a:extLst>
          </p:cNvPr>
          <p:cNvSpPr/>
          <p:nvPr/>
        </p:nvSpPr>
        <p:spPr>
          <a:xfrm>
            <a:off x="3847017" y="1012490"/>
            <a:ext cx="2480632" cy="320943"/>
          </a:xfrm>
          <a:prstGeom prst="roundRect">
            <a:avLst/>
          </a:prstGeom>
          <a:noFill/>
          <a:ln w="9525"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4A5B3C0-E136-2488-65E2-ACE3316C3DB8}"/>
              </a:ext>
            </a:extLst>
          </p:cNvPr>
          <p:cNvSpPr/>
          <p:nvPr/>
        </p:nvSpPr>
        <p:spPr>
          <a:xfrm>
            <a:off x="3536944" y="1503235"/>
            <a:ext cx="2257043" cy="646070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300"/>
              </a:lnSpc>
            </a:pPr>
            <a:r>
              <a:rPr lang="zh-CN" altLang="en-US" sz="1000" b="1" u="sng" dirty="0">
                <a:solidFill>
                  <a:schemeClr val="tx1"/>
                </a:solidFill>
              </a:rPr>
              <a:t>当地特色</a:t>
            </a:r>
            <a:endParaRPr lang="en-US" altLang="zh-CN" sz="900" b="1" u="sng" dirty="0">
              <a:solidFill>
                <a:schemeClr val="tx1"/>
              </a:solidFill>
            </a:endParaRPr>
          </a:p>
          <a:p>
            <a:pPr algn="ctr">
              <a:lnSpc>
                <a:spcPts val="1300"/>
              </a:lnSpc>
            </a:pP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Eg: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“铁锅炖、火锅鸡、江西小炒、新疆炒米粉、胡辣汤、兰州拉面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……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C21F85B-0FF2-8E30-422E-7774CDDAF5F8}"/>
              </a:ext>
            </a:extLst>
          </p:cNvPr>
          <p:cNvSpPr/>
          <p:nvPr/>
        </p:nvSpPr>
        <p:spPr>
          <a:xfrm>
            <a:off x="6347294" y="1495240"/>
            <a:ext cx="2257043" cy="654065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300"/>
              </a:lnSpc>
            </a:pPr>
            <a:r>
              <a:rPr lang="zh-CN" altLang="en-US" sz="1000" b="1" u="sng" dirty="0">
                <a:solidFill>
                  <a:schemeClr val="tx1"/>
                </a:solidFill>
              </a:rPr>
              <a:t>尝鲜尝爆</a:t>
            </a:r>
            <a:endParaRPr lang="en-US" altLang="zh-CN" sz="1000" b="1" u="sng" dirty="0">
              <a:solidFill>
                <a:schemeClr val="tx1"/>
              </a:solidFill>
            </a:endParaRPr>
          </a:p>
          <a:p>
            <a:pPr algn="ctr">
              <a:lnSpc>
                <a:spcPts val="1300"/>
              </a:lnSpc>
            </a:pP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Eg:</a:t>
            </a:r>
            <a:r>
              <a:rPr lang="zh-CN" altLang="en-US" sz="900" i="1" dirty="0">
                <a:solidFill>
                  <a:srgbClr val="FF0000"/>
                </a:solidFill>
              </a:rPr>
              <a:t>“牛肉、牛蛙、三文鱼、牛排、</a:t>
            </a:r>
            <a:endParaRPr lang="en-US" altLang="zh-CN" sz="900" i="1" dirty="0">
              <a:solidFill>
                <a:srgbClr val="FF0000"/>
              </a:solidFill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i="1" dirty="0">
                <a:solidFill>
                  <a:srgbClr val="FF0000"/>
                </a:solidFill>
              </a:rPr>
              <a:t>鱼、虾</a:t>
            </a:r>
            <a:r>
              <a:rPr lang="en-US" altLang="zh-CN" sz="900" i="1" dirty="0">
                <a:solidFill>
                  <a:srgbClr val="FF0000"/>
                </a:solidFill>
              </a:rPr>
              <a:t>……</a:t>
            </a:r>
            <a:r>
              <a:rPr lang="zh-CN" altLang="en-US" sz="900" i="1" dirty="0">
                <a:solidFill>
                  <a:srgbClr val="FF0000"/>
                </a:solidFill>
              </a:rPr>
              <a:t>”</a:t>
            </a:r>
            <a:endParaRPr lang="zh-CN" altLang="en-US" sz="1000" i="1" dirty="0">
              <a:solidFill>
                <a:srgbClr val="FF0000"/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50043FF-BCFA-BB67-618E-971EF1F6D13A}"/>
              </a:ext>
            </a:extLst>
          </p:cNvPr>
          <p:cNvSpPr/>
          <p:nvPr/>
        </p:nvSpPr>
        <p:spPr>
          <a:xfrm>
            <a:off x="835152" y="1505704"/>
            <a:ext cx="2257042" cy="646070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300"/>
              </a:lnSpc>
            </a:pPr>
            <a:r>
              <a:rPr lang="zh-CN" altLang="en-US" sz="1000" b="1" u="sng" dirty="0">
                <a:solidFill>
                  <a:schemeClr val="tx1"/>
                </a:solidFill>
              </a:rPr>
              <a:t>时令节日</a:t>
            </a:r>
            <a:r>
              <a:rPr lang="en-US" altLang="zh-CN" sz="900" b="1" u="sng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altLang="zh-CN" sz="900" i="1" dirty="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lnSpc>
                <a:spcPts val="1300"/>
              </a:lnSpc>
            </a:pPr>
            <a:r>
              <a:rPr lang="en-US" altLang="zh-CN" sz="900" i="1" dirty="0" err="1">
                <a:solidFill>
                  <a:schemeClr val="bg1">
                    <a:lumMod val="50000"/>
                  </a:schemeClr>
                </a:solidFill>
              </a:rPr>
              <a:t>Eg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“小龙虾、春笋、粽子、香椿、樱花糕、大闸蟹、青团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…….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09018D7-FDFF-A219-0B8C-57572459EFB0}"/>
              </a:ext>
            </a:extLst>
          </p:cNvPr>
          <p:cNvSpPr txBox="1"/>
          <p:nvPr/>
        </p:nvSpPr>
        <p:spPr>
          <a:xfrm>
            <a:off x="2110612" y="988579"/>
            <a:ext cx="441146" cy="2145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i="1" dirty="0">
                <a:solidFill>
                  <a:schemeClr val="bg1">
                    <a:lumMod val="50000"/>
                  </a:schemeClr>
                </a:solidFill>
              </a:rPr>
              <a:t>商家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EF8188F-85F5-77EF-AA88-D1FF46D04ED9}"/>
              </a:ext>
            </a:extLst>
          </p:cNvPr>
          <p:cNvSpPr txBox="1"/>
          <p:nvPr/>
        </p:nvSpPr>
        <p:spPr>
          <a:xfrm>
            <a:off x="4912964" y="988579"/>
            <a:ext cx="441146" cy="2145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i="1" dirty="0">
                <a:solidFill>
                  <a:schemeClr val="bg1">
                    <a:lumMod val="50000"/>
                  </a:schemeClr>
                </a:solidFill>
              </a:rPr>
              <a:t>菜品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E1019CC-375F-0384-D072-A2939F0E1934}"/>
              </a:ext>
            </a:extLst>
          </p:cNvPr>
          <p:cNvSpPr txBox="1"/>
          <p:nvPr/>
        </p:nvSpPr>
        <p:spPr>
          <a:xfrm>
            <a:off x="6973617" y="988579"/>
            <a:ext cx="441146" cy="2145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i="1" dirty="0">
                <a:solidFill>
                  <a:schemeClr val="bg1">
                    <a:lumMod val="50000"/>
                  </a:schemeClr>
                </a:solidFill>
              </a:rPr>
              <a:t>品类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CE955B3-A256-B202-C56D-F903465E9A79}"/>
              </a:ext>
            </a:extLst>
          </p:cNvPr>
          <p:cNvSpPr txBox="1"/>
          <p:nvPr/>
        </p:nvSpPr>
        <p:spPr>
          <a:xfrm>
            <a:off x="8003944" y="988579"/>
            <a:ext cx="441146" cy="2145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i="1" dirty="0">
                <a:solidFill>
                  <a:schemeClr val="bg1">
                    <a:lumMod val="50000"/>
                  </a:schemeClr>
                </a:solidFill>
              </a:rPr>
              <a:t>地址</a:t>
            </a:r>
          </a:p>
        </p:txBody>
      </p:sp>
      <p:sp>
        <p:nvSpPr>
          <p:cNvPr id="49" name="右大括号 48">
            <a:extLst>
              <a:ext uri="{FF2B5EF4-FFF2-40B4-BE49-F238E27FC236}">
                <a16:creationId xmlns:a16="http://schemas.microsoft.com/office/drawing/2014/main" id="{C7F9DB1D-8F19-0A19-838F-0D38A23E7E41}"/>
              </a:ext>
            </a:extLst>
          </p:cNvPr>
          <p:cNvSpPr/>
          <p:nvPr/>
        </p:nvSpPr>
        <p:spPr>
          <a:xfrm rot="16200000">
            <a:off x="4641025" y="-2513960"/>
            <a:ext cx="160655" cy="7857744"/>
          </a:xfrm>
          <a:prstGeom prst="rightBrace">
            <a:avLst>
              <a:gd name="adj1" fmla="val 98645"/>
              <a:gd name="adj2" fmla="val 53955"/>
            </a:avLst>
          </a:prstGeom>
          <a:ln w="9525">
            <a:solidFill>
              <a:srgbClr val="BF9D00"/>
            </a:solidFill>
            <a:prstDash val="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5A4244C-3E74-4F47-2A18-B14CE966FAE1}"/>
              </a:ext>
            </a:extLst>
          </p:cNvPr>
          <p:cNvSpPr txBox="1"/>
          <p:nvPr/>
        </p:nvSpPr>
        <p:spPr>
          <a:xfrm>
            <a:off x="9145" y="420942"/>
            <a:ext cx="8963669" cy="460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71450" algn="ctr">
              <a:lnSpc>
                <a:spcPts val="1500"/>
              </a:lnSpc>
              <a:buFont typeface="Wingdings" panose="05000000000000000000" pitchFamily="2" charset="2"/>
              <a:buChar char="Ø"/>
              <a:tabLst>
                <a:tab pos="4664075" algn="l"/>
              </a:tabLst>
            </a:pPr>
            <a:r>
              <a:rPr lang="zh-CN" altLang="en-US" sz="1000" b="1" dirty="0"/>
              <a:t>根据用户在大搜入口下的搜索词意图分析并结构化</a:t>
            </a:r>
            <a:r>
              <a:rPr lang="en-US" altLang="zh-CN" sz="1000" b="1" dirty="0"/>
              <a:t>qv</a:t>
            </a:r>
            <a:r>
              <a:rPr lang="zh-CN" altLang="en-US" sz="1000" b="1" dirty="0"/>
              <a:t>占比，其中</a:t>
            </a:r>
            <a:r>
              <a:rPr lang="en-US" altLang="zh-CN" sz="1000" b="1" dirty="0"/>
              <a:t>34%qv</a:t>
            </a:r>
            <a:r>
              <a:rPr lang="zh-CN" altLang="en-US" sz="1000" b="1" dirty="0"/>
              <a:t>集中于精确搜索的商家意图，而菜品、品类等泛搜索需求占比达</a:t>
            </a:r>
            <a:r>
              <a:rPr lang="en-US" altLang="zh-CN" sz="1000" b="1" dirty="0"/>
              <a:t>45%</a:t>
            </a:r>
            <a:r>
              <a:rPr lang="zh-CN" altLang="en-US" sz="1000" b="1" dirty="0"/>
              <a:t>，其中菜品</a:t>
            </a:r>
            <a:r>
              <a:rPr lang="en-US" altLang="zh-CN" sz="1000" b="1" dirty="0"/>
              <a:t>qv</a:t>
            </a:r>
            <a:r>
              <a:rPr lang="zh-CN" altLang="en-US" sz="1000" b="1" dirty="0"/>
              <a:t>下榜单承接</a:t>
            </a:r>
            <a:r>
              <a:rPr lang="en-US" altLang="zh-CN" sz="1000" b="1" dirty="0"/>
              <a:t>qv</a:t>
            </a:r>
            <a:r>
              <a:rPr lang="zh-CN" altLang="en-US" sz="1000" b="1" dirty="0"/>
              <a:t>量为</a:t>
            </a:r>
            <a:r>
              <a:rPr lang="en-US" altLang="zh-CN" sz="1000" b="1" dirty="0"/>
              <a:t>46.6%</a:t>
            </a:r>
            <a:r>
              <a:rPr lang="zh-CN" altLang="en-US" sz="1000" b="1" dirty="0"/>
              <a:t>，仍有较大做功空间。从用户搜索词分类，将用户搜菜找店需求区分为时令节日，口味食材，当地特色菜三大类进行承接。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1ACCFE42-958B-56C7-8138-E67C56511BB7}"/>
              </a:ext>
            </a:extLst>
          </p:cNvPr>
          <p:cNvSpPr/>
          <p:nvPr/>
        </p:nvSpPr>
        <p:spPr>
          <a:xfrm>
            <a:off x="144568" y="4116058"/>
            <a:ext cx="246923" cy="88168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下一步计划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4A8B50A4-D1B4-6E91-8E67-1D9C2509F97F}"/>
              </a:ext>
            </a:extLst>
          </p:cNvPr>
          <p:cNvSpPr txBox="1"/>
          <p:nvPr/>
        </p:nvSpPr>
        <p:spPr>
          <a:xfrm>
            <a:off x="379447" y="4051583"/>
            <a:ext cx="8614696" cy="9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4664075" algn="l"/>
              </a:tabLst>
            </a:pPr>
            <a:r>
              <a:rPr lang="zh-CN" altLang="en-US" sz="1000" b="1" dirty="0">
                <a:latin typeface="+mn-ea"/>
              </a:rPr>
              <a:t>原子菜覆盖现状：</a:t>
            </a:r>
            <a:endParaRPr lang="en-US" altLang="zh-CN" sz="1000" b="1" dirty="0">
              <a:latin typeface="+mn-ea"/>
            </a:endParaRPr>
          </a:p>
          <a:p>
            <a:pPr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664075" algn="l"/>
              </a:tabLst>
            </a:pPr>
            <a:r>
              <a:rPr lang="zh-CN" altLang="en-US" sz="1000" dirty="0">
                <a:effectLst/>
                <a:latin typeface="+mn-ea"/>
              </a:rPr>
              <a:t>商户</a:t>
            </a:r>
            <a:r>
              <a:rPr lang="en-US" altLang="zh-CN" sz="1000" dirty="0">
                <a:effectLst/>
                <a:latin typeface="+mn-ea"/>
              </a:rPr>
              <a:t>65.8</a:t>
            </a:r>
            <a:r>
              <a:rPr lang="zh-CN" altLang="en-US" sz="1000" dirty="0">
                <a:effectLst/>
                <a:latin typeface="+mn-ea"/>
              </a:rPr>
              <a:t>万家，占大盘商户</a:t>
            </a:r>
            <a:r>
              <a:rPr lang="en-US" altLang="zh-CN" sz="1000" dirty="0">
                <a:effectLst/>
                <a:latin typeface="+mn-ea"/>
              </a:rPr>
              <a:t>8%</a:t>
            </a:r>
            <a:r>
              <a:rPr lang="zh-CN" altLang="en-US" sz="1000" dirty="0">
                <a:effectLst/>
                <a:latin typeface="+mn-ea"/>
              </a:rPr>
              <a:t>，菜品收集量达</a:t>
            </a:r>
            <a:r>
              <a:rPr lang="en-US" altLang="zh-CN" sz="1000" dirty="0">
                <a:effectLst/>
                <a:latin typeface="+mn-ea"/>
              </a:rPr>
              <a:t>9607</a:t>
            </a:r>
            <a:r>
              <a:rPr lang="zh-CN" altLang="en-US" sz="1000" dirty="0">
                <a:effectLst/>
                <a:latin typeface="+mn-ea"/>
              </a:rPr>
              <a:t>万条。其中满足周度消费订单量≥</a:t>
            </a:r>
            <a:r>
              <a:rPr lang="en-US" altLang="zh-CN" sz="1000" dirty="0">
                <a:effectLst/>
                <a:latin typeface="+mn-ea"/>
              </a:rPr>
              <a:t>10</a:t>
            </a:r>
            <a:r>
              <a:rPr lang="zh-CN" altLang="en-US" sz="1000" i="1" dirty="0">
                <a:effectLst/>
                <a:latin typeface="+mn-ea"/>
              </a:rPr>
              <a:t>（榜单门槛）</a:t>
            </a:r>
            <a:r>
              <a:rPr lang="zh-CN" altLang="en-US" sz="1000" dirty="0">
                <a:latin typeface="+mn-ea"/>
              </a:rPr>
              <a:t>商户为</a:t>
            </a:r>
            <a:r>
              <a:rPr lang="en-US" altLang="zh-CN" sz="1000" dirty="0">
                <a:latin typeface="+mn-ea"/>
              </a:rPr>
              <a:t>30.9</a:t>
            </a:r>
            <a:r>
              <a:rPr lang="zh-CN" altLang="en-US" sz="1000" dirty="0">
                <a:latin typeface="+mn-ea"/>
              </a:rPr>
              <a:t>万，被过滤掉近半数原子菜商户。</a:t>
            </a:r>
            <a:endParaRPr lang="en-US" altLang="zh-CN" sz="1000" dirty="0">
              <a:effectLst/>
              <a:latin typeface="+mn-ea"/>
            </a:endParaRPr>
          </a:p>
          <a:p>
            <a:pPr>
              <a:lnSpc>
                <a:spcPct val="150000"/>
              </a:lnSpc>
              <a:tabLst>
                <a:tab pos="4664075" algn="l"/>
              </a:tabLst>
            </a:pPr>
            <a:r>
              <a:rPr lang="zh-CN" altLang="en-US" sz="1000" b="1" dirty="0">
                <a:latin typeface="+mn-ea"/>
              </a:rPr>
              <a:t>下一步计划：</a:t>
            </a:r>
            <a:endParaRPr lang="en-US" altLang="zh-CN" sz="10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664075" algn="l"/>
              </a:tabLst>
            </a:pPr>
            <a:r>
              <a:rPr lang="zh-CN" altLang="en-US" sz="1000" i="0" dirty="0">
                <a:solidFill>
                  <a:srgbClr val="0D0D0D"/>
                </a:solidFill>
                <a:effectLst/>
                <a:latin typeface="-apple-system"/>
              </a:rPr>
              <a:t>① 持续监测高交易活跃度商户的覆盖 ② 优先选取原子菜商户覆盖占比高、且高交易活跃商户占比同样突出的城市，作为菜品榜的先行试点市场。</a:t>
            </a:r>
            <a:endParaRPr lang="en-US" altLang="zh-CN" sz="1000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8AA3C0-772D-F545-D247-574E1D281723}"/>
              </a:ext>
            </a:extLst>
          </p:cNvPr>
          <p:cNvSpPr txBox="1"/>
          <p:nvPr/>
        </p:nvSpPr>
        <p:spPr>
          <a:xfrm>
            <a:off x="1476733" y="2445714"/>
            <a:ext cx="1615461" cy="1374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zh-CN" altLang="en-US" sz="900" b="1" dirty="0"/>
              <a:t>数据效果：</a:t>
            </a:r>
            <a:endParaRPr lang="en-US" altLang="zh-CN" sz="900" b="1" dirty="0"/>
          </a:p>
          <a:p>
            <a:pPr>
              <a:lnSpc>
                <a:spcPts val="1700"/>
              </a:lnSpc>
            </a:pPr>
            <a:r>
              <a:rPr lang="zh-CN" altLang="en-US" sz="900" dirty="0"/>
              <a:t>清明节期间榜单决策</a:t>
            </a:r>
            <a:r>
              <a:rPr lang="en" altLang="zh-CN" sz="900" dirty="0"/>
              <a:t>UV </a:t>
            </a:r>
            <a:r>
              <a:rPr lang="en-US" altLang="zh-CN" sz="900" dirty="0">
                <a:effectLst/>
              </a:rPr>
              <a:t>3794 </a:t>
            </a:r>
            <a:r>
              <a:rPr lang="zh-CN" altLang="en" sz="900" dirty="0"/>
              <a:t>，</a:t>
            </a:r>
            <a:r>
              <a:rPr lang="zh-CN" altLang="en-US" sz="900" dirty="0"/>
              <a:t>试点城市下春鲜套餐</a:t>
            </a:r>
            <a:r>
              <a:rPr lang="en-US" altLang="zh-CN" sz="900" dirty="0"/>
              <a:t>7</a:t>
            </a:r>
            <a:r>
              <a:rPr lang="zh-CN" altLang="en-US" sz="900" dirty="0"/>
              <a:t>日</a:t>
            </a:r>
            <a:r>
              <a:rPr lang="en" altLang="zh-CN" sz="900" dirty="0"/>
              <a:t>gtv</a:t>
            </a:r>
            <a:r>
              <a:rPr lang="zh-CN" altLang="en-US" sz="900" dirty="0"/>
              <a:t>占比</a:t>
            </a:r>
            <a:r>
              <a:rPr lang="en-US" altLang="zh-CN" sz="900" dirty="0">
                <a:effectLst/>
              </a:rPr>
              <a:t>2.3</a:t>
            </a:r>
            <a:r>
              <a:rPr lang="en" altLang="zh-CN" sz="900" dirty="0"/>
              <a:t>%</a:t>
            </a:r>
            <a:r>
              <a:rPr lang="zh-CN" altLang="en" sz="900" dirty="0"/>
              <a:t>，</a:t>
            </a:r>
            <a:r>
              <a:rPr lang="zh-CN" altLang="en-US" sz="900" dirty="0"/>
              <a:t>其中榜单落地页</a:t>
            </a:r>
            <a:r>
              <a:rPr lang="en" altLang="zh-CN" sz="900" dirty="0"/>
              <a:t>gtv5</a:t>
            </a:r>
            <a:r>
              <a:rPr lang="zh-CN" altLang="en-US" sz="900" dirty="0"/>
              <a:t>万</a:t>
            </a:r>
            <a:r>
              <a:rPr lang="zh-CN" altLang="en" sz="900" dirty="0"/>
              <a:t>（</a:t>
            </a:r>
            <a:r>
              <a:rPr lang="zh-CN" altLang="en-US" sz="900" dirty="0"/>
              <a:t>占比</a:t>
            </a:r>
            <a:r>
              <a:rPr lang="en-US" altLang="zh-CN" sz="900" dirty="0"/>
              <a:t>7</a:t>
            </a:r>
            <a:r>
              <a:rPr lang="zh-CN" altLang="en-US" sz="900" dirty="0"/>
              <a:t>日</a:t>
            </a:r>
            <a:r>
              <a:rPr lang="en" altLang="zh-CN" sz="900" dirty="0"/>
              <a:t>gtv0.1%</a:t>
            </a:r>
            <a:r>
              <a:rPr lang="zh-CN" altLang="en" sz="900" dirty="0"/>
              <a:t>）</a:t>
            </a:r>
            <a:endParaRPr lang="en-US" altLang="zh-CN" sz="900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3B2EB8E-ED57-DEE1-1D96-6622843ED5B3}"/>
              </a:ext>
            </a:extLst>
          </p:cNvPr>
          <p:cNvSpPr/>
          <p:nvPr/>
        </p:nvSpPr>
        <p:spPr>
          <a:xfrm>
            <a:off x="1476732" y="2251364"/>
            <a:ext cx="1747001" cy="22496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时令套餐榜</a:t>
            </a:r>
          </a:p>
        </p:txBody>
      </p:sp>
      <p:pic>
        <p:nvPicPr>
          <p:cNvPr id="88" name="图片 87">
            <a:extLst>
              <a:ext uri="{FF2B5EF4-FFF2-40B4-BE49-F238E27FC236}">
                <a16:creationId xmlns:a16="http://schemas.microsoft.com/office/drawing/2014/main" id="{5B5EE98B-F658-F473-9EE0-49670F56B0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37"/>
          <a:stretch/>
        </p:blipFill>
        <p:spPr>
          <a:xfrm>
            <a:off x="446597" y="2261213"/>
            <a:ext cx="972000" cy="1721763"/>
          </a:xfrm>
          <a:prstGeom prst="rect">
            <a:avLst/>
          </a:prstGeom>
          <a:ln>
            <a:noFill/>
          </a:ln>
          <a:effectLst/>
        </p:spPr>
      </p:pic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0E3FF92-DBCB-90E9-DF51-9E532B3F77BB}"/>
              </a:ext>
            </a:extLst>
          </p:cNvPr>
          <p:cNvSpPr/>
          <p:nvPr/>
        </p:nvSpPr>
        <p:spPr>
          <a:xfrm>
            <a:off x="4271913" y="2255873"/>
            <a:ext cx="1747001" cy="22046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特色菜榜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3DF8152-7D8E-9D50-404D-490D138E47AF}"/>
              </a:ext>
            </a:extLst>
          </p:cNvPr>
          <p:cNvSpPr txBox="1"/>
          <p:nvPr/>
        </p:nvSpPr>
        <p:spPr>
          <a:xfrm>
            <a:off x="4271914" y="2441654"/>
            <a:ext cx="1733664" cy="1712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900" b="1" dirty="0"/>
              <a:t>数据效果：</a:t>
            </a:r>
            <a:endParaRPr lang="en-US" altLang="zh-CN" sz="900" dirty="0"/>
          </a:p>
          <a:p>
            <a:pPr>
              <a:lnSpc>
                <a:spcPts val="1600"/>
              </a:lnSpc>
            </a:pPr>
            <a:r>
              <a:rPr lang="zh-CN" altLang="en-US" sz="900" dirty="0"/>
              <a:t>五一期间</a:t>
            </a:r>
            <a:r>
              <a:rPr lang="zh-CN" altLang="en-US" sz="900" dirty="0">
                <a:effectLst/>
              </a:rPr>
              <a:t>榜单流量（异地意向</a:t>
            </a:r>
            <a:r>
              <a:rPr lang="en-US" altLang="zh-CN" sz="900" dirty="0" err="1">
                <a:effectLst/>
              </a:rPr>
              <a:t>uv</a:t>
            </a:r>
            <a:r>
              <a:rPr lang="zh-CN" altLang="en-US" sz="900" dirty="0">
                <a:effectLst/>
              </a:rPr>
              <a:t>）较基期</a:t>
            </a:r>
            <a:r>
              <a:rPr lang="en-US" altLang="zh-CN" sz="900" dirty="0">
                <a:effectLst/>
              </a:rPr>
              <a:t>+267.9%</a:t>
            </a:r>
            <a:r>
              <a:rPr lang="zh-CN" altLang="en-US" sz="900" dirty="0">
                <a:effectLst/>
              </a:rPr>
              <a:t>。</a:t>
            </a:r>
          </a:p>
          <a:p>
            <a:pPr>
              <a:lnSpc>
                <a:spcPts val="1600"/>
              </a:lnSpc>
            </a:pPr>
            <a:r>
              <a:rPr lang="zh-CN" altLang="en-US" sz="900" dirty="0"/>
              <a:t>特色菜扩城至</a:t>
            </a:r>
            <a:r>
              <a:rPr lang="en-US" altLang="zh-CN" sz="900" dirty="0"/>
              <a:t>524</a:t>
            </a:r>
            <a:r>
              <a:rPr lang="zh-CN" altLang="en-US" sz="900" dirty="0"/>
              <a:t>（新增</a:t>
            </a:r>
            <a:r>
              <a:rPr lang="en-US" altLang="zh-CN" sz="900" dirty="0"/>
              <a:t>162</a:t>
            </a:r>
            <a:r>
              <a:rPr lang="zh-CN" altLang="en-US" sz="900" dirty="0"/>
              <a:t>城市），城市</a:t>
            </a:r>
            <a:r>
              <a:rPr lang="en-US" altLang="zh-CN" sz="900" dirty="0"/>
              <a:t>×</a:t>
            </a:r>
            <a:r>
              <a:rPr lang="zh-CN" altLang="en-US" sz="900" dirty="0"/>
              <a:t>菜品数从</a:t>
            </a:r>
            <a:r>
              <a:rPr lang="en-US" altLang="zh-CN" sz="900" dirty="0"/>
              <a:t>2485</a:t>
            </a:r>
            <a:r>
              <a:rPr lang="zh-CN" altLang="en-US" sz="900" dirty="0"/>
              <a:t>增至</a:t>
            </a:r>
            <a:r>
              <a:rPr lang="en-US" altLang="zh-CN" sz="900" dirty="0"/>
              <a:t>4119</a:t>
            </a:r>
            <a:r>
              <a:rPr lang="zh-CN" altLang="en-US" sz="900" dirty="0"/>
              <a:t>。</a:t>
            </a:r>
            <a:endParaRPr lang="en-US" altLang="zh-CN" sz="900" dirty="0"/>
          </a:p>
          <a:p>
            <a:pPr>
              <a:lnSpc>
                <a:spcPts val="1600"/>
              </a:lnSpc>
            </a:pPr>
            <a:endParaRPr lang="zh-CN" altLang="en-US" sz="900" dirty="0"/>
          </a:p>
          <a:p>
            <a:pPr>
              <a:lnSpc>
                <a:spcPts val="1600"/>
              </a:lnSpc>
            </a:pPr>
            <a:endParaRPr lang="zh-CN" altLang="en-US" sz="900" b="0" i="0" dirty="0">
              <a:solidFill>
                <a:srgbClr val="0D0D0D"/>
              </a:solidFill>
              <a:effectLst/>
              <a:latin typeface="-apple-system"/>
            </a:endParaRP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EB85199D-D8DA-E604-8BF4-0865406B7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392" y="2259440"/>
            <a:ext cx="972000" cy="1733413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3AF7DE60-A0A3-9F78-8A56-9C12BD626F89}"/>
              </a:ext>
            </a:extLst>
          </p:cNvPr>
          <p:cNvGrpSpPr/>
          <p:nvPr/>
        </p:nvGrpSpPr>
        <p:grpSpPr>
          <a:xfrm>
            <a:off x="9594660" y="2262665"/>
            <a:ext cx="2828902" cy="1780254"/>
            <a:chOff x="5868501" y="2259440"/>
            <a:chExt cx="2828902" cy="1780254"/>
          </a:xfrm>
        </p:grpSpPr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DFABDDB-F71C-8C42-CB06-873219A373EF}"/>
                </a:ext>
              </a:extLst>
            </p:cNvPr>
            <p:cNvSpPr/>
            <p:nvPr/>
          </p:nvSpPr>
          <p:spPr>
            <a:xfrm>
              <a:off x="6880354" y="2259440"/>
              <a:ext cx="1800000" cy="216893"/>
            </a:xfrm>
            <a:prstGeom prst="roundRect">
              <a:avLst/>
            </a:prstGeom>
            <a:solidFill>
              <a:schemeClr val="bg2">
                <a:alpha val="30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城市</a:t>
              </a:r>
              <a:r>
                <a:rPr lang="en-US" altLang="zh-CN" sz="1000" b="1" dirty="0">
                  <a:solidFill>
                    <a:schemeClr val="tx1"/>
                  </a:solidFill>
                </a:rPr>
                <a:t>×</a:t>
              </a:r>
              <a:r>
                <a:rPr lang="zh-CN" altLang="en-US" sz="1000" b="1" dirty="0">
                  <a:solidFill>
                    <a:schemeClr val="tx1"/>
                  </a:solidFill>
                </a:rPr>
                <a:t>个性化品类榜</a:t>
              </a: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B1F3553C-927F-A80B-FC69-4F07B5A131F3}"/>
                </a:ext>
              </a:extLst>
            </p:cNvPr>
            <p:cNvSpPr/>
            <p:nvPr/>
          </p:nvSpPr>
          <p:spPr>
            <a:xfrm>
              <a:off x="5868501" y="2266288"/>
              <a:ext cx="972000" cy="173294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900" dirty="0">
                  <a:solidFill>
                    <a:schemeClr val="tx1"/>
                  </a:solidFill>
                </a:rPr>
                <a:t>潮汕菜</a:t>
              </a:r>
              <a:endParaRPr lang="en-US" altLang="zh-CN" sz="9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900" dirty="0">
                  <a:solidFill>
                    <a:schemeClr val="tx1"/>
                  </a:solidFill>
                </a:rPr>
                <a:t>顺德菜</a:t>
              </a:r>
              <a:endParaRPr lang="en-US" altLang="zh-CN" sz="9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900" dirty="0">
                  <a:solidFill>
                    <a:schemeClr val="tx1"/>
                  </a:solidFill>
                </a:rPr>
                <a:t>苏帮菜</a:t>
              </a:r>
              <a:endParaRPr lang="en-US" altLang="zh-CN" sz="9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900" dirty="0">
                  <a:solidFill>
                    <a:schemeClr val="tx1"/>
                  </a:solidFill>
                </a:rPr>
                <a:t>衢州菜</a:t>
              </a:r>
              <a:endParaRPr lang="en-US" altLang="zh-CN" sz="9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900" dirty="0">
                  <a:solidFill>
                    <a:schemeClr val="tx1"/>
                  </a:solidFill>
                </a:rPr>
                <a:t>胶东菜</a:t>
              </a:r>
              <a:endParaRPr lang="en-US" altLang="zh-CN" sz="9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900" dirty="0">
                  <a:solidFill>
                    <a:schemeClr val="tx1"/>
                  </a:solidFill>
                </a:rPr>
                <a:t>绍兴菜</a:t>
              </a:r>
              <a:endParaRPr lang="en-US" altLang="zh-CN" sz="9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900" dirty="0">
                  <a:solidFill>
                    <a:schemeClr val="tx1"/>
                  </a:solidFill>
                </a:rPr>
                <a:t>闽南菜</a:t>
              </a:r>
              <a:endParaRPr lang="en-US" altLang="zh-CN" sz="9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900" i="0" dirty="0">
                  <a:solidFill>
                    <a:srgbClr val="0D0D0D"/>
                  </a:solidFill>
                  <a:effectLst/>
                  <a:latin typeface="-apple-system"/>
                </a:rPr>
                <a:t>皖南菜</a:t>
              </a:r>
              <a:r>
                <a:rPr lang="en-US" altLang="zh-CN" sz="900" i="0" dirty="0">
                  <a:solidFill>
                    <a:srgbClr val="0D0D0D"/>
                  </a:solidFill>
                  <a:effectLst/>
                  <a:latin typeface="-apple-system"/>
                </a:rPr>
                <a:t>……</a:t>
              </a:r>
              <a:endParaRPr lang="en-US" altLang="zh-CN" sz="900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endParaRPr lang="zh-CN" altLang="en-US" sz="9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07" name="图表 106">
              <a:extLst>
                <a:ext uri="{FF2B5EF4-FFF2-40B4-BE49-F238E27FC236}">
                  <a16:creationId xmlns:a16="http://schemas.microsoft.com/office/drawing/2014/main" id="{C7B7BC00-91AD-DCE9-CB9D-89C5B96B56AA}"/>
                </a:ext>
              </a:extLst>
            </p:cNvPr>
            <p:cNvGraphicFramePr/>
            <p:nvPr/>
          </p:nvGraphicFramePr>
          <p:xfrm>
            <a:off x="6663033" y="2511574"/>
            <a:ext cx="1968036" cy="15281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1C035AB9-F88E-42DF-80F3-FE899096472C}"/>
                </a:ext>
              </a:extLst>
            </p:cNvPr>
            <p:cNvSpPr txBox="1"/>
            <p:nvPr/>
          </p:nvSpPr>
          <p:spPr>
            <a:xfrm>
              <a:off x="7188818" y="2445206"/>
              <a:ext cx="1508585" cy="1302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zh-CN" altLang="en-US" sz="900" b="1" dirty="0"/>
                <a:t>数据分析：</a:t>
              </a:r>
              <a:endParaRPr lang="en-US" altLang="zh-CN" sz="900" dirty="0"/>
            </a:p>
            <a:p>
              <a:pPr>
                <a:lnSpc>
                  <a:spcPts val="1600"/>
                </a:lnSpc>
              </a:pPr>
              <a:r>
                <a:rPr lang="zh-CN" altLang="en-US" sz="900" dirty="0"/>
                <a:t>从看榜且有下单行为的用户群体中表明，</a:t>
              </a:r>
              <a:r>
                <a:rPr lang="en-US" altLang="zh-CN" sz="900" dirty="0"/>
                <a:t>71%</a:t>
              </a:r>
              <a:r>
                <a:rPr lang="zh-CN" altLang="en-US" sz="900" dirty="0"/>
                <a:t>的用户会在看榜后当天就下单，说明榜单辅助用户找店决策提效显著。</a:t>
              </a:r>
              <a:endParaRPr lang="zh-CN" altLang="en-US" sz="900" b="0" i="0" dirty="0">
                <a:solidFill>
                  <a:srgbClr val="0D0D0D"/>
                </a:solidFill>
                <a:effectLst/>
                <a:latin typeface="-apple-system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98BB626E-9486-D042-EC51-94ABF7A7AE3E}"/>
              </a:ext>
            </a:extLst>
          </p:cNvPr>
          <p:cNvSpPr txBox="1"/>
          <p:nvPr/>
        </p:nvSpPr>
        <p:spPr>
          <a:xfrm>
            <a:off x="5915817" y="4418428"/>
            <a:ext cx="3397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00000"/>
                </a:solidFill>
              </a:rPr>
              <a:t>区域*菜品数量分布（全店）</a:t>
            </a:r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zh-CN" altLang="en-US" sz="1200" dirty="0">
                <a:solidFill>
                  <a:srgbClr val="C00000"/>
                </a:solidFill>
              </a:rPr>
              <a:t>北京的北京烤鸭门店数，高分占比</a:t>
            </a:r>
            <a:r>
              <a:rPr lang="en-US" altLang="zh-CN" sz="1200" dirty="0">
                <a:solidFill>
                  <a:srgbClr val="C00000"/>
                </a:solidFill>
              </a:rPr>
              <a:t>60%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0CF9749-7E75-75E7-C14F-165BE54C6968}"/>
              </a:ext>
            </a:extLst>
          </p:cNvPr>
          <p:cNvGrpSpPr/>
          <p:nvPr/>
        </p:nvGrpSpPr>
        <p:grpSpPr>
          <a:xfrm>
            <a:off x="7225813" y="2255873"/>
            <a:ext cx="1747001" cy="1488382"/>
            <a:chOff x="4035031" y="2255873"/>
            <a:chExt cx="1747001" cy="1488382"/>
          </a:xfrm>
        </p:grpSpPr>
        <p:sp>
          <p:nvSpPr>
            <p:cNvPr id="6" name="矩形: 圆角 53">
              <a:extLst>
                <a:ext uri="{FF2B5EF4-FFF2-40B4-BE49-F238E27FC236}">
                  <a16:creationId xmlns:a16="http://schemas.microsoft.com/office/drawing/2014/main" id="{086AE31E-2A59-0498-B9AB-7CFDF12EED0D}"/>
                </a:ext>
              </a:extLst>
            </p:cNvPr>
            <p:cNvSpPr/>
            <p:nvPr/>
          </p:nvSpPr>
          <p:spPr>
            <a:xfrm>
              <a:off x="4035031" y="2255873"/>
              <a:ext cx="1747001" cy="22046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  <a:alpha val="30000"/>
              </a:schemeClr>
            </a:solidFill>
            <a:ln w="63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</a:rPr>
                <a:t>新品榜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DBB9CBD-139C-EDA8-D60A-B29C69205FE3}"/>
                </a:ext>
              </a:extLst>
            </p:cNvPr>
            <p:cNvSpPr txBox="1"/>
            <p:nvPr/>
          </p:nvSpPr>
          <p:spPr>
            <a:xfrm>
              <a:off x="4035032" y="2441654"/>
              <a:ext cx="1733664" cy="1302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zh-CN" altLang="en-US" sz="900" b="1" dirty="0"/>
                <a:t>数据效果：</a:t>
              </a:r>
              <a:endParaRPr lang="en-US" altLang="zh-CN" sz="900" b="1" dirty="0"/>
            </a:p>
            <a:p>
              <a:pPr>
                <a:lnSpc>
                  <a:spcPts val="1600"/>
                </a:lnSpc>
              </a:pPr>
              <a:r>
                <a:rPr lang="zh-CN" altLang="en-US" sz="900" dirty="0"/>
                <a:t>新品榜</a:t>
              </a:r>
              <a:r>
                <a:rPr lang="en-US" altLang="zh-CN" sz="900" dirty="0"/>
                <a:t>+GC</a:t>
              </a:r>
              <a:r>
                <a:rPr lang="zh-CN" altLang="en-US" sz="900" dirty="0"/>
                <a:t>标签挖掘：为用户提供</a:t>
              </a:r>
              <a:r>
                <a:rPr lang="en-US" altLang="zh-CN" sz="900" dirty="0"/>
                <a:t>【</a:t>
              </a:r>
              <a:r>
                <a:rPr lang="zh-CN" altLang="en-US" sz="900" dirty="0"/>
                <a:t>及时准确</a:t>
              </a:r>
              <a:r>
                <a:rPr lang="en-US" altLang="zh-CN" sz="900" dirty="0"/>
                <a:t>】</a:t>
              </a:r>
              <a:r>
                <a:rPr lang="zh-CN" altLang="en-US" sz="900" dirty="0"/>
                <a:t>、</a:t>
              </a:r>
              <a:r>
                <a:rPr lang="en-US" altLang="zh-CN" sz="900" dirty="0"/>
                <a:t>【</a:t>
              </a:r>
              <a:r>
                <a:rPr lang="zh-CN" altLang="en-US" sz="900" dirty="0"/>
                <a:t>搜寻效率高</a:t>
              </a:r>
              <a:r>
                <a:rPr lang="en-US" altLang="zh-CN" sz="900" dirty="0"/>
                <a:t>】</a:t>
              </a:r>
              <a:r>
                <a:rPr lang="zh-CN" altLang="en-US" sz="900" dirty="0"/>
                <a:t>、</a:t>
              </a:r>
              <a:r>
                <a:rPr lang="en-US" altLang="zh-CN" sz="900" dirty="0"/>
                <a:t>【</a:t>
              </a:r>
              <a:r>
                <a:rPr lang="zh-CN" altLang="en-US" sz="900" dirty="0"/>
                <a:t>决策信息充分</a:t>
              </a:r>
              <a:r>
                <a:rPr lang="en-US" altLang="zh-CN" sz="900" dirty="0"/>
                <a:t>】</a:t>
              </a:r>
              <a:r>
                <a:rPr lang="zh-CN" altLang="en-US" sz="900" dirty="0"/>
                <a:t>的</a:t>
              </a:r>
              <a:r>
                <a:rPr lang="en-US" altLang="zh-CN" sz="900" dirty="0"/>
                <a:t>【</a:t>
              </a:r>
              <a:r>
                <a:rPr lang="zh-CN" altLang="en-US" sz="900" dirty="0"/>
                <a:t>新品</a:t>
              </a:r>
              <a:r>
                <a:rPr lang="en-US" altLang="zh-CN" sz="900" dirty="0"/>
                <a:t>】</a:t>
              </a:r>
              <a:r>
                <a:rPr lang="zh-CN" altLang="en-US" sz="900" dirty="0"/>
                <a:t>发现与导购服务。</a:t>
              </a:r>
            </a:p>
            <a:p>
              <a:pPr>
                <a:lnSpc>
                  <a:spcPts val="1600"/>
                </a:lnSpc>
              </a:pPr>
              <a:endParaRPr lang="zh-CN" altLang="en-US" sz="900" b="0" i="0" dirty="0">
                <a:solidFill>
                  <a:srgbClr val="0D0D0D"/>
                </a:solidFill>
                <a:effectLst/>
                <a:latin typeface="-apple-system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5D23667F-5569-824E-4BB6-BF7B47450E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6643"/>
          <a:stretch>
            <a:fillRect/>
          </a:stretch>
        </p:blipFill>
        <p:spPr>
          <a:xfrm>
            <a:off x="6206087" y="2251364"/>
            <a:ext cx="969434" cy="1735200"/>
          </a:xfrm>
          <a:prstGeom prst="rect">
            <a:avLst/>
          </a:prstGeom>
          <a:effectLst/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B8E2E20-922A-60E8-02A4-62DBE3D4C378}"/>
              </a:ext>
            </a:extLst>
          </p:cNvPr>
          <p:cNvSpPr txBox="1"/>
          <p:nvPr/>
        </p:nvSpPr>
        <p:spPr>
          <a:xfrm>
            <a:off x="1480673" y="3732319"/>
            <a:ext cx="1611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+mj-ea"/>
              </a:rPr>
              <a:t>这个你认为效果好么？如好有哪些沉淀，可扩量么？如不好，有什么经验教训</a:t>
            </a:r>
            <a:r>
              <a:rPr lang="en-US" altLang="zh-CN" sz="1000" dirty="0">
                <a:solidFill>
                  <a:srgbClr val="FF0000"/>
                </a:solidFill>
                <a:latin typeface="+mj-ea"/>
              </a:rPr>
              <a:t>/</a:t>
            </a:r>
            <a:r>
              <a:rPr lang="zh-CN" altLang="en-US" sz="1000" dirty="0">
                <a:solidFill>
                  <a:srgbClr val="FF0000"/>
                </a:solidFill>
                <a:latin typeface="+mj-ea"/>
              </a:rPr>
              <a:t>需要解决的卡点</a:t>
            </a:r>
            <a:endParaRPr lang="zh-CN" altLang="en-US" sz="1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9E9361-2F88-C937-03A4-B2731980DA47}"/>
              </a:ext>
            </a:extLst>
          </p:cNvPr>
          <p:cNvSpPr txBox="1"/>
          <p:nvPr/>
        </p:nvSpPr>
        <p:spPr>
          <a:xfrm>
            <a:off x="4318944" y="3754513"/>
            <a:ext cx="16115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+mj-ea"/>
              </a:rPr>
              <a:t>重点说下下一步吧。扩城扩菜扩动线</a:t>
            </a:r>
            <a:endParaRPr lang="zh-CN" altLang="en-US" sz="1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098C63-E155-9F99-3BC3-00E755FD562D}"/>
              </a:ext>
            </a:extLst>
          </p:cNvPr>
          <p:cNvSpPr txBox="1"/>
          <p:nvPr/>
        </p:nvSpPr>
        <p:spPr>
          <a:xfrm>
            <a:off x="7340666" y="3718428"/>
            <a:ext cx="16115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+mj-ea"/>
              </a:rPr>
              <a:t>新品的资产和公信力是什么，要讨论下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71739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33027" y="36166"/>
            <a:ext cx="42845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zh-CN" altLang="en-US" sz="2100" dirty="0">
                <a:latin typeface="+mj-ea"/>
                <a:ea typeface="+mj-ea"/>
              </a:rPr>
              <a:t>指数榜优化</a:t>
            </a:r>
            <a:r>
              <a:rPr lang="en-US" altLang="zh-CN" sz="2100" dirty="0">
                <a:latin typeface="+mj-ea"/>
                <a:ea typeface="+mj-ea"/>
              </a:rPr>
              <a:t>-</a:t>
            </a:r>
            <a:r>
              <a:rPr lang="zh-CN" altLang="en-US" sz="2100" dirty="0">
                <a:latin typeface="+mj-ea"/>
                <a:ea typeface="+mj-ea"/>
              </a:rPr>
              <a:t>人气榜引入</a:t>
            </a:r>
            <a:r>
              <a:rPr lang="en-US" altLang="zh-CN" sz="2100" dirty="0">
                <a:latin typeface="+mj-ea"/>
                <a:ea typeface="+mj-ea"/>
              </a:rPr>
              <a:t>GTV</a:t>
            </a:r>
            <a:endParaRPr lang="en-US" sz="2100" dirty="0">
              <a:latin typeface="+mj-ea"/>
              <a:ea typeface="+mj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1C03453-69EF-F60D-3821-A5F9437A811E}"/>
              </a:ext>
            </a:extLst>
          </p:cNvPr>
          <p:cNvGrpSpPr/>
          <p:nvPr/>
        </p:nvGrpSpPr>
        <p:grpSpPr>
          <a:xfrm>
            <a:off x="7216221" y="3456498"/>
            <a:ext cx="1779140" cy="862176"/>
            <a:chOff x="6296024" y="1594620"/>
            <a:chExt cx="2390014" cy="1398474"/>
          </a:xfrm>
        </p:grpSpPr>
        <p:sp>
          <p:nvSpPr>
            <p:cNvPr id="24" name="Shape 20"/>
            <p:cNvSpPr/>
            <p:nvPr/>
          </p:nvSpPr>
          <p:spPr>
            <a:xfrm>
              <a:off x="6296025" y="1873654"/>
              <a:ext cx="1424134" cy="0"/>
            </a:xfrm>
            <a:prstGeom prst="line">
              <a:avLst/>
            </a:prstGeom>
            <a:noFill/>
            <a:ln w="19050">
              <a:solidFill>
                <a:srgbClr val="FFD100"/>
              </a:solidFill>
              <a:prstDash val="solid"/>
            </a:ln>
          </p:spPr>
        </p:sp>
        <p:sp>
          <p:nvSpPr>
            <p:cNvPr id="26" name="Text 21"/>
            <p:cNvSpPr/>
            <p:nvPr/>
          </p:nvSpPr>
          <p:spPr>
            <a:xfrm>
              <a:off x="6296024" y="1594620"/>
              <a:ext cx="2012823" cy="1933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333"/>
                </a:lnSpc>
              </a:pPr>
              <a:r>
                <a:rPr lang="en-US" sz="1200" b="1" dirty="0" err="1">
                  <a:solidFill>
                    <a:srgbClr val="000000"/>
                  </a:solidFill>
                  <a:latin typeface="+mn-ea"/>
                </a:rPr>
                <a:t>波动影响可控</a:t>
              </a:r>
              <a:endParaRPr lang="en-US" sz="1200" b="1" dirty="0">
                <a:solidFill>
                  <a:srgbClr val="000000"/>
                </a:solidFill>
                <a:latin typeface="+mn-ea"/>
              </a:endParaRP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2E3D3D7D-DA14-327E-570D-E84E3C0BF8B9}"/>
                </a:ext>
              </a:extLst>
            </p:cNvPr>
            <p:cNvGrpSpPr/>
            <p:nvPr/>
          </p:nvGrpSpPr>
          <p:grpSpPr>
            <a:xfrm>
              <a:off x="6296025" y="2098509"/>
              <a:ext cx="2390013" cy="894585"/>
              <a:chOff x="6117204" y="2103776"/>
              <a:chExt cx="2390013" cy="631105"/>
            </a:xfrm>
          </p:grpSpPr>
          <p:sp>
            <p:nvSpPr>
              <p:cNvPr id="29" name="Text 24"/>
              <p:cNvSpPr/>
              <p:nvPr/>
            </p:nvSpPr>
            <p:spPr>
              <a:xfrm>
                <a:off x="6117204" y="2103776"/>
                <a:ext cx="2390013" cy="1732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365"/>
                  </a:lnSpc>
                  <a:spcBef>
                    <a:spcPts val="300"/>
                  </a:spcBef>
                  <a:spcAft>
                    <a:spcPts val="75"/>
                  </a:spcAft>
                  <a:buNone/>
                </a:pPr>
                <a:r>
                  <a:rPr lang="en-US" sz="1000" b="1" dirty="0">
                    <a:solidFill>
                      <a:srgbClr val="333333"/>
                    </a:solidFill>
                    <a:latin typeface="+mn-ea"/>
                    <a:cs typeface="Microsoft YaHei" pitchFamily="34" charset="-120"/>
                  </a:rPr>
                  <a:t>NO.1 商户稳定性</a:t>
                </a:r>
                <a:endParaRPr lang="en-US" sz="1000" dirty="0">
                  <a:latin typeface="+mn-ea"/>
                </a:endParaRPr>
              </a:p>
            </p:txBody>
          </p:sp>
          <p:sp>
            <p:nvSpPr>
              <p:cNvPr id="30" name="Text 25"/>
              <p:cNvSpPr/>
              <p:nvPr/>
            </p:nvSpPr>
            <p:spPr>
              <a:xfrm>
                <a:off x="6117204" y="2271446"/>
                <a:ext cx="2390013" cy="46343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约50%保持第一，34%</a:t>
                </a:r>
                <a:r>
                  <a:rPr lang="en-US" altLang="zh-CN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-</a:t>
                </a:r>
                <a:r>
                  <a:rPr lang="en-US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44%下降1</a:t>
                </a:r>
                <a:r>
                  <a:rPr lang="en-US" altLang="zh-CN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-</a:t>
                </a:r>
                <a:r>
                  <a:rPr lang="en-US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2名，仅1%</a:t>
                </a:r>
                <a:r>
                  <a:rPr lang="zh-CN" altLang="en-US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的</a:t>
                </a:r>
                <a:r>
                  <a:rPr lang="en-US" sz="1000" dirty="0" err="1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商户下榜</a:t>
                </a:r>
                <a:r>
                  <a:rPr lang="zh-CN" altLang="en-US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，主要集中于奶咖，快餐，占比</a:t>
                </a:r>
                <a:r>
                  <a:rPr lang="en-US" altLang="zh-CN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60%</a:t>
                </a:r>
                <a:r>
                  <a:rPr lang="zh-CN" altLang="en-US" sz="1000" dirty="0">
                    <a:solidFill>
                      <a:srgbClr val="666666"/>
                    </a:solidFill>
                    <a:latin typeface="+mn-ea"/>
                    <a:cs typeface="Microsoft YaHei" pitchFamily="34" charset="-120"/>
                  </a:rPr>
                  <a:t>。</a:t>
                </a:r>
                <a:endParaRPr lang="en-US" sz="1000" dirty="0">
                  <a:latin typeface="+mn-ea"/>
                </a:endParaRPr>
              </a:p>
            </p:txBody>
          </p:sp>
        </p:grpSp>
      </p:grpSp>
      <p:sp>
        <p:nvSpPr>
          <p:cNvPr id="33" name="米菲PPT1">
            <a:extLst>
              <a:ext uri="{FF2B5EF4-FFF2-40B4-BE49-F238E27FC236}">
                <a16:creationId xmlns:a16="http://schemas.microsoft.com/office/drawing/2014/main" id="{D351BC0B-8FFC-01E2-83B9-0BB3375EEC80}"/>
              </a:ext>
            </a:extLst>
          </p:cNvPr>
          <p:cNvSpPr/>
          <p:nvPr/>
        </p:nvSpPr>
        <p:spPr>
          <a:xfrm>
            <a:off x="50800" y="973818"/>
            <a:ext cx="2977031" cy="2178806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sp>
        <p:nvSpPr>
          <p:cNvPr id="34" name="米菲PPT13">
            <a:extLst>
              <a:ext uri="{FF2B5EF4-FFF2-40B4-BE49-F238E27FC236}">
                <a16:creationId xmlns:a16="http://schemas.microsoft.com/office/drawing/2014/main" id="{313E6859-516A-31A6-10A2-E2ADCB0DE460}"/>
              </a:ext>
            </a:extLst>
          </p:cNvPr>
          <p:cNvSpPr/>
          <p:nvPr/>
        </p:nvSpPr>
        <p:spPr>
          <a:xfrm>
            <a:off x="50800" y="625536"/>
            <a:ext cx="2977031" cy="293243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点评销量榜 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VS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 美团人气榜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308F3D64-A454-3D89-BA5E-919B7DC06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975723"/>
              </p:ext>
            </p:extLst>
          </p:nvPr>
        </p:nvGraphicFramePr>
        <p:xfrm>
          <a:off x="109728" y="1027319"/>
          <a:ext cx="2896794" cy="1719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5279">
                  <a:extLst>
                    <a:ext uri="{9D8B030D-6E8A-4147-A177-3AD203B41FA5}">
                      <a16:colId xmlns:a16="http://schemas.microsoft.com/office/drawing/2014/main" val="395410111"/>
                    </a:ext>
                  </a:extLst>
                </a:gridCol>
                <a:gridCol w="1287927">
                  <a:extLst>
                    <a:ext uri="{9D8B030D-6E8A-4147-A177-3AD203B41FA5}">
                      <a16:colId xmlns:a16="http://schemas.microsoft.com/office/drawing/2014/main" val="3324819412"/>
                    </a:ext>
                  </a:extLst>
                </a:gridCol>
                <a:gridCol w="1203588">
                  <a:extLst>
                    <a:ext uri="{9D8B030D-6E8A-4147-A177-3AD203B41FA5}">
                      <a16:colId xmlns:a16="http://schemas.microsoft.com/office/drawing/2014/main" val="3273986544"/>
                    </a:ext>
                  </a:extLst>
                </a:gridCol>
              </a:tblGrid>
              <a:tr h="17984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维度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上榜门槛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排序规则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0044711"/>
                  </a:ext>
                </a:extLst>
              </a:tr>
              <a:tr h="74669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u="none" strike="noStrike" dirty="0">
                          <a:effectLst/>
                          <a:latin typeface="+mn-ea"/>
                          <a:ea typeface="+mn-ea"/>
                        </a:rPr>
                        <a:t>销量榜</a:t>
                      </a:r>
                      <a:endParaRPr lang="en-US" altLang="zh-CN" sz="800" b="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ctr"/>
                      <a:r>
                        <a:rPr lang="zh-CN" altLang="en-US" sz="800" b="0" u="none" strike="noStrike" dirty="0">
                          <a:effectLst/>
                          <a:latin typeface="+mn-ea"/>
                          <a:ea typeface="+mn-ea"/>
                        </a:rPr>
                        <a:t>（点评）</a:t>
                      </a:r>
                      <a:endParaRPr lang="en-US" altLang="zh-CN" sz="800" b="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19w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u="none" strike="noStrike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zh-CN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星级总分</a:t>
                      </a:r>
                      <a:r>
                        <a:rPr lang="en-US" altLang="zh-CN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&gt;3.5</a:t>
                      </a:r>
                      <a:r>
                        <a:rPr lang="zh-CN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分</a:t>
                      </a:r>
                    </a:p>
                    <a:p>
                      <a:pPr marL="0" marR="0" lvl="0" indent="0" algn="l" defTabSz="685800" rtl="0" eaLnBrk="1" fontAlgn="ctr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②点评评价总数</a:t>
                      </a:r>
                      <a:endParaRPr lang="en-US" altLang="zh-CN" sz="8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ctr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③点评新增评价</a:t>
                      </a:r>
                      <a:endParaRPr lang="en-US" altLang="zh-CN" sz="8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ctr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④仅统计订单金额 ≥ </a:t>
                      </a:r>
                      <a:r>
                        <a:rPr lang="en-US" altLang="zh-CN" sz="80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endParaRPr lang="zh-CN" altLang="en-US" sz="80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u="none" strike="noStrike" dirty="0">
                          <a:effectLst/>
                          <a:latin typeface="+mn-ea"/>
                          <a:ea typeface="+mn-ea"/>
                        </a:rPr>
                        <a:t>依据商户在点评</a:t>
                      </a:r>
                      <a:r>
                        <a:rPr lang="zh-CN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近</a:t>
                      </a:r>
                      <a:r>
                        <a:rPr lang="en-US" altLang="zh-CN" sz="80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zh-CN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天</a:t>
                      </a:r>
                      <a:r>
                        <a:rPr lang="zh-CN" altLang="en-US" sz="800" u="none" strike="noStrike" dirty="0">
                          <a:effectLst/>
                          <a:latin typeface="+mn-ea"/>
                          <a:ea typeface="+mn-ea"/>
                        </a:rPr>
                        <a:t>的</a:t>
                      </a:r>
                      <a:r>
                        <a:rPr lang="zh-CN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真实销量和销售额</a:t>
                      </a:r>
                      <a:r>
                        <a:rPr lang="zh-CN" altLang="en-US" sz="800" u="none" strike="noStrike" dirty="0">
                          <a:effectLst/>
                          <a:latin typeface="+mn-ea"/>
                          <a:ea typeface="+mn-ea"/>
                        </a:rPr>
                        <a:t>、剔除刷单等作弊数据后进行综合排序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049506"/>
                  </a:ext>
                </a:extLst>
              </a:tr>
              <a:tr h="79310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b="0" u="none" strike="noStrike" dirty="0">
                          <a:effectLst/>
                          <a:latin typeface="+mn-ea"/>
                          <a:ea typeface="+mn-ea"/>
                        </a:rPr>
                        <a:t>人气榜</a:t>
                      </a:r>
                      <a:endParaRPr lang="en-US" altLang="zh-CN" sz="800" b="0" u="none" strike="noStrike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（美团）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67w</a:t>
                      </a: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Font typeface="Arial" panose="020B0604020202020204" pitchFamily="34" charset="0"/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①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美团星级 ≥ 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3 </a:t>
                      </a:r>
                    </a:p>
                    <a:p>
                      <a:pPr marL="0" marR="0">
                        <a:buFont typeface="Arial" panose="020B0604020202020204" pitchFamily="34" charset="0"/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门店在线：门店在上一周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榜单统计时间内处于营业中，未有停业歇业等行为 </a:t>
                      </a:r>
                    </a:p>
                    <a:p>
                      <a:pPr marL="0" marR="0">
                        <a:buFont typeface="Arial" panose="020B0604020202020204" pitchFamily="34" charset="0"/>
                        <a:buNone/>
                      </a:pP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④</a:t>
                      </a:r>
                      <a:r>
                        <a:rPr lang="zh-CN" altLang="en-US" sz="800" b="0" dirty="0">
                          <a:solidFill>
                            <a:schemeClr val="tx1"/>
                          </a:solidFill>
                          <a:effectLst/>
                        </a:rPr>
                        <a:t>门店周核销量 ≥ </a:t>
                      </a:r>
                      <a:r>
                        <a:rPr lang="en-US" altLang="zh-CN" sz="800" b="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zh-CN" altLang="en-US" sz="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800" u="none" strike="noStrike" dirty="0">
                          <a:effectLst/>
                          <a:latin typeface="+mn-ea"/>
                          <a:ea typeface="+mn-ea"/>
                        </a:rPr>
                        <a:t>仅根据商户</a:t>
                      </a:r>
                      <a:r>
                        <a:rPr lang="zh-CN" altLang="en-US" sz="800" u="none" strike="noStrike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上周真实核销量</a:t>
                      </a:r>
                      <a:r>
                        <a:rPr lang="zh-CN" altLang="en-US" sz="800" u="none" strike="noStrike" dirty="0">
                          <a:effectLst/>
                          <a:latin typeface="+mn-ea"/>
                          <a:ea typeface="+mn-ea"/>
                        </a:rPr>
                        <a:t>进行综合排序</a:t>
                      </a:r>
                      <a:endParaRPr lang="en-US" altLang="zh-CN" sz="8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075" marR="3075" marT="3075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381894"/>
                  </a:ext>
                </a:extLst>
              </a:tr>
            </a:tbl>
          </a:graphicData>
        </a:graphic>
      </p:graphicFrame>
      <p:sp>
        <p:nvSpPr>
          <p:cNvPr id="41" name="米菲PPT13">
            <a:extLst>
              <a:ext uri="{FF2B5EF4-FFF2-40B4-BE49-F238E27FC236}">
                <a16:creationId xmlns:a16="http://schemas.microsoft.com/office/drawing/2014/main" id="{EFAB2578-92DC-411D-178A-FC55CF2C1B7B}"/>
              </a:ext>
            </a:extLst>
          </p:cNvPr>
          <p:cNvSpPr/>
          <p:nvPr/>
        </p:nvSpPr>
        <p:spPr>
          <a:xfrm>
            <a:off x="3083484" y="625536"/>
            <a:ext cx="2977031" cy="293243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引入</a:t>
            </a:r>
            <a:r>
              <a:rPr lang="en-US" altLang="zh-CN" sz="1200" b="1" dirty="0">
                <a:solidFill>
                  <a:schemeClr val="tx1"/>
                </a:solidFill>
                <a:latin typeface="+mn-ea"/>
              </a:rPr>
              <a:t>GTV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后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米菲PPT13">
            <a:extLst>
              <a:ext uri="{FF2B5EF4-FFF2-40B4-BE49-F238E27FC236}">
                <a16:creationId xmlns:a16="http://schemas.microsoft.com/office/drawing/2014/main" id="{F55ED1E1-5475-A54F-0C7A-B324FECF3FE0}"/>
              </a:ext>
            </a:extLst>
          </p:cNvPr>
          <p:cNvSpPr/>
          <p:nvPr/>
        </p:nvSpPr>
        <p:spPr>
          <a:xfrm>
            <a:off x="6112830" y="623954"/>
            <a:ext cx="2977031" cy="293243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+mn-ea"/>
              </a:rPr>
              <a:t>上线计划</a:t>
            </a:r>
            <a:endParaRPr lang="en-US" altLang="zh-CN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6" name="米菲PPT1">
            <a:extLst>
              <a:ext uri="{FF2B5EF4-FFF2-40B4-BE49-F238E27FC236}">
                <a16:creationId xmlns:a16="http://schemas.microsoft.com/office/drawing/2014/main" id="{7C626C04-3232-2DCA-2E26-698F837909E0}"/>
              </a:ext>
            </a:extLst>
          </p:cNvPr>
          <p:cNvSpPr/>
          <p:nvPr/>
        </p:nvSpPr>
        <p:spPr>
          <a:xfrm>
            <a:off x="6112831" y="980486"/>
            <a:ext cx="2961733" cy="2169880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4FC20B59-C4E2-0A5F-8138-6845EA1E9A27}"/>
              </a:ext>
            </a:extLst>
          </p:cNvPr>
          <p:cNvSpPr/>
          <p:nvPr/>
        </p:nvSpPr>
        <p:spPr>
          <a:xfrm>
            <a:off x="6151468" y="2176582"/>
            <a:ext cx="1188000" cy="216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阶段三：城市试点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9851D0B7-F884-F312-6ADF-B52DAB88C26E}"/>
              </a:ext>
            </a:extLst>
          </p:cNvPr>
          <p:cNvSpPr/>
          <p:nvPr/>
        </p:nvSpPr>
        <p:spPr>
          <a:xfrm>
            <a:off x="6151468" y="2656974"/>
            <a:ext cx="1188000" cy="216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阶段四：全量扩城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0023238A-A736-AC49-AB5E-3723AC02ACD3}"/>
              </a:ext>
            </a:extLst>
          </p:cNvPr>
          <p:cNvSpPr txBox="1"/>
          <p:nvPr/>
        </p:nvSpPr>
        <p:spPr>
          <a:xfrm>
            <a:off x="6172994" y="2386040"/>
            <a:ext cx="2961734" cy="25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zh-CN" altLang="en-US" sz="900" dirty="0">
                <a:latin typeface="+mn-ea"/>
              </a:rPr>
              <a:t>根据指标向好及波动影响选择试点城市，宣导方案</a:t>
            </a:r>
            <a:endParaRPr lang="en-US" altLang="zh-CN" sz="900" dirty="0">
              <a:latin typeface="+mn-ea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2BA70CE-F512-8ED8-140C-4B91496D5DBC}"/>
              </a:ext>
            </a:extLst>
          </p:cNvPr>
          <p:cNvSpPr txBox="1"/>
          <p:nvPr/>
        </p:nvSpPr>
        <p:spPr>
          <a:xfrm>
            <a:off x="6165146" y="2877161"/>
            <a:ext cx="2571362" cy="25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zh-CN" altLang="en-US" sz="900" dirty="0">
                <a:latin typeface="+mn-ea"/>
              </a:rPr>
              <a:t>全国正式推广，更新人气榜规则</a:t>
            </a:r>
            <a:endParaRPr lang="en-US" altLang="zh-CN" sz="9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248125-017A-88FC-B46C-02FE4721A215}"/>
              </a:ext>
            </a:extLst>
          </p:cNvPr>
          <p:cNvSpPr txBox="1"/>
          <p:nvPr/>
        </p:nvSpPr>
        <p:spPr>
          <a:xfrm>
            <a:off x="-65423" y="2906403"/>
            <a:ext cx="31843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i="1" dirty="0">
                <a:solidFill>
                  <a:srgbClr val="C00000"/>
                </a:solidFill>
                <a:latin typeface="+mn-ea"/>
              </a:rPr>
              <a:t>综合评分</a:t>
            </a:r>
            <a:r>
              <a:rPr lang="en-US" altLang="zh-CN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=GTV</a:t>
            </a:r>
            <a:r>
              <a:rPr lang="zh-CN" altLang="en-US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归一化</a:t>
            </a:r>
            <a:r>
              <a:rPr lang="en-US" altLang="zh-CN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×</a:t>
            </a:r>
            <a:r>
              <a:rPr lang="zh-CN" altLang="en-US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权重</a:t>
            </a:r>
            <a:r>
              <a:rPr lang="en-US" altLang="zh-CN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%+</a:t>
            </a:r>
            <a:r>
              <a:rPr lang="zh-CN" altLang="en-US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订单量归一化</a:t>
            </a:r>
            <a:r>
              <a:rPr lang="en-US" altLang="zh-CN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×</a:t>
            </a:r>
            <a:r>
              <a:rPr lang="zh-CN" altLang="en-US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权重</a:t>
            </a:r>
            <a:r>
              <a:rPr lang="en-US" altLang="zh-CN" sz="1000" b="1" i="1" u="none" strike="noStrike" dirty="0">
                <a:solidFill>
                  <a:srgbClr val="C00000"/>
                </a:solidFill>
                <a:effectLst/>
                <a:latin typeface="+mn-ea"/>
                <a:ea typeface="+mn-ea"/>
              </a:rPr>
              <a:t>%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FA0FA76-3BB6-8549-E628-B95AB878A37B}"/>
              </a:ext>
            </a:extLst>
          </p:cNvPr>
          <p:cNvSpPr/>
          <p:nvPr/>
        </p:nvSpPr>
        <p:spPr>
          <a:xfrm>
            <a:off x="133027" y="405470"/>
            <a:ext cx="8842178" cy="57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100" b="1" dirty="0"/>
              <a:t>背景</a:t>
            </a:r>
            <a:r>
              <a:rPr lang="zh-CN" altLang="en-US" sz="1100" b="1" dirty="0">
                <a:effectLst/>
              </a:rPr>
              <a:t>：</a:t>
            </a:r>
            <a:r>
              <a:rPr lang="zh-CN" altLang="en-US" sz="1100" b="0" dirty="0">
                <a:effectLst/>
              </a:rPr>
              <a:t>当前人气榜排序规则仅依赖核销量，规则简单（易刷榜</a:t>
            </a:r>
            <a:r>
              <a:rPr lang="zh-CN" altLang="en-US" sz="1100" dirty="0"/>
              <a:t>），对于小吃饮品店优势明显，对</a:t>
            </a:r>
            <a:r>
              <a:rPr lang="zh-CN" altLang="en-US" sz="1100" b="0" dirty="0">
                <a:effectLst/>
              </a:rPr>
              <a:t>高</a:t>
            </a:r>
            <a:r>
              <a:rPr lang="en-US" altLang="zh-CN" sz="1100" b="0" dirty="0">
                <a:effectLst/>
              </a:rPr>
              <a:t>GTV</a:t>
            </a:r>
            <a:r>
              <a:rPr lang="zh-CN" altLang="en-US" sz="1100" b="0" dirty="0">
                <a:effectLst/>
              </a:rPr>
              <a:t>价值正餐商户略显不利。</a:t>
            </a:r>
          </a:p>
        </p:txBody>
      </p:sp>
      <p:sp>
        <p:nvSpPr>
          <p:cNvPr id="10" name="米菲PPT1">
            <a:extLst>
              <a:ext uri="{FF2B5EF4-FFF2-40B4-BE49-F238E27FC236}">
                <a16:creationId xmlns:a16="http://schemas.microsoft.com/office/drawing/2014/main" id="{9D5E0970-765A-12CF-8C85-706842396174}"/>
              </a:ext>
            </a:extLst>
          </p:cNvPr>
          <p:cNvSpPr/>
          <p:nvPr/>
        </p:nvSpPr>
        <p:spPr>
          <a:xfrm>
            <a:off x="3083484" y="971559"/>
            <a:ext cx="2977031" cy="2178807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8D3C89-3CE2-047D-8E01-CC275078C124}"/>
              </a:ext>
            </a:extLst>
          </p:cNvPr>
          <p:cNvGrpSpPr/>
          <p:nvPr/>
        </p:nvGrpSpPr>
        <p:grpSpPr>
          <a:xfrm>
            <a:off x="3022105" y="2486561"/>
            <a:ext cx="3114915" cy="688884"/>
            <a:chOff x="3067273" y="1242508"/>
            <a:chExt cx="3114915" cy="688884"/>
          </a:xfrm>
        </p:grpSpPr>
        <p:sp>
          <p:nvSpPr>
            <p:cNvPr id="12" name="矩形: 圆角 42">
              <a:extLst>
                <a:ext uri="{FF2B5EF4-FFF2-40B4-BE49-F238E27FC236}">
                  <a16:creationId xmlns:a16="http://schemas.microsoft.com/office/drawing/2014/main" id="{A4AB9CCA-50B1-7423-7097-93B71939C77D}"/>
                </a:ext>
              </a:extLst>
            </p:cNvPr>
            <p:cNvSpPr/>
            <p:nvPr/>
          </p:nvSpPr>
          <p:spPr>
            <a:xfrm>
              <a:off x="3144508" y="1242508"/>
              <a:ext cx="1144187" cy="231076"/>
            </a:xfrm>
            <a:prstGeom prst="roundRect">
              <a:avLst/>
            </a:prstGeom>
            <a:solidFill>
              <a:srgbClr val="EF9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上榜商户覆盖提升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1BAEB90-1CF2-CD2D-9693-1985FE1D884B}"/>
                </a:ext>
              </a:extLst>
            </p:cNvPr>
            <p:cNvSpPr txBox="1"/>
            <p:nvPr/>
          </p:nvSpPr>
          <p:spPr>
            <a:xfrm>
              <a:off x="3067273" y="1451774"/>
              <a:ext cx="3114915" cy="479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CN" sz="900" b="1" dirty="0">
                  <a:solidFill>
                    <a:srgbClr val="444444"/>
                  </a:solidFill>
                  <a:latin typeface="+mj-ea"/>
                  <a:cs typeface="Arial" pitchFamily="34" charset="-120"/>
                </a:rPr>
                <a:t>· </a:t>
              </a:r>
              <a:r>
                <a:rPr lang="zh-CN" altLang="en-US" sz="900" dirty="0">
                  <a:latin typeface="+mn-ea"/>
                </a:rPr>
                <a:t>整体榜单新增商户数</a:t>
              </a:r>
              <a:r>
                <a:rPr lang="en-US" altLang="zh-CN" sz="900" dirty="0">
                  <a:latin typeface="+mn-ea"/>
                </a:rPr>
                <a:t>4.8w</a:t>
              </a:r>
              <a:r>
                <a:rPr lang="zh-CN" altLang="en-US" sz="900" dirty="0">
                  <a:latin typeface="+mn-ea"/>
                </a:rPr>
                <a:t>家 ，其中核心商户数提升</a:t>
              </a:r>
              <a:r>
                <a:rPr lang="en-US" altLang="zh-CN" sz="900" dirty="0"/>
                <a:t>5905</a:t>
              </a:r>
              <a:r>
                <a:rPr lang="zh-CN" altLang="en-US" sz="900" dirty="0">
                  <a:latin typeface="+mn-ea"/>
                </a:rPr>
                <a:t>家</a:t>
              </a:r>
              <a:endParaRPr lang="zh-CN" altLang="en-US" sz="900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CD34A90-3CFF-6374-DF21-F2019BB5D84C}"/>
              </a:ext>
            </a:extLst>
          </p:cNvPr>
          <p:cNvGrpSpPr/>
          <p:nvPr/>
        </p:nvGrpSpPr>
        <p:grpSpPr>
          <a:xfrm>
            <a:off x="3023326" y="1751299"/>
            <a:ext cx="3481886" cy="706244"/>
            <a:chOff x="3014328" y="1875752"/>
            <a:chExt cx="3481886" cy="706244"/>
          </a:xfrm>
        </p:grpSpPr>
        <p:sp>
          <p:nvSpPr>
            <p:cNvPr id="15" name="矩形: 圆角 55">
              <a:extLst>
                <a:ext uri="{FF2B5EF4-FFF2-40B4-BE49-F238E27FC236}">
                  <a16:creationId xmlns:a16="http://schemas.microsoft.com/office/drawing/2014/main" id="{333FD15A-042E-6824-67B8-A4E3CB34A188}"/>
                </a:ext>
              </a:extLst>
            </p:cNvPr>
            <p:cNvSpPr/>
            <p:nvPr/>
          </p:nvSpPr>
          <p:spPr>
            <a:xfrm>
              <a:off x="3092958" y="1875752"/>
              <a:ext cx="1141571" cy="231076"/>
            </a:xfrm>
            <a:prstGeom prst="roundRect">
              <a:avLst/>
            </a:prstGeom>
            <a:solidFill>
              <a:srgbClr val="EF9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上榜商户</a:t>
              </a:r>
              <a:r>
                <a:rPr lang="en-US" altLang="zh-CN" sz="900" dirty="0">
                  <a:solidFill>
                    <a:schemeClr val="tx1"/>
                  </a:solidFill>
                  <a:latin typeface="+mn-ea"/>
                </a:rPr>
                <a:t>GTV</a:t>
              </a:r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提升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7E96FBB-EF8C-9F3F-DE47-D5FCE080B0A1}"/>
                </a:ext>
              </a:extLst>
            </p:cNvPr>
            <p:cNvSpPr txBox="1"/>
            <p:nvPr/>
          </p:nvSpPr>
          <p:spPr>
            <a:xfrm>
              <a:off x="3014328" y="2111098"/>
              <a:ext cx="3481886" cy="470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CN" sz="900" b="1" dirty="0">
                  <a:solidFill>
                    <a:srgbClr val="444444"/>
                  </a:solidFill>
                  <a:latin typeface="+mj-ea"/>
                  <a:cs typeface="Arial" pitchFamily="34" charset="-120"/>
                </a:rPr>
                <a:t>·</a:t>
              </a:r>
              <a:r>
                <a:rPr lang="zh-CN" altLang="en-US" sz="900" dirty="0">
                  <a:latin typeface="+mn-ea"/>
                </a:rPr>
                <a:t>整体上榜商户</a:t>
              </a:r>
              <a:r>
                <a:rPr lang="en-US" altLang="zh-CN" sz="900" dirty="0">
                  <a:latin typeface="+mn-ea"/>
                </a:rPr>
                <a:t>GTV</a:t>
              </a:r>
              <a:r>
                <a:rPr lang="zh-CN" altLang="en-US" sz="900" dirty="0">
                  <a:latin typeface="+mn-ea"/>
                </a:rPr>
                <a:t>提升约</a:t>
              </a:r>
              <a:r>
                <a:rPr lang="en-US" altLang="zh-CN" sz="900" dirty="0">
                  <a:latin typeface="+mn-ea"/>
                </a:rPr>
                <a:t>2.9</a:t>
              </a:r>
              <a:r>
                <a:rPr lang="zh-CN" altLang="en-US" sz="900" dirty="0">
                  <a:latin typeface="+mn-ea"/>
                </a:rPr>
                <a:t>亿（</a:t>
              </a:r>
              <a:r>
                <a:rPr lang="zh-CN" altLang="en-US" sz="900" dirty="0"/>
                <a:t>月 </a:t>
              </a:r>
              <a:r>
                <a:rPr lang="en-US" altLang="zh-CN" sz="900" dirty="0"/>
                <a:t>277.7</a:t>
              </a:r>
              <a:r>
                <a:rPr lang="zh-CN" altLang="en-US" sz="900" dirty="0"/>
                <a:t>亿</a:t>
              </a:r>
              <a:r>
                <a:rPr lang="zh-CN" altLang="en-US" sz="900" dirty="0">
                  <a:latin typeface="+mn-ea"/>
                </a:rPr>
                <a:t>→</a:t>
              </a:r>
              <a:r>
                <a:rPr lang="en-US" altLang="zh-CN" sz="900" dirty="0"/>
                <a:t>280.6</a:t>
              </a:r>
              <a:r>
                <a:rPr lang="zh-CN" altLang="en-US" sz="900" dirty="0"/>
                <a:t>亿）</a:t>
              </a:r>
              <a:endParaRPr lang="en-US" altLang="zh-CN" sz="900" dirty="0">
                <a:latin typeface="+mn-ea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900" b="1" dirty="0">
                  <a:solidFill>
                    <a:srgbClr val="444444"/>
                  </a:solidFill>
                  <a:latin typeface="+mj-ea"/>
                  <a:cs typeface="Arial" pitchFamily="34" charset="-120"/>
                </a:rPr>
                <a:t>·</a:t>
              </a:r>
              <a:r>
                <a:rPr lang="zh-CN" altLang="en-US" sz="900" dirty="0">
                  <a:latin typeface="+mn-ea"/>
                </a:rPr>
                <a:t>榜单商户店均</a:t>
              </a:r>
              <a:r>
                <a:rPr lang="en-US" altLang="zh-CN" sz="900" dirty="0">
                  <a:latin typeface="+mn-ea"/>
                </a:rPr>
                <a:t>GTV</a:t>
              </a:r>
              <a:r>
                <a:rPr lang="zh-CN" altLang="en-US" sz="900" dirty="0">
                  <a:latin typeface="+mn-ea"/>
                </a:rPr>
                <a:t>提升</a:t>
              </a:r>
              <a:r>
                <a:rPr lang="en-US" altLang="zh-CN" sz="900" dirty="0">
                  <a:latin typeface="+mn-ea"/>
                </a:rPr>
                <a:t>111</a:t>
              </a:r>
              <a:r>
                <a:rPr lang="zh-CN" altLang="en-US" sz="900" dirty="0">
                  <a:latin typeface="+mn-ea"/>
                </a:rPr>
                <a:t>元（</a:t>
              </a:r>
              <a:r>
                <a:rPr lang="en-US" altLang="zh-CN" sz="900" dirty="0">
                  <a:latin typeface="+mn-ea"/>
                </a:rPr>
                <a:t>37,776</a:t>
              </a:r>
              <a:r>
                <a:rPr lang="zh-CN" altLang="en-US" sz="900" dirty="0">
                  <a:latin typeface="+mn-ea"/>
                </a:rPr>
                <a:t>→</a:t>
              </a:r>
              <a:r>
                <a:rPr lang="en-US" altLang="zh-CN" sz="900" dirty="0">
                  <a:latin typeface="+mn-ea"/>
                </a:rPr>
                <a:t>37,887</a:t>
              </a:r>
              <a:r>
                <a:rPr lang="zh-CN" altLang="en-US" sz="900" dirty="0">
                  <a:latin typeface="+mn-ea"/>
                </a:rPr>
                <a:t>）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6CF332C-4305-514F-2BC0-9B63E2702B60}"/>
              </a:ext>
            </a:extLst>
          </p:cNvPr>
          <p:cNvGrpSpPr/>
          <p:nvPr/>
        </p:nvGrpSpPr>
        <p:grpSpPr>
          <a:xfrm>
            <a:off x="2986583" y="1034375"/>
            <a:ext cx="2970395" cy="705679"/>
            <a:chOff x="2983320" y="1657293"/>
            <a:chExt cx="2970395" cy="705679"/>
          </a:xfrm>
        </p:grpSpPr>
        <p:sp>
          <p:nvSpPr>
            <p:cNvPr id="18" name="矩形: 圆角 58">
              <a:extLst>
                <a:ext uri="{FF2B5EF4-FFF2-40B4-BE49-F238E27FC236}">
                  <a16:creationId xmlns:a16="http://schemas.microsoft.com/office/drawing/2014/main" id="{9305FA4F-4C45-D7B0-F1F8-937B6D1E7D78}"/>
                </a:ext>
              </a:extLst>
            </p:cNvPr>
            <p:cNvSpPr/>
            <p:nvPr/>
          </p:nvSpPr>
          <p:spPr>
            <a:xfrm>
              <a:off x="3092958" y="1657293"/>
              <a:ext cx="1147306" cy="231076"/>
            </a:xfrm>
            <a:prstGeom prst="roundRect">
              <a:avLst/>
            </a:prstGeom>
            <a:solidFill>
              <a:srgbClr val="EF9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+mn-ea"/>
                </a:rPr>
                <a:t>上榜商户质量提升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2893BD1-3F7F-81FC-CA92-66544B121610}"/>
                </a:ext>
              </a:extLst>
            </p:cNvPr>
            <p:cNvSpPr txBox="1"/>
            <p:nvPr/>
          </p:nvSpPr>
          <p:spPr>
            <a:xfrm>
              <a:off x="2983320" y="1892074"/>
              <a:ext cx="2970395" cy="470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CN" sz="900" b="1" dirty="0">
                  <a:solidFill>
                    <a:srgbClr val="444444"/>
                  </a:solidFill>
                  <a:latin typeface="+mj-ea"/>
                  <a:cs typeface="Arial" pitchFamily="34" charset="-120"/>
                </a:rPr>
                <a:t>·</a:t>
              </a:r>
              <a:r>
                <a:rPr lang="en-US" altLang="zh-CN" sz="900" dirty="0">
                  <a:latin typeface="+mn-ea"/>
                </a:rPr>
                <a:t>4.5</a:t>
              </a:r>
              <a:r>
                <a:rPr lang="zh-CN" altLang="en-US" sz="900" dirty="0">
                  <a:latin typeface="+mn-ea"/>
                </a:rPr>
                <a:t>分以上商户占比提升</a:t>
              </a:r>
              <a:r>
                <a:rPr lang="en-US" altLang="zh-CN" sz="900" dirty="0">
                  <a:latin typeface="+mn-ea"/>
                </a:rPr>
                <a:t>0.3pp</a:t>
              </a:r>
              <a:r>
                <a:rPr lang="zh-CN" altLang="en-US" sz="900" dirty="0">
                  <a:latin typeface="+mn-ea"/>
                </a:rPr>
                <a:t>（</a:t>
              </a:r>
              <a:r>
                <a:rPr lang="en-US" altLang="zh-CN" sz="900" dirty="0">
                  <a:latin typeface="+mn-ea"/>
                </a:rPr>
                <a:t>52.2%→52.5%)</a:t>
              </a:r>
            </a:p>
            <a:p>
              <a:pPr>
                <a:lnSpc>
                  <a:spcPts val="1600"/>
                </a:lnSpc>
              </a:pPr>
              <a:r>
                <a:rPr lang="en-US" altLang="zh-CN" sz="900" dirty="0">
                  <a:latin typeface="+mn-ea"/>
                </a:rPr>
                <a:t>·</a:t>
              </a:r>
              <a:r>
                <a:rPr lang="zh-CN" altLang="en-US" sz="900" dirty="0">
                  <a:latin typeface="+mn-ea"/>
                </a:rPr>
                <a:t>高价值正餐核心商户占比提升</a:t>
              </a:r>
              <a:r>
                <a:rPr lang="en-US" altLang="zh-CN" sz="900" dirty="0">
                  <a:latin typeface="+mn-ea"/>
                </a:rPr>
                <a:t>0.8pp</a:t>
              </a:r>
              <a:r>
                <a:rPr lang="zh-CN" altLang="en-US" sz="900" dirty="0">
                  <a:latin typeface="+mn-ea"/>
                </a:rPr>
                <a:t>（</a:t>
              </a:r>
              <a:r>
                <a:rPr lang="en-US" altLang="zh-CN" sz="900" dirty="0">
                  <a:latin typeface="+mn-ea"/>
                </a:rPr>
                <a:t>30.8%→31.6%</a:t>
              </a:r>
              <a:r>
                <a:rPr lang="zh-CN" altLang="en-US" sz="900" dirty="0">
                  <a:latin typeface="+mn-ea"/>
                </a:rPr>
                <a:t>）</a:t>
              </a:r>
            </a:p>
          </p:txBody>
        </p:sp>
      </p:grp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74C78E1-00AD-C5D8-9DB5-1B4736973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083068"/>
              </p:ext>
            </p:extLst>
          </p:nvPr>
        </p:nvGraphicFramePr>
        <p:xfrm>
          <a:off x="64937" y="3312059"/>
          <a:ext cx="3830787" cy="14830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8663">
                  <a:extLst>
                    <a:ext uri="{9D8B030D-6E8A-4147-A177-3AD203B41FA5}">
                      <a16:colId xmlns:a16="http://schemas.microsoft.com/office/drawing/2014/main" val="220967542"/>
                    </a:ext>
                  </a:extLst>
                </a:gridCol>
                <a:gridCol w="378372">
                  <a:extLst>
                    <a:ext uri="{9D8B030D-6E8A-4147-A177-3AD203B41FA5}">
                      <a16:colId xmlns:a16="http://schemas.microsoft.com/office/drawing/2014/main" val="705789638"/>
                    </a:ext>
                  </a:extLst>
                </a:gridCol>
                <a:gridCol w="1383752">
                  <a:extLst>
                    <a:ext uri="{9D8B030D-6E8A-4147-A177-3AD203B41FA5}">
                      <a16:colId xmlns:a16="http://schemas.microsoft.com/office/drawing/2014/main" val="4176608079"/>
                    </a:ext>
                  </a:extLst>
                </a:gridCol>
              </a:tblGrid>
              <a:tr h="2774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100" b="1" u="none" strike="noStrike" dirty="0" err="1">
                          <a:effectLst/>
                        </a:rPr>
                        <a:t>全新上榜商户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（北京</a:t>
                      </a:r>
                      <a:r>
                        <a:rPr lang="en-US" altLang="zh-CN" sz="1100" b="1" u="none" strike="noStrike" dirty="0">
                          <a:effectLst/>
                        </a:rPr>
                        <a:t>/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上海举例）</a:t>
                      </a:r>
                      <a:endParaRPr lang="en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所上榜单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91035"/>
                  </a:ext>
                </a:extLst>
              </a:tr>
              <a:tr h="2535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李串串老店（北京总店）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百子湾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（点评北京串串香第二）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479"/>
                  </a:ext>
                </a:extLst>
              </a:tr>
              <a:tr h="2535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眉州东坡（大兴店）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黄村川湘菜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（点评黄村川湘菜第一）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189647"/>
                  </a:ext>
                </a:extLst>
              </a:tr>
              <a:tr h="286855">
                <a:tc>
                  <a:txBody>
                    <a:bodyPr/>
                    <a:lstStyle/>
                    <a:p>
                      <a:pPr marL="0" marR="0" lvl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effectLst/>
                        </a:rPr>
                        <a:t>江仙雅居（中航国际店）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>
                          <a:effectLst/>
                        </a:rPr>
                        <a:t>亦庄江浙菜</a:t>
                      </a: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（点评</a:t>
                      </a:r>
                      <a:r>
                        <a:rPr lang="zh-CN" altLang="en-US" sz="800" dirty="0">
                          <a:effectLst/>
                        </a:rPr>
                        <a:t>大兴区 江浙菜第二</a:t>
                      </a: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8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63427"/>
                  </a:ext>
                </a:extLst>
              </a:tr>
              <a:tr h="3510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川乐小镇麻辣香锅（鹿都国际商业广场店）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松江区川湘菜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（点评松江区川湘菜第一）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374019"/>
                  </a:ext>
                </a:extLst>
              </a:tr>
            </a:tbl>
          </a:graphicData>
        </a:graphic>
      </p:graphicFrame>
      <p:sp>
        <p:nvSpPr>
          <p:cNvPr id="25" name="标题 1">
            <a:extLst>
              <a:ext uri="{FF2B5EF4-FFF2-40B4-BE49-F238E27FC236}">
                <a16:creationId xmlns:a16="http://schemas.microsoft.com/office/drawing/2014/main" id="{67CD3471-BDBF-27CC-318D-FD12A45A8150}"/>
              </a:ext>
            </a:extLst>
          </p:cNvPr>
          <p:cNvSpPr txBox="1">
            <a:spLocks/>
          </p:cNvSpPr>
          <p:nvPr/>
        </p:nvSpPr>
        <p:spPr>
          <a:xfrm>
            <a:off x="-65424" y="5316119"/>
            <a:ext cx="2413769" cy="1894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400" b="0" i="0" kern="1200" dirty="0">
                <a:solidFill>
                  <a:schemeClr val="tx1"/>
                </a:solidFill>
                <a:latin typeface="+mj-ea"/>
                <a:ea typeface="+mj-ea"/>
                <a:cs typeface="+mj-cs"/>
                <a:sym typeface="+mj-lt"/>
              </a:defRPr>
            </a:lvl1pPr>
          </a:lstStyle>
          <a:p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补充完全</a:t>
            </a:r>
            <a:r>
              <a:rPr lang="zh-CN" altLang="en-US" sz="1200" dirty="0">
                <a:solidFill>
                  <a:srgbClr val="FF0000"/>
                </a:solidFill>
              </a:rPr>
              <a:t>下榜的商户 </a:t>
            </a:r>
            <a:r>
              <a:rPr lang="en-US" altLang="zh-CN" sz="1200" dirty="0">
                <a:solidFill>
                  <a:srgbClr val="FF0000"/>
                </a:solidFill>
              </a:rPr>
              <a:t>61347</a:t>
            </a:r>
            <a:endParaRPr lang="en-US" altLang="zh-CN" sz="1200" dirty="0">
              <a:solidFill>
                <a:srgbClr val="FF0000"/>
              </a:solidFill>
              <a:latin typeface="+mn-ea"/>
              <a:ea typeface="+mn-ea"/>
            </a:endParaRPr>
          </a:p>
          <a:p>
            <a:endParaRPr lang="en-US" altLang="zh-CN" sz="12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新增上榜覆盖商户数 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ea typeface="+mn-ea"/>
              </a:rPr>
              <a:t>5000</a:t>
            </a:r>
          </a:p>
          <a:p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补充纯新上榜商户数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+mn-ea"/>
              </a:rPr>
              <a:t>48581</a:t>
            </a:r>
          </a:p>
          <a:p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（正餐</a:t>
            </a:r>
            <a:r>
              <a:rPr lang="en-US" altLang="zh-CN" sz="1200" dirty="0">
                <a:solidFill>
                  <a:srgbClr val="FF0000"/>
                </a:solidFill>
              </a:rPr>
              <a:t>33%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、轻快餐</a:t>
            </a:r>
            <a:r>
              <a:rPr lang="en-US" altLang="zh-CN" sz="1200" dirty="0">
                <a:solidFill>
                  <a:srgbClr val="FF0000"/>
                </a:solidFill>
                <a:latin typeface="+mn-ea"/>
              </a:rPr>
              <a:t>67%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sz="1200" dirty="0">
              <a:solidFill>
                <a:srgbClr val="FF0000"/>
              </a:solidFill>
              <a:latin typeface="+mn-ea"/>
            </a:endParaRPr>
          </a:p>
          <a:p>
            <a:endParaRPr lang="en-US" altLang="zh-CN" sz="1200" dirty="0">
              <a:solidFill>
                <a:srgbClr val="FF0000"/>
              </a:solidFill>
              <a:latin typeface="+mn-ea"/>
              <a:ea typeface="+mn-ea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未上榜任何榜单前</a:t>
            </a:r>
            <a:r>
              <a:rPr lang="en-US" altLang="zh-CN" sz="12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1200" dirty="0">
                <a:solidFill>
                  <a:srgbClr val="FF0000"/>
                </a:solidFill>
                <a:latin typeface="+mn-ea"/>
                <a:ea typeface="+mn-ea"/>
              </a:rPr>
              <a:t>上了前三 </a:t>
            </a:r>
            <a:r>
              <a:rPr lang="en-US" altLang="zh-CN" sz="1200" dirty="0">
                <a:solidFill>
                  <a:srgbClr val="FF0000"/>
                </a:solidFill>
              </a:rPr>
              <a:t>4039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7E8108C1-7424-494B-B138-D2D075EEE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55299"/>
              </p:ext>
            </p:extLst>
          </p:nvPr>
        </p:nvGraphicFramePr>
        <p:xfrm>
          <a:off x="2423158" y="5555750"/>
          <a:ext cx="3757206" cy="1817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2695">
                  <a:extLst>
                    <a:ext uri="{9D8B030D-6E8A-4147-A177-3AD203B41FA5}">
                      <a16:colId xmlns:a16="http://schemas.microsoft.com/office/drawing/2014/main" val="220967542"/>
                    </a:ext>
                  </a:extLst>
                </a:gridCol>
                <a:gridCol w="483475">
                  <a:extLst>
                    <a:ext uri="{9D8B030D-6E8A-4147-A177-3AD203B41FA5}">
                      <a16:colId xmlns:a16="http://schemas.microsoft.com/office/drawing/2014/main" val="705789638"/>
                    </a:ext>
                  </a:extLst>
                </a:gridCol>
                <a:gridCol w="441435">
                  <a:extLst>
                    <a:ext uri="{9D8B030D-6E8A-4147-A177-3AD203B41FA5}">
                      <a16:colId xmlns:a16="http://schemas.microsoft.com/office/drawing/2014/main" val="4176608079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2737993035"/>
                    </a:ext>
                  </a:extLst>
                </a:gridCol>
              </a:tblGrid>
              <a:tr h="10119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100" b="1" u="none" strike="noStrike" dirty="0" err="1">
                          <a:effectLst/>
                        </a:rPr>
                        <a:t>北京全城上榜商户名称</a:t>
                      </a:r>
                      <a:endParaRPr lang="en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新排序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旧排序</a:t>
                      </a:r>
                      <a:endParaRPr lang="en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100" b="1" u="none" strike="noStrike" dirty="0">
                          <a:effectLst/>
                        </a:rPr>
                        <a:t> rank</a:t>
                      </a:r>
                      <a:r>
                        <a:rPr lang="zh-CN" altLang="en-US" sz="1100" b="1" u="none" strike="noStrike" dirty="0">
                          <a:effectLst/>
                        </a:rPr>
                        <a:t>差 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91035"/>
                  </a:ext>
                </a:extLst>
              </a:tr>
              <a:tr h="130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牛街清真满恒記（平安里西大街店）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1</a:t>
                      </a:r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</a:rPr>
                        <a:t>1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        </a:t>
                      </a:r>
                      <a:r>
                        <a:rPr lang="en-US" altLang="zh-CN" sz="1000" u="none" strike="noStrike">
                          <a:effectLst/>
                        </a:rPr>
                        <a:t>-  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479"/>
                  </a:ext>
                </a:extLst>
              </a:tr>
              <a:tr h="1011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汉巴味德（北京银座和谐广场店）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2</a:t>
                      </a:r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2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        </a:t>
                      </a:r>
                      <a:r>
                        <a:rPr lang="en-US" altLang="zh-CN" sz="1000" u="none" strike="noStrike">
                          <a:effectLst/>
                        </a:rPr>
                        <a:t>-  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189647"/>
                  </a:ext>
                </a:extLst>
              </a:tr>
              <a:tr h="1011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作作烧肉（中关村大融城店）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3</a:t>
                      </a:r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         </a:t>
                      </a:r>
                      <a:r>
                        <a:rPr lang="en-US" altLang="zh-CN" sz="1000" u="none" strike="noStrike">
                          <a:effectLst/>
                        </a:rPr>
                        <a:t>-2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54657"/>
                  </a:ext>
                </a:extLst>
              </a:tr>
              <a:tr h="183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烤匠麻辣烤鱼（北京首店朝阳合生汇店）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4</a:t>
                      </a:r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3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          </a:t>
                      </a:r>
                      <a:r>
                        <a:rPr lang="en-US" altLang="zh-CN" sz="1000" u="none" strike="noStrike">
                          <a:effectLst/>
                        </a:rPr>
                        <a:t>1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88069"/>
                  </a:ext>
                </a:extLst>
              </a:tr>
              <a:tr h="1011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九十九顶毡房（清河店）</a:t>
                      </a:r>
                      <a:endParaRPr lang="zh-CN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5</a:t>
                      </a:r>
                      <a:endParaRPr lang="en-US" altLang="zh-CN" sz="1000" b="0" i="1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  <a:endParaRPr lang="en" sz="10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  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374019"/>
                  </a:ext>
                </a:extLst>
              </a:tr>
              <a:tr h="1011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胡大饭馆 </a:t>
                      </a:r>
                      <a:r>
                        <a:rPr lang="en-US" altLang="zh-CN" sz="1000" u="none" strike="noStrike" dirty="0">
                          <a:effectLst/>
                        </a:rPr>
                        <a:t>24</a:t>
                      </a:r>
                      <a:r>
                        <a:rPr lang="en" sz="1000" u="none" strike="noStrike" dirty="0">
                          <a:effectLst/>
                        </a:rPr>
                        <a:t>h（</a:t>
                      </a:r>
                      <a:r>
                        <a:rPr lang="zh-CN" altLang="en-US" sz="1000" u="none" strike="noStrike" dirty="0">
                          <a:effectLst/>
                        </a:rPr>
                        <a:t>簋街总店）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6</a:t>
                      </a:r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6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        </a:t>
                      </a:r>
                      <a:r>
                        <a:rPr lang="en-US" altLang="zh-CN" sz="1000" u="none" strike="noStrike">
                          <a:effectLst/>
                        </a:rPr>
                        <a:t>-  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564865"/>
                  </a:ext>
                </a:extLst>
              </a:tr>
              <a:tr h="1011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第六季自助餐厅（中关村店）</a:t>
                      </a:r>
                      <a:endParaRPr lang="zh-CN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7</a:t>
                      </a:r>
                      <a:endParaRPr lang="en-US" altLang="zh-CN" sz="1000" b="0" i="1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zh-CN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  <a:endParaRPr lang="en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  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530541"/>
                  </a:ext>
                </a:extLst>
              </a:tr>
              <a:tr h="1011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肥福排档（五棵松万达店）</a:t>
                      </a:r>
                      <a:endParaRPr lang="zh-CN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8</a:t>
                      </a:r>
                      <a:endParaRPr lang="en-US" altLang="zh-CN" sz="1000" b="0" i="1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47 </a:t>
                      </a:r>
                      <a:endParaRPr lang="en-US" altLang="zh-CN" sz="10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        </a:t>
                      </a:r>
                      <a:r>
                        <a:rPr lang="en-US" altLang="zh-CN" sz="1000" u="none" strike="noStrike" dirty="0">
                          <a:effectLst/>
                        </a:rPr>
                        <a:t>-39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84539"/>
                  </a:ext>
                </a:extLst>
              </a:tr>
              <a:tr h="1011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紫光园烤鸭（前门大栅栏店）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9</a:t>
                      </a:r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>
                          <a:effectLst/>
                        </a:rPr>
                        <a:t>4 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          </a:t>
                      </a:r>
                      <a:r>
                        <a:rPr lang="en-US" altLang="zh-CN" sz="1000" u="none" strike="noStrike" dirty="0">
                          <a:effectLst/>
                        </a:rPr>
                        <a:t>5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927384"/>
                  </a:ext>
                </a:extLst>
              </a:tr>
              <a:tr h="10119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铭门盛宴艺术海鲜姿造（世贸天阶店）</a:t>
                      </a:r>
                      <a:endParaRPr lang="zh-CN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10</a:t>
                      </a:r>
                      <a:endParaRPr lang="en-US" altLang="zh-CN" sz="1000" b="0" i="1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altLang="zh-CN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无</a:t>
                      </a:r>
                      <a:endParaRPr lang="en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  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007443"/>
                  </a:ext>
                </a:extLst>
              </a:tr>
            </a:tbl>
          </a:graphicData>
        </a:graphic>
      </p:graphicFrame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D7AA21A4-6907-574E-E339-F2F07EDA4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987338"/>
              </p:ext>
            </p:extLst>
          </p:nvPr>
        </p:nvGraphicFramePr>
        <p:xfrm>
          <a:off x="3983189" y="3308482"/>
          <a:ext cx="3011843" cy="14136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0865">
                  <a:extLst>
                    <a:ext uri="{9D8B030D-6E8A-4147-A177-3AD203B41FA5}">
                      <a16:colId xmlns:a16="http://schemas.microsoft.com/office/drawing/2014/main" val="220967542"/>
                    </a:ext>
                  </a:extLst>
                </a:gridCol>
                <a:gridCol w="1330978">
                  <a:extLst>
                    <a:ext uri="{9D8B030D-6E8A-4147-A177-3AD203B41FA5}">
                      <a16:colId xmlns:a16="http://schemas.microsoft.com/office/drawing/2014/main" val="4176608079"/>
                    </a:ext>
                  </a:extLst>
                </a:gridCol>
              </a:tblGrid>
              <a:tr h="2484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原</a:t>
                      </a:r>
                      <a:r>
                        <a:rPr lang="en-US" altLang="zh-CN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N0.1</a:t>
                      </a:r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下榜商户</a:t>
                      </a:r>
                      <a:endParaRPr lang="en" sz="1100" b="1" i="0" u="none" strike="noStrike" dirty="0">
                        <a:solidFill>
                          <a:schemeClr val="bg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旧榜单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91035"/>
                  </a:ext>
                </a:extLst>
              </a:tr>
              <a:tr h="227088">
                <a:tc>
                  <a:txBody>
                    <a:bodyPr/>
                    <a:lstStyle/>
                    <a:p>
                      <a:pPr marL="0" algn="l" defTabSz="685800" rtl="0" eaLnBrk="1" fontAlgn="ctr" latinLnBrk="0" hangingPunct="1">
                        <a:buNone/>
                      </a:pP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蜜雪冰城（东坝店）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东坝饮品人气榜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30479"/>
                  </a:ext>
                </a:extLst>
              </a:tr>
              <a:tr h="227088">
                <a:tc>
                  <a:txBody>
                    <a:bodyPr/>
                    <a:lstStyle/>
                    <a:p>
                      <a:pPr marL="0" algn="l" defTabSz="685800" rtl="0" eaLnBrk="1" fontAlgn="ctr" latinLnBrk="0" hangingPunct="1">
                        <a:buNone/>
                      </a:pP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真功夫（百荣店）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洋桥小吃快餐人气榜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189647"/>
                  </a:ext>
                </a:extLst>
              </a:tr>
              <a:tr h="227088">
                <a:tc>
                  <a:txBody>
                    <a:bodyPr/>
                    <a:lstStyle/>
                    <a:p>
                      <a:pPr marL="0" algn="l" defTabSz="685800" rtl="0" eaLnBrk="1" fontAlgn="ctr" latinLnBrk="0" hangingPunct="1">
                        <a:buNone/>
                      </a:pP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瑞幸咖啡（鼓楼大街</a:t>
                      </a:r>
                      <a:r>
                        <a:rPr lang="e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G</a:t>
                      </a: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口店）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后海饮品人气榜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754657"/>
                  </a:ext>
                </a:extLst>
              </a:tr>
              <a:tr h="256870">
                <a:tc>
                  <a:txBody>
                    <a:bodyPr/>
                    <a:lstStyle/>
                    <a:p>
                      <a:pPr marL="0" algn="l" defTabSz="685800" rtl="0" eaLnBrk="1" fontAlgn="ctr" latinLnBrk="0" hangingPunct="1">
                        <a:buNone/>
                      </a:pPr>
                      <a:r>
                        <a:rPr lang="zh-CN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味多美蛋糕（万源路店）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南苑面包甜点人气榜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88069"/>
                  </a:ext>
                </a:extLst>
              </a:tr>
              <a:tr h="2270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汇祥居军嫂手工水饺自助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和平里小吃快餐人气榜</a:t>
                      </a:r>
                      <a:endParaRPr lang="en" sz="10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374019"/>
                  </a:ext>
                </a:extLst>
              </a:tr>
            </a:tbl>
          </a:graphicData>
        </a:graphic>
      </p:graphicFrame>
      <p:sp>
        <p:nvSpPr>
          <p:cNvPr id="42" name="文本框 41">
            <a:extLst>
              <a:ext uri="{FF2B5EF4-FFF2-40B4-BE49-F238E27FC236}">
                <a16:creationId xmlns:a16="http://schemas.microsoft.com/office/drawing/2014/main" id="{A5CE06E6-C0C3-7F63-FEEF-1FD7D2EFD154}"/>
              </a:ext>
            </a:extLst>
          </p:cNvPr>
          <p:cNvSpPr txBox="1"/>
          <p:nvPr/>
        </p:nvSpPr>
        <p:spPr>
          <a:xfrm>
            <a:off x="2805611" y="5193008"/>
            <a:ext cx="26834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+mn-ea"/>
              </a:rPr>
              <a:t>核心商户正餐占比提升</a:t>
            </a:r>
            <a:r>
              <a:rPr lang="en-US" altLang="zh-CN" sz="1000" dirty="0"/>
              <a:t>0.1pp</a:t>
            </a:r>
            <a:r>
              <a:rPr lang="zh-CN" altLang="en-US" sz="1000" dirty="0"/>
              <a:t>（</a:t>
            </a:r>
            <a:r>
              <a:rPr lang="en-US" altLang="zh-CN" sz="1000" dirty="0"/>
              <a:t>76.5%</a:t>
            </a:r>
            <a:r>
              <a:rPr lang="zh-CN" altLang="en-US" sz="1000" dirty="0">
                <a:latin typeface="+mn-ea"/>
              </a:rPr>
              <a:t>→</a:t>
            </a:r>
            <a:r>
              <a:rPr lang="en-US" altLang="zh-CN" sz="1000" dirty="0"/>
              <a:t>76.6%</a:t>
            </a:r>
            <a:r>
              <a:rPr lang="zh-CN" altLang="en-US" sz="1000" dirty="0"/>
              <a:t>）</a:t>
            </a:r>
          </a:p>
        </p:txBody>
      </p:sp>
      <p:sp>
        <p:nvSpPr>
          <p:cNvPr id="47" name="左箭头 46">
            <a:extLst>
              <a:ext uri="{FF2B5EF4-FFF2-40B4-BE49-F238E27FC236}">
                <a16:creationId xmlns:a16="http://schemas.microsoft.com/office/drawing/2014/main" id="{150A2385-1678-058A-C91A-95396C18203B}"/>
              </a:ext>
            </a:extLst>
          </p:cNvPr>
          <p:cNvSpPr/>
          <p:nvPr/>
        </p:nvSpPr>
        <p:spPr>
          <a:xfrm rot="10800000">
            <a:off x="6995032" y="4015323"/>
            <a:ext cx="211387" cy="261402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E680C63-A4C4-6C2D-2748-7A6DED353A2A}"/>
              </a:ext>
            </a:extLst>
          </p:cNvPr>
          <p:cNvSpPr txBox="1"/>
          <p:nvPr/>
        </p:nvSpPr>
        <p:spPr>
          <a:xfrm>
            <a:off x="-1219740" y="1729280"/>
            <a:ext cx="10800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000" dirty="0">
                <a:effectLst/>
              </a:rPr>
              <a:t>人气榜 </a:t>
            </a:r>
            <a:r>
              <a:rPr lang="en-US" altLang="zh-CN" sz="1000" dirty="0">
                <a:effectLst/>
              </a:rPr>
              <a:t>665227</a:t>
            </a:r>
            <a:br>
              <a:rPr lang="en-US" altLang="zh-CN" sz="1000" dirty="0">
                <a:effectLst/>
              </a:rPr>
            </a:br>
            <a:r>
              <a:rPr lang="zh-CN" altLang="en-US" sz="1000" dirty="0">
                <a:effectLst/>
              </a:rPr>
              <a:t>销量榜 </a:t>
            </a:r>
            <a:r>
              <a:rPr lang="en-US" altLang="zh-CN" sz="1000" dirty="0">
                <a:effectLst/>
              </a:rPr>
              <a:t>189700</a:t>
            </a:r>
          </a:p>
        </p:txBody>
      </p:sp>
      <p:sp>
        <p:nvSpPr>
          <p:cNvPr id="68" name="米菲PPT23">
            <a:extLst>
              <a:ext uri="{FF2B5EF4-FFF2-40B4-BE49-F238E27FC236}">
                <a16:creationId xmlns:a16="http://schemas.microsoft.com/office/drawing/2014/main" id="{87D35341-8DBF-70DB-45AB-290EC319B894}"/>
              </a:ext>
            </a:extLst>
          </p:cNvPr>
          <p:cNvSpPr txBox="1"/>
          <p:nvPr/>
        </p:nvSpPr>
        <p:spPr>
          <a:xfrm>
            <a:off x="7339468" y="2177820"/>
            <a:ext cx="119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+mn-ea"/>
              </a:rPr>
              <a:t>5</a:t>
            </a:r>
            <a:r>
              <a:rPr lang="zh-CN" altLang="en-US" sz="900" dirty="0">
                <a:latin typeface="+mn-ea"/>
              </a:rPr>
              <a:t>月底</a:t>
            </a:r>
            <a:endParaRPr lang="zh-CN" altLang="en-US" sz="900" dirty="0">
              <a:solidFill>
                <a:schemeClr val="bg2">
                  <a:lumMod val="2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Bold" panose="000008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69" name="米菲PPT29">
            <a:extLst>
              <a:ext uri="{FF2B5EF4-FFF2-40B4-BE49-F238E27FC236}">
                <a16:creationId xmlns:a16="http://schemas.microsoft.com/office/drawing/2014/main" id="{487A4E58-7A63-2403-4E89-2FF31CB2FC53}"/>
              </a:ext>
            </a:extLst>
          </p:cNvPr>
          <p:cNvSpPr txBox="1"/>
          <p:nvPr/>
        </p:nvSpPr>
        <p:spPr>
          <a:xfrm>
            <a:off x="7339468" y="2652939"/>
            <a:ext cx="119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6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cs typeface="Arial" pitchFamily="34" charset="-120"/>
              </a:rPr>
              <a:t>月中旬</a:t>
            </a:r>
            <a:endParaRPr lang="zh-CN" altLang="en-US" sz="900" dirty="0">
              <a:solidFill>
                <a:schemeClr val="bg2">
                  <a:lumMod val="2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Bold" panose="000008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70" name="矩形: 圆角 80">
            <a:extLst>
              <a:ext uri="{FF2B5EF4-FFF2-40B4-BE49-F238E27FC236}">
                <a16:creationId xmlns:a16="http://schemas.microsoft.com/office/drawing/2014/main" id="{95E54C00-FDC6-DBB7-ABB3-C4EF2CE47C1C}"/>
              </a:ext>
            </a:extLst>
          </p:cNvPr>
          <p:cNvSpPr/>
          <p:nvPr/>
        </p:nvSpPr>
        <p:spPr>
          <a:xfrm>
            <a:off x="6151468" y="1016842"/>
            <a:ext cx="1188000" cy="216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阶段一：数据验证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1" name="矩形: 圆角 80">
            <a:extLst>
              <a:ext uri="{FF2B5EF4-FFF2-40B4-BE49-F238E27FC236}">
                <a16:creationId xmlns:a16="http://schemas.microsoft.com/office/drawing/2014/main" id="{F473ED56-CB3F-908B-A0DF-5A49E1D78DEB}"/>
              </a:ext>
            </a:extLst>
          </p:cNvPr>
          <p:cNvSpPr/>
          <p:nvPr/>
        </p:nvSpPr>
        <p:spPr>
          <a:xfrm>
            <a:off x="6151468" y="1665053"/>
            <a:ext cx="1188000" cy="216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阶段二：评审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宣导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6F71274-EBAB-3A4C-63C8-40CEF62025D8}"/>
              </a:ext>
            </a:extLst>
          </p:cNvPr>
          <p:cNvSpPr txBox="1"/>
          <p:nvPr/>
        </p:nvSpPr>
        <p:spPr>
          <a:xfrm>
            <a:off x="6180130" y="1227119"/>
            <a:ext cx="2827134" cy="4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500"/>
              </a:lnSpc>
              <a:buFont typeface="Wingdings" pitchFamily="2" charset="2"/>
              <a:buChar char="Ø"/>
            </a:pPr>
            <a:r>
              <a:rPr lang="zh-CN" altLang="en-US" sz="900" dirty="0">
                <a:latin typeface="+mn-ea"/>
              </a:rPr>
              <a:t>模拟</a:t>
            </a:r>
            <a:r>
              <a:rPr lang="en-US" altLang="zh-CN" sz="900" dirty="0">
                <a:latin typeface="+mn-ea"/>
              </a:rPr>
              <a:t>GTV</a:t>
            </a:r>
            <a:r>
              <a:rPr lang="zh-CN" altLang="en-US" sz="900" dirty="0">
                <a:latin typeface="+mn-ea"/>
              </a:rPr>
              <a:t>规则下上榜商户关键指标趋势及确认新规则合理性</a:t>
            </a:r>
            <a:endParaRPr lang="en-US" altLang="zh-CN" sz="900" dirty="0">
              <a:latin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844D7E74-8605-685F-AB84-A46DD7104DD4}"/>
              </a:ext>
            </a:extLst>
          </p:cNvPr>
          <p:cNvSpPr txBox="1"/>
          <p:nvPr/>
        </p:nvSpPr>
        <p:spPr>
          <a:xfrm>
            <a:off x="6165146" y="1876438"/>
            <a:ext cx="2961734" cy="256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zh-CN" altLang="en-US" sz="900" dirty="0">
                <a:latin typeface="+mn-ea"/>
              </a:rPr>
              <a:t>产品评审，以及提前对试点城市宣导方案</a:t>
            </a:r>
            <a:endParaRPr lang="en-US" altLang="zh-CN" sz="900" dirty="0">
              <a:latin typeface="+mn-ea"/>
            </a:endParaRPr>
          </a:p>
        </p:txBody>
      </p:sp>
      <p:sp>
        <p:nvSpPr>
          <p:cNvPr id="2" name="米菲PPT23">
            <a:extLst>
              <a:ext uri="{FF2B5EF4-FFF2-40B4-BE49-F238E27FC236}">
                <a16:creationId xmlns:a16="http://schemas.microsoft.com/office/drawing/2014/main" id="{7C0C196C-14C4-E8DF-CEF6-9AD4EA8FFB3E}"/>
              </a:ext>
            </a:extLst>
          </p:cNvPr>
          <p:cNvSpPr txBox="1"/>
          <p:nvPr/>
        </p:nvSpPr>
        <p:spPr>
          <a:xfrm>
            <a:off x="7339383" y="1672679"/>
            <a:ext cx="119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+mn-ea"/>
              </a:rPr>
              <a:t>4</a:t>
            </a:r>
            <a:r>
              <a:rPr lang="zh-CN" altLang="en-US" sz="900" dirty="0">
                <a:latin typeface="+mn-ea"/>
              </a:rPr>
              <a:t>月底</a:t>
            </a:r>
            <a:endParaRPr lang="zh-CN" altLang="en-US" sz="900" dirty="0">
              <a:solidFill>
                <a:schemeClr val="bg2">
                  <a:lumMod val="2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Bold" panose="000008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4" name="米菲PPT23">
            <a:extLst>
              <a:ext uri="{FF2B5EF4-FFF2-40B4-BE49-F238E27FC236}">
                <a16:creationId xmlns:a16="http://schemas.microsoft.com/office/drawing/2014/main" id="{E1363813-4394-E873-4516-FBA8D635B955}"/>
              </a:ext>
            </a:extLst>
          </p:cNvPr>
          <p:cNvSpPr txBox="1"/>
          <p:nvPr/>
        </p:nvSpPr>
        <p:spPr>
          <a:xfrm>
            <a:off x="7340229" y="1006374"/>
            <a:ext cx="1198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+mn-ea"/>
              </a:rPr>
              <a:t>4</a:t>
            </a:r>
            <a:r>
              <a:rPr lang="zh-CN" altLang="en-US" sz="900" dirty="0">
                <a:latin typeface="+mn-ea"/>
              </a:rPr>
              <a:t>月中</a:t>
            </a:r>
            <a:endParaRPr lang="zh-CN" altLang="en-US" sz="900" dirty="0">
              <a:solidFill>
                <a:schemeClr val="bg2">
                  <a:lumMod val="25000"/>
                </a:schemeClr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Bold" panose="00000800000000000000" pitchFamily="2" charset="-122"/>
              <a:sym typeface="MiSans Bold" panose="00000800000000000000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B581E6-1044-2743-6328-32D542DA1B6A}"/>
              </a:ext>
            </a:extLst>
          </p:cNvPr>
          <p:cNvSpPr txBox="1"/>
          <p:nvPr/>
        </p:nvSpPr>
        <p:spPr>
          <a:xfrm>
            <a:off x="3347554" y="-848601"/>
            <a:ext cx="518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基于上述定性定量标准，和倾向性选择，与已有几个指数榜之前的定位和结构性差异是什么？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C821C8-728C-A28B-BDEE-251D130611BF}"/>
              </a:ext>
            </a:extLst>
          </p:cNvPr>
          <p:cNvSpPr txBox="1"/>
          <p:nvPr/>
        </p:nvSpPr>
        <p:spPr>
          <a:xfrm>
            <a:off x="3574345" y="31774"/>
            <a:ext cx="6418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FF0000"/>
                </a:solidFill>
                <a:latin typeface="+mj-ea"/>
              </a:rPr>
              <a:t>（这一页从逻辑顺过来不是很顺，是比较单独的一个动作，看要不要放）</a:t>
            </a:r>
            <a:endParaRPr lang="zh-CN" alt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标题 3">
            <a:extLst>
              <a:ext uri="{FF2B5EF4-FFF2-40B4-BE49-F238E27FC236}">
                <a16:creationId xmlns:a16="http://schemas.microsoft.com/office/drawing/2014/main" id="{7AEE0204-16FB-C247-08CF-CD553DC92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1" y="15438"/>
            <a:ext cx="7341070" cy="1855197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solidFill>
                  <a:srgbClr val="FF0000"/>
                </a:solidFill>
              </a:rPr>
              <a:t>缺一个开放联名的部分</a:t>
            </a:r>
            <a:r>
              <a:rPr lang="en-US" altLang="zh-CN" sz="2100" dirty="0">
                <a:solidFill>
                  <a:srgbClr val="FF0000"/>
                </a:solidFill>
              </a:rPr>
              <a:t>——</a:t>
            </a:r>
            <a:r>
              <a:rPr lang="zh-CN" altLang="en-US" sz="2100" dirty="0">
                <a:solidFill>
                  <a:srgbClr val="FF0000"/>
                </a:solidFill>
              </a:rPr>
              <a:t>以地方政务非遗榜单为例</a:t>
            </a:r>
            <a:br>
              <a:rPr lang="en-US" altLang="zh-CN" sz="2100" dirty="0">
                <a:solidFill>
                  <a:srgbClr val="FF0000"/>
                </a:solidFill>
              </a:rPr>
            </a:br>
            <a:br>
              <a:rPr lang="en-US" altLang="zh-CN" sz="2100" dirty="0">
                <a:solidFill>
                  <a:srgbClr val="FF0000"/>
                </a:solidFill>
              </a:rPr>
            </a:br>
            <a:r>
              <a:rPr lang="zh-CN" altLang="en-US" sz="2100" dirty="0">
                <a:solidFill>
                  <a:srgbClr val="FF0000"/>
                </a:solidFill>
              </a:rPr>
              <a:t>如果问到明星</a:t>
            </a:r>
            <a:r>
              <a:rPr lang="en-US" altLang="zh-CN" sz="2100" dirty="0">
                <a:solidFill>
                  <a:srgbClr val="FF0000"/>
                </a:solidFill>
              </a:rPr>
              <a:t>/</a:t>
            </a:r>
            <a:r>
              <a:rPr lang="zh-CN" altLang="en-US" sz="2100" dirty="0">
                <a:solidFill>
                  <a:srgbClr val="FF0000"/>
                </a:solidFill>
              </a:rPr>
              <a:t>达人，答案是</a:t>
            </a:r>
            <a:r>
              <a:rPr lang="en-US" altLang="zh-CN" sz="2100" dirty="0">
                <a:solidFill>
                  <a:srgbClr val="FF0000"/>
                </a:solidFill>
              </a:rPr>
              <a:t>1</a:t>
            </a:r>
            <a:r>
              <a:rPr lang="zh-CN" altLang="en-US" sz="2100" dirty="0">
                <a:solidFill>
                  <a:srgbClr val="FF0000"/>
                </a:solidFill>
              </a:rPr>
              <a:t>：谢霆锋精致餐饮在做。</a:t>
            </a:r>
            <a:r>
              <a:rPr lang="en-US" altLang="zh-CN" sz="2100" dirty="0">
                <a:solidFill>
                  <a:srgbClr val="FF0000"/>
                </a:solidFill>
              </a:rPr>
              <a:t>2.</a:t>
            </a:r>
            <a:r>
              <a:rPr lang="zh-CN" altLang="en-US" sz="2100" dirty="0">
                <a:solidFill>
                  <a:srgbClr val="FF0000"/>
                </a:solidFill>
              </a:rPr>
              <a:t>地方政务非遗可以请到明星站台。</a:t>
            </a:r>
            <a:r>
              <a:rPr lang="en-US" altLang="zh-CN" sz="2100" dirty="0">
                <a:solidFill>
                  <a:srgbClr val="FF0000"/>
                </a:solidFill>
              </a:rPr>
              <a:t>3.</a:t>
            </a:r>
            <a:r>
              <a:rPr lang="zh-CN" altLang="en-US" sz="2100" dirty="0">
                <a:solidFill>
                  <a:srgbClr val="FF0000"/>
                </a:solidFill>
              </a:rPr>
              <a:t>单独请网红，不具备分发优势</a:t>
            </a:r>
            <a:r>
              <a:rPr lang="en-US" altLang="zh-CN" sz="2100" dirty="0">
                <a:solidFill>
                  <a:srgbClr val="FF0000"/>
                </a:solidFill>
              </a:rPr>
              <a:t>+</a:t>
            </a:r>
            <a:r>
              <a:rPr lang="zh-CN" altLang="en-US" sz="2100" dirty="0">
                <a:solidFill>
                  <a:srgbClr val="FF0000"/>
                </a:solidFill>
              </a:rPr>
              <a:t>意愿低</a:t>
            </a:r>
            <a:r>
              <a:rPr lang="en-US" altLang="zh-CN" sz="2100" dirty="0">
                <a:solidFill>
                  <a:srgbClr val="FF0000"/>
                </a:solidFill>
              </a:rPr>
              <a:t>+</a:t>
            </a:r>
            <a:r>
              <a:rPr lang="zh-CN" altLang="en-US" sz="2100" dirty="0">
                <a:solidFill>
                  <a:srgbClr val="FF0000"/>
                </a:solidFill>
              </a:rPr>
              <a:t>成本高</a:t>
            </a:r>
            <a:r>
              <a:rPr lang="en-US" altLang="zh-CN" sz="2100" dirty="0">
                <a:solidFill>
                  <a:srgbClr val="FF0000"/>
                </a:solidFill>
              </a:rPr>
              <a:t>——</a:t>
            </a:r>
            <a:r>
              <a:rPr lang="zh-CN" altLang="en-US" sz="2100" dirty="0">
                <a:solidFill>
                  <a:srgbClr val="FF0000"/>
                </a:solidFill>
              </a:rPr>
              <a:t>输入一些可量化的</a:t>
            </a:r>
            <a:r>
              <a:rPr lang="en-US" altLang="zh-CN" sz="2100" dirty="0">
                <a:solidFill>
                  <a:srgbClr val="FF0000"/>
                </a:solidFill>
              </a:rPr>
              <a:t>know-how</a:t>
            </a:r>
            <a:endParaRPr lang="zh-CN" altLang="en-US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24241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右箭头 134">
            <a:extLst>
              <a:ext uri="{FF2B5EF4-FFF2-40B4-BE49-F238E27FC236}">
                <a16:creationId xmlns:a16="http://schemas.microsoft.com/office/drawing/2014/main" id="{6BB7A54B-406C-6A8E-C032-7E78BFB429B8}"/>
              </a:ext>
            </a:extLst>
          </p:cNvPr>
          <p:cNvSpPr/>
          <p:nvPr/>
        </p:nvSpPr>
        <p:spPr>
          <a:xfrm>
            <a:off x="2135561" y="805286"/>
            <a:ext cx="316185" cy="478169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136" name="右箭头 135">
            <a:extLst>
              <a:ext uri="{FF2B5EF4-FFF2-40B4-BE49-F238E27FC236}">
                <a16:creationId xmlns:a16="http://schemas.microsoft.com/office/drawing/2014/main" id="{B837AB03-C0E1-F91C-B0D6-F7455CA1EC48}"/>
              </a:ext>
            </a:extLst>
          </p:cNvPr>
          <p:cNvSpPr/>
          <p:nvPr/>
        </p:nvSpPr>
        <p:spPr>
          <a:xfrm>
            <a:off x="4402597" y="809031"/>
            <a:ext cx="316185" cy="478169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</a:endParaRPr>
          </a:p>
        </p:txBody>
      </p:sp>
      <p:sp>
        <p:nvSpPr>
          <p:cNvPr id="137" name="右箭头 136">
            <a:extLst>
              <a:ext uri="{FF2B5EF4-FFF2-40B4-BE49-F238E27FC236}">
                <a16:creationId xmlns:a16="http://schemas.microsoft.com/office/drawing/2014/main" id="{E2C3B74F-A9FC-E6AC-CB96-80674DE832FA}"/>
              </a:ext>
            </a:extLst>
          </p:cNvPr>
          <p:cNvSpPr/>
          <p:nvPr/>
        </p:nvSpPr>
        <p:spPr>
          <a:xfrm>
            <a:off x="6678962" y="792261"/>
            <a:ext cx="316185" cy="478169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605D2164-FA7C-256E-C76C-1CBEB90189EA}"/>
              </a:ext>
            </a:extLst>
          </p:cNvPr>
          <p:cNvSpPr/>
          <p:nvPr/>
        </p:nvSpPr>
        <p:spPr>
          <a:xfrm>
            <a:off x="153271" y="1053155"/>
            <a:ext cx="2024082" cy="281167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912B1402-7B86-65A5-C064-5732D73445B7}"/>
              </a:ext>
            </a:extLst>
          </p:cNvPr>
          <p:cNvSpPr/>
          <p:nvPr/>
        </p:nvSpPr>
        <p:spPr>
          <a:xfrm>
            <a:off x="192599" y="1108122"/>
            <a:ext cx="421658" cy="191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+mn-ea"/>
                <a:cs typeface="Microsoft YaHei" pitchFamily="34" charset="-120"/>
              </a:rPr>
              <a:t>01</a:t>
            </a:r>
            <a:endParaRPr lang="en-US" sz="1000" dirty="0">
              <a:latin typeface="+mn-ea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532CD889-657F-7598-EC8B-AD8D2CEF81A7}"/>
              </a:ext>
            </a:extLst>
          </p:cNvPr>
          <p:cNvSpPr/>
          <p:nvPr/>
        </p:nvSpPr>
        <p:spPr>
          <a:xfrm>
            <a:off x="408877" y="1097886"/>
            <a:ext cx="1704574" cy="191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+mn-ea"/>
                <a:cs typeface="Microsoft YaHei" pitchFamily="34" charset="-120"/>
              </a:rPr>
              <a:t>需求探测</a:t>
            </a:r>
            <a:endParaRPr lang="en-US" sz="1300" dirty="0">
              <a:latin typeface="+mn-ea"/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1EE55EFA-8682-C656-44BC-B758B6C72E67}"/>
              </a:ext>
            </a:extLst>
          </p:cNvPr>
          <p:cNvSpPr/>
          <p:nvPr/>
        </p:nvSpPr>
        <p:spPr>
          <a:xfrm>
            <a:off x="2429636" y="1053155"/>
            <a:ext cx="2024082" cy="281167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65B9BDCB-5FBA-08EA-D028-3565216A263B}"/>
              </a:ext>
            </a:extLst>
          </p:cNvPr>
          <p:cNvSpPr/>
          <p:nvPr/>
        </p:nvSpPr>
        <p:spPr>
          <a:xfrm>
            <a:off x="2479456" y="1108122"/>
            <a:ext cx="520671" cy="198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+mn-ea"/>
                <a:cs typeface="Microsoft YaHei" pitchFamily="34" charset="-120"/>
              </a:rPr>
              <a:t>02</a:t>
            </a:r>
            <a:endParaRPr lang="en-US" sz="1000" dirty="0">
              <a:latin typeface="+mn-ea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E3AECE4A-CE4B-8D41-2033-EEA0F9161643}"/>
              </a:ext>
            </a:extLst>
          </p:cNvPr>
          <p:cNvSpPr/>
          <p:nvPr/>
        </p:nvSpPr>
        <p:spPr>
          <a:xfrm>
            <a:off x="2685243" y="1097886"/>
            <a:ext cx="1704574" cy="191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分析决策</a:t>
            </a:r>
            <a:endParaRPr lang="en-US" sz="1300" dirty="0">
              <a:latin typeface="+mn-ea"/>
            </a:endParaRPr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91D293B6-917C-11D9-B390-B8739965E31C}"/>
              </a:ext>
            </a:extLst>
          </p:cNvPr>
          <p:cNvSpPr/>
          <p:nvPr/>
        </p:nvSpPr>
        <p:spPr>
          <a:xfrm>
            <a:off x="4690282" y="1053155"/>
            <a:ext cx="2024082" cy="281167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55F06A7A-B0F7-AD08-DA90-FD2AA2EA5513}"/>
              </a:ext>
            </a:extLst>
          </p:cNvPr>
          <p:cNvSpPr/>
          <p:nvPr/>
        </p:nvSpPr>
        <p:spPr>
          <a:xfrm>
            <a:off x="4731563" y="1108122"/>
            <a:ext cx="543291" cy="195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+mn-ea"/>
                <a:cs typeface="Microsoft YaHei" pitchFamily="34" charset="-120"/>
              </a:rPr>
              <a:t>03</a:t>
            </a:r>
            <a:endParaRPr lang="en-US" sz="1000" dirty="0">
              <a:latin typeface="+mn-ea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3A792ADE-0B07-E4BB-C456-623265B1C991}"/>
              </a:ext>
            </a:extLst>
          </p:cNvPr>
          <p:cNvSpPr/>
          <p:nvPr/>
        </p:nvSpPr>
        <p:spPr>
          <a:xfrm>
            <a:off x="4945888" y="1097886"/>
            <a:ext cx="1704574" cy="191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榜单建设</a:t>
            </a:r>
            <a:endParaRPr lang="en-US" sz="1300" dirty="0">
              <a:latin typeface="+mn-ea"/>
            </a:endParaRPr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53472213-5074-55FB-597C-9C1717CCA21F}"/>
              </a:ext>
            </a:extLst>
          </p:cNvPr>
          <p:cNvSpPr/>
          <p:nvPr/>
        </p:nvSpPr>
        <p:spPr>
          <a:xfrm>
            <a:off x="6966647" y="1053155"/>
            <a:ext cx="2024082" cy="281167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9860F3D0-BBFE-697D-1356-39F937AC0D78}"/>
              </a:ext>
            </a:extLst>
          </p:cNvPr>
          <p:cNvSpPr/>
          <p:nvPr/>
        </p:nvSpPr>
        <p:spPr>
          <a:xfrm>
            <a:off x="6999899" y="1116435"/>
            <a:ext cx="520670" cy="191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+mn-ea"/>
                <a:cs typeface="Microsoft YaHei" pitchFamily="34" charset="-120"/>
              </a:rPr>
              <a:t>04</a:t>
            </a:r>
            <a:endParaRPr lang="en-US" sz="1000" dirty="0">
              <a:latin typeface="+mn-ea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6EAD4563-8E97-5044-0057-40FFDB215281}"/>
              </a:ext>
            </a:extLst>
          </p:cNvPr>
          <p:cNvSpPr/>
          <p:nvPr/>
        </p:nvSpPr>
        <p:spPr>
          <a:xfrm>
            <a:off x="7222253" y="1097886"/>
            <a:ext cx="1704574" cy="191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运营工具</a:t>
            </a:r>
            <a:endParaRPr lang="en-US" sz="1300" dirty="0">
              <a:latin typeface="+mn-ea"/>
            </a:endParaRPr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676768D2-9EFB-9CDB-D05E-F4DAB61FC7B5}"/>
              </a:ext>
            </a:extLst>
          </p:cNvPr>
          <p:cNvSpPr/>
          <p:nvPr/>
        </p:nvSpPr>
        <p:spPr>
          <a:xfrm>
            <a:off x="153271" y="1359882"/>
            <a:ext cx="2024082" cy="1151283"/>
          </a:xfrm>
          <a:prstGeom prst="rect">
            <a:avLst/>
          </a:prstGeom>
          <a:solidFill>
            <a:srgbClr val="E8F0FE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D0C976EC-B2C8-774A-5D13-BA74C9AF355A}"/>
              </a:ext>
            </a:extLst>
          </p:cNvPr>
          <p:cNvSpPr/>
          <p:nvPr/>
        </p:nvSpPr>
        <p:spPr>
          <a:xfrm>
            <a:off x="153271" y="1359882"/>
            <a:ext cx="31951" cy="1152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AC89FB54-0FC1-23AB-53FB-B6BC04D572C9}"/>
              </a:ext>
            </a:extLst>
          </p:cNvPr>
          <p:cNvSpPr/>
          <p:nvPr/>
        </p:nvSpPr>
        <p:spPr>
          <a:xfrm>
            <a:off x="229953" y="1284761"/>
            <a:ext cx="1909059" cy="587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趋势探测 Skill</a:t>
            </a:r>
            <a:endParaRPr lang="en-US" sz="1000" dirty="0">
              <a:latin typeface="+mn-ea"/>
            </a:endParaRPr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A28612D4-2297-6ABC-A4A6-B07B359A52C7}"/>
              </a:ext>
            </a:extLst>
          </p:cNvPr>
          <p:cNvSpPr/>
          <p:nvPr/>
        </p:nvSpPr>
        <p:spPr>
          <a:xfrm>
            <a:off x="204392" y="1721850"/>
            <a:ext cx="1921839" cy="639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0" name="Shape 23">
            <a:extLst>
              <a:ext uri="{FF2B5EF4-FFF2-40B4-BE49-F238E27FC236}">
                <a16:creationId xmlns:a16="http://schemas.microsoft.com/office/drawing/2014/main" id="{A997300B-FFA8-0D66-69E4-653E13A71B57}"/>
              </a:ext>
            </a:extLst>
          </p:cNvPr>
          <p:cNvSpPr/>
          <p:nvPr/>
        </p:nvSpPr>
        <p:spPr>
          <a:xfrm>
            <a:off x="236343" y="1838141"/>
            <a:ext cx="44731" cy="44731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24">
            <a:extLst>
              <a:ext uri="{FF2B5EF4-FFF2-40B4-BE49-F238E27FC236}">
                <a16:creationId xmlns:a16="http://schemas.microsoft.com/office/drawing/2014/main" id="{A73BB992-1C14-8347-238E-0C4A1DE7DA73}"/>
              </a:ext>
            </a:extLst>
          </p:cNvPr>
          <p:cNvSpPr/>
          <p:nvPr/>
        </p:nvSpPr>
        <p:spPr>
          <a:xfrm>
            <a:off x="306635" y="1668473"/>
            <a:ext cx="1832377" cy="389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站内异动：大搜/POI 飙升词、新增评价</a:t>
            </a:r>
            <a:endParaRPr lang="en-US" sz="700" dirty="0">
              <a:latin typeface="+mn-ea"/>
            </a:endParaRPr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801A8AB3-FF5B-B068-9E95-E14ABFE3330A}"/>
              </a:ext>
            </a:extLst>
          </p:cNvPr>
          <p:cNvSpPr/>
          <p:nvPr/>
        </p:nvSpPr>
        <p:spPr>
          <a:xfrm>
            <a:off x="236343" y="2073006"/>
            <a:ext cx="44731" cy="44731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6">
            <a:extLst>
              <a:ext uri="{FF2B5EF4-FFF2-40B4-BE49-F238E27FC236}">
                <a16:creationId xmlns:a16="http://schemas.microsoft.com/office/drawing/2014/main" id="{E4A3F64E-69DD-552A-5096-0B78A5ECB7BA}"/>
              </a:ext>
            </a:extLst>
          </p:cNvPr>
          <p:cNvSpPr/>
          <p:nvPr/>
        </p:nvSpPr>
        <p:spPr>
          <a:xfrm>
            <a:off x="306635" y="1910309"/>
            <a:ext cx="1832377" cy="389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站外趋势：抖音/小红书/微博高赞内容</a:t>
            </a:r>
            <a:endParaRPr lang="en-US" sz="700" dirty="0">
              <a:latin typeface="+mn-ea"/>
            </a:endParaRPr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69E9A7BD-36AC-08E9-AE4D-824139A856D6}"/>
              </a:ext>
            </a:extLst>
          </p:cNvPr>
          <p:cNvSpPr/>
          <p:nvPr/>
        </p:nvSpPr>
        <p:spPr>
          <a:xfrm>
            <a:off x="236343" y="2339282"/>
            <a:ext cx="44731" cy="44731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E6FB9EB5-8DE1-BF6F-5EFD-4680EA19C9C3}"/>
              </a:ext>
            </a:extLst>
          </p:cNvPr>
          <p:cNvSpPr/>
          <p:nvPr/>
        </p:nvSpPr>
        <p:spPr>
          <a:xfrm>
            <a:off x="306635" y="2155906"/>
            <a:ext cx="1832377" cy="389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趋势词聚类→品类/菜品/场景/门店</a:t>
            </a:r>
            <a:endParaRPr lang="en-US" sz="700" dirty="0">
              <a:latin typeface="+mn-ea"/>
            </a:endParaRPr>
          </a:p>
        </p:txBody>
      </p:sp>
      <p:sp>
        <p:nvSpPr>
          <p:cNvPr id="26" name="Shape 29">
            <a:extLst>
              <a:ext uri="{FF2B5EF4-FFF2-40B4-BE49-F238E27FC236}">
                <a16:creationId xmlns:a16="http://schemas.microsoft.com/office/drawing/2014/main" id="{CBC491FF-009B-AB7E-B978-82F74155C7A8}"/>
              </a:ext>
            </a:extLst>
          </p:cNvPr>
          <p:cNvSpPr/>
          <p:nvPr/>
        </p:nvSpPr>
        <p:spPr>
          <a:xfrm>
            <a:off x="153271" y="2705660"/>
            <a:ext cx="2024082" cy="1239193"/>
          </a:xfrm>
          <a:prstGeom prst="rect">
            <a:avLst/>
          </a:prstGeom>
          <a:solidFill>
            <a:srgbClr val="E8F0FE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7" name="Shape 30">
            <a:extLst>
              <a:ext uri="{FF2B5EF4-FFF2-40B4-BE49-F238E27FC236}">
                <a16:creationId xmlns:a16="http://schemas.microsoft.com/office/drawing/2014/main" id="{3DB3F552-4EEC-99EC-EC61-B2AE2BE27902}"/>
              </a:ext>
            </a:extLst>
          </p:cNvPr>
          <p:cNvSpPr/>
          <p:nvPr/>
        </p:nvSpPr>
        <p:spPr>
          <a:xfrm>
            <a:off x="153271" y="2705660"/>
            <a:ext cx="31951" cy="1242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31">
            <a:extLst>
              <a:ext uri="{FF2B5EF4-FFF2-40B4-BE49-F238E27FC236}">
                <a16:creationId xmlns:a16="http://schemas.microsoft.com/office/drawing/2014/main" id="{D6A89885-8F41-D4AD-A4E8-2BD44928D959}"/>
              </a:ext>
            </a:extLst>
          </p:cNvPr>
          <p:cNvSpPr/>
          <p:nvPr/>
        </p:nvSpPr>
        <p:spPr>
          <a:xfrm>
            <a:off x="229953" y="2731220"/>
            <a:ext cx="1909059" cy="485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供给关联 Skill</a:t>
            </a:r>
            <a:endParaRPr lang="en-US" sz="1000" dirty="0">
              <a:latin typeface="+mn-ea"/>
            </a:endParaRPr>
          </a:p>
        </p:txBody>
      </p:sp>
      <p:sp>
        <p:nvSpPr>
          <p:cNvPr id="29" name="Shape 32">
            <a:extLst>
              <a:ext uri="{FF2B5EF4-FFF2-40B4-BE49-F238E27FC236}">
                <a16:creationId xmlns:a16="http://schemas.microsoft.com/office/drawing/2014/main" id="{AAE1DEE8-0C9A-75F9-DE31-357DFF511238}"/>
              </a:ext>
            </a:extLst>
          </p:cNvPr>
          <p:cNvSpPr/>
          <p:nvPr/>
        </p:nvSpPr>
        <p:spPr>
          <a:xfrm>
            <a:off x="204392" y="3119788"/>
            <a:ext cx="1921839" cy="639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0" name="Shape 33">
            <a:extLst>
              <a:ext uri="{FF2B5EF4-FFF2-40B4-BE49-F238E27FC236}">
                <a16:creationId xmlns:a16="http://schemas.microsoft.com/office/drawing/2014/main" id="{220F5ABD-B27F-EDE2-4D81-8FF5099D8580}"/>
              </a:ext>
            </a:extLst>
          </p:cNvPr>
          <p:cNvSpPr/>
          <p:nvPr/>
        </p:nvSpPr>
        <p:spPr>
          <a:xfrm>
            <a:off x="236343" y="3274600"/>
            <a:ext cx="44731" cy="44731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34">
            <a:extLst>
              <a:ext uri="{FF2B5EF4-FFF2-40B4-BE49-F238E27FC236}">
                <a16:creationId xmlns:a16="http://schemas.microsoft.com/office/drawing/2014/main" id="{D42A7568-1895-B56F-BA5D-776CA141A034}"/>
              </a:ext>
            </a:extLst>
          </p:cNvPr>
          <p:cNvSpPr/>
          <p:nvPr/>
        </p:nvSpPr>
        <p:spPr>
          <a:xfrm>
            <a:off x="306635" y="3093777"/>
            <a:ext cx="1832377" cy="389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门店 / 菜品 / deal / 体验服务映射</a:t>
            </a:r>
            <a:endParaRPr lang="en-US" sz="700" dirty="0">
              <a:latin typeface="+mn-ea"/>
            </a:endParaRPr>
          </a:p>
        </p:txBody>
      </p:sp>
      <p:sp>
        <p:nvSpPr>
          <p:cNvPr id="32" name="Shape 35">
            <a:extLst>
              <a:ext uri="{FF2B5EF4-FFF2-40B4-BE49-F238E27FC236}">
                <a16:creationId xmlns:a16="http://schemas.microsoft.com/office/drawing/2014/main" id="{4BEA7D1F-0DE5-2BBD-A4A2-521493228ABA}"/>
              </a:ext>
            </a:extLst>
          </p:cNvPr>
          <p:cNvSpPr/>
          <p:nvPr/>
        </p:nvSpPr>
        <p:spPr>
          <a:xfrm>
            <a:off x="236343" y="3509209"/>
            <a:ext cx="44731" cy="44731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6">
            <a:extLst>
              <a:ext uri="{FF2B5EF4-FFF2-40B4-BE49-F238E27FC236}">
                <a16:creationId xmlns:a16="http://schemas.microsoft.com/office/drawing/2014/main" id="{AE1B6759-FFC0-9B2F-512B-714408A7C40E}"/>
              </a:ext>
            </a:extLst>
          </p:cNvPr>
          <p:cNvSpPr/>
          <p:nvPr/>
        </p:nvSpPr>
        <p:spPr>
          <a:xfrm>
            <a:off x="306635" y="3340176"/>
            <a:ext cx="1832377" cy="389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多维度输入：id / 名称 / 标签 / 自然语言</a:t>
            </a:r>
            <a:endParaRPr lang="en-US" sz="700" dirty="0">
              <a:latin typeface="+mn-ea"/>
            </a:endParaRPr>
          </a:p>
        </p:txBody>
      </p:sp>
      <p:sp>
        <p:nvSpPr>
          <p:cNvPr id="34" name="Shape 37">
            <a:extLst>
              <a:ext uri="{FF2B5EF4-FFF2-40B4-BE49-F238E27FC236}">
                <a16:creationId xmlns:a16="http://schemas.microsoft.com/office/drawing/2014/main" id="{4F769BA7-44FD-117F-46C8-558F7CE5D44C}"/>
              </a:ext>
            </a:extLst>
          </p:cNvPr>
          <p:cNvSpPr/>
          <p:nvPr/>
        </p:nvSpPr>
        <p:spPr>
          <a:xfrm>
            <a:off x="236343" y="3750522"/>
            <a:ext cx="44731" cy="44731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8">
            <a:extLst>
              <a:ext uri="{FF2B5EF4-FFF2-40B4-BE49-F238E27FC236}">
                <a16:creationId xmlns:a16="http://schemas.microsoft.com/office/drawing/2014/main" id="{0E19E119-D4F7-4BFA-B7A4-871714E1E57E}"/>
              </a:ext>
            </a:extLst>
          </p:cNvPr>
          <p:cNvSpPr/>
          <p:nvPr/>
        </p:nvSpPr>
        <p:spPr>
          <a:xfrm>
            <a:off x="306635" y="3569550"/>
            <a:ext cx="1832377" cy="389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输出候选供给及匹配概率</a:t>
            </a:r>
            <a:endParaRPr lang="en-US" sz="700" dirty="0">
              <a:latin typeface="+mn-ea"/>
            </a:endParaRPr>
          </a:p>
        </p:txBody>
      </p:sp>
      <p:sp>
        <p:nvSpPr>
          <p:cNvPr id="36" name="Shape 39">
            <a:extLst>
              <a:ext uri="{FF2B5EF4-FFF2-40B4-BE49-F238E27FC236}">
                <a16:creationId xmlns:a16="http://schemas.microsoft.com/office/drawing/2014/main" id="{7487360D-C8E5-6EDF-2EF0-2D358A470A47}"/>
              </a:ext>
            </a:extLst>
          </p:cNvPr>
          <p:cNvSpPr/>
          <p:nvPr/>
        </p:nvSpPr>
        <p:spPr>
          <a:xfrm>
            <a:off x="2429636" y="1359882"/>
            <a:ext cx="2024082" cy="76685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7" name="Shape 40">
            <a:extLst>
              <a:ext uri="{FF2B5EF4-FFF2-40B4-BE49-F238E27FC236}">
                <a16:creationId xmlns:a16="http://schemas.microsoft.com/office/drawing/2014/main" id="{A39C92EC-E943-48A2-0813-1F7EEC290A6A}"/>
              </a:ext>
            </a:extLst>
          </p:cNvPr>
          <p:cNvSpPr/>
          <p:nvPr/>
        </p:nvSpPr>
        <p:spPr>
          <a:xfrm>
            <a:off x="2429636" y="1359882"/>
            <a:ext cx="31951" cy="75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41">
            <a:extLst>
              <a:ext uri="{FF2B5EF4-FFF2-40B4-BE49-F238E27FC236}">
                <a16:creationId xmlns:a16="http://schemas.microsoft.com/office/drawing/2014/main" id="{4340241E-2FAB-B07A-0B37-122714C82B1E}"/>
              </a:ext>
            </a:extLst>
          </p:cNvPr>
          <p:cNvSpPr/>
          <p:nvPr/>
        </p:nvSpPr>
        <p:spPr>
          <a:xfrm>
            <a:off x="2506318" y="1385443"/>
            <a:ext cx="1909059" cy="283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数据分析 Skill</a:t>
            </a:r>
            <a:endParaRPr lang="en-US" sz="1000" dirty="0">
              <a:latin typeface="+mn-ea"/>
            </a:endParaRPr>
          </a:p>
        </p:txBody>
      </p:sp>
      <p:sp>
        <p:nvSpPr>
          <p:cNvPr id="39" name="Shape 42">
            <a:extLst>
              <a:ext uri="{FF2B5EF4-FFF2-40B4-BE49-F238E27FC236}">
                <a16:creationId xmlns:a16="http://schemas.microsoft.com/office/drawing/2014/main" id="{6527C07B-516B-A2DD-007E-3E3183AF196F}"/>
              </a:ext>
            </a:extLst>
          </p:cNvPr>
          <p:cNvSpPr/>
          <p:nvPr/>
        </p:nvSpPr>
        <p:spPr>
          <a:xfrm>
            <a:off x="2480758" y="1669166"/>
            <a:ext cx="1921839" cy="639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0" name="Shape 43">
            <a:extLst>
              <a:ext uri="{FF2B5EF4-FFF2-40B4-BE49-F238E27FC236}">
                <a16:creationId xmlns:a16="http://schemas.microsoft.com/office/drawing/2014/main" id="{565E78F0-30D3-4851-C234-2384C166C874}"/>
              </a:ext>
            </a:extLst>
          </p:cNvPr>
          <p:cNvSpPr/>
          <p:nvPr/>
        </p:nvSpPr>
        <p:spPr>
          <a:xfrm>
            <a:off x="2512708" y="1768501"/>
            <a:ext cx="44731" cy="44731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44">
            <a:extLst>
              <a:ext uri="{FF2B5EF4-FFF2-40B4-BE49-F238E27FC236}">
                <a16:creationId xmlns:a16="http://schemas.microsoft.com/office/drawing/2014/main" id="{88B38BCC-9D2A-238A-C405-36F0FBC177D2}"/>
              </a:ext>
            </a:extLst>
          </p:cNvPr>
          <p:cNvSpPr/>
          <p:nvPr/>
        </p:nvSpPr>
        <p:spPr>
          <a:xfrm>
            <a:off x="2583000" y="1688337"/>
            <a:ext cx="1832377" cy="23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Text-to-SQL / 自然语言查询</a:t>
            </a:r>
            <a:endParaRPr lang="en-US" sz="700" dirty="0">
              <a:latin typeface="+mn-ea"/>
            </a:endParaRPr>
          </a:p>
        </p:txBody>
      </p:sp>
      <p:sp>
        <p:nvSpPr>
          <p:cNvPr id="42" name="Shape 45">
            <a:extLst>
              <a:ext uri="{FF2B5EF4-FFF2-40B4-BE49-F238E27FC236}">
                <a16:creationId xmlns:a16="http://schemas.microsoft.com/office/drawing/2014/main" id="{40E76A30-B73E-48D9-500B-CD5D54C9E818}"/>
              </a:ext>
            </a:extLst>
          </p:cNvPr>
          <p:cNvSpPr/>
          <p:nvPr/>
        </p:nvSpPr>
        <p:spPr>
          <a:xfrm>
            <a:off x="2512708" y="1946259"/>
            <a:ext cx="44731" cy="44731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6">
            <a:extLst>
              <a:ext uri="{FF2B5EF4-FFF2-40B4-BE49-F238E27FC236}">
                <a16:creationId xmlns:a16="http://schemas.microsoft.com/office/drawing/2014/main" id="{7ECA515A-377D-83BD-9332-20166FAF69F9}"/>
              </a:ext>
            </a:extLst>
          </p:cNvPr>
          <p:cNvSpPr/>
          <p:nvPr/>
        </p:nvSpPr>
        <p:spPr>
          <a:xfrm>
            <a:off x="2583000" y="1866094"/>
            <a:ext cx="1832377" cy="23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指标复盘 · 分析结论 · 预警报告</a:t>
            </a:r>
            <a:endParaRPr lang="en-US" sz="700" dirty="0">
              <a:latin typeface="+mn-ea"/>
            </a:endParaRPr>
          </a:p>
        </p:txBody>
      </p:sp>
      <p:sp>
        <p:nvSpPr>
          <p:cNvPr id="44" name="Shape 47">
            <a:extLst>
              <a:ext uri="{FF2B5EF4-FFF2-40B4-BE49-F238E27FC236}">
                <a16:creationId xmlns:a16="http://schemas.microsoft.com/office/drawing/2014/main" id="{FED58694-5F3E-3DA6-B1C6-6D4177564443}"/>
              </a:ext>
            </a:extLst>
          </p:cNvPr>
          <p:cNvSpPr/>
          <p:nvPr/>
        </p:nvSpPr>
        <p:spPr>
          <a:xfrm>
            <a:off x="2429636" y="2257744"/>
            <a:ext cx="2024082" cy="76618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5" name="Shape 48">
            <a:extLst>
              <a:ext uri="{FF2B5EF4-FFF2-40B4-BE49-F238E27FC236}">
                <a16:creationId xmlns:a16="http://schemas.microsoft.com/office/drawing/2014/main" id="{56D6CFBA-8462-7BEB-3CEB-033C315CBD52}"/>
              </a:ext>
            </a:extLst>
          </p:cNvPr>
          <p:cNvSpPr/>
          <p:nvPr/>
        </p:nvSpPr>
        <p:spPr>
          <a:xfrm>
            <a:off x="2429636" y="2257744"/>
            <a:ext cx="31951" cy="75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9">
            <a:extLst>
              <a:ext uri="{FF2B5EF4-FFF2-40B4-BE49-F238E27FC236}">
                <a16:creationId xmlns:a16="http://schemas.microsoft.com/office/drawing/2014/main" id="{25CA0ADA-535D-DD0D-1993-9E67C9D0BA95}"/>
              </a:ext>
            </a:extLst>
          </p:cNvPr>
          <p:cNvSpPr/>
          <p:nvPr/>
        </p:nvSpPr>
        <p:spPr>
          <a:xfrm>
            <a:off x="2506318" y="2283304"/>
            <a:ext cx="1909059" cy="283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用户分析 Skill</a:t>
            </a:r>
            <a:endParaRPr lang="en-US" sz="1000" dirty="0">
              <a:latin typeface="+mn-ea"/>
            </a:endParaRPr>
          </a:p>
        </p:txBody>
      </p:sp>
      <p:sp>
        <p:nvSpPr>
          <p:cNvPr id="47" name="Shape 50">
            <a:extLst>
              <a:ext uri="{FF2B5EF4-FFF2-40B4-BE49-F238E27FC236}">
                <a16:creationId xmlns:a16="http://schemas.microsoft.com/office/drawing/2014/main" id="{766E77F0-690B-A16A-F0F3-3B28EF6521B2}"/>
              </a:ext>
            </a:extLst>
          </p:cNvPr>
          <p:cNvSpPr/>
          <p:nvPr/>
        </p:nvSpPr>
        <p:spPr>
          <a:xfrm>
            <a:off x="2480758" y="2567027"/>
            <a:ext cx="1921839" cy="639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8" name="Shape 51">
            <a:extLst>
              <a:ext uri="{FF2B5EF4-FFF2-40B4-BE49-F238E27FC236}">
                <a16:creationId xmlns:a16="http://schemas.microsoft.com/office/drawing/2014/main" id="{7B6CBE90-A614-0F41-8B16-2A771CD07888}"/>
              </a:ext>
            </a:extLst>
          </p:cNvPr>
          <p:cNvSpPr/>
          <p:nvPr/>
        </p:nvSpPr>
        <p:spPr>
          <a:xfrm>
            <a:off x="2512708" y="2666362"/>
            <a:ext cx="44731" cy="44731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52">
            <a:extLst>
              <a:ext uri="{FF2B5EF4-FFF2-40B4-BE49-F238E27FC236}">
                <a16:creationId xmlns:a16="http://schemas.microsoft.com/office/drawing/2014/main" id="{A4BBD0E3-5116-281B-779F-9F7FA3DD8915}"/>
              </a:ext>
            </a:extLst>
          </p:cNvPr>
          <p:cNvSpPr/>
          <p:nvPr/>
        </p:nvSpPr>
        <p:spPr>
          <a:xfrm>
            <a:off x="2583000" y="2586198"/>
            <a:ext cx="1832377" cy="23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用户分层 / 画像 / 需求挖掘</a:t>
            </a:r>
            <a:endParaRPr lang="en-US" sz="700" dirty="0">
              <a:latin typeface="+mn-ea"/>
            </a:endParaRPr>
          </a:p>
        </p:txBody>
      </p:sp>
      <p:sp>
        <p:nvSpPr>
          <p:cNvPr id="50" name="Shape 53">
            <a:extLst>
              <a:ext uri="{FF2B5EF4-FFF2-40B4-BE49-F238E27FC236}">
                <a16:creationId xmlns:a16="http://schemas.microsoft.com/office/drawing/2014/main" id="{231EB94F-9549-BC78-DCC8-17CC82463143}"/>
              </a:ext>
            </a:extLst>
          </p:cNvPr>
          <p:cNvSpPr/>
          <p:nvPr/>
        </p:nvSpPr>
        <p:spPr>
          <a:xfrm>
            <a:off x="2512708" y="2844119"/>
            <a:ext cx="44731" cy="44731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54">
            <a:extLst>
              <a:ext uri="{FF2B5EF4-FFF2-40B4-BE49-F238E27FC236}">
                <a16:creationId xmlns:a16="http://schemas.microsoft.com/office/drawing/2014/main" id="{B9C33398-B1C0-3282-35E4-B22252C4CC76}"/>
              </a:ext>
            </a:extLst>
          </p:cNvPr>
          <p:cNvSpPr/>
          <p:nvPr/>
        </p:nvSpPr>
        <p:spPr>
          <a:xfrm>
            <a:off x="2583000" y="2763955"/>
            <a:ext cx="1832377" cy="23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用户行为路径 · 转化分析</a:t>
            </a:r>
            <a:endParaRPr lang="en-US" sz="700" dirty="0">
              <a:latin typeface="+mn-ea"/>
            </a:endParaRPr>
          </a:p>
        </p:txBody>
      </p:sp>
      <p:sp>
        <p:nvSpPr>
          <p:cNvPr id="52" name="Shape 55">
            <a:extLst>
              <a:ext uri="{FF2B5EF4-FFF2-40B4-BE49-F238E27FC236}">
                <a16:creationId xmlns:a16="http://schemas.microsoft.com/office/drawing/2014/main" id="{D3967FF6-B8C4-3890-D3BD-79F4A0DBF74A}"/>
              </a:ext>
            </a:extLst>
          </p:cNvPr>
          <p:cNvSpPr/>
          <p:nvPr/>
        </p:nvSpPr>
        <p:spPr>
          <a:xfrm>
            <a:off x="2429636" y="3155605"/>
            <a:ext cx="2024082" cy="759927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3" name="Shape 56">
            <a:extLst>
              <a:ext uri="{FF2B5EF4-FFF2-40B4-BE49-F238E27FC236}">
                <a16:creationId xmlns:a16="http://schemas.microsoft.com/office/drawing/2014/main" id="{C812C4DE-E4C7-1ED4-D922-A9F6ACE8B0B6}"/>
              </a:ext>
            </a:extLst>
          </p:cNvPr>
          <p:cNvSpPr/>
          <p:nvPr/>
        </p:nvSpPr>
        <p:spPr>
          <a:xfrm>
            <a:off x="2429636" y="3148151"/>
            <a:ext cx="31951" cy="75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7">
            <a:extLst>
              <a:ext uri="{FF2B5EF4-FFF2-40B4-BE49-F238E27FC236}">
                <a16:creationId xmlns:a16="http://schemas.microsoft.com/office/drawing/2014/main" id="{B62FA4BF-A1B7-C1EE-4923-3F5F52151A17}"/>
              </a:ext>
            </a:extLst>
          </p:cNvPr>
          <p:cNvSpPr/>
          <p:nvPr/>
        </p:nvSpPr>
        <p:spPr>
          <a:xfrm>
            <a:off x="2506318" y="3181165"/>
            <a:ext cx="1909059" cy="283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竞对分析 Skill</a:t>
            </a:r>
            <a:endParaRPr lang="en-US" sz="1000" dirty="0">
              <a:latin typeface="+mn-ea"/>
            </a:endParaRPr>
          </a:p>
        </p:txBody>
      </p:sp>
      <p:sp>
        <p:nvSpPr>
          <p:cNvPr id="55" name="Shape 58">
            <a:extLst>
              <a:ext uri="{FF2B5EF4-FFF2-40B4-BE49-F238E27FC236}">
                <a16:creationId xmlns:a16="http://schemas.microsoft.com/office/drawing/2014/main" id="{2BE9A609-1548-67F8-A2A8-F766397E69F0}"/>
              </a:ext>
            </a:extLst>
          </p:cNvPr>
          <p:cNvSpPr/>
          <p:nvPr/>
        </p:nvSpPr>
        <p:spPr>
          <a:xfrm>
            <a:off x="2480758" y="3464888"/>
            <a:ext cx="1921839" cy="639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6" name="Shape 59">
            <a:extLst>
              <a:ext uri="{FF2B5EF4-FFF2-40B4-BE49-F238E27FC236}">
                <a16:creationId xmlns:a16="http://schemas.microsoft.com/office/drawing/2014/main" id="{B832CDD2-E482-1262-7913-C161FA991187}"/>
              </a:ext>
            </a:extLst>
          </p:cNvPr>
          <p:cNvSpPr/>
          <p:nvPr/>
        </p:nvSpPr>
        <p:spPr>
          <a:xfrm>
            <a:off x="2512708" y="3564223"/>
            <a:ext cx="44731" cy="44731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60">
            <a:extLst>
              <a:ext uri="{FF2B5EF4-FFF2-40B4-BE49-F238E27FC236}">
                <a16:creationId xmlns:a16="http://schemas.microsoft.com/office/drawing/2014/main" id="{D956A892-9D72-4382-9517-28A59AD1092A}"/>
              </a:ext>
            </a:extLst>
          </p:cNvPr>
          <p:cNvSpPr/>
          <p:nvPr/>
        </p:nvSpPr>
        <p:spPr>
          <a:xfrm>
            <a:off x="2583000" y="3484058"/>
            <a:ext cx="1832377" cy="23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竞品榜单现状对比</a:t>
            </a:r>
            <a:endParaRPr lang="en-US" sz="700" dirty="0">
              <a:latin typeface="+mn-ea"/>
            </a:endParaRPr>
          </a:p>
        </p:txBody>
      </p:sp>
      <p:sp>
        <p:nvSpPr>
          <p:cNvPr id="58" name="Shape 61">
            <a:extLst>
              <a:ext uri="{FF2B5EF4-FFF2-40B4-BE49-F238E27FC236}">
                <a16:creationId xmlns:a16="http://schemas.microsoft.com/office/drawing/2014/main" id="{E8B3DEC6-33F7-939D-EBB2-8BC3D707FED5}"/>
              </a:ext>
            </a:extLst>
          </p:cNvPr>
          <p:cNvSpPr/>
          <p:nvPr/>
        </p:nvSpPr>
        <p:spPr>
          <a:xfrm>
            <a:off x="2512708" y="3741870"/>
            <a:ext cx="44731" cy="44731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Text 62">
            <a:extLst>
              <a:ext uri="{FF2B5EF4-FFF2-40B4-BE49-F238E27FC236}">
                <a16:creationId xmlns:a16="http://schemas.microsoft.com/office/drawing/2014/main" id="{B5624E24-7D26-62E3-0DB2-E7EE8ABDA968}"/>
              </a:ext>
            </a:extLst>
          </p:cNvPr>
          <p:cNvSpPr/>
          <p:nvPr/>
        </p:nvSpPr>
        <p:spPr>
          <a:xfrm>
            <a:off x="2583000" y="3661705"/>
            <a:ext cx="1832377" cy="23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市场机会与差距识别</a:t>
            </a:r>
            <a:endParaRPr lang="en-US" sz="700" dirty="0">
              <a:latin typeface="+mn-ea"/>
            </a:endParaRPr>
          </a:p>
        </p:txBody>
      </p:sp>
      <p:sp>
        <p:nvSpPr>
          <p:cNvPr id="60" name="Shape 63">
            <a:extLst>
              <a:ext uri="{FF2B5EF4-FFF2-40B4-BE49-F238E27FC236}">
                <a16:creationId xmlns:a16="http://schemas.microsoft.com/office/drawing/2014/main" id="{A96C16E6-3B6F-BFF6-FF47-AD60C0888E29}"/>
              </a:ext>
            </a:extLst>
          </p:cNvPr>
          <p:cNvSpPr/>
          <p:nvPr/>
        </p:nvSpPr>
        <p:spPr>
          <a:xfrm>
            <a:off x="2429636" y="4053756"/>
            <a:ext cx="2024082" cy="759927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61" name="Shape 64">
            <a:extLst>
              <a:ext uri="{FF2B5EF4-FFF2-40B4-BE49-F238E27FC236}">
                <a16:creationId xmlns:a16="http://schemas.microsoft.com/office/drawing/2014/main" id="{9DECB9B2-F87B-F6E4-D6CB-B8C834FA3991}"/>
              </a:ext>
            </a:extLst>
          </p:cNvPr>
          <p:cNvSpPr/>
          <p:nvPr/>
        </p:nvSpPr>
        <p:spPr>
          <a:xfrm>
            <a:off x="2429636" y="4053756"/>
            <a:ext cx="31951" cy="75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2" name="Text 65">
            <a:extLst>
              <a:ext uri="{FF2B5EF4-FFF2-40B4-BE49-F238E27FC236}">
                <a16:creationId xmlns:a16="http://schemas.microsoft.com/office/drawing/2014/main" id="{B9056CF3-F9FE-DD31-8FFB-EB666535BA0C}"/>
              </a:ext>
            </a:extLst>
          </p:cNvPr>
          <p:cNvSpPr/>
          <p:nvPr/>
        </p:nvSpPr>
        <p:spPr>
          <a:xfrm>
            <a:off x="2506318" y="4079316"/>
            <a:ext cx="1909059" cy="283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评价 UGC 挖掘 Skill</a:t>
            </a:r>
            <a:endParaRPr lang="en-US" sz="1000" dirty="0">
              <a:latin typeface="+mn-ea"/>
            </a:endParaRPr>
          </a:p>
        </p:txBody>
      </p:sp>
      <p:sp>
        <p:nvSpPr>
          <p:cNvPr id="63" name="Shape 66">
            <a:extLst>
              <a:ext uri="{FF2B5EF4-FFF2-40B4-BE49-F238E27FC236}">
                <a16:creationId xmlns:a16="http://schemas.microsoft.com/office/drawing/2014/main" id="{7824B6E5-833D-6D9E-951E-BA308A1D2C46}"/>
              </a:ext>
            </a:extLst>
          </p:cNvPr>
          <p:cNvSpPr/>
          <p:nvPr/>
        </p:nvSpPr>
        <p:spPr>
          <a:xfrm>
            <a:off x="2480758" y="4363040"/>
            <a:ext cx="1921839" cy="639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4" name="Shape 67">
            <a:extLst>
              <a:ext uri="{FF2B5EF4-FFF2-40B4-BE49-F238E27FC236}">
                <a16:creationId xmlns:a16="http://schemas.microsoft.com/office/drawing/2014/main" id="{4DB68DC9-E5D7-735E-CD09-955EE16DB89F}"/>
              </a:ext>
            </a:extLst>
          </p:cNvPr>
          <p:cNvSpPr/>
          <p:nvPr/>
        </p:nvSpPr>
        <p:spPr>
          <a:xfrm>
            <a:off x="2512708" y="4462374"/>
            <a:ext cx="44731" cy="44731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8">
            <a:extLst>
              <a:ext uri="{FF2B5EF4-FFF2-40B4-BE49-F238E27FC236}">
                <a16:creationId xmlns:a16="http://schemas.microsoft.com/office/drawing/2014/main" id="{76B765F8-745E-D8C0-9BE9-D31B9ABB04EB}"/>
              </a:ext>
            </a:extLst>
          </p:cNvPr>
          <p:cNvSpPr/>
          <p:nvPr/>
        </p:nvSpPr>
        <p:spPr>
          <a:xfrm>
            <a:off x="2583000" y="4382210"/>
            <a:ext cx="1832377" cy="23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好评差评分析 · 运营建议</a:t>
            </a:r>
            <a:endParaRPr lang="en-US" sz="700" dirty="0">
              <a:latin typeface="+mn-ea"/>
            </a:endParaRPr>
          </a:p>
        </p:txBody>
      </p:sp>
      <p:sp>
        <p:nvSpPr>
          <p:cNvPr id="66" name="Shape 69">
            <a:extLst>
              <a:ext uri="{FF2B5EF4-FFF2-40B4-BE49-F238E27FC236}">
                <a16:creationId xmlns:a16="http://schemas.microsoft.com/office/drawing/2014/main" id="{D4486BE1-829C-41BE-CE6A-89659F19CD25}"/>
              </a:ext>
            </a:extLst>
          </p:cNvPr>
          <p:cNvSpPr/>
          <p:nvPr/>
        </p:nvSpPr>
        <p:spPr>
          <a:xfrm>
            <a:off x="2512708" y="4628837"/>
            <a:ext cx="44731" cy="44731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7" name="Text 70">
            <a:extLst>
              <a:ext uri="{FF2B5EF4-FFF2-40B4-BE49-F238E27FC236}">
                <a16:creationId xmlns:a16="http://schemas.microsoft.com/office/drawing/2014/main" id="{988755B3-585A-1283-1439-881BCB5CF6F2}"/>
              </a:ext>
            </a:extLst>
          </p:cNvPr>
          <p:cNvSpPr/>
          <p:nvPr/>
        </p:nvSpPr>
        <p:spPr>
          <a:xfrm>
            <a:off x="2583000" y="4548673"/>
            <a:ext cx="1832377" cy="23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推荐理由 / 门店聚合标签提取</a:t>
            </a:r>
            <a:endParaRPr lang="en-US" sz="700" dirty="0">
              <a:latin typeface="+mn-ea"/>
            </a:endParaRPr>
          </a:p>
        </p:txBody>
      </p:sp>
      <p:sp>
        <p:nvSpPr>
          <p:cNvPr id="68" name="Shape 71">
            <a:extLst>
              <a:ext uri="{FF2B5EF4-FFF2-40B4-BE49-F238E27FC236}">
                <a16:creationId xmlns:a16="http://schemas.microsoft.com/office/drawing/2014/main" id="{E83C7427-219B-C6CC-B496-3FC45C03B05B}"/>
              </a:ext>
            </a:extLst>
          </p:cNvPr>
          <p:cNvSpPr/>
          <p:nvPr/>
        </p:nvSpPr>
        <p:spPr>
          <a:xfrm>
            <a:off x="4690282" y="1359882"/>
            <a:ext cx="2024082" cy="1044403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69" name="Shape 72">
            <a:extLst>
              <a:ext uri="{FF2B5EF4-FFF2-40B4-BE49-F238E27FC236}">
                <a16:creationId xmlns:a16="http://schemas.microsoft.com/office/drawing/2014/main" id="{71385559-2C9A-8007-7DB3-98065AB295CF}"/>
              </a:ext>
            </a:extLst>
          </p:cNvPr>
          <p:cNvSpPr/>
          <p:nvPr/>
        </p:nvSpPr>
        <p:spPr>
          <a:xfrm>
            <a:off x="4690282" y="1359882"/>
            <a:ext cx="31951" cy="1044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0" name="Text 73">
            <a:extLst>
              <a:ext uri="{FF2B5EF4-FFF2-40B4-BE49-F238E27FC236}">
                <a16:creationId xmlns:a16="http://schemas.microsoft.com/office/drawing/2014/main" id="{15E64D54-F9A7-A9D1-9C0A-ED53DA789047}"/>
              </a:ext>
            </a:extLst>
          </p:cNvPr>
          <p:cNvSpPr/>
          <p:nvPr/>
        </p:nvSpPr>
        <p:spPr>
          <a:xfrm>
            <a:off x="4766964" y="1385443"/>
            <a:ext cx="1909059" cy="331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榜单生产排序 Skill</a:t>
            </a:r>
            <a:endParaRPr lang="en-US" sz="1000" dirty="0">
              <a:latin typeface="+mn-ea"/>
            </a:endParaRPr>
          </a:p>
        </p:txBody>
      </p:sp>
      <p:sp>
        <p:nvSpPr>
          <p:cNvPr id="71" name="Shape 74">
            <a:extLst>
              <a:ext uri="{FF2B5EF4-FFF2-40B4-BE49-F238E27FC236}">
                <a16:creationId xmlns:a16="http://schemas.microsoft.com/office/drawing/2014/main" id="{FFFAF1B1-F69B-6854-2FBB-91F842C890F8}"/>
              </a:ext>
            </a:extLst>
          </p:cNvPr>
          <p:cNvSpPr/>
          <p:nvPr/>
        </p:nvSpPr>
        <p:spPr>
          <a:xfrm>
            <a:off x="4741403" y="1717040"/>
            <a:ext cx="1921839" cy="6390"/>
          </a:xfrm>
          <a:prstGeom prst="rect">
            <a:avLst/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72" name="Shape 75">
            <a:extLst>
              <a:ext uri="{FF2B5EF4-FFF2-40B4-BE49-F238E27FC236}">
                <a16:creationId xmlns:a16="http://schemas.microsoft.com/office/drawing/2014/main" id="{E5DFFD41-CE39-2063-EF90-264A2D85B33B}"/>
              </a:ext>
            </a:extLst>
          </p:cNvPr>
          <p:cNvSpPr/>
          <p:nvPr/>
        </p:nvSpPr>
        <p:spPr>
          <a:xfrm>
            <a:off x="4773354" y="1829242"/>
            <a:ext cx="44731" cy="44731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3" name="Text 76">
            <a:extLst>
              <a:ext uri="{FF2B5EF4-FFF2-40B4-BE49-F238E27FC236}">
                <a16:creationId xmlns:a16="http://schemas.microsoft.com/office/drawing/2014/main" id="{4379D410-789B-A20B-0EF4-60A890A88001}"/>
              </a:ext>
            </a:extLst>
          </p:cNvPr>
          <p:cNvSpPr/>
          <p:nvPr/>
        </p:nvSpPr>
        <p:spPr>
          <a:xfrm>
            <a:off x="4843646" y="1736211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拟合榜单结果 · 价值分析</a:t>
            </a:r>
            <a:endParaRPr lang="en-US" sz="700" dirty="0">
              <a:latin typeface="+mn-ea"/>
            </a:endParaRPr>
          </a:p>
        </p:txBody>
      </p:sp>
      <p:sp>
        <p:nvSpPr>
          <p:cNvPr id="74" name="Shape 77">
            <a:extLst>
              <a:ext uri="{FF2B5EF4-FFF2-40B4-BE49-F238E27FC236}">
                <a16:creationId xmlns:a16="http://schemas.microsoft.com/office/drawing/2014/main" id="{DDBB3DD2-9EE0-FB2F-158C-65C5122229FB}"/>
              </a:ext>
            </a:extLst>
          </p:cNvPr>
          <p:cNvSpPr/>
          <p:nvPr/>
        </p:nvSpPr>
        <p:spPr>
          <a:xfrm>
            <a:off x="4773354" y="2020649"/>
            <a:ext cx="44731" cy="44731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5" name="Text 78">
            <a:extLst>
              <a:ext uri="{FF2B5EF4-FFF2-40B4-BE49-F238E27FC236}">
                <a16:creationId xmlns:a16="http://schemas.microsoft.com/office/drawing/2014/main" id="{EC9E3AA7-0041-9926-1CCA-D696069FC347}"/>
              </a:ext>
            </a:extLst>
          </p:cNvPr>
          <p:cNvSpPr/>
          <p:nvPr/>
        </p:nvSpPr>
        <p:spPr>
          <a:xfrm>
            <a:off x="4843646" y="1927619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排序规则 · 推荐理由生成</a:t>
            </a:r>
            <a:endParaRPr lang="en-US" sz="700" dirty="0">
              <a:latin typeface="+mn-ea"/>
            </a:endParaRPr>
          </a:p>
        </p:txBody>
      </p:sp>
      <p:sp>
        <p:nvSpPr>
          <p:cNvPr id="76" name="Shape 79">
            <a:extLst>
              <a:ext uri="{FF2B5EF4-FFF2-40B4-BE49-F238E27FC236}">
                <a16:creationId xmlns:a16="http://schemas.microsoft.com/office/drawing/2014/main" id="{00352DAE-E3A4-AB86-219F-19969858E033}"/>
              </a:ext>
            </a:extLst>
          </p:cNvPr>
          <p:cNvSpPr/>
          <p:nvPr/>
        </p:nvSpPr>
        <p:spPr>
          <a:xfrm>
            <a:off x="4773354" y="2216763"/>
            <a:ext cx="44731" cy="44731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7" name="Text 80">
            <a:extLst>
              <a:ext uri="{FF2B5EF4-FFF2-40B4-BE49-F238E27FC236}">
                <a16:creationId xmlns:a16="http://schemas.microsoft.com/office/drawing/2014/main" id="{FE8B088E-F426-DE19-6791-2837EC7212B3}"/>
              </a:ext>
            </a:extLst>
          </p:cNvPr>
          <p:cNvSpPr/>
          <p:nvPr/>
        </p:nvSpPr>
        <p:spPr>
          <a:xfrm>
            <a:off x="4843646" y="2123732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标签/主题相关性及概率</a:t>
            </a:r>
            <a:endParaRPr lang="en-US" sz="700" dirty="0">
              <a:latin typeface="+mn-ea"/>
            </a:endParaRPr>
          </a:p>
        </p:txBody>
      </p:sp>
      <p:sp>
        <p:nvSpPr>
          <p:cNvPr id="78" name="Shape 81">
            <a:extLst>
              <a:ext uri="{FF2B5EF4-FFF2-40B4-BE49-F238E27FC236}">
                <a16:creationId xmlns:a16="http://schemas.microsoft.com/office/drawing/2014/main" id="{25F6C630-BCDA-E01D-606C-AC862800DF86}"/>
              </a:ext>
            </a:extLst>
          </p:cNvPr>
          <p:cNvSpPr/>
          <p:nvPr/>
        </p:nvSpPr>
        <p:spPr>
          <a:xfrm>
            <a:off x="4690282" y="2575288"/>
            <a:ext cx="2024082" cy="1008651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79" name="Shape 82">
            <a:extLst>
              <a:ext uri="{FF2B5EF4-FFF2-40B4-BE49-F238E27FC236}">
                <a16:creationId xmlns:a16="http://schemas.microsoft.com/office/drawing/2014/main" id="{21A132F2-B751-036B-7FEE-5E58E2A4D3BD}"/>
              </a:ext>
            </a:extLst>
          </p:cNvPr>
          <p:cNvSpPr/>
          <p:nvPr/>
        </p:nvSpPr>
        <p:spPr>
          <a:xfrm>
            <a:off x="4690282" y="2575288"/>
            <a:ext cx="31951" cy="1008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0" name="Text 83">
            <a:extLst>
              <a:ext uri="{FF2B5EF4-FFF2-40B4-BE49-F238E27FC236}">
                <a16:creationId xmlns:a16="http://schemas.microsoft.com/office/drawing/2014/main" id="{BB4F7928-9E08-F371-282C-DF3B5CC85E6B}"/>
              </a:ext>
            </a:extLst>
          </p:cNvPr>
          <p:cNvSpPr/>
          <p:nvPr/>
        </p:nvSpPr>
        <p:spPr>
          <a:xfrm>
            <a:off x="4766964" y="2600848"/>
            <a:ext cx="1909059" cy="331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A1A1A"/>
                </a:solidFill>
                <a:latin typeface="+mn-ea"/>
                <a:cs typeface="Microsoft YaHei" pitchFamily="34" charset="-120"/>
              </a:rPr>
              <a:t>榜单页面生成</a:t>
            </a: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 Skill</a:t>
            </a:r>
            <a:endParaRPr lang="en-US" sz="1000" dirty="0">
              <a:latin typeface="+mn-ea"/>
            </a:endParaRPr>
          </a:p>
        </p:txBody>
      </p:sp>
      <p:sp>
        <p:nvSpPr>
          <p:cNvPr id="81" name="Shape 84">
            <a:extLst>
              <a:ext uri="{FF2B5EF4-FFF2-40B4-BE49-F238E27FC236}">
                <a16:creationId xmlns:a16="http://schemas.microsoft.com/office/drawing/2014/main" id="{24A025B9-C31B-87F6-0CBB-8EC5DDD81B44}"/>
              </a:ext>
            </a:extLst>
          </p:cNvPr>
          <p:cNvSpPr/>
          <p:nvPr/>
        </p:nvSpPr>
        <p:spPr>
          <a:xfrm>
            <a:off x="4741403" y="2932446"/>
            <a:ext cx="1921839" cy="6390"/>
          </a:xfrm>
          <a:prstGeom prst="rect">
            <a:avLst/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82" name="Shape 85">
            <a:extLst>
              <a:ext uri="{FF2B5EF4-FFF2-40B4-BE49-F238E27FC236}">
                <a16:creationId xmlns:a16="http://schemas.microsoft.com/office/drawing/2014/main" id="{5F0DF9B1-CB35-CC64-6927-75C8DCC1368F}"/>
              </a:ext>
            </a:extLst>
          </p:cNvPr>
          <p:cNvSpPr/>
          <p:nvPr/>
        </p:nvSpPr>
        <p:spPr>
          <a:xfrm>
            <a:off x="4773354" y="3044647"/>
            <a:ext cx="44731" cy="44731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3" name="Text 86">
            <a:extLst>
              <a:ext uri="{FF2B5EF4-FFF2-40B4-BE49-F238E27FC236}">
                <a16:creationId xmlns:a16="http://schemas.microsoft.com/office/drawing/2014/main" id="{7752CC30-89AF-F594-453F-ED2A17033C1D}"/>
              </a:ext>
            </a:extLst>
          </p:cNvPr>
          <p:cNvSpPr/>
          <p:nvPr/>
        </p:nvSpPr>
        <p:spPr>
          <a:xfrm>
            <a:off x="4843646" y="2951617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多端榜单页面生成</a:t>
            </a:r>
            <a:endParaRPr lang="en-US" sz="700" dirty="0">
              <a:latin typeface="+mn-ea"/>
            </a:endParaRPr>
          </a:p>
        </p:txBody>
      </p:sp>
      <p:sp>
        <p:nvSpPr>
          <p:cNvPr id="84" name="Shape 87">
            <a:extLst>
              <a:ext uri="{FF2B5EF4-FFF2-40B4-BE49-F238E27FC236}">
                <a16:creationId xmlns:a16="http://schemas.microsoft.com/office/drawing/2014/main" id="{45AEF9D0-D0C1-D16F-F5EA-7C42AC0B90D3}"/>
              </a:ext>
            </a:extLst>
          </p:cNvPr>
          <p:cNvSpPr/>
          <p:nvPr/>
        </p:nvSpPr>
        <p:spPr>
          <a:xfrm>
            <a:off x="4773354" y="3224620"/>
            <a:ext cx="44731" cy="44731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5" name="Text 88">
            <a:extLst>
              <a:ext uri="{FF2B5EF4-FFF2-40B4-BE49-F238E27FC236}">
                <a16:creationId xmlns:a16="http://schemas.microsoft.com/office/drawing/2014/main" id="{1628C511-F0CA-D440-9F9F-97F7322B8E7D}"/>
              </a:ext>
            </a:extLst>
          </p:cNvPr>
          <p:cNvSpPr/>
          <p:nvPr/>
        </p:nvSpPr>
        <p:spPr>
          <a:xfrm>
            <a:off x="4843646" y="3131589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个性化榜单 · 头图/评价元素</a:t>
            </a:r>
            <a:endParaRPr lang="en-US" sz="700" dirty="0">
              <a:latin typeface="+mn-ea"/>
            </a:endParaRPr>
          </a:p>
        </p:txBody>
      </p:sp>
      <p:sp>
        <p:nvSpPr>
          <p:cNvPr id="86" name="Shape 89">
            <a:extLst>
              <a:ext uri="{FF2B5EF4-FFF2-40B4-BE49-F238E27FC236}">
                <a16:creationId xmlns:a16="http://schemas.microsoft.com/office/drawing/2014/main" id="{CBA483CD-2E96-9E82-863F-C779D2EC89C6}"/>
              </a:ext>
            </a:extLst>
          </p:cNvPr>
          <p:cNvSpPr/>
          <p:nvPr/>
        </p:nvSpPr>
        <p:spPr>
          <a:xfrm>
            <a:off x="4773354" y="3405689"/>
            <a:ext cx="44731" cy="44731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7" name="Text 90">
            <a:extLst>
              <a:ext uri="{FF2B5EF4-FFF2-40B4-BE49-F238E27FC236}">
                <a16:creationId xmlns:a16="http://schemas.microsoft.com/office/drawing/2014/main" id="{F809020C-D02D-B7B0-7C7F-7FA1E0FC32C6}"/>
              </a:ext>
            </a:extLst>
          </p:cNvPr>
          <p:cNvSpPr/>
          <p:nvPr/>
        </p:nvSpPr>
        <p:spPr>
          <a:xfrm>
            <a:off x="4843646" y="3312659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试点/灰度建议</a:t>
            </a:r>
            <a:endParaRPr lang="en-US" sz="700" dirty="0">
              <a:latin typeface="+mn-ea"/>
            </a:endParaRPr>
          </a:p>
        </p:txBody>
      </p:sp>
      <p:sp>
        <p:nvSpPr>
          <p:cNvPr id="88" name="Shape 91">
            <a:extLst>
              <a:ext uri="{FF2B5EF4-FFF2-40B4-BE49-F238E27FC236}">
                <a16:creationId xmlns:a16="http://schemas.microsoft.com/office/drawing/2014/main" id="{101373A2-3298-2A34-D7A1-72C5B7DE557A}"/>
              </a:ext>
            </a:extLst>
          </p:cNvPr>
          <p:cNvSpPr/>
          <p:nvPr/>
        </p:nvSpPr>
        <p:spPr>
          <a:xfrm>
            <a:off x="4690282" y="3754291"/>
            <a:ext cx="2024082" cy="862438"/>
          </a:xfrm>
          <a:prstGeom prst="rect">
            <a:avLst/>
          </a:prstGeom>
          <a:solidFill>
            <a:srgbClr val="FFF3E0"/>
          </a:solidFill>
          <a:ln w="6350">
            <a:solidFill>
              <a:srgbClr val="FFE0B2"/>
            </a:solidFill>
            <a:prstDash val="solid"/>
          </a:ln>
        </p:spPr>
      </p:sp>
      <p:sp>
        <p:nvSpPr>
          <p:cNvPr id="89" name="Shape 92">
            <a:extLst>
              <a:ext uri="{FF2B5EF4-FFF2-40B4-BE49-F238E27FC236}">
                <a16:creationId xmlns:a16="http://schemas.microsoft.com/office/drawing/2014/main" id="{AEDC611A-4A7A-BB1E-97A4-29651515A5B3}"/>
              </a:ext>
            </a:extLst>
          </p:cNvPr>
          <p:cNvSpPr/>
          <p:nvPr/>
        </p:nvSpPr>
        <p:spPr>
          <a:xfrm>
            <a:off x="4690282" y="3754291"/>
            <a:ext cx="31951" cy="8640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0" name="Text 93">
            <a:extLst>
              <a:ext uri="{FF2B5EF4-FFF2-40B4-BE49-F238E27FC236}">
                <a16:creationId xmlns:a16="http://schemas.microsoft.com/office/drawing/2014/main" id="{8EE09AE0-ED18-AB45-CDBC-3A98568DFA39}"/>
              </a:ext>
            </a:extLst>
          </p:cNvPr>
          <p:cNvSpPr/>
          <p:nvPr/>
        </p:nvSpPr>
        <p:spPr>
          <a:xfrm>
            <a:off x="4766964" y="3779851"/>
            <a:ext cx="1909059" cy="331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用研 / 设计 / 测试</a:t>
            </a:r>
            <a:endParaRPr lang="en-US" sz="1000" dirty="0">
              <a:latin typeface="+mn-ea"/>
            </a:endParaRPr>
          </a:p>
        </p:txBody>
      </p:sp>
      <p:sp>
        <p:nvSpPr>
          <p:cNvPr id="91" name="Shape 94">
            <a:extLst>
              <a:ext uri="{FF2B5EF4-FFF2-40B4-BE49-F238E27FC236}">
                <a16:creationId xmlns:a16="http://schemas.microsoft.com/office/drawing/2014/main" id="{197F57F8-27D0-E347-ACE8-80667B66E40E}"/>
              </a:ext>
            </a:extLst>
          </p:cNvPr>
          <p:cNvSpPr/>
          <p:nvPr/>
        </p:nvSpPr>
        <p:spPr>
          <a:xfrm>
            <a:off x="4741403" y="4111448"/>
            <a:ext cx="1921839" cy="6390"/>
          </a:xfrm>
          <a:prstGeom prst="rect">
            <a:avLst/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92" name="Shape 95">
            <a:extLst>
              <a:ext uri="{FF2B5EF4-FFF2-40B4-BE49-F238E27FC236}">
                <a16:creationId xmlns:a16="http://schemas.microsoft.com/office/drawing/2014/main" id="{454B7737-BC9D-5CD3-EEB1-55900C3F2D8A}"/>
              </a:ext>
            </a:extLst>
          </p:cNvPr>
          <p:cNvSpPr/>
          <p:nvPr/>
        </p:nvSpPr>
        <p:spPr>
          <a:xfrm>
            <a:off x="4773354" y="4223650"/>
            <a:ext cx="44731" cy="44731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3" name="Text 96">
            <a:extLst>
              <a:ext uri="{FF2B5EF4-FFF2-40B4-BE49-F238E27FC236}">
                <a16:creationId xmlns:a16="http://schemas.microsoft.com/office/drawing/2014/main" id="{2007259C-3D66-4492-BE43-C95BB767DFD3}"/>
              </a:ext>
            </a:extLst>
          </p:cNvPr>
          <p:cNvSpPr/>
          <p:nvPr/>
        </p:nvSpPr>
        <p:spPr>
          <a:xfrm>
            <a:off x="4843646" y="4130619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UI/UE 模板 · 设计约束范式</a:t>
            </a:r>
            <a:endParaRPr lang="en-US" sz="700" dirty="0">
              <a:latin typeface="+mn-ea"/>
            </a:endParaRPr>
          </a:p>
        </p:txBody>
      </p:sp>
      <p:sp>
        <p:nvSpPr>
          <p:cNvPr id="94" name="Shape 97">
            <a:extLst>
              <a:ext uri="{FF2B5EF4-FFF2-40B4-BE49-F238E27FC236}">
                <a16:creationId xmlns:a16="http://schemas.microsoft.com/office/drawing/2014/main" id="{EF42AEE8-34AA-D93C-A362-86E19CA0920E}"/>
              </a:ext>
            </a:extLst>
          </p:cNvPr>
          <p:cNvSpPr/>
          <p:nvPr/>
        </p:nvSpPr>
        <p:spPr>
          <a:xfrm>
            <a:off x="4773354" y="4406010"/>
            <a:ext cx="44731" cy="44731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5" name="Text 98">
            <a:extLst>
              <a:ext uri="{FF2B5EF4-FFF2-40B4-BE49-F238E27FC236}">
                <a16:creationId xmlns:a16="http://schemas.microsoft.com/office/drawing/2014/main" id="{D262C66D-4FBC-6AC5-61C7-1735CF245564}"/>
              </a:ext>
            </a:extLst>
          </p:cNvPr>
          <p:cNvSpPr/>
          <p:nvPr/>
        </p:nvSpPr>
        <p:spPr>
          <a:xfrm>
            <a:off x="4843646" y="4312980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用户测试 · 灰度验证</a:t>
            </a:r>
            <a:endParaRPr lang="en-US" sz="700" dirty="0">
              <a:latin typeface="+mn-ea"/>
            </a:endParaRPr>
          </a:p>
        </p:txBody>
      </p:sp>
      <p:sp>
        <p:nvSpPr>
          <p:cNvPr id="96" name="Shape 99">
            <a:extLst>
              <a:ext uri="{FF2B5EF4-FFF2-40B4-BE49-F238E27FC236}">
                <a16:creationId xmlns:a16="http://schemas.microsoft.com/office/drawing/2014/main" id="{FAFE0619-9755-42D6-3CEA-87CB8D9F6244}"/>
              </a:ext>
            </a:extLst>
          </p:cNvPr>
          <p:cNvSpPr/>
          <p:nvPr/>
        </p:nvSpPr>
        <p:spPr>
          <a:xfrm>
            <a:off x="6966647" y="1359882"/>
            <a:ext cx="2024082" cy="1035130"/>
          </a:xfrm>
          <a:prstGeom prst="rect">
            <a:avLst/>
          </a:prstGeom>
          <a:solidFill>
            <a:srgbClr val="EDE7F6"/>
          </a:solidFill>
          <a:ln w="6350">
            <a:solidFill>
              <a:srgbClr val="D1C4E9"/>
            </a:solidFill>
            <a:prstDash val="solid"/>
          </a:ln>
        </p:spPr>
      </p:sp>
      <p:sp>
        <p:nvSpPr>
          <p:cNvPr id="97" name="Shape 100">
            <a:extLst>
              <a:ext uri="{FF2B5EF4-FFF2-40B4-BE49-F238E27FC236}">
                <a16:creationId xmlns:a16="http://schemas.microsoft.com/office/drawing/2014/main" id="{B7C768BA-C811-3523-A565-1635219C91AC}"/>
              </a:ext>
            </a:extLst>
          </p:cNvPr>
          <p:cNvSpPr/>
          <p:nvPr/>
        </p:nvSpPr>
        <p:spPr>
          <a:xfrm>
            <a:off x="6966647" y="1359882"/>
            <a:ext cx="31951" cy="10440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98" name="Text 101">
            <a:extLst>
              <a:ext uri="{FF2B5EF4-FFF2-40B4-BE49-F238E27FC236}">
                <a16:creationId xmlns:a16="http://schemas.microsoft.com/office/drawing/2014/main" id="{65B62C48-2D1D-63F5-F6B8-F63A8223FD8E}"/>
              </a:ext>
            </a:extLst>
          </p:cNvPr>
          <p:cNvSpPr/>
          <p:nvPr/>
        </p:nvSpPr>
        <p:spPr>
          <a:xfrm>
            <a:off x="7043329" y="1385443"/>
            <a:ext cx="1909059" cy="331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动线 / 资源对接 Skill</a:t>
            </a:r>
            <a:endParaRPr lang="en-US" sz="1000" dirty="0">
              <a:latin typeface="+mn-ea"/>
            </a:endParaRPr>
          </a:p>
        </p:txBody>
      </p:sp>
      <p:sp>
        <p:nvSpPr>
          <p:cNvPr id="99" name="Shape 102">
            <a:extLst>
              <a:ext uri="{FF2B5EF4-FFF2-40B4-BE49-F238E27FC236}">
                <a16:creationId xmlns:a16="http://schemas.microsoft.com/office/drawing/2014/main" id="{2EB06D76-006D-D86B-E786-66BB7ACE0E48}"/>
              </a:ext>
            </a:extLst>
          </p:cNvPr>
          <p:cNvSpPr/>
          <p:nvPr/>
        </p:nvSpPr>
        <p:spPr>
          <a:xfrm>
            <a:off x="7017768" y="1717040"/>
            <a:ext cx="1921839" cy="6390"/>
          </a:xfrm>
          <a:prstGeom prst="rect">
            <a:avLst/>
          </a:prstGeom>
          <a:solidFill>
            <a:srgbClr val="D1C4E9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00" name="Shape 103">
            <a:extLst>
              <a:ext uri="{FF2B5EF4-FFF2-40B4-BE49-F238E27FC236}">
                <a16:creationId xmlns:a16="http://schemas.microsoft.com/office/drawing/2014/main" id="{B07CE61B-6D33-A9F3-91EF-B265D7DAC95E}"/>
              </a:ext>
            </a:extLst>
          </p:cNvPr>
          <p:cNvSpPr/>
          <p:nvPr/>
        </p:nvSpPr>
        <p:spPr>
          <a:xfrm>
            <a:off x="7049719" y="1829242"/>
            <a:ext cx="44731" cy="44731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01" name="Text 104">
            <a:extLst>
              <a:ext uri="{FF2B5EF4-FFF2-40B4-BE49-F238E27FC236}">
                <a16:creationId xmlns:a16="http://schemas.microsoft.com/office/drawing/2014/main" id="{B24A10E3-4D25-E327-D1CF-21802D2A7063}"/>
              </a:ext>
            </a:extLst>
          </p:cNvPr>
          <p:cNvSpPr/>
          <p:nvPr/>
        </p:nvSpPr>
        <p:spPr>
          <a:xfrm>
            <a:off x="7120011" y="1736211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动线现状 · 机会分析</a:t>
            </a:r>
            <a:endParaRPr lang="en-US" sz="700" dirty="0">
              <a:latin typeface="+mn-ea"/>
            </a:endParaRPr>
          </a:p>
        </p:txBody>
      </p:sp>
      <p:sp>
        <p:nvSpPr>
          <p:cNvPr id="102" name="Shape 105">
            <a:extLst>
              <a:ext uri="{FF2B5EF4-FFF2-40B4-BE49-F238E27FC236}">
                <a16:creationId xmlns:a16="http://schemas.microsoft.com/office/drawing/2014/main" id="{FD579D4D-FDE0-2B65-3A2F-4174DD1B2BC2}"/>
              </a:ext>
            </a:extLst>
          </p:cNvPr>
          <p:cNvSpPr/>
          <p:nvPr/>
        </p:nvSpPr>
        <p:spPr>
          <a:xfrm>
            <a:off x="7049719" y="2019387"/>
            <a:ext cx="44731" cy="44731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03" name="Text 106">
            <a:extLst>
              <a:ext uri="{FF2B5EF4-FFF2-40B4-BE49-F238E27FC236}">
                <a16:creationId xmlns:a16="http://schemas.microsoft.com/office/drawing/2014/main" id="{65BFEE24-4A51-06E8-3013-81F9796F49EB}"/>
              </a:ext>
            </a:extLst>
          </p:cNvPr>
          <p:cNvSpPr/>
          <p:nvPr/>
        </p:nvSpPr>
        <p:spPr>
          <a:xfrm>
            <a:off x="7120011" y="1926357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资源投放策略 · ROI 预估</a:t>
            </a:r>
            <a:endParaRPr lang="en-US" sz="700" dirty="0">
              <a:latin typeface="+mn-ea"/>
            </a:endParaRPr>
          </a:p>
        </p:txBody>
      </p:sp>
      <p:sp>
        <p:nvSpPr>
          <p:cNvPr id="104" name="Shape 107">
            <a:extLst>
              <a:ext uri="{FF2B5EF4-FFF2-40B4-BE49-F238E27FC236}">
                <a16:creationId xmlns:a16="http://schemas.microsoft.com/office/drawing/2014/main" id="{169F407C-0BF9-A5DB-A1B9-1A0233A6576F}"/>
              </a:ext>
            </a:extLst>
          </p:cNvPr>
          <p:cNvSpPr/>
          <p:nvPr/>
        </p:nvSpPr>
        <p:spPr>
          <a:xfrm>
            <a:off x="7049719" y="2215389"/>
            <a:ext cx="44731" cy="44731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05" name="Text 108">
            <a:extLst>
              <a:ext uri="{FF2B5EF4-FFF2-40B4-BE49-F238E27FC236}">
                <a16:creationId xmlns:a16="http://schemas.microsoft.com/office/drawing/2014/main" id="{33360AFB-2624-5E8A-DD9F-F74762F914F9}"/>
              </a:ext>
            </a:extLst>
          </p:cNvPr>
          <p:cNvSpPr/>
          <p:nvPr/>
        </p:nvSpPr>
        <p:spPr>
          <a:xfrm>
            <a:off x="7110682" y="2107473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投放执行详案（时间/资源/query）</a:t>
            </a:r>
            <a:endParaRPr lang="en-US" sz="700" dirty="0">
              <a:latin typeface="+mn-ea"/>
            </a:endParaRPr>
          </a:p>
        </p:txBody>
      </p:sp>
      <p:sp>
        <p:nvSpPr>
          <p:cNvPr id="106" name="Shape 109">
            <a:extLst>
              <a:ext uri="{FF2B5EF4-FFF2-40B4-BE49-F238E27FC236}">
                <a16:creationId xmlns:a16="http://schemas.microsoft.com/office/drawing/2014/main" id="{D828F7AE-7F87-D121-9685-F64857D1503A}"/>
              </a:ext>
            </a:extLst>
          </p:cNvPr>
          <p:cNvSpPr/>
          <p:nvPr/>
        </p:nvSpPr>
        <p:spPr>
          <a:xfrm>
            <a:off x="6966647" y="2580300"/>
            <a:ext cx="2024082" cy="813608"/>
          </a:xfrm>
          <a:prstGeom prst="rect">
            <a:avLst/>
          </a:prstGeom>
          <a:solidFill>
            <a:srgbClr val="EDE7F6"/>
          </a:solidFill>
          <a:ln w="6350">
            <a:solidFill>
              <a:srgbClr val="D1C4E9"/>
            </a:solidFill>
            <a:prstDash val="solid"/>
          </a:ln>
        </p:spPr>
      </p:sp>
      <p:sp>
        <p:nvSpPr>
          <p:cNvPr id="107" name="Shape 110">
            <a:extLst>
              <a:ext uri="{FF2B5EF4-FFF2-40B4-BE49-F238E27FC236}">
                <a16:creationId xmlns:a16="http://schemas.microsoft.com/office/drawing/2014/main" id="{EDCB5E8A-32E5-6A44-17EC-41B625EA0087}"/>
              </a:ext>
            </a:extLst>
          </p:cNvPr>
          <p:cNvSpPr/>
          <p:nvPr/>
        </p:nvSpPr>
        <p:spPr>
          <a:xfrm>
            <a:off x="6966647" y="2580300"/>
            <a:ext cx="31951" cy="8100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08" name="Text 111">
            <a:extLst>
              <a:ext uri="{FF2B5EF4-FFF2-40B4-BE49-F238E27FC236}">
                <a16:creationId xmlns:a16="http://schemas.microsoft.com/office/drawing/2014/main" id="{79E92CC9-3C3C-E666-06AC-109FB73DBAC9}"/>
              </a:ext>
            </a:extLst>
          </p:cNvPr>
          <p:cNvSpPr/>
          <p:nvPr/>
        </p:nvSpPr>
        <p:spPr>
          <a:xfrm>
            <a:off x="7043329" y="2605860"/>
            <a:ext cx="1909059" cy="331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商家运营 Skill</a:t>
            </a:r>
            <a:endParaRPr lang="en-US" sz="1000" dirty="0">
              <a:latin typeface="+mn-ea"/>
            </a:endParaRPr>
          </a:p>
        </p:txBody>
      </p:sp>
      <p:sp>
        <p:nvSpPr>
          <p:cNvPr id="109" name="Shape 112">
            <a:extLst>
              <a:ext uri="{FF2B5EF4-FFF2-40B4-BE49-F238E27FC236}">
                <a16:creationId xmlns:a16="http://schemas.microsoft.com/office/drawing/2014/main" id="{3C1CD575-BC70-B264-E1DB-83382C1251CE}"/>
              </a:ext>
            </a:extLst>
          </p:cNvPr>
          <p:cNvSpPr/>
          <p:nvPr/>
        </p:nvSpPr>
        <p:spPr>
          <a:xfrm>
            <a:off x="7017768" y="2937458"/>
            <a:ext cx="1921839" cy="6390"/>
          </a:xfrm>
          <a:prstGeom prst="rect">
            <a:avLst/>
          </a:prstGeom>
          <a:solidFill>
            <a:srgbClr val="D1C4E9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10" name="Shape 113">
            <a:extLst>
              <a:ext uri="{FF2B5EF4-FFF2-40B4-BE49-F238E27FC236}">
                <a16:creationId xmlns:a16="http://schemas.microsoft.com/office/drawing/2014/main" id="{A8299128-7CFD-A5B3-7AA8-A17E9F86398E}"/>
              </a:ext>
            </a:extLst>
          </p:cNvPr>
          <p:cNvSpPr/>
          <p:nvPr/>
        </p:nvSpPr>
        <p:spPr>
          <a:xfrm>
            <a:off x="7049719" y="3049659"/>
            <a:ext cx="44731" cy="44731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11" name="Text 114">
            <a:extLst>
              <a:ext uri="{FF2B5EF4-FFF2-40B4-BE49-F238E27FC236}">
                <a16:creationId xmlns:a16="http://schemas.microsoft.com/office/drawing/2014/main" id="{978E4AD7-D991-C660-8D02-AE24A8AFC8ED}"/>
              </a:ext>
            </a:extLst>
          </p:cNvPr>
          <p:cNvSpPr/>
          <p:nvPr/>
        </p:nvSpPr>
        <p:spPr>
          <a:xfrm>
            <a:off x="7120011" y="2937775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冲榜建议 · 上下榜/排名提醒</a:t>
            </a:r>
            <a:endParaRPr lang="en-US" sz="700" dirty="0">
              <a:latin typeface="+mn-ea"/>
            </a:endParaRPr>
          </a:p>
        </p:txBody>
      </p:sp>
      <p:sp>
        <p:nvSpPr>
          <p:cNvPr id="112" name="Shape 115">
            <a:extLst>
              <a:ext uri="{FF2B5EF4-FFF2-40B4-BE49-F238E27FC236}">
                <a16:creationId xmlns:a16="http://schemas.microsoft.com/office/drawing/2014/main" id="{EB425474-27F8-04F6-3A3A-E580E4136702}"/>
              </a:ext>
            </a:extLst>
          </p:cNvPr>
          <p:cNvSpPr/>
          <p:nvPr/>
        </p:nvSpPr>
        <p:spPr>
          <a:xfrm>
            <a:off x="7056817" y="3221155"/>
            <a:ext cx="44731" cy="44731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13" name="Text 116">
            <a:extLst>
              <a:ext uri="{FF2B5EF4-FFF2-40B4-BE49-F238E27FC236}">
                <a16:creationId xmlns:a16="http://schemas.microsoft.com/office/drawing/2014/main" id="{C5BF785F-65D8-8757-93EE-F4476794B801}"/>
              </a:ext>
            </a:extLst>
          </p:cNvPr>
          <p:cNvSpPr/>
          <p:nvPr/>
        </p:nvSpPr>
        <p:spPr>
          <a:xfrm>
            <a:off x="7107231" y="3109270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门店×榜单物料生成</a:t>
            </a:r>
            <a:endParaRPr lang="en-US" sz="700" dirty="0">
              <a:latin typeface="+mn-ea"/>
            </a:endParaRPr>
          </a:p>
        </p:txBody>
      </p:sp>
      <p:sp>
        <p:nvSpPr>
          <p:cNvPr id="114" name="Shape 117">
            <a:extLst>
              <a:ext uri="{FF2B5EF4-FFF2-40B4-BE49-F238E27FC236}">
                <a16:creationId xmlns:a16="http://schemas.microsoft.com/office/drawing/2014/main" id="{28CB0BC0-EC12-517C-CB68-C49A1A4FC6EF}"/>
              </a:ext>
            </a:extLst>
          </p:cNvPr>
          <p:cNvSpPr/>
          <p:nvPr/>
        </p:nvSpPr>
        <p:spPr>
          <a:xfrm>
            <a:off x="6966647" y="3565144"/>
            <a:ext cx="2024082" cy="1020675"/>
          </a:xfrm>
          <a:prstGeom prst="rect">
            <a:avLst/>
          </a:prstGeom>
          <a:solidFill>
            <a:srgbClr val="EDE7F6"/>
          </a:solidFill>
          <a:ln w="6350">
            <a:solidFill>
              <a:srgbClr val="D1C4E9"/>
            </a:solidFill>
            <a:prstDash val="solid"/>
          </a:ln>
        </p:spPr>
      </p:sp>
      <p:sp>
        <p:nvSpPr>
          <p:cNvPr id="115" name="Shape 118">
            <a:extLst>
              <a:ext uri="{FF2B5EF4-FFF2-40B4-BE49-F238E27FC236}">
                <a16:creationId xmlns:a16="http://schemas.microsoft.com/office/drawing/2014/main" id="{14AD4D8F-A540-23A2-8F2F-25075455FC43}"/>
              </a:ext>
            </a:extLst>
          </p:cNvPr>
          <p:cNvSpPr/>
          <p:nvPr/>
        </p:nvSpPr>
        <p:spPr>
          <a:xfrm>
            <a:off x="6966647" y="3565144"/>
            <a:ext cx="31951" cy="100800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16" name="Text 119">
            <a:extLst>
              <a:ext uri="{FF2B5EF4-FFF2-40B4-BE49-F238E27FC236}">
                <a16:creationId xmlns:a16="http://schemas.microsoft.com/office/drawing/2014/main" id="{B011E546-301D-7D41-B74F-336BCD990B6F}"/>
              </a:ext>
            </a:extLst>
          </p:cNvPr>
          <p:cNvSpPr/>
          <p:nvPr/>
        </p:nvSpPr>
        <p:spPr>
          <a:xfrm>
            <a:off x="7043329" y="3590704"/>
            <a:ext cx="1909059" cy="331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异动监测 Skill</a:t>
            </a:r>
            <a:endParaRPr lang="en-US" sz="1000" dirty="0">
              <a:latin typeface="+mn-ea"/>
            </a:endParaRPr>
          </a:p>
        </p:txBody>
      </p:sp>
      <p:sp>
        <p:nvSpPr>
          <p:cNvPr id="117" name="Shape 120">
            <a:extLst>
              <a:ext uri="{FF2B5EF4-FFF2-40B4-BE49-F238E27FC236}">
                <a16:creationId xmlns:a16="http://schemas.microsoft.com/office/drawing/2014/main" id="{850D9573-9B11-DB81-2282-BCCC3BBCF55D}"/>
              </a:ext>
            </a:extLst>
          </p:cNvPr>
          <p:cNvSpPr/>
          <p:nvPr/>
        </p:nvSpPr>
        <p:spPr>
          <a:xfrm>
            <a:off x="7017768" y="3922302"/>
            <a:ext cx="1921839" cy="6390"/>
          </a:xfrm>
          <a:prstGeom prst="rect">
            <a:avLst/>
          </a:prstGeom>
          <a:solidFill>
            <a:srgbClr val="D1C4E9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18" name="Shape 121">
            <a:extLst>
              <a:ext uri="{FF2B5EF4-FFF2-40B4-BE49-F238E27FC236}">
                <a16:creationId xmlns:a16="http://schemas.microsoft.com/office/drawing/2014/main" id="{145F5C20-99B1-9D10-4260-5C0B240581E5}"/>
              </a:ext>
            </a:extLst>
          </p:cNvPr>
          <p:cNvSpPr/>
          <p:nvPr/>
        </p:nvSpPr>
        <p:spPr>
          <a:xfrm>
            <a:off x="7049719" y="4034503"/>
            <a:ext cx="44731" cy="44731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19" name="Text 122">
            <a:extLst>
              <a:ext uri="{FF2B5EF4-FFF2-40B4-BE49-F238E27FC236}">
                <a16:creationId xmlns:a16="http://schemas.microsoft.com/office/drawing/2014/main" id="{3B06410E-01C9-FB32-C939-E23C8358D6C4}"/>
              </a:ext>
            </a:extLst>
          </p:cNvPr>
          <p:cNvSpPr/>
          <p:nvPr/>
        </p:nvSpPr>
        <p:spPr>
          <a:xfrm>
            <a:off x="7120011" y="3941473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预警信号 · 问题定位</a:t>
            </a:r>
            <a:endParaRPr lang="en-US" sz="700" dirty="0">
              <a:latin typeface="+mn-ea"/>
            </a:endParaRPr>
          </a:p>
        </p:txBody>
      </p:sp>
      <p:sp>
        <p:nvSpPr>
          <p:cNvPr id="120" name="Shape 123">
            <a:extLst>
              <a:ext uri="{FF2B5EF4-FFF2-40B4-BE49-F238E27FC236}">
                <a16:creationId xmlns:a16="http://schemas.microsoft.com/office/drawing/2014/main" id="{9005B964-CEAB-5F45-9E75-7E9397A69EB6}"/>
              </a:ext>
            </a:extLst>
          </p:cNvPr>
          <p:cNvSpPr/>
          <p:nvPr/>
        </p:nvSpPr>
        <p:spPr>
          <a:xfrm>
            <a:off x="7049719" y="4208528"/>
            <a:ext cx="44731" cy="44731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21" name="Text 124">
            <a:extLst>
              <a:ext uri="{FF2B5EF4-FFF2-40B4-BE49-F238E27FC236}">
                <a16:creationId xmlns:a16="http://schemas.microsoft.com/office/drawing/2014/main" id="{7EBF00C7-FA5A-6978-9930-D9B128FA4818}"/>
              </a:ext>
            </a:extLst>
          </p:cNvPr>
          <p:cNvSpPr/>
          <p:nvPr/>
        </p:nvSpPr>
        <p:spPr>
          <a:xfrm>
            <a:off x="7120011" y="4115497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舆情监控（315等）· 操作建议</a:t>
            </a:r>
            <a:endParaRPr lang="en-US" sz="700" dirty="0">
              <a:latin typeface="+mn-ea"/>
            </a:endParaRPr>
          </a:p>
        </p:txBody>
      </p:sp>
      <p:sp>
        <p:nvSpPr>
          <p:cNvPr id="122" name="Shape 125">
            <a:extLst>
              <a:ext uri="{FF2B5EF4-FFF2-40B4-BE49-F238E27FC236}">
                <a16:creationId xmlns:a16="http://schemas.microsoft.com/office/drawing/2014/main" id="{C763CF82-F322-9761-F0A1-6A8536A5FAFF}"/>
              </a:ext>
            </a:extLst>
          </p:cNvPr>
          <p:cNvSpPr/>
          <p:nvPr/>
        </p:nvSpPr>
        <p:spPr>
          <a:xfrm>
            <a:off x="7049719" y="4388898"/>
            <a:ext cx="44731" cy="44731"/>
          </a:xfrm>
          <a:prstGeom prst="ellipse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123" name="Text 126">
            <a:extLst>
              <a:ext uri="{FF2B5EF4-FFF2-40B4-BE49-F238E27FC236}">
                <a16:creationId xmlns:a16="http://schemas.microsoft.com/office/drawing/2014/main" id="{3E195AF4-A36E-42EF-BA3B-54F4AD0132F9}"/>
              </a:ext>
            </a:extLst>
          </p:cNvPr>
          <p:cNvSpPr/>
          <p:nvPr/>
        </p:nvSpPr>
        <p:spPr>
          <a:xfrm>
            <a:off x="7120011" y="4295868"/>
            <a:ext cx="1832377" cy="271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+mn-ea"/>
                <a:cs typeface="Microsoft YaHei" pitchFamily="34" charset="-120"/>
              </a:rPr>
              <a:t>商家反馈话术 · 下榜/下动线</a:t>
            </a:r>
            <a:endParaRPr lang="en-US" sz="700" dirty="0">
              <a:latin typeface="+mn-ea"/>
            </a:endParaRPr>
          </a:p>
        </p:txBody>
      </p:sp>
      <p:sp>
        <p:nvSpPr>
          <p:cNvPr id="153" name="标题 3">
            <a:extLst>
              <a:ext uri="{FF2B5EF4-FFF2-40B4-BE49-F238E27FC236}">
                <a16:creationId xmlns:a16="http://schemas.microsoft.com/office/drawing/2014/main" id="{7AEE0204-16FB-C247-08CF-CD553DC92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2" y="15438"/>
            <a:ext cx="3642978" cy="427313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榜单全链路智能运营架构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BEF5E90D-E0CD-26E1-E327-1686805DA806}"/>
              </a:ext>
            </a:extLst>
          </p:cNvPr>
          <p:cNvSpPr txBox="1"/>
          <p:nvPr/>
        </p:nvSpPr>
        <p:spPr>
          <a:xfrm>
            <a:off x="159401" y="392783"/>
            <a:ext cx="7774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effectLst/>
              </a:rPr>
              <a:t>完善榜单运营</a:t>
            </a:r>
            <a:r>
              <a:rPr lang="en-US" altLang="zh-CN" sz="1200" dirty="0">
                <a:effectLst/>
              </a:rPr>
              <a:t>skill</a:t>
            </a:r>
            <a:r>
              <a:rPr lang="zh-CN" altLang="en-US" sz="1200" dirty="0">
                <a:effectLst/>
              </a:rPr>
              <a:t>全景图，探索从原子化</a:t>
            </a:r>
            <a:r>
              <a:rPr lang="en-US" altLang="zh-CN" sz="1200" dirty="0">
                <a:effectLst/>
              </a:rPr>
              <a:t>Skill</a:t>
            </a:r>
            <a:r>
              <a:rPr lang="zh-CN" altLang="en-US" sz="1200" dirty="0">
                <a:effectLst/>
              </a:rPr>
              <a:t>到全流程</a:t>
            </a:r>
            <a:r>
              <a:rPr lang="en-US" altLang="zh-CN" sz="1200" dirty="0">
                <a:effectLst/>
              </a:rPr>
              <a:t>AI</a:t>
            </a:r>
            <a:r>
              <a:rPr lang="zh-CN" altLang="en-US" sz="1200" dirty="0">
                <a:effectLst/>
              </a:rPr>
              <a:t>贯通。组建</a:t>
            </a:r>
            <a:r>
              <a:rPr lang="en-US" altLang="zh-CN" sz="1200" dirty="0">
                <a:effectLst/>
              </a:rPr>
              <a:t>AI at work</a:t>
            </a:r>
            <a:r>
              <a:rPr lang="zh-CN" altLang="en-US" sz="1200" dirty="0">
                <a:effectLst/>
              </a:rPr>
              <a:t>专项攻坚小队，提升运营效率</a:t>
            </a:r>
            <a:endParaRPr lang="en-US" altLang="zh-CN" sz="1200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验证是否可以体系化、可复制、强稳定地跑通</a:t>
            </a:r>
            <a:endParaRPr lang="zh-CN" altLang="en-US" sz="1200" dirty="0">
              <a:effectLst/>
            </a:endParaRPr>
          </a:p>
        </p:txBody>
      </p:sp>
      <p:sp>
        <p:nvSpPr>
          <p:cNvPr id="156" name="Shape 54">
            <a:extLst>
              <a:ext uri="{FF2B5EF4-FFF2-40B4-BE49-F238E27FC236}">
                <a16:creationId xmlns:a16="http://schemas.microsoft.com/office/drawing/2014/main" id="{5100494E-6AC2-FE73-5004-FCD42E083261}"/>
              </a:ext>
            </a:extLst>
          </p:cNvPr>
          <p:cNvSpPr/>
          <p:nvPr/>
        </p:nvSpPr>
        <p:spPr>
          <a:xfrm>
            <a:off x="1261164" y="2916001"/>
            <a:ext cx="540000" cy="134651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2E7D32"/>
                </a:solidFill>
                <a:latin typeface="+mn-ea"/>
                <a:cs typeface="Microsoft YaHei" pitchFamily="34" charset="-120"/>
              </a:rPr>
              <a:t>进行中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157" name="Shape 54">
            <a:extLst>
              <a:ext uri="{FF2B5EF4-FFF2-40B4-BE49-F238E27FC236}">
                <a16:creationId xmlns:a16="http://schemas.microsoft.com/office/drawing/2014/main" id="{74CA3453-D69C-4140-00BD-E06196337478}"/>
              </a:ext>
            </a:extLst>
          </p:cNvPr>
          <p:cNvSpPr/>
          <p:nvPr/>
        </p:nvSpPr>
        <p:spPr>
          <a:xfrm>
            <a:off x="1261164" y="1521654"/>
            <a:ext cx="540000" cy="134651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2E7D32"/>
                </a:solidFill>
                <a:latin typeface="+mn-ea"/>
                <a:cs typeface="Microsoft YaHei" pitchFamily="34" charset="-120"/>
              </a:rPr>
              <a:t>进行中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158" name="Shape 54">
            <a:extLst>
              <a:ext uri="{FF2B5EF4-FFF2-40B4-BE49-F238E27FC236}">
                <a16:creationId xmlns:a16="http://schemas.microsoft.com/office/drawing/2014/main" id="{159A25EC-3038-5BC0-A1B1-A995437B3C60}"/>
              </a:ext>
            </a:extLst>
          </p:cNvPr>
          <p:cNvSpPr/>
          <p:nvPr/>
        </p:nvSpPr>
        <p:spPr>
          <a:xfrm>
            <a:off x="3537530" y="2352711"/>
            <a:ext cx="540000" cy="134651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2E7D32"/>
                </a:solidFill>
                <a:latin typeface="+mn-ea"/>
                <a:cs typeface="Microsoft YaHei" pitchFamily="34" charset="-120"/>
              </a:rPr>
              <a:t>进行中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159" name="Shape 54">
            <a:extLst>
              <a:ext uri="{FF2B5EF4-FFF2-40B4-BE49-F238E27FC236}">
                <a16:creationId xmlns:a16="http://schemas.microsoft.com/office/drawing/2014/main" id="{5F6B5EAB-0E84-30BF-A98E-2312C88AB700}"/>
              </a:ext>
            </a:extLst>
          </p:cNvPr>
          <p:cNvSpPr/>
          <p:nvPr/>
        </p:nvSpPr>
        <p:spPr>
          <a:xfrm>
            <a:off x="3849817" y="4154365"/>
            <a:ext cx="540000" cy="134651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2E7D32"/>
                </a:solidFill>
                <a:latin typeface="+mn-ea"/>
                <a:cs typeface="Microsoft YaHei" pitchFamily="34" charset="-120"/>
              </a:rPr>
              <a:t>进行中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160" name="Shape 54">
            <a:extLst>
              <a:ext uri="{FF2B5EF4-FFF2-40B4-BE49-F238E27FC236}">
                <a16:creationId xmlns:a16="http://schemas.microsoft.com/office/drawing/2014/main" id="{181FE1F9-4F02-880A-FEF0-17C44537D4EE}"/>
              </a:ext>
            </a:extLst>
          </p:cNvPr>
          <p:cNvSpPr/>
          <p:nvPr/>
        </p:nvSpPr>
        <p:spPr>
          <a:xfrm>
            <a:off x="6031687" y="2715919"/>
            <a:ext cx="540000" cy="1346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7620">
            <a:solidFill>
              <a:schemeClr val="accent3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800" b="1" dirty="0">
                <a:solidFill>
                  <a:schemeClr val="accent3"/>
                </a:solidFill>
                <a:latin typeface="+mn-ea"/>
              </a:rPr>
              <a:t>已完成</a:t>
            </a:r>
            <a:endParaRPr lang="en-US" altLang="zh-CN" sz="800" b="1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161" name="Shape 54">
            <a:extLst>
              <a:ext uri="{FF2B5EF4-FFF2-40B4-BE49-F238E27FC236}">
                <a16:creationId xmlns:a16="http://schemas.microsoft.com/office/drawing/2014/main" id="{772143FD-DF1B-EEB9-A547-33545B02ECB6}"/>
              </a:ext>
            </a:extLst>
          </p:cNvPr>
          <p:cNvSpPr/>
          <p:nvPr/>
        </p:nvSpPr>
        <p:spPr>
          <a:xfrm>
            <a:off x="6081770" y="1485319"/>
            <a:ext cx="540000" cy="1346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7620">
            <a:solidFill>
              <a:schemeClr val="accent3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800" b="1" dirty="0">
                <a:solidFill>
                  <a:schemeClr val="accent3"/>
                </a:solidFill>
                <a:latin typeface="+mn-ea"/>
              </a:rPr>
              <a:t>已完成</a:t>
            </a:r>
            <a:endParaRPr lang="en-US" altLang="zh-CN" sz="800" b="1" dirty="0">
              <a:solidFill>
                <a:schemeClr val="accent3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579305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标题 3">
            <a:extLst>
              <a:ext uri="{FF2B5EF4-FFF2-40B4-BE49-F238E27FC236}">
                <a16:creationId xmlns:a16="http://schemas.microsoft.com/office/drawing/2014/main" id="{7AEE0204-16FB-C247-08CF-CD553DC92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2" y="15438"/>
            <a:ext cx="3642978" cy="427313"/>
          </a:xfrm>
        </p:spPr>
        <p:txBody>
          <a:bodyPr>
            <a:normAutofit fontScale="90000"/>
          </a:bodyPr>
          <a:lstStyle/>
          <a:p>
            <a:r>
              <a:rPr lang="zh-CN" altLang="en-US" sz="2100" dirty="0">
                <a:solidFill>
                  <a:srgbClr val="FF0000"/>
                </a:solidFill>
              </a:rPr>
              <a:t>视频</a:t>
            </a:r>
            <a:r>
              <a:rPr lang="en-US" altLang="zh-CN" sz="2100" dirty="0">
                <a:solidFill>
                  <a:srgbClr val="FF0000"/>
                </a:solidFill>
              </a:rPr>
              <a:t>/</a:t>
            </a:r>
            <a:r>
              <a:rPr lang="zh-CN" altLang="en-US" sz="2100" dirty="0">
                <a:solidFill>
                  <a:srgbClr val="FF0000"/>
                </a:solidFill>
              </a:rPr>
              <a:t>后台演示，</a:t>
            </a:r>
            <a:r>
              <a:rPr lang="en-US" altLang="zh-CN" sz="2100" dirty="0">
                <a:solidFill>
                  <a:srgbClr val="FF0000"/>
                </a:solidFill>
              </a:rPr>
              <a:t>talk is cheap</a:t>
            </a:r>
            <a:endParaRPr lang="zh-CN" altLang="en-US" sz="2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59799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8E3A-CD26-F660-55E0-ED1A65EF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米菲PPT3">
            <a:extLst>
              <a:ext uri="{FF2B5EF4-FFF2-40B4-BE49-F238E27FC236}">
                <a16:creationId xmlns:a16="http://schemas.microsoft.com/office/drawing/2014/main" id="{0E5917AE-B724-2E28-2958-236276368AFC}"/>
              </a:ext>
            </a:extLst>
          </p:cNvPr>
          <p:cNvSpPr/>
          <p:nvPr/>
        </p:nvSpPr>
        <p:spPr>
          <a:xfrm>
            <a:off x="0" y="-44556"/>
            <a:ext cx="9144000" cy="945201"/>
          </a:xfrm>
          <a:prstGeom prst="roundRect">
            <a:avLst>
              <a:gd name="adj" fmla="val 7474"/>
            </a:avLst>
          </a:prstGeom>
          <a:solidFill>
            <a:srgbClr val="FFD1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" name="米菲PPT4">
            <a:extLst>
              <a:ext uri="{FF2B5EF4-FFF2-40B4-BE49-F238E27FC236}">
                <a16:creationId xmlns:a16="http://schemas.microsoft.com/office/drawing/2014/main" id="{DEEC2D26-3E1D-68C9-72AB-1060A94C1C7A}"/>
              </a:ext>
            </a:extLst>
          </p:cNvPr>
          <p:cNvSpPr txBox="1"/>
          <p:nvPr/>
        </p:nvSpPr>
        <p:spPr>
          <a:xfrm>
            <a:off x="845119" y="153421"/>
            <a:ext cx="74050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榜单建设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Road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Map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8" name="米菲PPT7">
            <a:extLst>
              <a:ext uri="{FF2B5EF4-FFF2-40B4-BE49-F238E27FC236}">
                <a16:creationId xmlns:a16="http://schemas.microsoft.com/office/drawing/2014/main" id="{F124440A-E4A6-683F-27F8-DDD035EB853B}"/>
              </a:ext>
            </a:extLst>
          </p:cNvPr>
          <p:cNvSpPr txBox="1"/>
          <p:nvPr/>
        </p:nvSpPr>
        <p:spPr>
          <a:xfrm>
            <a:off x="2912310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6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9" name="米菲PPT8">
            <a:extLst>
              <a:ext uri="{FF2B5EF4-FFF2-40B4-BE49-F238E27FC236}">
                <a16:creationId xmlns:a16="http://schemas.microsoft.com/office/drawing/2014/main" id="{6F4CDFB7-9FA4-30DE-3DA9-8848A8636391}"/>
              </a:ext>
            </a:extLst>
          </p:cNvPr>
          <p:cNvSpPr txBox="1"/>
          <p:nvPr/>
        </p:nvSpPr>
        <p:spPr>
          <a:xfrm>
            <a:off x="4100872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7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0" name="米菲PPT9">
            <a:extLst>
              <a:ext uri="{FF2B5EF4-FFF2-40B4-BE49-F238E27FC236}">
                <a16:creationId xmlns:a16="http://schemas.microsoft.com/office/drawing/2014/main" id="{06EA183B-3C5B-5DB3-E9C4-F14826C83AC6}"/>
              </a:ext>
            </a:extLst>
          </p:cNvPr>
          <p:cNvSpPr txBox="1"/>
          <p:nvPr/>
        </p:nvSpPr>
        <p:spPr>
          <a:xfrm>
            <a:off x="5310885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8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1" name="米菲PPT10">
            <a:extLst>
              <a:ext uri="{FF2B5EF4-FFF2-40B4-BE49-F238E27FC236}">
                <a16:creationId xmlns:a16="http://schemas.microsoft.com/office/drawing/2014/main" id="{C71C5AD6-0A7E-DC50-86FF-9E78948FFF1C}"/>
              </a:ext>
            </a:extLst>
          </p:cNvPr>
          <p:cNvSpPr txBox="1"/>
          <p:nvPr/>
        </p:nvSpPr>
        <p:spPr>
          <a:xfrm>
            <a:off x="6568405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9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12" name="米菲PPT11">
            <a:extLst>
              <a:ext uri="{FF2B5EF4-FFF2-40B4-BE49-F238E27FC236}">
                <a16:creationId xmlns:a16="http://schemas.microsoft.com/office/drawing/2014/main" id="{EB27CF75-E6B0-D376-E4BE-82E8D9C0E1D7}"/>
              </a:ext>
            </a:extLst>
          </p:cNvPr>
          <p:cNvSpPr txBox="1"/>
          <p:nvPr/>
        </p:nvSpPr>
        <p:spPr>
          <a:xfrm>
            <a:off x="7405365" y="631836"/>
            <a:ext cx="1037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10-12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cxnSp>
        <p:nvCxnSpPr>
          <p:cNvPr id="13" name="米菲PPT25-1">
            <a:extLst>
              <a:ext uri="{FF2B5EF4-FFF2-40B4-BE49-F238E27FC236}">
                <a16:creationId xmlns:a16="http://schemas.microsoft.com/office/drawing/2014/main" id="{F29E028F-EA92-8A52-9BC9-91E7F4F9115C}"/>
              </a:ext>
            </a:extLst>
          </p:cNvPr>
          <p:cNvCxnSpPr>
            <a:cxnSpLocks/>
          </p:cNvCxnSpPr>
          <p:nvPr/>
        </p:nvCxnSpPr>
        <p:spPr>
          <a:xfrm>
            <a:off x="106625" y="908901"/>
            <a:ext cx="8960632" cy="0"/>
          </a:xfrm>
          <a:prstGeom prst="straightConnector1">
            <a:avLst/>
          </a:prstGeom>
          <a:ln w="47625">
            <a:solidFill>
              <a:srgbClr val="FFC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米菲PPT25-2">
            <a:extLst>
              <a:ext uri="{FF2B5EF4-FFF2-40B4-BE49-F238E27FC236}">
                <a16:creationId xmlns:a16="http://schemas.microsoft.com/office/drawing/2014/main" id="{3ABF131D-DBE2-1E94-BEF6-2D6604AAB0D9}"/>
              </a:ext>
            </a:extLst>
          </p:cNvPr>
          <p:cNvSpPr/>
          <p:nvPr/>
        </p:nvSpPr>
        <p:spPr>
          <a:xfrm>
            <a:off x="1012646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6" name="米菲PPT25-3">
            <a:extLst>
              <a:ext uri="{FF2B5EF4-FFF2-40B4-BE49-F238E27FC236}">
                <a16:creationId xmlns:a16="http://schemas.microsoft.com/office/drawing/2014/main" id="{A0725080-822A-A17E-6FDE-DB76CE24B244}"/>
              </a:ext>
            </a:extLst>
          </p:cNvPr>
          <p:cNvSpPr/>
          <p:nvPr/>
        </p:nvSpPr>
        <p:spPr>
          <a:xfrm>
            <a:off x="2050743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8" name="米菲PPT25-4">
            <a:extLst>
              <a:ext uri="{FF2B5EF4-FFF2-40B4-BE49-F238E27FC236}">
                <a16:creationId xmlns:a16="http://schemas.microsoft.com/office/drawing/2014/main" id="{BB4DFDCC-2929-634A-7FB0-9FEA1470C8D6}"/>
              </a:ext>
            </a:extLst>
          </p:cNvPr>
          <p:cNvSpPr/>
          <p:nvPr/>
        </p:nvSpPr>
        <p:spPr>
          <a:xfrm>
            <a:off x="6822169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9" name="米菲PPT25-5">
            <a:extLst>
              <a:ext uri="{FF2B5EF4-FFF2-40B4-BE49-F238E27FC236}">
                <a16:creationId xmlns:a16="http://schemas.microsoft.com/office/drawing/2014/main" id="{CC39FAA1-325F-B84F-DA9F-01C7EDBC86E8}"/>
              </a:ext>
            </a:extLst>
          </p:cNvPr>
          <p:cNvSpPr/>
          <p:nvPr/>
        </p:nvSpPr>
        <p:spPr>
          <a:xfrm>
            <a:off x="3170070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0" name="米菲PPT25-6">
            <a:extLst>
              <a:ext uri="{FF2B5EF4-FFF2-40B4-BE49-F238E27FC236}">
                <a16:creationId xmlns:a16="http://schemas.microsoft.com/office/drawing/2014/main" id="{369C7CB7-15FF-9649-7517-7065F533DA00}"/>
              </a:ext>
            </a:extLst>
          </p:cNvPr>
          <p:cNvSpPr/>
          <p:nvPr/>
        </p:nvSpPr>
        <p:spPr>
          <a:xfrm>
            <a:off x="5564649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1" name="米菲PPT25-7">
            <a:extLst>
              <a:ext uri="{FF2B5EF4-FFF2-40B4-BE49-F238E27FC236}">
                <a16:creationId xmlns:a16="http://schemas.microsoft.com/office/drawing/2014/main" id="{0CF13679-F1A3-636E-0E71-5B46B4508AFC}"/>
              </a:ext>
            </a:extLst>
          </p:cNvPr>
          <p:cNvSpPr/>
          <p:nvPr/>
        </p:nvSpPr>
        <p:spPr>
          <a:xfrm>
            <a:off x="4354636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2" name="米菲PPT26">
            <a:extLst>
              <a:ext uri="{FF2B5EF4-FFF2-40B4-BE49-F238E27FC236}">
                <a16:creationId xmlns:a16="http://schemas.microsoft.com/office/drawing/2014/main" id="{6DC41484-3172-D3CB-5B11-F50035AF4CB4}"/>
              </a:ext>
            </a:extLst>
          </p:cNvPr>
          <p:cNvSpPr txBox="1"/>
          <p:nvPr/>
        </p:nvSpPr>
        <p:spPr>
          <a:xfrm>
            <a:off x="1796979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23" name="米菲PPT28">
            <a:extLst>
              <a:ext uri="{FF2B5EF4-FFF2-40B4-BE49-F238E27FC236}">
                <a16:creationId xmlns:a16="http://schemas.microsoft.com/office/drawing/2014/main" id="{8B67F3EA-98EC-B574-FD7E-D05D2C56053A}"/>
              </a:ext>
            </a:extLst>
          </p:cNvPr>
          <p:cNvSpPr txBox="1"/>
          <p:nvPr/>
        </p:nvSpPr>
        <p:spPr>
          <a:xfrm>
            <a:off x="54606" y="631836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时间</a:t>
            </a:r>
          </a:p>
        </p:txBody>
      </p:sp>
      <p:sp>
        <p:nvSpPr>
          <p:cNvPr id="24" name="米菲PPT77">
            <a:extLst>
              <a:ext uri="{FF2B5EF4-FFF2-40B4-BE49-F238E27FC236}">
                <a16:creationId xmlns:a16="http://schemas.microsoft.com/office/drawing/2014/main" id="{29CC2EF1-0903-C4BA-0B9F-F1CA951D4A20}"/>
              </a:ext>
            </a:extLst>
          </p:cNvPr>
          <p:cNvSpPr/>
          <p:nvPr/>
        </p:nvSpPr>
        <p:spPr>
          <a:xfrm>
            <a:off x="2002073" y="1284677"/>
            <a:ext cx="1150041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榜单页改版</a:t>
            </a:r>
          </a:p>
        </p:txBody>
      </p:sp>
      <p:sp>
        <p:nvSpPr>
          <p:cNvPr id="27" name="米菲PPT77">
            <a:extLst>
              <a:ext uri="{FF2B5EF4-FFF2-40B4-BE49-F238E27FC236}">
                <a16:creationId xmlns:a16="http://schemas.microsoft.com/office/drawing/2014/main" id="{D49B7C38-D9DC-B77C-5BEF-970443CD389E}"/>
              </a:ext>
            </a:extLst>
          </p:cNvPr>
          <p:cNvSpPr/>
          <p:nvPr/>
        </p:nvSpPr>
        <p:spPr>
          <a:xfrm>
            <a:off x="686259" y="1553584"/>
            <a:ext cx="2432513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猜喜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-feed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流榜单标签</a:t>
            </a:r>
          </a:p>
        </p:txBody>
      </p:sp>
      <p:sp>
        <p:nvSpPr>
          <p:cNvPr id="28" name="米菲PPT77">
            <a:extLst>
              <a:ext uri="{FF2B5EF4-FFF2-40B4-BE49-F238E27FC236}">
                <a16:creationId xmlns:a16="http://schemas.microsoft.com/office/drawing/2014/main" id="{059EFBD7-C22E-7E06-E2DE-D5075B663ADE}"/>
              </a:ext>
            </a:extLst>
          </p:cNvPr>
          <p:cNvSpPr/>
          <p:nvPr/>
        </p:nvSpPr>
        <p:spPr>
          <a:xfrm>
            <a:off x="686259" y="1808522"/>
            <a:ext cx="1591047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Push-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异地场景下根据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城市推榜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623598A-E55D-F2FE-E870-DA92F79D1A63}"/>
              </a:ext>
            </a:extLst>
          </p:cNvPr>
          <p:cNvSpPr/>
          <p:nvPr/>
        </p:nvSpPr>
        <p:spPr>
          <a:xfrm>
            <a:off x="106625" y="2855704"/>
            <a:ext cx="511603" cy="1108404"/>
          </a:xfrm>
          <a:prstGeom prst="roundRect">
            <a:avLst/>
          </a:prstGeom>
          <a:solidFill>
            <a:srgbClr val="FFD6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主题榜单建设</a:t>
            </a:r>
            <a:endParaRPr kumimoji="1"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CD9E96C-CD04-5A90-6B68-8921DC59F536}"/>
              </a:ext>
            </a:extLst>
          </p:cNvPr>
          <p:cNvSpPr/>
          <p:nvPr/>
        </p:nvSpPr>
        <p:spPr>
          <a:xfrm>
            <a:off x="106625" y="2057495"/>
            <a:ext cx="511603" cy="723052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指数榜单建设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48026B6B-5AAE-AD59-CFEB-8FD18BEB823E}"/>
              </a:ext>
            </a:extLst>
          </p:cNvPr>
          <p:cNvSpPr/>
          <p:nvPr/>
        </p:nvSpPr>
        <p:spPr>
          <a:xfrm>
            <a:off x="106625" y="4039265"/>
            <a:ext cx="511603" cy="926588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tx1"/>
                </a:solidFill>
              </a:rPr>
              <a:t>AI</a:t>
            </a:r>
          </a:p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赋能</a:t>
            </a:r>
          </a:p>
        </p:txBody>
      </p:sp>
      <p:sp>
        <p:nvSpPr>
          <p:cNvPr id="40" name="米菲PPT26">
            <a:extLst>
              <a:ext uri="{FF2B5EF4-FFF2-40B4-BE49-F238E27FC236}">
                <a16:creationId xmlns:a16="http://schemas.microsoft.com/office/drawing/2014/main" id="{A3A60F65-53A6-AF11-319F-A1810FEB6BD3}"/>
              </a:ext>
            </a:extLst>
          </p:cNvPr>
          <p:cNvSpPr txBox="1"/>
          <p:nvPr/>
        </p:nvSpPr>
        <p:spPr>
          <a:xfrm>
            <a:off x="758882" y="635448"/>
            <a:ext cx="583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月</a:t>
            </a:r>
          </a:p>
        </p:txBody>
      </p:sp>
      <p:sp>
        <p:nvSpPr>
          <p:cNvPr id="41" name="米菲PPT77">
            <a:extLst>
              <a:ext uri="{FF2B5EF4-FFF2-40B4-BE49-F238E27FC236}">
                <a16:creationId xmlns:a16="http://schemas.microsoft.com/office/drawing/2014/main" id="{CA56567A-1711-F100-61B0-9F4322927238}"/>
              </a:ext>
            </a:extLst>
          </p:cNvPr>
          <p:cNvSpPr/>
          <p:nvPr/>
        </p:nvSpPr>
        <p:spPr>
          <a:xfrm>
            <a:off x="686259" y="1016120"/>
            <a:ext cx="288000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-Sug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、快筛、图筛</a:t>
            </a:r>
          </a:p>
        </p:txBody>
      </p:sp>
      <p:sp>
        <p:nvSpPr>
          <p:cNvPr id="42" name="米菲PPT77">
            <a:extLst>
              <a:ext uri="{FF2B5EF4-FFF2-40B4-BE49-F238E27FC236}">
                <a16:creationId xmlns:a16="http://schemas.microsoft.com/office/drawing/2014/main" id="{07C1274F-E08D-F85E-B776-D9D7D83A8A63}"/>
              </a:ext>
            </a:extLst>
          </p:cNvPr>
          <p:cNvSpPr/>
          <p:nvPr/>
        </p:nvSpPr>
        <p:spPr>
          <a:xfrm>
            <a:off x="3219399" y="1546612"/>
            <a:ext cx="2048972" cy="1800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-AI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问小团</a:t>
            </a:r>
          </a:p>
        </p:txBody>
      </p:sp>
      <p:sp>
        <p:nvSpPr>
          <p:cNvPr id="44" name="米菲PPT77">
            <a:extLst>
              <a:ext uri="{FF2B5EF4-FFF2-40B4-BE49-F238E27FC236}">
                <a16:creationId xmlns:a16="http://schemas.microsoft.com/office/drawing/2014/main" id="{AC83957E-3733-4557-94C6-9BF15150450B}"/>
              </a:ext>
            </a:extLst>
          </p:cNvPr>
          <p:cNvSpPr/>
          <p:nvPr/>
        </p:nvSpPr>
        <p:spPr>
          <a:xfrm>
            <a:off x="3219399" y="1279158"/>
            <a:ext cx="1600706" cy="180000"/>
          </a:xfrm>
          <a:prstGeom prst="rect">
            <a:avLst/>
          </a:prstGeom>
          <a:solidFill>
            <a:srgbClr val="FFD74C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下挂榜单标签</a:t>
            </a:r>
          </a:p>
        </p:txBody>
      </p:sp>
      <p:sp>
        <p:nvSpPr>
          <p:cNvPr id="47" name="米菲PPT77">
            <a:extLst>
              <a:ext uri="{FF2B5EF4-FFF2-40B4-BE49-F238E27FC236}">
                <a16:creationId xmlns:a16="http://schemas.microsoft.com/office/drawing/2014/main" id="{5793B120-FCA9-4BF9-A5DE-09170D45D465}"/>
              </a:ext>
            </a:extLst>
          </p:cNvPr>
          <p:cNvSpPr/>
          <p:nvPr/>
        </p:nvSpPr>
        <p:spPr>
          <a:xfrm>
            <a:off x="4962484" y="1276074"/>
            <a:ext cx="2750078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美团首页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榜单金刚、异地模块（试点）</a:t>
            </a:r>
          </a:p>
        </p:txBody>
      </p:sp>
      <p:sp>
        <p:nvSpPr>
          <p:cNvPr id="51" name="米菲PPT25-4">
            <a:extLst>
              <a:ext uri="{FF2B5EF4-FFF2-40B4-BE49-F238E27FC236}">
                <a16:creationId xmlns:a16="http://schemas.microsoft.com/office/drawing/2014/main" id="{9D5B215E-E4B2-0AA0-4CF4-82E8750F1693}"/>
              </a:ext>
            </a:extLst>
          </p:cNvPr>
          <p:cNvSpPr/>
          <p:nvPr/>
        </p:nvSpPr>
        <p:spPr>
          <a:xfrm>
            <a:off x="7825925" y="870559"/>
            <a:ext cx="75669" cy="76683"/>
          </a:xfrm>
          <a:prstGeom prst="ellipse">
            <a:avLst/>
          </a:prstGeom>
          <a:solidFill>
            <a:srgbClr val="FFD100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07A015D6-1B7F-8324-5284-336D258A0DDF}"/>
              </a:ext>
            </a:extLst>
          </p:cNvPr>
          <p:cNvSpPr/>
          <p:nvPr/>
        </p:nvSpPr>
        <p:spPr>
          <a:xfrm>
            <a:off x="107666" y="1010338"/>
            <a:ext cx="511603" cy="972000"/>
          </a:xfrm>
          <a:prstGeom prst="roundRect">
            <a:avLst/>
          </a:prstGeom>
          <a:solidFill>
            <a:srgbClr val="FFD64D">
              <a:alpha val="7528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tx1"/>
                </a:solidFill>
              </a:rPr>
              <a:t>动线建设</a:t>
            </a:r>
          </a:p>
        </p:txBody>
      </p:sp>
      <p:sp>
        <p:nvSpPr>
          <p:cNvPr id="56" name="米菲PPT77">
            <a:extLst>
              <a:ext uri="{FF2B5EF4-FFF2-40B4-BE49-F238E27FC236}">
                <a16:creationId xmlns:a16="http://schemas.microsoft.com/office/drawing/2014/main" id="{9A5ABE43-6CA2-D0C1-C695-BF2F2EC6EAB1}"/>
              </a:ext>
            </a:extLst>
          </p:cNvPr>
          <p:cNvSpPr/>
          <p:nvPr/>
        </p:nvSpPr>
        <p:spPr>
          <a:xfrm>
            <a:off x="686259" y="1281555"/>
            <a:ext cx="1248824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上榜门店提权</a:t>
            </a:r>
          </a:p>
        </p:txBody>
      </p:sp>
      <p:sp>
        <p:nvSpPr>
          <p:cNvPr id="2" name="米菲PPT77">
            <a:extLst>
              <a:ext uri="{FF2B5EF4-FFF2-40B4-BE49-F238E27FC236}">
                <a16:creationId xmlns:a16="http://schemas.microsoft.com/office/drawing/2014/main" id="{BF0F1809-7152-6FA6-FD62-820C96C5BCAF}"/>
              </a:ext>
            </a:extLst>
          </p:cNvPr>
          <p:cNvSpPr/>
          <p:nvPr/>
        </p:nvSpPr>
        <p:spPr>
          <a:xfrm>
            <a:off x="3634668" y="1013608"/>
            <a:ext cx="2098799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大搜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-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目的地页、场景页、地点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tab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" name="米菲PPT77">
            <a:extLst>
              <a:ext uri="{FF2B5EF4-FFF2-40B4-BE49-F238E27FC236}">
                <a16:creationId xmlns:a16="http://schemas.microsoft.com/office/drawing/2014/main" id="{89873AFC-C98E-5D3D-EB71-4AFCD7EFD011}"/>
              </a:ext>
            </a:extLst>
          </p:cNvPr>
          <p:cNvSpPr/>
          <p:nvPr/>
        </p:nvSpPr>
        <p:spPr>
          <a:xfrm>
            <a:off x="2088577" y="2063460"/>
            <a:ext cx="2432513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回头客榜建设</a:t>
            </a:r>
          </a:p>
        </p:txBody>
      </p:sp>
      <p:sp>
        <p:nvSpPr>
          <p:cNvPr id="6" name="米菲PPT77">
            <a:extLst>
              <a:ext uri="{FF2B5EF4-FFF2-40B4-BE49-F238E27FC236}">
                <a16:creationId xmlns:a16="http://schemas.microsoft.com/office/drawing/2014/main" id="{E9249AE0-36D5-FE30-E73A-FDD8F63BAAA1}"/>
              </a:ext>
            </a:extLst>
          </p:cNvPr>
          <p:cNvSpPr/>
          <p:nvPr/>
        </p:nvSpPr>
        <p:spPr>
          <a:xfrm>
            <a:off x="3815007" y="2312433"/>
            <a:ext cx="383692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指数榜城市*特色品类扩充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17" name="米菲PPT77">
            <a:extLst>
              <a:ext uri="{FF2B5EF4-FFF2-40B4-BE49-F238E27FC236}">
                <a16:creationId xmlns:a16="http://schemas.microsoft.com/office/drawing/2014/main" id="{3BD58427-8320-1875-FCA8-7895F5F32788}"/>
              </a:ext>
            </a:extLst>
          </p:cNvPr>
          <p:cNvSpPr/>
          <p:nvPr/>
        </p:nvSpPr>
        <p:spPr>
          <a:xfrm>
            <a:off x="4596184" y="2057495"/>
            <a:ext cx="2432513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AOI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扩充商场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29" name="米菲PPT77">
            <a:extLst>
              <a:ext uri="{FF2B5EF4-FFF2-40B4-BE49-F238E27FC236}">
                <a16:creationId xmlns:a16="http://schemas.microsoft.com/office/drawing/2014/main" id="{7D12299B-5331-12F5-4596-813FADFABC2D}"/>
              </a:ext>
            </a:extLst>
          </p:cNvPr>
          <p:cNvSpPr/>
          <p:nvPr/>
        </p:nvSpPr>
        <p:spPr>
          <a:xfrm>
            <a:off x="2803496" y="2600552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指数榜引入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GTV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0" name="米菲PPT77">
            <a:extLst>
              <a:ext uri="{FF2B5EF4-FFF2-40B4-BE49-F238E27FC236}">
                <a16:creationId xmlns:a16="http://schemas.microsoft.com/office/drawing/2014/main" id="{F34F7933-75EE-4000-1813-533F41540FAC}"/>
              </a:ext>
            </a:extLst>
          </p:cNvPr>
          <p:cNvSpPr/>
          <p:nvPr/>
        </p:nvSpPr>
        <p:spPr>
          <a:xfrm>
            <a:off x="4542976" y="2600552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菜品榜建设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6" name="米菲PPT77">
            <a:extLst>
              <a:ext uri="{FF2B5EF4-FFF2-40B4-BE49-F238E27FC236}">
                <a16:creationId xmlns:a16="http://schemas.microsoft.com/office/drawing/2014/main" id="{35A7B18F-382C-D836-D4EC-19344F741B83}"/>
              </a:ext>
            </a:extLst>
          </p:cNvPr>
          <p:cNvSpPr/>
          <p:nvPr/>
        </p:nvSpPr>
        <p:spPr>
          <a:xfrm>
            <a:off x="983574" y="2895256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约会榜（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5.20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35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城）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8" name="米菲PPT77">
            <a:extLst>
              <a:ext uri="{FF2B5EF4-FFF2-40B4-BE49-F238E27FC236}">
                <a16:creationId xmlns:a16="http://schemas.microsoft.com/office/drawing/2014/main" id="{FF79A3E5-D332-68AA-5D4E-C4A63C6B2CA5}"/>
              </a:ext>
            </a:extLst>
          </p:cNvPr>
          <p:cNvSpPr/>
          <p:nvPr/>
        </p:nvSpPr>
        <p:spPr>
          <a:xfrm>
            <a:off x="1857274" y="3150194"/>
            <a:ext cx="1891765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烟火榜（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6.17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全国）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39" name="米菲PPT77">
            <a:extLst>
              <a:ext uri="{FF2B5EF4-FFF2-40B4-BE49-F238E27FC236}">
                <a16:creationId xmlns:a16="http://schemas.microsoft.com/office/drawing/2014/main" id="{A761E21B-B711-91E0-BFBD-0D233E102E1E}"/>
              </a:ext>
            </a:extLst>
          </p:cNvPr>
          <p:cNvSpPr/>
          <p:nvPr/>
        </p:nvSpPr>
        <p:spPr>
          <a:xfrm>
            <a:off x="2392942" y="3409906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亲子榜（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6.25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 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SAB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49" name="米菲PPT77">
            <a:extLst>
              <a:ext uri="{FF2B5EF4-FFF2-40B4-BE49-F238E27FC236}">
                <a16:creationId xmlns:a16="http://schemas.microsoft.com/office/drawing/2014/main" id="{B0944F60-F492-7AB2-639F-AC979544F7F9}"/>
              </a:ext>
            </a:extLst>
          </p:cNvPr>
          <p:cNvSpPr/>
          <p:nvPr/>
        </p:nvSpPr>
        <p:spPr>
          <a:xfrm>
            <a:off x="983574" y="3687286"/>
            <a:ext cx="3371062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旅游榜扩城扩菜（当地人推荐、特色菜）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0" name="米菲PPT77">
            <a:extLst>
              <a:ext uri="{FF2B5EF4-FFF2-40B4-BE49-F238E27FC236}">
                <a16:creationId xmlns:a16="http://schemas.microsoft.com/office/drawing/2014/main" id="{2DDB55D7-EC9D-B54A-58A9-C31FBAE9FCA6}"/>
              </a:ext>
            </a:extLst>
          </p:cNvPr>
          <p:cNvSpPr/>
          <p:nvPr/>
        </p:nvSpPr>
        <p:spPr>
          <a:xfrm>
            <a:off x="4243885" y="2895256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约会榜（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8.7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全国）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3" name="米菲PPT77">
            <a:extLst>
              <a:ext uri="{FF2B5EF4-FFF2-40B4-BE49-F238E27FC236}">
                <a16:creationId xmlns:a16="http://schemas.microsoft.com/office/drawing/2014/main" id="{F16929C9-F523-53BE-D9E5-D0427766FEF4}"/>
              </a:ext>
            </a:extLst>
          </p:cNvPr>
          <p:cNvSpPr/>
          <p:nvPr/>
        </p:nvSpPr>
        <p:spPr>
          <a:xfrm>
            <a:off x="686259" y="4039616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主题榜单和标签挖掘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8" name="米菲PPT77">
            <a:extLst>
              <a:ext uri="{FF2B5EF4-FFF2-40B4-BE49-F238E27FC236}">
                <a16:creationId xmlns:a16="http://schemas.microsoft.com/office/drawing/2014/main" id="{858FA547-A2AF-B535-EDC2-DC85174CBF2D}"/>
              </a:ext>
            </a:extLst>
          </p:cNvPr>
          <p:cNvSpPr/>
          <p:nvPr/>
        </p:nvSpPr>
        <p:spPr>
          <a:xfrm>
            <a:off x="1121678" y="4298972"/>
            <a:ext cx="1626810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指数榜单建设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9" name="米菲PPT77">
            <a:extLst>
              <a:ext uri="{FF2B5EF4-FFF2-40B4-BE49-F238E27FC236}">
                <a16:creationId xmlns:a16="http://schemas.microsoft.com/office/drawing/2014/main" id="{B14BF0D9-A578-3301-93CB-137A4BCE009D}"/>
              </a:ext>
            </a:extLst>
          </p:cNvPr>
          <p:cNvSpPr/>
          <p:nvPr/>
        </p:nvSpPr>
        <p:spPr>
          <a:xfrm>
            <a:off x="1763688" y="4558684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榜单一体化投放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0" name="米菲PPT77">
            <a:extLst>
              <a:ext uri="{FF2B5EF4-FFF2-40B4-BE49-F238E27FC236}">
                <a16:creationId xmlns:a16="http://schemas.microsoft.com/office/drawing/2014/main" id="{24FF1779-8D7C-2972-F721-63E7FEAD2360}"/>
              </a:ext>
            </a:extLst>
          </p:cNvPr>
          <p:cNvSpPr/>
          <p:nvPr/>
        </p:nvSpPr>
        <p:spPr>
          <a:xfrm>
            <a:off x="2390503" y="4037380"/>
            <a:ext cx="2371744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榜单试算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1" name="米菲PPT77">
            <a:extLst>
              <a:ext uri="{FF2B5EF4-FFF2-40B4-BE49-F238E27FC236}">
                <a16:creationId xmlns:a16="http://schemas.microsoft.com/office/drawing/2014/main" id="{18436DD1-3ADD-7463-3B43-715BAFF7E26F}"/>
              </a:ext>
            </a:extLst>
          </p:cNvPr>
          <p:cNvSpPr/>
          <p:nvPr/>
        </p:nvSpPr>
        <p:spPr>
          <a:xfrm>
            <a:off x="2822923" y="4297091"/>
            <a:ext cx="1939652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457200">
              <a:defRPr/>
            </a:pP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趋势探测</a:t>
            </a:r>
            <a:r>
              <a:rPr lang="en" altLang="zh-CN" sz="900" dirty="0">
                <a:solidFill>
                  <a:schemeClr val="tx1"/>
                </a:solidFill>
                <a:latin typeface="+mn-ea"/>
              </a:rPr>
              <a:t>Skill</a:t>
            </a:r>
          </a:p>
        </p:txBody>
      </p:sp>
      <p:sp>
        <p:nvSpPr>
          <p:cNvPr id="63" name="米菲PPT77">
            <a:extLst>
              <a:ext uri="{FF2B5EF4-FFF2-40B4-BE49-F238E27FC236}">
                <a16:creationId xmlns:a16="http://schemas.microsoft.com/office/drawing/2014/main" id="{C63BE82F-6E80-4FB6-329D-2DD5A5EC1461}"/>
              </a:ext>
            </a:extLst>
          </p:cNvPr>
          <p:cNvSpPr/>
          <p:nvPr/>
        </p:nvSpPr>
        <p:spPr>
          <a:xfrm>
            <a:off x="5619095" y="3151874"/>
            <a:ext cx="2419586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聚餐、商务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4" name="米菲PPT77">
            <a:extLst>
              <a:ext uri="{FF2B5EF4-FFF2-40B4-BE49-F238E27FC236}">
                <a16:creationId xmlns:a16="http://schemas.microsoft.com/office/drawing/2014/main" id="{4F78EBEC-3F19-B849-7C88-2F6AE135B06E}"/>
              </a:ext>
            </a:extLst>
          </p:cNvPr>
          <p:cNvSpPr/>
          <p:nvPr/>
        </p:nvSpPr>
        <p:spPr>
          <a:xfrm>
            <a:off x="3870662" y="3148314"/>
            <a:ext cx="1626810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夜宵榜升级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6" name="米菲PPT77">
            <a:extLst>
              <a:ext uri="{FF2B5EF4-FFF2-40B4-BE49-F238E27FC236}">
                <a16:creationId xmlns:a16="http://schemas.microsoft.com/office/drawing/2014/main" id="{7FA7DBFE-AF51-1B1C-ED4C-4B5910E8A036}"/>
              </a:ext>
            </a:extLst>
          </p:cNvPr>
          <p:cNvSpPr/>
          <p:nvPr/>
        </p:nvSpPr>
        <p:spPr>
          <a:xfrm>
            <a:off x="2803155" y="4801811"/>
            <a:ext cx="2371745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供给关联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7" name="米菲PPT77">
            <a:extLst>
              <a:ext uri="{FF2B5EF4-FFF2-40B4-BE49-F238E27FC236}">
                <a16:creationId xmlns:a16="http://schemas.microsoft.com/office/drawing/2014/main" id="{119ACF98-4106-2454-DBBF-A99D8A5C5ADB}"/>
              </a:ext>
            </a:extLst>
          </p:cNvPr>
          <p:cNvSpPr/>
          <p:nvPr/>
        </p:nvSpPr>
        <p:spPr>
          <a:xfrm>
            <a:off x="4196660" y="4562283"/>
            <a:ext cx="2371745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数据分析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8" name="米菲PPT77">
            <a:extLst>
              <a:ext uri="{FF2B5EF4-FFF2-40B4-BE49-F238E27FC236}">
                <a16:creationId xmlns:a16="http://schemas.microsoft.com/office/drawing/2014/main" id="{099FC34A-63B8-E323-9033-68204F7FC209}"/>
              </a:ext>
            </a:extLst>
          </p:cNvPr>
          <p:cNvSpPr/>
          <p:nvPr/>
        </p:nvSpPr>
        <p:spPr>
          <a:xfrm>
            <a:off x="4820105" y="4298972"/>
            <a:ext cx="2058903" cy="180000"/>
          </a:xfrm>
          <a:prstGeom prst="rect">
            <a:avLst/>
          </a:prstGeom>
          <a:solidFill>
            <a:schemeClr val="accent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用户分析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69" name="米菲PPT77">
            <a:extLst>
              <a:ext uri="{FF2B5EF4-FFF2-40B4-BE49-F238E27FC236}">
                <a16:creationId xmlns:a16="http://schemas.microsoft.com/office/drawing/2014/main" id="{269617E8-DD97-42D2-F9F3-F3119C986604}"/>
              </a:ext>
            </a:extLst>
          </p:cNvPr>
          <p:cNvSpPr/>
          <p:nvPr/>
        </p:nvSpPr>
        <p:spPr>
          <a:xfrm>
            <a:off x="4820105" y="4040248"/>
            <a:ext cx="2371745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动线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/</a:t>
            </a: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资源对接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0" name="米菲PPT77">
            <a:extLst>
              <a:ext uri="{FF2B5EF4-FFF2-40B4-BE49-F238E27FC236}">
                <a16:creationId xmlns:a16="http://schemas.microsoft.com/office/drawing/2014/main" id="{204B416A-874F-A751-8C5B-C4B88BA392B8}"/>
              </a:ext>
            </a:extLst>
          </p:cNvPr>
          <p:cNvSpPr/>
          <p:nvPr/>
        </p:nvSpPr>
        <p:spPr>
          <a:xfrm>
            <a:off x="6964192" y="4292394"/>
            <a:ext cx="2103065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商家运营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71" name="米菲PPT77">
            <a:extLst>
              <a:ext uri="{FF2B5EF4-FFF2-40B4-BE49-F238E27FC236}">
                <a16:creationId xmlns:a16="http://schemas.microsoft.com/office/drawing/2014/main" id="{7C20AF2F-4384-2779-D015-06B6DEDB46D0}"/>
              </a:ext>
            </a:extLst>
          </p:cNvPr>
          <p:cNvSpPr/>
          <p:nvPr/>
        </p:nvSpPr>
        <p:spPr>
          <a:xfrm>
            <a:off x="6812226" y="4546325"/>
            <a:ext cx="2103065" cy="180000"/>
          </a:xfrm>
          <a:prstGeom prst="rect">
            <a:avLst/>
          </a:prstGeom>
          <a:solidFill>
            <a:srgbClr val="FDF6E2"/>
          </a:solidFill>
          <a:ln w="63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异动监测</a:t>
            </a:r>
            <a:r>
              <a:rPr lang="en-US" altLang="zh-CN" sz="9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Sans Medium" panose="00000600000000000000" pitchFamily="2" charset="-122"/>
              </a:rPr>
              <a:t>skill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MiSans Medium" panose="00000600000000000000" pitchFamily="2" charset="-122"/>
            </a:endParaRPr>
          </a:p>
        </p:txBody>
      </p:sp>
      <p:sp>
        <p:nvSpPr>
          <p:cNvPr id="5" name="标题 3">
            <a:extLst>
              <a:ext uri="{FF2B5EF4-FFF2-40B4-BE49-F238E27FC236}">
                <a16:creationId xmlns:a16="http://schemas.microsoft.com/office/drawing/2014/main" id="{13691BD7-2B6A-ABEF-DF5A-84F9675DB79A}"/>
              </a:ext>
            </a:extLst>
          </p:cNvPr>
          <p:cNvSpPr txBox="1">
            <a:spLocks/>
          </p:cNvSpPr>
          <p:nvPr/>
        </p:nvSpPr>
        <p:spPr>
          <a:xfrm>
            <a:off x="159402" y="15438"/>
            <a:ext cx="3642978" cy="4273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solidFill>
                  <a:srgbClr val="FF0000"/>
                </a:solidFill>
              </a:rPr>
              <a:t>可以有一个备在最后</a:t>
            </a:r>
          </a:p>
        </p:txBody>
      </p:sp>
    </p:spTree>
    <p:extLst>
      <p:ext uri="{BB962C8B-B14F-4D97-AF65-F5344CB8AC3E}">
        <p14:creationId xmlns:p14="http://schemas.microsoft.com/office/powerpoint/2010/main" val="1942530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67ADC-676D-DDF8-F76E-B235981B6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sz="2100" dirty="0"/>
              <a:t>skill</a:t>
            </a:r>
            <a:r>
              <a:rPr kumimoji="1" lang="zh-CN" altLang="en-US" dirty="0"/>
              <a:t>演示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09552B-BBAC-A434-2E15-F94C2431DAD9}"/>
              </a:ext>
            </a:extLst>
          </p:cNvPr>
          <p:cNvSpPr txBox="1"/>
          <p:nvPr/>
        </p:nvSpPr>
        <p:spPr>
          <a:xfrm>
            <a:off x="2286000" y="239569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靠谱</a:t>
            </a:r>
            <a:r>
              <a:rPr lang="en" altLang="zh-CN" sz="1800" dirty="0">
                <a:solidFill>
                  <a:srgbClr val="C00000"/>
                </a:solidFill>
              </a:rPr>
              <a:t>AI </a:t>
            </a:r>
            <a:r>
              <a:rPr lang="en" altLang="zh-CN" sz="1800" dirty="0" err="1">
                <a:solidFill>
                  <a:srgbClr val="C00000"/>
                </a:solidFill>
              </a:rPr>
              <a:t>skiils</a:t>
            </a:r>
            <a:r>
              <a:rPr lang="zh-CN" altLang="en-US" sz="1800" dirty="0">
                <a:solidFill>
                  <a:srgbClr val="C00000"/>
                </a:solidFill>
              </a:rPr>
              <a:t>效果图展示。评估量化效率提升 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76899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14190-C8F1-C9B8-2FBC-61F98FE3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椭圆 90">
            <a:extLst>
              <a:ext uri="{FF2B5EF4-FFF2-40B4-BE49-F238E27FC236}">
                <a16:creationId xmlns:a16="http://schemas.microsoft.com/office/drawing/2014/main" id="{6B516605-5A57-3520-38C6-F65FCCFA18F4}"/>
              </a:ext>
            </a:extLst>
          </p:cNvPr>
          <p:cNvSpPr/>
          <p:nvPr/>
        </p:nvSpPr>
        <p:spPr>
          <a:xfrm>
            <a:off x="486316" y="2368004"/>
            <a:ext cx="1253703" cy="57032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124B9117-78A1-7310-924C-78C11E2D2CB7}"/>
              </a:ext>
            </a:extLst>
          </p:cNvPr>
          <p:cNvSpPr txBox="1"/>
          <p:nvPr/>
        </p:nvSpPr>
        <p:spPr>
          <a:xfrm>
            <a:off x="164886" y="5178"/>
            <a:ext cx="3661044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dirty="0">
                <a:solidFill>
                  <a:schemeClr val="tx1"/>
                </a:solidFill>
                <a:latin typeface="+mj-ea"/>
                <a:ea typeface="+mj-ea"/>
              </a:rPr>
              <a:t>榜单的机会点 </a:t>
            </a:r>
            <a:r>
              <a:rPr kumimoji="1" lang="en-US" altLang="zh-CN" dirty="0">
                <a:solidFill>
                  <a:schemeClr val="tx1"/>
                </a:solidFill>
                <a:latin typeface="+mj-ea"/>
                <a:ea typeface="+mj-ea"/>
              </a:rPr>
              <a:t>@</a:t>
            </a:r>
            <a:r>
              <a:rPr kumimoji="1" lang="zh-CN" altLang="en-US" dirty="0">
                <a:solidFill>
                  <a:schemeClr val="tx1"/>
                </a:solidFill>
                <a:latin typeface="+mj-ea"/>
                <a:ea typeface="+mj-ea"/>
              </a:rPr>
              <a:t>辰辰</a:t>
            </a:r>
            <a:endParaRPr lang="en-US" altLang="zh-CN" dirty="0">
              <a:latin typeface="+mj-ea"/>
              <a:ea typeface="+mj-ea"/>
            </a:endParaRPr>
          </a:p>
        </p:txBody>
      </p: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19E4A95A-5FCF-AB50-E8C5-A5FB155CCE49}"/>
              </a:ext>
            </a:extLst>
          </p:cNvPr>
          <p:cNvCxnSpPr>
            <a:cxnSpLocks/>
          </p:cNvCxnSpPr>
          <p:nvPr/>
        </p:nvCxnSpPr>
        <p:spPr>
          <a:xfrm>
            <a:off x="3751696" y="1468061"/>
            <a:ext cx="0" cy="27180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FC7224B1-C866-1985-896D-A5A070493671}"/>
              </a:ext>
            </a:extLst>
          </p:cNvPr>
          <p:cNvCxnSpPr>
            <a:cxnSpLocks/>
          </p:cNvCxnSpPr>
          <p:nvPr/>
        </p:nvCxnSpPr>
        <p:spPr>
          <a:xfrm>
            <a:off x="6969586" y="1463712"/>
            <a:ext cx="0" cy="271800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">
            <a:extLst>
              <a:ext uri="{FF2B5EF4-FFF2-40B4-BE49-F238E27FC236}">
                <a16:creationId xmlns:a16="http://schemas.microsoft.com/office/drawing/2014/main" id="{7B314E5D-D04F-96E4-090D-EC9754EC231F}"/>
              </a:ext>
            </a:extLst>
          </p:cNvPr>
          <p:cNvSpPr txBox="1"/>
          <p:nvPr/>
        </p:nvSpPr>
        <p:spPr>
          <a:xfrm>
            <a:off x="416861" y="2361796"/>
            <a:ext cx="1394854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zh-CN" altLang="en-US" sz="1600" b="1" dirty="0">
                <a:latin typeface="+mn-ea"/>
              </a:rPr>
              <a:t>找品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F89116D-709A-8E37-BD6A-81CE25CF8CA6}"/>
              </a:ext>
            </a:extLst>
          </p:cNvPr>
          <p:cNvSpPr/>
          <p:nvPr/>
        </p:nvSpPr>
        <p:spPr>
          <a:xfrm>
            <a:off x="7574706" y="456890"/>
            <a:ext cx="1301489" cy="49537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目的明确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0F85BB0-45DA-40CD-C9B0-92DB83B65BB8}"/>
              </a:ext>
            </a:extLst>
          </p:cNvPr>
          <p:cNvSpPr/>
          <p:nvPr/>
        </p:nvSpPr>
        <p:spPr>
          <a:xfrm>
            <a:off x="4393513" y="459038"/>
            <a:ext cx="1844957" cy="495371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部分条件明确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3013FCF-B981-8C7A-FEC8-CC4FCBEAE526}"/>
              </a:ext>
            </a:extLst>
          </p:cNvPr>
          <p:cNvSpPr/>
          <p:nvPr/>
        </p:nvSpPr>
        <p:spPr>
          <a:xfrm>
            <a:off x="1839800" y="456890"/>
            <a:ext cx="1733202" cy="495371"/>
          </a:xfrm>
          <a:prstGeom prst="round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+mn-ea"/>
              </a:rPr>
              <a:t>无目的泛需求</a:t>
            </a:r>
          </a:p>
        </p:txBody>
      </p:sp>
      <p:cxnSp>
        <p:nvCxnSpPr>
          <p:cNvPr id="15" name="连接符: 曲线 68">
            <a:extLst>
              <a:ext uri="{FF2B5EF4-FFF2-40B4-BE49-F238E27FC236}">
                <a16:creationId xmlns:a16="http://schemas.microsoft.com/office/drawing/2014/main" id="{E8CD0A45-BAE1-F450-9449-6136C1F57F72}"/>
              </a:ext>
            </a:extLst>
          </p:cNvPr>
          <p:cNvCxnSpPr>
            <a:stCxn id="14" idx="0"/>
            <a:endCxn id="10" idx="0"/>
          </p:cNvCxnSpPr>
          <p:nvPr/>
        </p:nvCxnSpPr>
        <p:spPr>
          <a:xfrm rot="16200000" flipH="1">
            <a:off x="4010122" y="-846831"/>
            <a:ext cx="2148" cy="2609591"/>
          </a:xfrm>
          <a:prstGeom prst="curvedConnector3">
            <a:avLst>
              <a:gd name="adj1" fmla="val -1064245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70">
            <a:extLst>
              <a:ext uri="{FF2B5EF4-FFF2-40B4-BE49-F238E27FC236}">
                <a16:creationId xmlns:a16="http://schemas.microsoft.com/office/drawing/2014/main" id="{C940E7E8-7525-0775-C744-93B4C809F5EF}"/>
              </a:ext>
            </a:extLst>
          </p:cNvPr>
          <p:cNvCxnSpPr>
            <a:stCxn id="10" idx="0"/>
            <a:endCxn id="9" idx="0"/>
          </p:cNvCxnSpPr>
          <p:nvPr/>
        </p:nvCxnSpPr>
        <p:spPr>
          <a:xfrm rot="5400000" flipH="1" flipV="1">
            <a:off x="6769647" y="-996765"/>
            <a:ext cx="2148" cy="2909459"/>
          </a:xfrm>
          <a:prstGeom prst="curvedConnector3">
            <a:avLst>
              <a:gd name="adj1" fmla="val 1074245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">
            <a:extLst>
              <a:ext uri="{FF2B5EF4-FFF2-40B4-BE49-F238E27FC236}">
                <a16:creationId xmlns:a16="http://schemas.microsoft.com/office/drawing/2014/main" id="{966EAF2C-E612-58DB-91F4-8198B657DD92}"/>
              </a:ext>
            </a:extLst>
          </p:cNvPr>
          <p:cNvSpPr txBox="1"/>
          <p:nvPr/>
        </p:nvSpPr>
        <p:spPr>
          <a:xfrm>
            <a:off x="4074405" y="42276"/>
            <a:ext cx="2483171" cy="387038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随决策愈发清晰，需求逐步收敛</a:t>
            </a:r>
            <a:endParaRPr lang="en-US" altLang="zh-CN" sz="1200" dirty="0">
              <a:latin typeface="+mn-ea"/>
            </a:endParaRPr>
          </a:p>
        </p:txBody>
      </p:sp>
      <p:cxnSp>
        <p:nvCxnSpPr>
          <p:cNvPr id="21" name="连接符: 曲线 76">
            <a:extLst>
              <a:ext uri="{FF2B5EF4-FFF2-40B4-BE49-F238E27FC236}">
                <a16:creationId xmlns:a16="http://schemas.microsoft.com/office/drawing/2014/main" id="{FFD636CB-4A31-7E22-9F81-71122118FB27}"/>
              </a:ext>
            </a:extLst>
          </p:cNvPr>
          <p:cNvCxnSpPr>
            <a:stCxn id="9" idx="2"/>
            <a:endCxn id="10" idx="2"/>
          </p:cNvCxnSpPr>
          <p:nvPr/>
        </p:nvCxnSpPr>
        <p:spPr>
          <a:xfrm rot="5400000">
            <a:off x="6769648" y="-501394"/>
            <a:ext cx="2148" cy="2909459"/>
          </a:xfrm>
          <a:prstGeom prst="curvedConnector3">
            <a:avLst>
              <a:gd name="adj1" fmla="val 1074245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82">
            <a:extLst>
              <a:ext uri="{FF2B5EF4-FFF2-40B4-BE49-F238E27FC236}">
                <a16:creationId xmlns:a16="http://schemas.microsoft.com/office/drawing/2014/main" id="{1DEB3727-2E80-CBB5-09D8-1D7689738B02}"/>
              </a:ext>
            </a:extLst>
          </p:cNvPr>
          <p:cNvCxnSpPr>
            <a:stCxn id="10" idx="2"/>
            <a:endCxn id="14" idx="2"/>
          </p:cNvCxnSpPr>
          <p:nvPr/>
        </p:nvCxnSpPr>
        <p:spPr>
          <a:xfrm rot="5400000" flipH="1">
            <a:off x="4010123" y="-351460"/>
            <a:ext cx="2148" cy="2609591"/>
          </a:xfrm>
          <a:prstGeom prst="curvedConnector3">
            <a:avLst>
              <a:gd name="adj1" fmla="val -1064245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占位符 1">
            <a:extLst>
              <a:ext uri="{FF2B5EF4-FFF2-40B4-BE49-F238E27FC236}">
                <a16:creationId xmlns:a16="http://schemas.microsoft.com/office/drawing/2014/main" id="{C486D555-9225-9471-A32D-B3024206897F}"/>
              </a:ext>
            </a:extLst>
          </p:cNvPr>
          <p:cNvSpPr txBox="1"/>
          <p:nvPr/>
        </p:nvSpPr>
        <p:spPr>
          <a:xfrm>
            <a:off x="4250529" y="984518"/>
            <a:ext cx="2018633" cy="2883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浏览过程可能激发新需求</a:t>
            </a:r>
            <a:endParaRPr lang="en-US" altLang="zh-CN" sz="1200" dirty="0">
              <a:latin typeface="+mn-ea"/>
            </a:endParaRPr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3E5BCA89-AB4A-5936-359A-BF4C162BD003}"/>
              </a:ext>
            </a:extLst>
          </p:cNvPr>
          <p:cNvSpPr/>
          <p:nvPr/>
        </p:nvSpPr>
        <p:spPr>
          <a:xfrm>
            <a:off x="7488002" y="2205254"/>
            <a:ext cx="1452138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老店吃新品</a:t>
            </a:r>
            <a:endParaRPr lang="zh-CN" altLang="en-US">
              <a:latin typeface="+mn-ea"/>
            </a:endParaRPr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5E64CE60-A2B3-ECE6-67B1-1FA523D7F7F3}"/>
              </a:ext>
            </a:extLst>
          </p:cNvPr>
          <p:cNvSpPr/>
          <p:nvPr/>
        </p:nvSpPr>
        <p:spPr>
          <a:xfrm>
            <a:off x="7488002" y="2494953"/>
            <a:ext cx="1452138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老店复购</a:t>
            </a:r>
            <a:endParaRPr lang="zh-CN" altLang="en-US">
              <a:latin typeface="+mn-ea"/>
            </a:endParaRP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D88AC9E2-42D8-3BFD-BCB4-FF886DE0FAC3}"/>
              </a:ext>
            </a:extLst>
          </p:cNvPr>
          <p:cNvSpPr/>
          <p:nvPr/>
        </p:nvSpPr>
        <p:spPr>
          <a:xfrm>
            <a:off x="7684140" y="1537691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单店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品牌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12888C9D-FAF4-4CE2-0CC5-29ED09A05FDF}"/>
              </a:ext>
            </a:extLst>
          </p:cNvPr>
          <p:cNvSpPr/>
          <p:nvPr/>
        </p:nvSpPr>
        <p:spPr>
          <a:xfrm>
            <a:off x="4130875" y="1979468"/>
            <a:ext cx="714392" cy="223812"/>
          </a:xfrm>
          <a:prstGeom prst="roundRect">
            <a:avLst/>
          </a:prstGeom>
          <a:solidFill>
            <a:schemeClr val="accent1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地点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6FC15CBF-6B60-8EC2-DF3E-DC14D1198FEE}"/>
              </a:ext>
            </a:extLst>
          </p:cNvPr>
          <p:cNvSpPr/>
          <p:nvPr/>
        </p:nvSpPr>
        <p:spPr>
          <a:xfrm>
            <a:off x="4128444" y="1688269"/>
            <a:ext cx="714392" cy="223812"/>
          </a:xfrm>
          <a:prstGeom prst="roundRect">
            <a:avLst/>
          </a:prstGeom>
          <a:solidFill>
            <a:schemeClr val="accent1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场景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A54BE9CB-4603-60C8-21B9-72223F649E73}"/>
              </a:ext>
            </a:extLst>
          </p:cNvPr>
          <p:cNvSpPr/>
          <p:nvPr/>
        </p:nvSpPr>
        <p:spPr>
          <a:xfrm>
            <a:off x="4136457" y="1390772"/>
            <a:ext cx="712800" cy="223200"/>
          </a:xfrm>
          <a:prstGeom prst="roundRect">
            <a:avLst/>
          </a:prstGeom>
          <a:solidFill>
            <a:schemeClr val="accent1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品类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文本占位符 1">
            <a:extLst>
              <a:ext uri="{FF2B5EF4-FFF2-40B4-BE49-F238E27FC236}">
                <a16:creationId xmlns:a16="http://schemas.microsoft.com/office/drawing/2014/main" id="{32427246-4BBF-06BB-0C09-E911B2DE21A8}"/>
              </a:ext>
            </a:extLst>
          </p:cNvPr>
          <p:cNvSpPr txBox="1"/>
          <p:nvPr/>
        </p:nvSpPr>
        <p:spPr>
          <a:xfrm>
            <a:off x="7807534" y="1153632"/>
            <a:ext cx="804412" cy="250341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明确找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0" name="文本占位符 1">
            <a:extLst>
              <a:ext uri="{FF2B5EF4-FFF2-40B4-BE49-F238E27FC236}">
                <a16:creationId xmlns:a16="http://schemas.microsoft.com/office/drawing/2014/main" id="{FEC255DE-EF77-9FA0-CEA5-45A2563A46F6}"/>
              </a:ext>
            </a:extLst>
          </p:cNvPr>
          <p:cNvSpPr txBox="1"/>
          <p:nvPr/>
        </p:nvSpPr>
        <p:spPr>
          <a:xfrm>
            <a:off x="4966877" y="1167746"/>
            <a:ext cx="680858" cy="223200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约束找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5" name="文本占位符 1">
            <a:extLst>
              <a:ext uri="{FF2B5EF4-FFF2-40B4-BE49-F238E27FC236}">
                <a16:creationId xmlns:a16="http://schemas.microsoft.com/office/drawing/2014/main" id="{93F02A15-1557-CFD7-DC9E-40386A2344E7}"/>
              </a:ext>
            </a:extLst>
          </p:cNvPr>
          <p:cNvSpPr txBox="1"/>
          <p:nvPr/>
        </p:nvSpPr>
        <p:spPr>
          <a:xfrm>
            <a:off x="2389641" y="1169614"/>
            <a:ext cx="680858" cy="236227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b="1" dirty="0">
                <a:latin typeface="+mn-ea"/>
              </a:rPr>
              <a:t>激发找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72D2C1FF-DBA9-861A-F729-7DE648B4A3B2}"/>
              </a:ext>
            </a:extLst>
          </p:cNvPr>
          <p:cNvSpPr/>
          <p:nvPr/>
        </p:nvSpPr>
        <p:spPr>
          <a:xfrm>
            <a:off x="2176479" y="3393562"/>
            <a:ext cx="1059844" cy="25336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新菜激发</a:t>
            </a:r>
            <a:endParaRPr lang="zh-CN" altLang="en-US" dirty="0">
              <a:latin typeface="+mn-ea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6304559-A79B-6319-82D5-2A100523504F}"/>
              </a:ext>
            </a:extLst>
          </p:cNvPr>
          <p:cNvSpPr/>
          <p:nvPr/>
        </p:nvSpPr>
        <p:spPr>
          <a:xfrm>
            <a:off x="2176479" y="2319728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爆品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激发</a:t>
            </a:r>
            <a:endParaRPr lang="zh-CN" altLang="en-US" dirty="0">
              <a:latin typeface="+mn-ea"/>
            </a:endParaRP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81AD601-9CF3-EFC8-8BD2-00D2BD3281A8}"/>
              </a:ext>
            </a:extLst>
          </p:cNvPr>
          <p:cNvSpPr/>
          <p:nvPr/>
        </p:nvSpPr>
        <p:spPr>
          <a:xfrm>
            <a:off x="2176479" y="2622056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优惠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激发</a:t>
            </a:r>
            <a:endParaRPr lang="zh-CN" altLang="en-US" dirty="0">
              <a:latin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15205C6-AD88-3FDA-7E2D-0F54A773F1FE}"/>
              </a:ext>
            </a:extLst>
          </p:cNvPr>
          <p:cNvSpPr/>
          <p:nvPr/>
        </p:nvSpPr>
        <p:spPr>
          <a:xfrm>
            <a:off x="488496" y="1299969"/>
            <a:ext cx="1253703" cy="57032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rgbClr val="000000"/>
                </a:solidFill>
              </a:rPr>
              <a:t>找店</a:t>
            </a:r>
            <a:endParaRPr lang="zh-CN" altLang="en-US" dirty="0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4C09C40D-40EA-4737-5273-D6AB4D4EBDD6}"/>
              </a:ext>
            </a:extLst>
          </p:cNvPr>
          <p:cNvSpPr/>
          <p:nvPr/>
        </p:nvSpPr>
        <p:spPr>
          <a:xfrm>
            <a:off x="2176479" y="3692691"/>
            <a:ext cx="1059844" cy="25336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特色菜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  <a:cs typeface="Arial" panose="020B0604020202020204" pitchFamily="34" charset="0"/>
              </a:rPr>
              <a:t>激发</a:t>
            </a:r>
            <a:endParaRPr lang="zh-CN" altLang="en-US" dirty="0">
              <a:latin typeface="+mn-ea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9BD53A12-DD8E-F803-BA97-8326A531B982}"/>
              </a:ext>
            </a:extLst>
          </p:cNvPr>
          <p:cNvSpPr/>
          <p:nvPr/>
        </p:nvSpPr>
        <p:spPr>
          <a:xfrm>
            <a:off x="7488002" y="3075227"/>
            <a:ext cx="1452138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找优惠</a:t>
            </a:r>
            <a:endParaRPr lang="zh-CN" altLang="en-US">
              <a:latin typeface="+mn-ea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33FA617-DB73-001F-FAED-5E28608A2404}"/>
              </a:ext>
            </a:extLst>
          </p:cNvPr>
          <p:cNvSpPr/>
          <p:nvPr/>
        </p:nvSpPr>
        <p:spPr>
          <a:xfrm>
            <a:off x="7488002" y="2784652"/>
            <a:ext cx="1452138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新店吃爆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特色品</a:t>
            </a:r>
            <a:endParaRPr lang="zh-CN" altLang="en-US">
              <a:latin typeface="+mn-ea"/>
            </a:endParaRPr>
          </a:p>
        </p:txBody>
      </p:sp>
      <p:sp>
        <p:nvSpPr>
          <p:cNvPr id="35" name="圆角矩形 61">
            <a:extLst>
              <a:ext uri="{FF2B5EF4-FFF2-40B4-BE49-F238E27FC236}">
                <a16:creationId xmlns:a16="http://schemas.microsoft.com/office/drawing/2014/main" id="{00185BB8-B345-6D41-C11A-00F3493891C2}"/>
              </a:ext>
            </a:extLst>
          </p:cNvPr>
          <p:cNvSpPr/>
          <p:nvPr/>
        </p:nvSpPr>
        <p:spPr>
          <a:xfrm>
            <a:off x="4165718" y="2606937"/>
            <a:ext cx="2389847" cy="36440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餐型、价格、含菜、…</a:t>
            </a:r>
            <a:endParaRPr lang="en-US" altLang="zh-CN" dirty="0">
              <a:latin typeface="+mn-ea"/>
            </a:endParaRP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E33E76B1-ED05-2AF9-9397-1424AEB4A91B}"/>
              </a:ext>
            </a:extLst>
          </p:cNvPr>
          <p:cNvSpPr/>
          <p:nvPr/>
        </p:nvSpPr>
        <p:spPr>
          <a:xfrm>
            <a:off x="486195" y="4571703"/>
            <a:ext cx="8330456" cy="436689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综上，榜单最大的机会在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菜品维度（需求最大、缺口最深）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和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地点</a:t>
            </a:r>
            <a:r>
              <a:rPr kumimoji="1" lang="en-US" altLang="zh-CN" sz="1200" b="1" dirty="0">
                <a:solidFill>
                  <a:schemeClr val="tx1"/>
                </a:solidFill>
                <a:latin typeface="+mn-ea"/>
              </a:rPr>
              <a:t>×</a:t>
            </a:r>
            <a:r>
              <a:rPr kumimoji="1" lang="zh-CN" altLang="en-US" sz="1200" b="1" dirty="0">
                <a:solidFill>
                  <a:schemeClr val="tx1"/>
                </a:solidFill>
                <a:latin typeface="+mn-ea"/>
              </a:rPr>
              <a:t>场景的组合维度（覆盖率低、转化价值高）</a:t>
            </a:r>
            <a:endParaRPr kumimoji="1" lang="en-US" altLang="zh-CN" sz="12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这两个方向恰好对应用户在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探索找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阶段最核心的筛选条件，是从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有榜单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到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榜单真正有用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"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的关键跨越。</a:t>
            </a:r>
          </a:p>
        </p:txBody>
      </p:sp>
      <p:sp>
        <p:nvSpPr>
          <p:cNvPr id="122" name="文本占位符 1">
            <a:extLst>
              <a:ext uri="{FF2B5EF4-FFF2-40B4-BE49-F238E27FC236}">
                <a16:creationId xmlns:a16="http://schemas.microsoft.com/office/drawing/2014/main" id="{CB9E1CD6-8F43-2486-62F0-CC631238B734}"/>
              </a:ext>
            </a:extLst>
          </p:cNvPr>
          <p:cNvSpPr txBox="1"/>
          <p:nvPr/>
        </p:nvSpPr>
        <p:spPr>
          <a:xfrm>
            <a:off x="733361" y="1562997"/>
            <a:ext cx="804412" cy="356797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00000"/>
              </a:lnSpc>
              <a:buNone/>
            </a:pP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店</a:t>
            </a: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是</a:t>
            </a: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入口</a:t>
            </a:r>
            <a:endParaRPr kumimoji="1"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3" name="文本占位符 1">
            <a:extLst>
              <a:ext uri="{FF2B5EF4-FFF2-40B4-BE49-F238E27FC236}">
                <a16:creationId xmlns:a16="http://schemas.microsoft.com/office/drawing/2014/main" id="{2B834DE2-CC24-2B03-FAC8-08639451AFDD}"/>
              </a:ext>
            </a:extLst>
          </p:cNvPr>
          <p:cNvSpPr txBox="1"/>
          <p:nvPr/>
        </p:nvSpPr>
        <p:spPr>
          <a:xfrm>
            <a:off x="721520" y="2646960"/>
            <a:ext cx="804412" cy="356797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00000"/>
              </a:lnSpc>
              <a:buNone/>
            </a:pP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品是</a:t>
            </a: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转化</a:t>
            </a:r>
            <a:endParaRPr kumimoji="1"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B2B4740-2B8D-D6B0-EB7A-727E015F9E20}"/>
              </a:ext>
            </a:extLst>
          </p:cNvPr>
          <p:cNvSpPr/>
          <p:nvPr/>
        </p:nvSpPr>
        <p:spPr>
          <a:xfrm>
            <a:off x="486195" y="3398470"/>
            <a:ext cx="1253703" cy="57032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2F9058BC-D971-4014-9624-0F113A7BB2EF}"/>
              </a:ext>
            </a:extLst>
          </p:cNvPr>
          <p:cNvSpPr txBox="1"/>
          <p:nvPr/>
        </p:nvSpPr>
        <p:spPr>
          <a:xfrm>
            <a:off x="416740" y="3411921"/>
            <a:ext cx="1394854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zh-CN" altLang="en-US" sz="1600" b="1" dirty="0">
                <a:latin typeface="+mn-ea"/>
              </a:rPr>
              <a:t>找菜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文本占位符 1">
            <a:extLst>
              <a:ext uri="{FF2B5EF4-FFF2-40B4-BE49-F238E27FC236}">
                <a16:creationId xmlns:a16="http://schemas.microsoft.com/office/drawing/2014/main" id="{50513F3D-6F86-3767-DC0B-7E9F8F597ED3}"/>
              </a:ext>
            </a:extLst>
          </p:cNvPr>
          <p:cNvSpPr txBox="1"/>
          <p:nvPr/>
        </p:nvSpPr>
        <p:spPr>
          <a:xfrm>
            <a:off x="700420" y="3691718"/>
            <a:ext cx="804412" cy="356797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00000"/>
              </a:lnSpc>
              <a:buNone/>
            </a:pPr>
            <a:r>
              <a:rPr kumimoji="1"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菜是卖点</a:t>
            </a:r>
            <a:endParaRPr kumimoji="1" lang="en-US" altLang="zh-CN" sz="10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44AF7C1-06C3-8557-1DF2-4AB4C98B98FE}"/>
              </a:ext>
            </a:extLst>
          </p:cNvPr>
          <p:cNvSpPr/>
          <p:nvPr/>
        </p:nvSpPr>
        <p:spPr>
          <a:xfrm>
            <a:off x="7674715" y="3584408"/>
            <a:ext cx="1062000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菜名</a:t>
            </a:r>
            <a:endParaRPr lang="zh-CN" altLang="en-US" dirty="0">
              <a:latin typeface="+mn-ea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8AAAA26-968B-3DC8-7931-0A9FF674262F}"/>
              </a:ext>
            </a:extLst>
          </p:cNvPr>
          <p:cNvSpPr/>
          <p:nvPr/>
        </p:nvSpPr>
        <p:spPr>
          <a:xfrm>
            <a:off x="4112368" y="3594491"/>
            <a:ext cx="841731" cy="23622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当地特色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535226CC-859D-B346-F252-CDE3F622CAAB}"/>
              </a:ext>
            </a:extLst>
          </p:cNvPr>
          <p:cNvSpPr/>
          <p:nvPr/>
        </p:nvSpPr>
        <p:spPr>
          <a:xfrm>
            <a:off x="5003712" y="3590734"/>
            <a:ext cx="841731" cy="23622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时令节日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8" name="曲线连接符 87">
            <a:extLst>
              <a:ext uri="{FF2B5EF4-FFF2-40B4-BE49-F238E27FC236}">
                <a16:creationId xmlns:a16="http://schemas.microsoft.com/office/drawing/2014/main" id="{8BEA16A2-2F0C-0D9B-333C-A85B73530FDE}"/>
              </a:ext>
            </a:extLst>
          </p:cNvPr>
          <p:cNvCxnSpPr>
            <a:cxnSpLocks/>
            <a:stCxn id="5" idx="1"/>
            <a:endCxn id="29" idx="2"/>
          </p:cNvCxnSpPr>
          <p:nvPr/>
        </p:nvCxnSpPr>
        <p:spPr>
          <a:xfrm rot="10800000" flipH="1">
            <a:off x="416740" y="1585133"/>
            <a:ext cx="71756" cy="2115056"/>
          </a:xfrm>
          <a:prstGeom prst="curvedConnector3">
            <a:avLst>
              <a:gd name="adj1" fmla="val -3185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圆角矩形 93">
            <a:extLst>
              <a:ext uri="{FF2B5EF4-FFF2-40B4-BE49-F238E27FC236}">
                <a16:creationId xmlns:a16="http://schemas.microsoft.com/office/drawing/2014/main" id="{378B7715-6E1B-79EC-2946-68B4C0BE03C7}"/>
              </a:ext>
            </a:extLst>
          </p:cNvPr>
          <p:cNvSpPr/>
          <p:nvPr/>
        </p:nvSpPr>
        <p:spPr>
          <a:xfrm>
            <a:off x="2176479" y="2918891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好店的好品</a:t>
            </a:r>
            <a:endParaRPr lang="zh-CN" altLang="en-US" dirty="0">
              <a:latin typeface="+mn-ea"/>
            </a:endParaRPr>
          </a:p>
        </p:txBody>
      </p:sp>
      <p:sp>
        <p:nvSpPr>
          <p:cNvPr id="95" name="圆角矩形 94">
            <a:extLst>
              <a:ext uri="{FF2B5EF4-FFF2-40B4-BE49-F238E27FC236}">
                <a16:creationId xmlns:a16="http://schemas.microsoft.com/office/drawing/2014/main" id="{320C5EA5-A88B-89BB-F414-8D2DFD3F070C}"/>
              </a:ext>
            </a:extLst>
          </p:cNvPr>
          <p:cNvSpPr/>
          <p:nvPr/>
        </p:nvSpPr>
        <p:spPr>
          <a:xfrm>
            <a:off x="5892615" y="3584408"/>
            <a:ext cx="841731" cy="23622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口味食材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圆角矩形 95">
            <a:extLst>
              <a:ext uri="{FF2B5EF4-FFF2-40B4-BE49-F238E27FC236}">
                <a16:creationId xmlns:a16="http://schemas.microsoft.com/office/drawing/2014/main" id="{FC7A66A0-9907-B3D6-F436-363EC69D1092}"/>
              </a:ext>
            </a:extLst>
          </p:cNvPr>
          <p:cNvSpPr/>
          <p:nvPr/>
        </p:nvSpPr>
        <p:spPr>
          <a:xfrm>
            <a:off x="2176479" y="1454532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新奇特</a:t>
            </a:r>
            <a:endParaRPr lang="zh-CN" altLang="en-US" dirty="0">
              <a:latin typeface="+mn-ea"/>
            </a:endParaRPr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1CFFE4FF-7DCF-5D20-6081-524D8E292991}"/>
              </a:ext>
            </a:extLst>
          </p:cNvPr>
          <p:cNvSpPr/>
          <p:nvPr/>
        </p:nvSpPr>
        <p:spPr>
          <a:xfrm>
            <a:off x="2176479" y="1756860"/>
            <a:ext cx="1059844" cy="253364"/>
          </a:xfrm>
          <a:prstGeom prst="roundRect">
            <a:avLst/>
          </a:prstGeom>
          <a:noFill/>
          <a:ln w="952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达人</a:t>
            </a:r>
            <a:r>
              <a:rPr kumimoji="1" lang="en-US" altLang="zh-CN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明星</a:t>
            </a:r>
            <a:endParaRPr lang="zh-CN" altLang="en-US" dirty="0">
              <a:latin typeface="+mn-ea"/>
            </a:endParaRPr>
          </a:p>
        </p:txBody>
      </p:sp>
      <p:sp>
        <p:nvSpPr>
          <p:cNvPr id="100" name="文本占位符 1">
            <a:extLst>
              <a:ext uri="{FF2B5EF4-FFF2-40B4-BE49-F238E27FC236}">
                <a16:creationId xmlns:a16="http://schemas.microsoft.com/office/drawing/2014/main" id="{8E968C5D-B769-17E6-160F-5B55CBC84928}"/>
              </a:ext>
            </a:extLst>
          </p:cNvPr>
          <p:cNvSpPr txBox="1"/>
          <p:nvPr/>
        </p:nvSpPr>
        <p:spPr>
          <a:xfrm>
            <a:off x="799670" y="1821395"/>
            <a:ext cx="341515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以店找品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02" name="文本占位符 1">
            <a:extLst>
              <a:ext uri="{FF2B5EF4-FFF2-40B4-BE49-F238E27FC236}">
                <a16:creationId xmlns:a16="http://schemas.microsoft.com/office/drawing/2014/main" id="{4A5CFB2B-9A43-C015-66BA-E8FE08483683}"/>
              </a:ext>
            </a:extLst>
          </p:cNvPr>
          <p:cNvSpPr txBox="1"/>
          <p:nvPr/>
        </p:nvSpPr>
        <p:spPr>
          <a:xfrm>
            <a:off x="1079183" y="1816587"/>
            <a:ext cx="341515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以品找店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B104DE5B-EF73-36F0-330B-C5C5056D1DF7}"/>
              </a:ext>
            </a:extLst>
          </p:cNvPr>
          <p:cNvCxnSpPr/>
          <p:nvPr/>
        </p:nvCxnSpPr>
        <p:spPr>
          <a:xfrm flipV="1">
            <a:off x="1160281" y="1915179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箭头连接符 104">
            <a:extLst>
              <a:ext uri="{FF2B5EF4-FFF2-40B4-BE49-F238E27FC236}">
                <a16:creationId xmlns:a16="http://schemas.microsoft.com/office/drawing/2014/main" id="{93A56E3A-F5E7-1D4B-58C7-19EF108CDA88}"/>
              </a:ext>
            </a:extLst>
          </p:cNvPr>
          <p:cNvCxnSpPr/>
          <p:nvPr/>
        </p:nvCxnSpPr>
        <p:spPr>
          <a:xfrm flipV="1">
            <a:off x="1054756" y="1915179"/>
            <a:ext cx="0" cy="468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占位符 1">
            <a:extLst>
              <a:ext uri="{FF2B5EF4-FFF2-40B4-BE49-F238E27FC236}">
                <a16:creationId xmlns:a16="http://schemas.microsoft.com/office/drawing/2014/main" id="{7F01BDB6-81BD-459C-DDBE-84BBCD879674}"/>
              </a:ext>
            </a:extLst>
          </p:cNvPr>
          <p:cNvSpPr txBox="1"/>
          <p:nvPr/>
        </p:nvSpPr>
        <p:spPr>
          <a:xfrm>
            <a:off x="1070619" y="2900810"/>
            <a:ext cx="341515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以菜找品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109" name="直线箭头连接符 108">
            <a:extLst>
              <a:ext uri="{FF2B5EF4-FFF2-40B4-BE49-F238E27FC236}">
                <a16:creationId xmlns:a16="http://schemas.microsoft.com/office/drawing/2014/main" id="{70C3B6C1-CBA8-2DD8-FA87-E18BEEF59975}"/>
              </a:ext>
            </a:extLst>
          </p:cNvPr>
          <p:cNvCxnSpPr/>
          <p:nvPr/>
        </p:nvCxnSpPr>
        <p:spPr>
          <a:xfrm flipV="1">
            <a:off x="1123726" y="2955078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占位符 1">
            <a:extLst>
              <a:ext uri="{FF2B5EF4-FFF2-40B4-BE49-F238E27FC236}">
                <a16:creationId xmlns:a16="http://schemas.microsoft.com/office/drawing/2014/main" id="{A557CCF0-0582-9DFC-25FE-448297A6825A}"/>
              </a:ext>
            </a:extLst>
          </p:cNvPr>
          <p:cNvSpPr txBox="1"/>
          <p:nvPr/>
        </p:nvSpPr>
        <p:spPr>
          <a:xfrm>
            <a:off x="-60684" y="2394807"/>
            <a:ext cx="341515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以菜找店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756D8DFA-0CCC-B721-76E4-65758CB6BBC7}"/>
              </a:ext>
            </a:extLst>
          </p:cNvPr>
          <p:cNvSpPr/>
          <p:nvPr/>
        </p:nvSpPr>
        <p:spPr>
          <a:xfrm>
            <a:off x="1841549" y="4073296"/>
            <a:ext cx="7285830" cy="3916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文本占位符 1">
            <a:extLst>
              <a:ext uri="{FF2B5EF4-FFF2-40B4-BE49-F238E27FC236}">
                <a16:creationId xmlns:a16="http://schemas.microsoft.com/office/drawing/2014/main" id="{E8E1E490-0C97-3340-F19D-779F0656C8DB}"/>
              </a:ext>
            </a:extLst>
          </p:cNvPr>
          <p:cNvSpPr txBox="1"/>
          <p:nvPr/>
        </p:nvSpPr>
        <p:spPr>
          <a:xfrm>
            <a:off x="7413190" y="3988621"/>
            <a:ext cx="1624519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精搜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扫码点餐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订单复购等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26" name="文本占位符 1">
            <a:extLst>
              <a:ext uri="{FF2B5EF4-FFF2-40B4-BE49-F238E27FC236}">
                <a16:creationId xmlns:a16="http://schemas.microsoft.com/office/drawing/2014/main" id="{3E690BFB-2421-6257-26DD-A3FCE19EA3C9}"/>
              </a:ext>
            </a:extLst>
          </p:cNvPr>
          <p:cNvSpPr txBox="1"/>
          <p:nvPr/>
        </p:nvSpPr>
        <p:spPr>
          <a:xfrm>
            <a:off x="4547781" y="3988621"/>
            <a:ext cx="1624519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泛搜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团购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特团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筛排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榜单等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27" name="文本占位符 1">
            <a:extLst>
              <a:ext uri="{FF2B5EF4-FFF2-40B4-BE49-F238E27FC236}">
                <a16:creationId xmlns:a16="http://schemas.microsoft.com/office/drawing/2014/main" id="{5AB96FA5-7B3B-5C9A-C3DA-F634FEE70D7F}"/>
              </a:ext>
            </a:extLst>
          </p:cNvPr>
          <p:cNvSpPr txBox="1"/>
          <p:nvPr/>
        </p:nvSpPr>
        <p:spPr>
          <a:xfrm>
            <a:off x="1968211" y="4002684"/>
            <a:ext cx="1532230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dirty="0">
                <a:latin typeface="+mn-ea"/>
              </a:rPr>
              <a:t>特团直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推荐</a:t>
            </a:r>
            <a:r>
              <a:rPr lang="en-US" altLang="zh-CN" sz="1200" dirty="0">
                <a:latin typeface="+mn-ea"/>
              </a:rPr>
              <a:t>/</a:t>
            </a:r>
            <a:r>
              <a:rPr lang="zh-CN" altLang="en-US" sz="1200" dirty="0">
                <a:latin typeface="+mn-ea"/>
              </a:rPr>
              <a:t>榜单</a:t>
            </a:r>
            <a:r>
              <a:rPr lang="en-US" altLang="zh-CN" sz="1200" dirty="0">
                <a:latin typeface="+mn-ea"/>
              </a:rPr>
              <a:t>/push</a:t>
            </a:r>
            <a:r>
              <a:rPr lang="zh-CN" altLang="en-US" sz="1200" dirty="0">
                <a:latin typeface="+mn-ea"/>
              </a:rPr>
              <a:t>等</a:t>
            </a:r>
            <a:endParaRPr lang="en-US" altLang="zh-CN" sz="1200" dirty="0">
              <a:latin typeface="+mn-ea"/>
            </a:endParaRPr>
          </a:p>
        </p:txBody>
      </p:sp>
      <p:sp>
        <p:nvSpPr>
          <p:cNvPr id="128" name="文本占位符 1">
            <a:extLst>
              <a:ext uri="{FF2B5EF4-FFF2-40B4-BE49-F238E27FC236}">
                <a16:creationId xmlns:a16="http://schemas.microsoft.com/office/drawing/2014/main" id="{524BE4E3-73C1-BEDC-3714-9C8F2D6C6AC5}"/>
              </a:ext>
            </a:extLst>
          </p:cNvPr>
          <p:cNvSpPr txBox="1"/>
          <p:nvPr/>
        </p:nvSpPr>
        <p:spPr>
          <a:xfrm>
            <a:off x="438140" y="4016550"/>
            <a:ext cx="1394854" cy="5765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00"/>
              </a:lnSpc>
              <a:buNone/>
            </a:pPr>
            <a:r>
              <a:rPr kumimoji="1" lang="zh-CN" altLang="en-US" sz="1200" b="1" dirty="0">
                <a:latin typeface="+mn-ea"/>
              </a:rPr>
              <a:t>用户路径</a:t>
            </a:r>
            <a:endParaRPr kumimoji="1" lang="en-US" altLang="zh-CN" sz="1200" b="1" dirty="0">
              <a:latin typeface="+mn-ea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E1E2078-E382-D94E-0113-C583BCBD64AA}"/>
              </a:ext>
            </a:extLst>
          </p:cNvPr>
          <p:cNvSpPr txBox="1"/>
          <p:nvPr/>
        </p:nvSpPr>
        <p:spPr>
          <a:xfrm>
            <a:off x="4792641" y="1357499"/>
            <a:ext cx="2018633" cy="2883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050" dirty="0">
                <a:latin typeface="+mn-ea"/>
              </a:rPr>
              <a:t>城市 </a:t>
            </a:r>
            <a:r>
              <a:rPr kumimoji="1" lang="en-US" altLang="zh-CN" sz="1050" dirty="0">
                <a:latin typeface="+mn-ea"/>
              </a:rPr>
              <a:t>×</a:t>
            </a:r>
            <a:r>
              <a:rPr kumimoji="1" lang="zh-CN" altLang="en-US" sz="1050" dirty="0">
                <a:latin typeface="+mn-ea"/>
              </a:rPr>
              <a:t> 地方特色</a:t>
            </a:r>
            <a:r>
              <a:rPr lang="zh-CN" altLang="en-US" sz="1050" dirty="0">
                <a:latin typeface="+mn-ea"/>
              </a:rPr>
              <a:t> </a:t>
            </a:r>
            <a:endParaRPr lang="en-US" altLang="zh-CN" sz="1050" dirty="0">
              <a:latin typeface="+mn-ea"/>
            </a:endParaRPr>
          </a:p>
        </p:txBody>
      </p:sp>
      <p:sp>
        <p:nvSpPr>
          <p:cNvPr id="8" name="文本占位符 1">
            <a:extLst>
              <a:ext uri="{FF2B5EF4-FFF2-40B4-BE49-F238E27FC236}">
                <a16:creationId xmlns:a16="http://schemas.microsoft.com/office/drawing/2014/main" id="{FED5802C-A65C-9D7D-F41F-59828513E964}"/>
              </a:ext>
            </a:extLst>
          </p:cNvPr>
          <p:cNvSpPr txBox="1"/>
          <p:nvPr/>
        </p:nvSpPr>
        <p:spPr>
          <a:xfrm>
            <a:off x="4792642" y="1650893"/>
            <a:ext cx="2018633" cy="2883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050" dirty="0">
                <a:latin typeface="+mn-ea"/>
              </a:rPr>
              <a:t>约会、亲子、烟火等</a:t>
            </a:r>
            <a:endParaRPr lang="en-US" altLang="zh-CN" sz="1050" dirty="0">
              <a:latin typeface="+mn-ea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59333150-0793-B6AA-2E4E-8A11D2DC077F}"/>
              </a:ext>
            </a:extLst>
          </p:cNvPr>
          <p:cNvSpPr txBox="1"/>
          <p:nvPr/>
        </p:nvSpPr>
        <p:spPr>
          <a:xfrm>
            <a:off x="4792641" y="1948792"/>
            <a:ext cx="2018633" cy="288336"/>
          </a:xfrm>
          <a:prstGeom prst="rect">
            <a:avLst/>
          </a:prstGeom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¡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050" dirty="0">
                <a:latin typeface="+mn-ea"/>
              </a:rPr>
              <a:t>热门地标：附近、商场、景点</a:t>
            </a:r>
            <a:endParaRPr lang="en-US" altLang="zh-CN" sz="105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E680BF-422A-7ADD-4714-7CDB238AADCB}"/>
              </a:ext>
            </a:extLst>
          </p:cNvPr>
          <p:cNvSpPr txBox="1"/>
          <p:nvPr/>
        </p:nvSpPr>
        <p:spPr>
          <a:xfrm>
            <a:off x="-1922823" y="2265557"/>
            <a:ext cx="1646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去掉品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菜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r>
              <a:rPr lang="zh-CN" altLang="en-US" dirty="0">
                <a:solidFill>
                  <a:srgbClr val="C00000"/>
                </a:solidFill>
              </a:rPr>
              <a:t>店 都明确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8552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127B-DD73-51D3-F586-14B54F9E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标题 1">
            <a:extLst>
              <a:ext uri="{FF2B5EF4-FFF2-40B4-BE49-F238E27FC236}">
                <a16:creationId xmlns:a16="http://schemas.microsoft.com/office/drawing/2014/main" id="{9745F3D8-0DB7-B22F-80F4-36FF2C7D0FFE}"/>
              </a:ext>
            </a:extLst>
          </p:cNvPr>
          <p:cNvSpPr txBox="1"/>
          <p:nvPr/>
        </p:nvSpPr>
        <p:spPr>
          <a:xfrm>
            <a:off x="251999" y="32009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榜单用户需求洞察 </a:t>
            </a:r>
            <a:r>
              <a:rPr lang="en-US" altLang="zh-CN" sz="2100" dirty="0">
                <a:latin typeface="+mj-ea"/>
              </a:rPr>
              <a:t>@</a:t>
            </a:r>
            <a:r>
              <a:rPr lang="zh-CN" altLang="en-US" sz="2100" dirty="0">
                <a:latin typeface="+mj-ea"/>
              </a:rPr>
              <a:t>思佳</a:t>
            </a: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F1D62AE2-2A6D-6632-1123-754FBC294D15}"/>
              </a:ext>
            </a:extLst>
          </p:cNvPr>
          <p:cNvSpPr txBox="1"/>
          <p:nvPr/>
        </p:nvSpPr>
        <p:spPr>
          <a:xfrm>
            <a:off x="4094677" y="-118984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可否通过用户、</a:t>
            </a:r>
            <a:r>
              <a:rPr lang="en" altLang="zh-CN" sz="1800" dirty="0">
                <a:solidFill>
                  <a:srgbClr val="C00000"/>
                </a:solidFill>
              </a:rPr>
              <a:t>session</a:t>
            </a:r>
            <a:r>
              <a:rPr lang="zh-CN" altLang="en-US" sz="1800" dirty="0">
                <a:solidFill>
                  <a:srgbClr val="C00000"/>
                </a:solidFill>
              </a:rPr>
              <a:t>等分析，讲清楚什么用户，以及用户在什么场景下偏好、用榜单。以及榜单承接用户找店选品</a:t>
            </a:r>
            <a:r>
              <a:rPr lang="en" altLang="zh-CN" sz="1800" dirty="0">
                <a:solidFill>
                  <a:srgbClr val="C00000"/>
                </a:solidFill>
              </a:rPr>
              <a:t>PMF</a:t>
            </a:r>
            <a:r>
              <a:rPr lang="zh-CN" altLang="en-US" sz="1800" dirty="0">
                <a:solidFill>
                  <a:srgbClr val="C00000"/>
                </a:solidFill>
              </a:rPr>
              <a:t>中，在信息丰富、有效性等，差异化定位等是什么。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379" name="组合 378">
            <a:extLst>
              <a:ext uri="{FF2B5EF4-FFF2-40B4-BE49-F238E27FC236}">
                <a16:creationId xmlns:a16="http://schemas.microsoft.com/office/drawing/2014/main" id="{3C63D83D-E436-3414-E45A-641947CB35A8}"/>
              </a:ext>
            </a:extLst>
          </p:cNvPr>
          <p:cNvGrpSpPr/>
          <p:nvPr/>
        </p:nvGrpSpPr>
        <p:grpSpPr>
          <a:xfrm>
            <a:off x="-96999" y="420079"/>
            <a:ext cx="8004578" cy="4723421"/>
            <a:chOff x="457199" y="290779"/>
            <a:chExt cx="11531499" cy="6804619"/>
          </a:xfrm>
        </p:grpSpPr>
        <p:sp>
          <p:nvSpPr>
            <p:cNvPr id="37" name="Shape 0">
              <a:extLst>
                <a:ext uri="{FF2B5EF4-FFF2-40B4-BE49-F238E27FC236}">
                  <a16:creationId xmlns:a16="http://schemas.microsoft.com/office/drawing/2014/main" id="{7D65D43A-8E78-2375-A6A9-8BD1183E2129}"/>
                </a:ext>
              </a:extLst>
            </p:cNvPr>
            <p:cNvSpPr/>
            <p:nvPr/>
          </p:nvSpPr>
          <p:spPr>
            <a:xfrm>
              <a:off x="7850124" y="502920"/>
              <a:ext cx="3854196" cy="2892247"/>
            </a:xfrm>
            <a:prstGeom prst="rect">
              <a:avLst/>
            </a:prstGeom>
            <a:solidFill>
              <a:srgbClr val="FFF0E6">
                <a:alpha val="80000"/>
              </a:srgbClr>
            </a:solidFill>
            <a:ln w="12700">
              <a:solidFill>
                <a:srgbClr val="FFF0E6">
                  <a:alpha val="0"/>
                </a:srgbClr>
              </a:solidFill>
              <a:prstDash val="solid"/>
            </a:ln>
          </p:spPr>
        </p:sp>
        <p:sp>
          <p:nvSpPr>
            <p:cNvPr id="43" name="Shape 1">
              <a:extLst>
                <a:ext uri="{FF2B5EF4-FFF2-40B4-BE49-F238E27FC236}">
                  <a16:creationId xmlns:a16="http://schemas.microsoft.com/office/drawing/2014/main" id="{77F54840-5701-6BA4-7446-4C54D4EB482B}"/>
                </a:ext>
              </a:extLst>
            </p:cNvPr>
            <p:cNvSpPr/>
            <p:nvPr/>
          </p:nvSpPr>
          <p:spPr>
            <a:xfrm>
              <a:off x="1188720" y="502920"/>
              <a:ext cx="6661404" cy="2892247"/>
            </a:xfrm>
            <a:prstGeom prst="rect">
              <a:avLst/>
            </a:prstGeom>
            <a:solidFill>
              <a:srgbClr val="FFFCE6">
                <a:alpha val="80000"/>
              </a:srgbClr>
            </a:solidFill>
            <a:ln w="12700">
              <a:solidFill>
                <a:srgbClr val="FFFCE6">
                  <a:alpha val="0"/>
                </a:srgbClr>
              </a:solidFill>
              <a:prstDash val="solid"/>
            </a:ln>
          </p:spPr>
        </p:sp>
        <p:sp>
          <p:nvSpPr>
            <p:cNvPr id="44" name="Shape 2">
              <a:extLst>
                <a:ext uri="{FF2B5EF4-FFF2-40B4-BE49-F238E27FC236}">
                  <a16:creationId xmlns:a16="http://schemas.microsoft.com/office/drawing/2014/main" id="{901ABA5A-EE9E-ACEB-D9AC-9E537A2A1AEC}"/>
                </a:ext>
              </a:extLst>
            </p:cNvPr>
            <p:cNvSpPr/>
            <p:nvPr/>
          </p:nvSpPr>
          <p:spPr>
            <a:xfrm>
              <a:off x="7850124" y="3395167"/>
              <a:ext cx="3854196" cy="2822753"/>
            </a:xfrm>
            <a:prstGeom prst="rect">
              <a:avLst/>
            </a:prstGeom>
            <a:solidFill>
              <a:srgbClr val="E8F5E9">
                <a:alpha val="80000"/>
              </a:srgbClr>
            </a:solidFill>
            <a:ln w="12700">
              <a:solidFill>
                <a:srgbClr val="E8F5E9">
                  <a:alpha val="0"/>
                </a:srgbClr>
              </a:solidFill>
              <a:prstDash val="solid"/>
            </a:ln>
          </p:spPr>
        </p:sp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41BF7ACE-CE8D-0AE8-E221-5D732E5B49DE}"/>
                </a:ext>
              </a:extLst>
            </p:cNvPr>
            <p:cNvSpPr/>
            <p:nvPr/>
          </p:nvSpPr>
          <p:spPr>
            <a:xfrm>
              <a:off x="1188720" y="3395167"/>
              <a:ext cx="6661404" cy="2822753"/>
            </a:xfrm>
            <a:prstGeom prst="rect">
              <a:avLst/>
            </a:prstGeom>
            <a:solidFill>
              <a:srgbClr val="E3EEF9">
                <a:alpha val="80000"/>
              </a:srgbClr>
            </a:solidFill>
            <a:ln w="12700">
              <a:solidFill>
                <a:srgbClr val="E3EEF9">
                  <a:alpha val="0"/>
                </a:srgbClr>
              </a:solidFill>
              <a:prstDash val="solid"/>
            </a:ln>
          </p:spPr>
        </p:sp>
        <p:sp>
          <p:nvSpPr>
            <p:cNvPr id="46" name="Shape 226">
              <a:extLst>
                <a:ext uri="{FF2B5EF4-FFF2-40B4-BE49-F238E27FC236}">
                  <a16:creationId xmlns:a16="http://schemas.microsoft.com/office/drawing/2014/main" id="{22BED97A-CC41-67E8-4A7B-978232A38E94}"/>
                </a:ext>
              </a:extLst>
            </p:cNvPr>
            <p:cNvSpPr/>
            <p:nvPr/>
          </p:nvSpPr>
          <p:spPr>
            <a:xfrm>
              <a:off x="7831836" y="779069"/>
              <a:ext cx="546811" cy="546811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7" name="Text 227">
              <a:extLst>
                <a:ext uri="{FF2B5EF4-FFF2-40B4-BE49-F238E27FC236}">
                  <a16:creationId xmlns:a16="http://schemas.microsoft.com/office/drawing/2014/main" id="{70D8A85C-1E34-A53A-1DA1-FE457A1FA0B1}"/>
                </a:ext>
              </a:extLst>
            </p:cNvPr>
            <p:cNvSpPr/>
            <p:nvPr/>
          </p:nvSpPr>
          <p:spPr>
            <a:xfrm>
              <a:off x="7831836" y="779069"/>
              <a:ext cx="546811" cy="5468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自助餐</a:t>
              </a:r>
              <a:endParaRPr lang="en-US" sz="700" dirty="0"/>
            </a:p>
          </p:txBody>
        </p:sp>
        <p:sp>
          <p:nvSpPr>
            <p:cNvPr id="48" name="Shape 236">
              <a:extLst>
                <a:ext uri="{FF2B5EF4-FFF2-40B4-BE49-F238E27FC236}">
                  <a16:creationId xmlns:a16="http://schemas.microsoft.com/office/drawing/2014/main" id="{05BA9453-EA01-E247-58BB-764A2FC94100}"/>
                </a:ext>
              </a:extLst>
            </p:cNvPr>
            <p:cNvSpPr/>
            <p:nvPr/>
          </p:nvSpPr>
          <p:spPr>
            <a:xfrm>
              <a:off x="8036662" y="1088136"/>
              <a:ext cx="579730" cy="579730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49" name="Text 237">
              <a:extLst>
                <a:ext uri="{FF2B5EF4-FFF2-40B4-BE49-F238E27FC236}">
                  <a16:creationId xmlns:a16="http://schemas.microsoft.com/office/drawing/2014/main" id="{83830D35-439C-36B3-4280-CAE8BF259116}"/>
                </a:ext>
              </a:extLst>
            </p:cNvPr>
            <p:cNvSpPr/>
            <p:nvPr/>
          </p:nvSpPr>
          <p:spPr>
            <a:xfrm>
              <a:off x="8036662" y="1088136"/>
              <a:ext cx="579730" cy="5797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自助</a:t>
              </a:r>
              <a:endParaRPr lang="en-US" sz="700" dirty="0"/>
            </a:p>
          </p:txBody>
        </p:sp>
        <p:sp>
          <p:nvSpPr>
            <p:cNvPr id="50" name="Shape 248">
              <a:extLst>
                <a:ext uri="{FF2B5EF4-FFF2-40B4-BE49-F238E27FC236}">
                  <a16:creationId xmlns:a16="http://schemas.microsoft.com/office/drawing/2014/main" id="{64511781-B0B7-3C79-2427-7EAF84D61BAE}"/>
                </a:ext>
              </a:extLst>
            </p:cNvPr>
            <p:cNvSpPr/>
            <p:nvPr/>
          </p:nvSpPr>
          <p:spPr>
            <a:xfrm>
              <a:off x="8912657" y="998525"/>
              <a:ext cx="627278" cy="62727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1" name="Text 249">
              <a:extLst>
                <a:ext uri="{FF2B5EF4-FFF2-40B4-BE49-F238E27FC236}">
                  <a16:creationId xmlns:a16="http://schemas.microsoft.com/office/drawing/2014/main" id="{54E98C7E-900F-4423-A826-5AA647B94EC3}"/>
                </a:ext>
              </a:extLst>
            </p:cNvPr>
            <p:cNvSpPr/>
            <p:nvPr/>
          </p:nvSpPr>
          <p:spPr>
            <a:xfrm>
              <a:off x="8912657" y="998525"/>
              <a:ext cx="627278" cy="627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烤肉</a:t>
              </a:r>
              <a:endParaRPr lang="en-US" sz="700" dirty="0"/>
            </a:p>
          </p:txBody>
        </p:sp>
        <p:sp>
          <p:nvSpPr>
            <p:cNvPr id="52" name="Shape 254">
              <a:extLst>
                <a:ext uri="{FF2B5EF4-FFF2-40B4-BE49-F238E27FC236}">
                  <a16:creationId xmlns:a16="http://schemas.microsoft.com/office/drawing/2014/main" id="{F182CE74-308C-49BC-00D6-59FFDDD36E4E}"/>
                </a:ext>
              </a:extLst>
            </p:cNvPr>
            <p:cNvSpPr/>
            <p:nvPr/>
          </p:nvSpPr>
          <p:spPr>
            <a:xfrm>
              <a:off x="5467198" y="1611173"/>
              <a:ext cx="647395" cy="647395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3" name="Text 255">
              <a:extLst>
                <a:ext uri="{FF2B5EF4-FFF2-40B4-BE49-F238E27FC236}">
                  <a16:creationId xmlns:a16="http://schemas.microsoft.com/office/drawing/2014/main" id="{FF08BE1E-39E7-6565-B591-61F31BEADA29}"/>
                </a:ext>
              </a:extLst>
            </p:cNvPr>
            <p:cNvSpPr/>
            <p:nvPr/>
          </p:nvSpPr>
          <p:spPr>
            <a:xfrm>
              <a:off x="5467198" y="1611173"/>
              <a:ext cx="647395" cy="6473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烧烤</a:t>
              </a:r>
              <a:endParaRPr lang="en-US" sz="700" dirty="0"/>
            </a:p>
          </p:txBody>
        </p:sp>
        <p:sp>
          <p:nvSpPr>
            <p:cNvPr id="54" name="Shape 258">
              <a:extLst>
                <a:ext uri="{FF2B5EF4-FFF2-40B4-BE49-F238E27FC236}">
                  <a16:creationId xmlns:a16="http://schemas.microsoft.com/office/drawing/2014/main" id="{2642F141-F875-F374-7C73-EB0C8BDA0CE0}"/>
                </a:ext>
              </a:extLst>
            </p:cNvPr>
            <p:cNvSpPr/>
            <p:nvPr/>
          </p:nvSpPr>
          <p:spPr>
            <a:xfrm>
              <a:off x="8328355" y="1075334"/>
              <a:ext cx="658368" cy="65836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5" name="Text 259">
              <a:extLst>
                <a:ext uri="{FF2B5EF4-FFF2-40B4-BE49-F238E27FC236}">
                  <a16:creationId xmlns:a16="http://schemas.microsoft.com/office/drawing/2014/main" id="{B11A05E9-D7EC-F8BB-A3DB-F68916133A27}"/>
                </a:ext>
              </a:extLst>
            </p:cNvPr>
            <p:cNvSpPr/>
            <p:nvPr/>
          </p:nvSpPr>
          <p:spPr>
            <a:xfrm>
              <a:off x="8328355" y="1075334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火锅</a:t>
              </a:r>
              <a:endParaRPr lang="en-US" sz="700" dirty="0"/>
            </a:p>
          </p:txBody>
        </p:sp>
        <p:sp>
          <p:nvSpPr>
            <p:cNvPr id="56" name="Shape 4">
              <a:extLst>
                <a:ext uri="{FF2B5EF4-FFF2-40B4-BE49-F238E27FC236}">
                  <a16:creationId xmlns:a16="http://schemas.microsoft.com/office/drawing/2014/main" id="{6309CA73-83A5-F90B-D7A9-BEFED115A03C}"/>
                </a:ext>
              </a:extLst>
            </p:cNvPr>
            <p:cNvSpPr/>
            <p:nvPr/>
          </p:nvSpPr>
          <p:spPr>
            <a:xfrm>
              <a:off x="7850124" y="457200"/>
              <a:ext cx="0" cy="5806440"/>
            </a:xfrm>
            <a:prstGeom prst="line">
              <a:avLst/>
            </a:prstGeom>
            <a:noFill/>
            <a:ln w="15240">
              <a:solidFill>
                <a:srgbClr val="CCCCCC"/>
              </a:solidFill>
              <a:prstDash val="dash"/>
            </a:ln>
          </p:spPr>
        </p:sp>
        <p:sp>
          <p:nvSpPr>
            <p:cNvPr id="57" name="Shape 5">
              <a:extLst>
                <a:ext uri="{FF2B5EF4-FFF2-40B4-BE49-F238E27FC236}">
                  <a16:creationId xmlns:a16="http://schemas.microsoft.com/office/drawing/2014/main" id="{C260A6C3-7F36-787C-F94B-764C256D9FEE}"/>
                </a:ext>
              </a:extLst>
            </p:cNvPr>
            <p:cNvSpPr/>
            <p:nvPr/>
          </p:nvSpPr>
          <p:spPr>
            <a:xfrm>
              <a:off x="1143000" y="3395167"/>
              <a:ext cx="10607040" cy="0"/>
            </a:xfrm>
            <a:prstGeom prst="line">
              <a:avLst/>
            </a:prstGeom>
            <a:noFill/>
            <a:ln w="15240">
              <a:solidFill>
                <a:srgbClr val="CCCCCC"/>
              </a:solidFill>
              <a:prstDash val="dash"/>
            </a:ln>
          </p:spPr>
        </p:sp>
        <p:sp>
          <p:nvSpPr>
            <p:cNvPr id="58" name="Shape 6">
              <a:extLst>
                <a:ext uri="{FF2B5EF4-FFF2-40B4-BE49-F238E27FC236}">
                  <a16:creationId xmlns:a16="http://schemas.microsoft.com/office/drawing/2014/main" id="{1D970E54-425A-D08A-CCB8-CDF9AC5AE323}"/>
                </a:ext>
              </a:extLst>
            </p:cNvPr>
            <p:cNvSpPr/>
            <p:nvPr/>
          </p:nvSpPr>
          <p:spPr>
            <a:xfrm>
              <a:off x="1188720" y="6263640"/>
              <a:ext cx="10515600" cy="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prstDash val="solid"/>
            </a:ln>
          </p:spPr>
        </p:sp>
        <p:sp>
          <p:nvSpPr>
            <p:cNvPr id="59" name="Shape 7">
              <a:extLst>
                <a:ext uri="{FF2B5EF4-FFF2-40B4-BE49-F238E27FC236}">
                  <a16:creationId xmlns:a16="http://schemas.microsoft.com/office/drawing/2014/main" id="{70D78C6F-8FBF-86FC-604A-389E86C5E952}"/>
                </a:ext>
              </a:extLst>
            </p:cNvPr>
            <p:cNvSpPr/>
            <p:nvPr/>
          </p:nvSpPr>
          <p:spPr>
            <a:xfrm>
              <a:off x="1143000" y="502920"/>
              <a:ext cx="0" cy="571500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prstDash val="solid"/>
            </a:ln>
          </p:spPr>
        </p:sp>
        <p:sp>
          <p:nvSpPr>
            <p:cNvPr id="60" name="Shape 8">
              <a:extLst>
                <a:ext uri="{FF2B5EF4-FFF2-40B4-BE49-F238E27FC236}">
                  <a16:creationId xmlns:a16="http://schemas.microsoft.com/office/drawing/2014/main" id="{15D69B07-2928-BB82-703A-8415D12110AF}"/>
                </a:ext>
              </a:extLst>
            </p:cNvPr>
            <p:cNvSpPr/>
            <p:nvPr/>
          </p:nvSpPr>
          <p:spPr>
            <a:xfrm>
              <a:off x="4960620" y="6217920"/>
              <a:ext cx="0" cy="73152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61" name="Text 9">
              <a:extLst>
                <a:ext uri="{FF2B5EF4-FFF2-40B4-BE49-F238E27FC236}">
                  <a16:creationId xmlns:a16="http://schemas.microsoft.com/office/drawing/2014/main" id="{EDB13AEE-A1A0-E1E8-2267-0601FDA1AB14}"/>
                </a:ext>
              </a:extLst>
            </p:cNvPr>
            <p:cNvSpPr/>
            <p:nvPr/>
          </p:nvSpPr>
          <p:spPr>
            <a:xfrm>
              <a:off x="4777740" y="6291072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0.5%</a:t>
              </a:r>
              <a:endParaRPr lang="en-US" sz="500" dirty="0"/>
            </a:p>
          </p:txBody>
        </p:sp>
        <p:sp>
          <p:nvSpPr>
            <p:cNvPr id="62" name="Shape 10">
              <a:extLst>
                <a:ext uri="{FF2B5EF4-FFF2-40B4-BE49-F238E27FC236}">
                  <a16:creationId xmlns:a16="http://schemas.microsoft.com/office/drawing/2014/main" id="{609CB596-3639-8D05-A0C8-DB798DEC085B}"/>
                </a:ext>
              </a:extLst>
            </p:cNvPr>
            <p:cNvSpPr/>
            <p:nvPr/>
          </p:nvSpPr>
          <p:spPr>
            <a:xfrm>
              <a:off x="6381598" y="6217920"/>
              <a:ext cx="0" cy="73152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63" name="Text 11">
              <a:extLst>
                <a:ext uri="{FF2B5EF4-FFF2-40B4-BE49-F238E27FC236}">
                  <a16:creationId xmlns:a16="http://schemas.microsoft.com/office/drawing/2014/main" id="{34412F46-CEFB-B4E2-AFA6-6E12EA6605D1}"/>
                </a:ext>
              </a:extLst>
            </p:cNvPr>
            <p:cNvSpPr/>
            <p:nvPr/>
          </p:nvSpPr>
          <p:spPr>
            <a:xfrm>
              <a:off x="6198718" y="6291072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1%</a:t>
              </a:r>
              <a:endParaRPr lang="en-US" sz="500" dirty="0"/>
            </a:p>
          </p:txBody>
        </p:sp>
        <p:sp>
          <p:nvSpPr>
            <p:cNvPr id="64" name="Shape 12">
              <a:extLst>
                <a:ext uri="{FF2B5EF4-FFF2-40B4-BE49-F238E27FC236}">
                  <a16:creationId xmlns:a16="http://schemas.microsoft.com/office/drawing/2014/main" id="{A0CB5825-BD23-8F14-E646-8BB22F8CB132}"/>
                </a:ext>
              </a:extLst>
            </p:cNvPr>
            <p:cNvSpPr/>
            <p:nvPr/>
          </p:nvSpPr>
          <p:spPr>
            <a:xfrm>
              <a:off x="7802575" y="6217920"/>
              <a:ext cx="0" cy="73152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65" name="Text 13">
              <a:extLst>
                <a:ext uri="{FF2B5EF4-FFF2-40B4-BE49-F238E27FC236}">
                  <a16:creationId xmlns:a16="http://schemas.microsoft.com/office/drawing/2014/main" id="{1C8DD19F-1C2C-54ED-8629-350F3050E987}"/>
                </a:ext>
              </a:extLst>
            </p:cNvPr>
            <p:cNvSpPr/>
            <p:nvPr/>
          </p:nvSpPr>
          <p:spPr>
            <a:xfrm>
              <a:off x="7619695" y="6291072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2%</a:t>
              </a:r>
              <a:endParaRPr lang="en-US" sz="500" dirty="0"/>
            </a:p>
          </p:txBody>
        </p:sp>
        <p:sp>
          <p:nvSpPr>
            <p:cNvPr id="66" name="Shape 14">
              <a:extLst>
                <a:ext uri="{FF2B5EF4-FFF2-40B4-BE49-F238E27FC236}">
                  <a16:creationId xmlns:a16="http://schemas.microsoft.com/office/drawing/2014/main" id="{722EB8A2-BCD6-2BFF-406A-AB83AC84438C}"/>
                </a:ext>
              </a:extLst>
            </p:cNvPr>
            <p:cNvSpPr/>
            <p:nvPr/>
          </p:nvSpPr>
          <p:spPr>
            <a:xfrm>
              <a:off x="9681667" y="6217920"/>
              <a:ext cx="0" cy="73152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67" name="Text 15">
              <a:extLst>
                <a:ext uri="{FF2B5EF4-FFF2-40B4-BE49-F238E27FC236}">
                  <a16:creationId xmlns:a16="http://schemas.microsoft.com/office/drawing/2014/main" id="{7AFC9024-087F-EFD1-1461-7FA05667A125}"/>
                </a:ext>
              </a:extLst>
            </p:cNvPr>
            <p:cNvSpPr/>
            <p:nvPr/>
          </p:nvSpPr>
          <p:spPr>
            <a:xfrm>
              <a:off x="9498787" y="6291072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5%</a:t>
              </a:r>
              <a:endParaRPr lang="en-US" sz="500" dirty="0"/>
            </a:p>
          </p:txBody>
        </p:sp>
        <p:sp>
          <p:nvSpPr>
            <p:cNvPr id="68" name="Shape 16">
              <a:extLst>
                <a:ext uri="{FF2B5EF4-FFF2-40B4-BE49-F238E27FC236}">
                  <a16:creationId xmlns:a16="http://schemas.microsoft.com/office/drawing/2014/main" id="{0774439F-243D-3079-1864-5CD546B27E03}"/>
                </a:ext>
              </a:extLst>
            </p:cNvPr>
            <p:cNvSpPr/>
            <p:nvPr/>
          </p:nvSpPr>
          <p:spPr>
            <a:xfrm>
              <a:off x="11102645" y="6217920"/>
              <a:ext cx="0" cy="73152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69" name="Text 17">
              <a:extLst>
                <a:ext uri="{FF2B5EF4-FFF2-40B4-BE49-F238E27FC236}">
                  <a16:creationId xmlns:a16="http://schemas.microsoft.com/office/drawing/2014/main" id="{0D36E7B2-294A-7660-6169-F95D3CCB8AB1}"/>
                </a:ext>
              </a:extLst>
            </p:cNvPr>
            <p:cNvSpPr/>
            <p:nvPr/>
          </p:nvSpPr>
          <p:spPr>
            <a:xfrm>
              <a:off x="10919765" y="6291072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10%</a:t>
              </a:r>
              <a:endParaRPr lang="en-US" sz="500" dirty="0"/>
            </a:p>
          </p:txBody>
        </p:sp>
        <p:sp>
          <p:nvSpPr>
            <p:cNvPr id="70" name="Shape 18">
              <a:extLst>
                <a:ext uri="{FF2B5EF4-FFF2-40B4-BE49-F238E27FC236}">
                  <a16:creationId xmlns:a16="http://schemas.microsoft.com/office/drawing/2014/main" id="{1C82D52F-3309-79CC-AB5E-29B8282C51CB}"/>
                </a:ext>
              </a:extLst>
            </p:cNvPr>
            <p:cNvSpPr/>
            <p:nvPr/>
          </p:nvSpPr>
          <p:spPr>
            <a:xfrm>
              <a:off x="11704320" y="6217920"/>
              <a:ext cx="0" cy="73152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71" name="Text 19">
              <a:extLst>
                <a:ext uri="{FF2B5EF4-FFF2-40B4-BE49-F238E27FC236}">
                  <a16:creationId xmlns:a16="http://schemas.microsoft.com/office/drawing/2014/main" id="{8C4B8061-C43C-4A21-CBE6-7AD04644D551}"/>
                </a:ext>
              </a:extLst>
            </p:cNvPr>
            <p:cNvSpPr/>
            <p:nvPr/>
          </p:nvSpPr>
          <p:spPr>
            <a:xfrm>
              <a:off x="11521440" y="6291072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20%</a:t>
              </a:r>
              <a:endParaRPr lang="en-US" sz="500" dirty="0"/>
            </a:p>
          </p:txBody>
        </p:sp>
        <p:sp>
          <p:nvSpPr>
            <p:cNvPr id="72" name="Shape 20">
              <a:extLst>
                <a:ext uri="{FF2B5EF4-FFF2-40B4-BE49-F238E27FC236}">
                  <a16:creationId xmlns:a16="http://schemas.microsoft.com/office/drawing/2014/main" id="{47C6EBD2-5721-B541-0FEF-3D36DBA00982}"/>
                </a:ext>
              </a:extLst>
            </p:cNvPr>
            <p:cNvSpPr/>
            <p:nvPr/>
          </p:nvSpPr>
          <p:spPr>
            <a:xfrm>
              <a:off x="1115568" y="5814670"/>
              <a:ext cx="73152" cy="0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73" name="Text 21">
              <a:extLst>
                <a:ext uri="{FF2B5EF4-FFF2-40B4-BE49-F238E27FC236}">
                  <a16:creationId xmlns:a16="http://schemas.microsoft.com/office/drawing/2014/main" id="{A3358FC5-EF5D-E143-6798-BB282D8DAA30}"/>
                </a:ext>
              </a:extLst>
            </p:cNvPr>
            <p:cNvSpPr/>
            <p:nvPr/>
          </p:nvSpPr>
          <p:spPr>
            <a:xfrm>
              <a:off x="685800" y="570494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15元</a:t>
              </a:r>
              <a:endParaRPr lang="en-US" sz="500" dirty="0"/>
            </a:p>
          </p:txBody>
        </p:sp>
        <p:sp>
          <p:nvSpPr>
            <p:cNvPr id="74" name="Shape 22">
              <a:extLst>
                <a:ext uri="{FF2B5EF4-FFF2-40B4-BE49-F238E27FC236}">
                  <a16:creationId xmlns:a16="http://schemas.microsoft.com/office/drawing/2014/main" id="{0A1149E3-397B-2D0A-F606-DCA4293C92CC}"/>
                </a:ext>
              </a:extLst>
            </p:cNvPr>
            <p:cNvSpPr/>
            <p:nvPr/>
          </p:nvSpPr>
          <p:spPr>
            <a:xfrm>
              <a:off x="1115568" y="4560113"/>
              <a:ext cx="73152" cy="0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75" name="Text 23">
              <a:extLst>
                <a:ext uri="{FF2B5EF4-FFF2-40B4-BE49-F238E27FC236}">
                  <a16:creationId xmlns:a16="http://schemas.microsoft.com/office/drawing/2014/main" id="{408CDF5C-6026-5EAF-9159-40736C47F956}"/>
                </a:ext>
              </a:extLst>
            </p:cNvPr>
            <p:cNvSpPr/>
            <p:nvPr/>
          </p:nvSpPr>
          <p:spPr>
            <a:xfrm>
              <a:off x="685800" y="4450385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30元</a:t>
              </a:r>
              <a:endParaRPr lang="en-US" sz="500" dirty="0"/>
            </a:p>
          </p:txBody>
        </p:sp>
        <p:sp>
          <p:nvSpPr>
            <p:cNvPr id="76" name="Shape 24">
              <a:extLst>
                <a:ext uri="{FF2B5EF4-FFF2-40B4-BE49-F238E27FC236}">
                  <a16:creationId xmlns:a16="http://schemas.microsoft.com/office/drawing/2014/main" id="{0D17BE01-0D3D-05D1-A1A0-6713A175C76C}"/>
                </a:ext>
              </a:extLst>
            </p:cNvPr>
            <p:cNvSpPr/>
            <p:nvPr/>
          </p:nvSpPr>
          <p:spPr>
            <a:xfrm>
              <a:off x="1115568" y="3634740"/>
              <a:ext cx="73152" cy="0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77" name="Text 25">
              <a:extLst>
                <a:ext uri="{FF2B5EF4-FFF2-40B4-BE49-F238E27FC236}">
                  <a16:creationId xmlns:a16="http://schemas.microsoft.com/office/drawing/2014/main" id="{E5192EAC-1B6D-B1DB-C94A-1351F5F32353}"/>
                </a:ext>
              </a:extLst>
            </p:cNvPr>
            <p:cNvSpPr/>
            <p:nvPr/>
          </p:nvSpPr>
          <p:spPr>
            <a:xfrm>
              <a:off x="685800" y="3525012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50元</a:t>
              </a:r>
              <a:endParaRPr lang="en-US" sz="500" dirty="0"/>
            </a:p>
          </p:txBody>
        </p:sp>
        <p:sp>
          <p:nvSpPr>
            <p:cNvPr id="78" name="Shape 26">
              <a:extLst>
                <a:ext uri="{FF2B5EF4-FFF2-40B4-BE49-F238E27FC236}">
                  <a16:creationId xmlns:a16="http://schemas.microsoft.com/office/drawing/2014/main" id="{B72DBCAE-55D8-729A-5003-78604C7C9E97}"/>
                </a:ext>
              </a:extLst>
            </p:cNvPr>
            <p:cNvSpPr/>
            <p:nvPr/>
          </p:nvSpPr>
          <p:spPr>
            <a:xfrm>
              <a:off x="1115568" y="2379269"/>
              <a:ext cx="73152" cy="0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79" name="Text 27">
              <a:extLst>
                <a:ext uri="{FF2B5EF4-FFF2-40B4-BE49-F238E27FC236}">
                  <a16:creationId xmlns:a16="http://schemas.microsoft.com/office/drawing/2014/main" id="{DD0DE9AB-3715-C525-57AC-9B22B26906F2}"/>
                </a:ext>
              </a:extLst>
            </p:cNvPr>
            <p:cNvSpPr/>
            <p:nvPr/>
          </p:nvSpPr>
          <p:spPr>
            <a:xfrm>
              <a:off x="685800" y="2269541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100元</a:t>
              </a:r>
              <a:endParaRPr lang="en-US" sz="500" dirty="0"/>
            </a:p>
          </p:txBody>
        </p:sp>
        <p:sp>
          <p:nvSpPr>
            <p:cNvPr id="80" name="Shape 28">
              <a:extLst>
                <a:ext uri="{FF2B5EF4-FFF2-40B4-BE49-F238E27FC236}">
                  <a16:creationId xmlns:a16="http://schemas.microsoft.com/office/drawing/2014/main" id="{960C942F-50F1-8D33-0262-C3D4D6CEEE9C}"/>
                </a:ext>
              </a:extLst>
            </p:cNvPr>
            <p:cNvSpPr/>
            <p:nvPr/>
          </p:nvSpPr>
          <p:spPr>
            <a:xfrm>
              <a:off x="1115568" y="1123798"/>
              <a:ext cx="73152" cy="0"/>
            </a:xfrm>
            <a:prstGeom prst="line">
              <a:avLst/>
            </a:prstGeom>
            <a:noFill/>
            <a:ln w="10160">
              <a:solidFill>
                <a:srgbClr val="999999"/>
              </a:solidFill>
              <a:prstDash val="solid"/>
            </a:ln>
          </p:spPr>
        </p:sp>
        <p:sp>
          <p:nvSpPr>
            <p:cNvPr id="81" name="Text 29">
              <a:extLst>
                <a:ext uri="{FF2B5EF4-FFF2-40B4-BE49-F238E27FC236}">
                  <a16:creationId xmlns:a16="http://schemas.microsoft.com/office/drawing/2014/main" id="{89379BA2-22B7-C8FC-7F28-6825564F1DF0}"/>
                </a:ext>
              </a:extLst>
            </p:cNvPr>
            <p:cNvSpPr/>
            <p:nvPr/>
          </p:nvSpPr>
          <p:spPr>
            <a:xfrm>
              <a:off x="685800" y="1014070"/>
              <a:ext cx="45720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500" dirty="0">
                  <a:solidFill>
                    <a:srgbClr val="888888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200元</a:t>
              </a:r>
              <a:endParaRPr lang="en-US" sz="500" dirty="0"/>
            </a:p>
          </p:txBody>
        </p:sp>
        <p:sp>
          <p:nvSpPr>
            <p:cNvPr id="82" name="Text 30">
              <a:extLst>
                <a:ext uri="{FF2B5EF4-FFF2-40B4-BE49-F238E27FC236}">
                  <a16:creationId xmlns:a16="http://schemas.microsoft.com/office/drawing/2014/main" id="{F681645D-55B2-DAC6-9AAD-ED0802C10F21}"/>
                </a:ext>
              </a:extLst>
            </p:cNvPr>
            <p:cNvSpPr/>
            <p:nvPr/>
          </p:nvSpPr>
          <p:spPr>
            <a:xfrm>
              <a:off x="1188720" y="6715820"/>
              <a:ext cx="10515600" cy="25603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555555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QV_CXR（转化率）→</a:t>
              </a:r>
              <a:endParaRPr lang="en-US" sz="700" dirty="0"/>
            </a:p>
          </p:txBody>
        </p:sp>
        <p:sp>
          <p:nvSpPr>
            <p:cNvPr id="83" name="Text 31">
              <a:extLst>
                <a:ext uri="{FF2B5EF4-FFF2-40B4-BE49-F238E27FC236}">
                  <a16:creationId xmlns:a16="http://schemas.microsoft.com/office/drawing/2014/main" id="{229A788D-059F-4B70-4E99-59D44615D358}"/>
                </a:ext>
              </a:extLst>
            </p:cNvPr>
            <p:cNvSpPr/>
            <p:nvPr/>
          </p:nvSpPr>
          <p:spPr>
            <a:xfrm>
              <a:off x="562718" y="502919"/>
              <a:ext cx="320039" cy="57150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555555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客</a:t>
              </a:r>
              <a:endParaRPr lang="en-US" sz="600" dirty="0"/>
            </a:p>
            <a:p>
              <a:pPr marL="0" indent="0" algn="ctr">
                <a:buNone/>
              </a:pPr>
              <a:r>
                <a:rPr lang="en-US" sz="600" b="1" dirty="0">
                  <a:solidFill>
                    <a:srgbClr val="555555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单</a:t>
              </a:r>
              <a:endParaRPr lang="en-US" sz="600" dirty="0"/>
            </a:p>
            <a:p>
              <a:pPr marL="0" indent="0" algn="ctr">
                <a:buNone/>
              </a:pPr>
              <a:r>
                <a:rPr lang="en-US" sz="600" b="1" dirty="0">
                  <a:solidFill>
                    <a:srgbClr val="555555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价</a:t>
              </a:r>
              <a:endParaRPr lang="en-US" sz="600" dirty="0"/>
            </a:p>
            <a:p>
              <a:pPr marL="0" indent="0" algn="ctr">
                <a:buNone/>
              </a:pPr>
              <a:r>
                <a:rPr lang="en-US" sz="600" b="1" dirty="0">
                  <a:solidFill>
                    <a:srgbClr val="555555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↑</a:t>
              </a:r>
              <a:endParaRPr lang="en-US" sz="600" dirty="0"/>
            </a:p>
          </p:txBody>
        </p:sp>
        <p:sp>
          <p:nvSpPr>
            <p:cNvPr id="84" name="Text 32">
              <a:extLst>
                <a:ext uri="{FF2B5EF4-FFF2-40B4-BE49-F238E27FC236}">
                  <a16:creationId xmlns:a16="http://schemas.microsoft.com/office/drawing/2014/main" id="{61B71078-5179-FFE7-03F1-DC906F0DD526}"/>
                </a:ext>
              </a:extLst>
            </p:cNvPr>
            <p:cNvSpPr/>
            <p:nvPr/>
          </p:nvSpPr>
          <p:spPr>
            <a:xfrm>
              <a:off x="7959852" y="557784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D4600A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🟠 高转化 × 高客单</a:t>
              </a:r>
              <a:endParaRPr lang="en-US" sz="700" dirty="0"/>
            </a:p>
          </p:txBody>
        </p:sp>
        <p:sp>
          <p:nvSpPr>
            <p:cNvPr id="85" name="Text 33">
              <a:extLst>
                <a:ext uri="{FF2B5EF4-FFF2-40B4-BE49-F238E27FC236}">
                  <a16:creationId xmlns:a16="http://schemas.microsoft.com/office/drawing/2014/main" id="{D9C99C84-E049-1340-1C91-FFE6B1EEC07D}"/>
                </a:ext>
              </a:extLst>
            </p:cNvPr>
            <p:cNvSpPr/>
            <p:nvPr/>
          </p:nvSpPr>
          <p:spPr>
            <a:xfrm>
              <a:off x="1261872" y="557784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A08000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🟡 低转化 × 高客单</a:t>
              </a:r>
              <a:endParaRPr lang="en-US" sz="700" dirty="0"/>
            </a:p>
          </p:txBody>
        </p:sp>
        <p:sp>
          <p:nvSpPr>
            <p:cNvPr id="86" name="Text 34">
              <a:extLst>
                <a:ext uri="{FF2B5EF4-FFF2-40B4-BE49-F238E27FC236}">
                  <a16:creationId xmlns:a16="http://schemas.microsoft.com/office/drawing/2014/main" id="{6815BD5C-0D64-4CA3-7EF8-CD2852657EFF}"/>
                </a:ext>
              </a:extLst>
            </p:cNvPr>
            <p:cNvSpPr/>
            <p:nvPr/>
          </p:nvSpPr>
          <p:spPr>
            <a:xfrm>
              <a:off x="7959852" y="5888736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2E7D32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🟢 高转化 × 低客单</a:t>
              </a:r>
              <a:endParaRPr lang="en-US" sz="700" dirty="0"/>
            </a:p>
          </p:txBody>
        </p:sp>
        <p:sp>
          <p:nvSpPr>
            <p:cNvPr id="87" name="Text 35">
              <a:extLst>
                <a:ext uri="{FF2B5EF4-FFF2-40B4-BE49-F238E27FC236}">
                  <a16:creationId xmlns:a16="http://schemas.microsoft.com/office/drawing/2014/main" id="{0ACB0FA5-E689-5172-332A-0439EE6596DD}"/>
                </a:ext>
              </a:extLst>
            </p:cNvPr>
            <p:cNvSpPr/>
            <p:nvPr/>
          </p:nvSpPr>
          <p:spPr>
            <a:xfrm>
              <a:off x="1261872" y="5888736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1565C0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🔵 低转化 × 低客单</a:t>
              </a:r>
              <a:endParaRPr lang="en-US" sz="700" dirty="0"/>
            </a:p>
          </p:txBody>
        </p:sp>
        <p:sp>
          <p:nvSpPr>
            <p:cNvPr id="88" name="Shape 36">
              <a:extLst>
                <a:ext uri="{FF2B5EF4-FFF2-40B4-BE49-F238E27FC236}">
                  <a16:creationId xmlns:a16="http://schemas.microsoft.com/office/drawing/2014/main" id="{A0204BBA-F1FD-A704-FC7C-759B0D4281E9}"/>
                </a:ext>
              </a:extLst>
            </p:cNvPr>
            <p:cNvSpPr/>
            <p:nvPr/>
          </p:nvSpPr>
          <p:spPr>
            <a:xfrm>
              <a:off x="9393631" y="4954219"/>
              <a:ext cx="182880" cy="182880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9" name="Text 37">
              <a:extLst>
                <a:ext uri="{FF2B5EF4-FFF2-40B4-BE49-F238E27FC236}">
                  <a16:creationId xmlns:a16="http://schemas.microsoft.com/office/drawing/2014/main" id="{B2BE06F9-2D58-E044-AEE0-3D10EDB683BB}"/>
                </a:ext>
              </a:extLst>
            </p:cNvPr>
            <p:cNvSpPr/>
            <p:nvPr/>
          </p:nvSpPr>
          <p:spPr>
            <a:xfrm>
              <a:off x="9393631" y="4954219"/>
              <a:ext cx="182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饮品</a:t>
              </a:r>
              <a:endParaRPr lang="en-US" sz="400" dirty="0"/>
            </a:p>
          </p:txBody>
        </p:sp>
        <p:sp>
          <p:nvSpPr>
            <p:cNvPr id="90" name="Shape 38">
              <a:extLst>
                <a:ext uri="{FF2B5EF4-FFF2-40B4-BE49-F238E27FC236}">
                  <a16:creationId xmlns:a16="http://schemas.microsoft.com/office/drawing/2014/main" id="{D7A2B13D-9A9F-2F7A-873E-5D5F7B48402F}"/>
                </a:ext>
              </a:extLst>
            </p:cNvPr>
            <p:cNvSpPr/>
            <p:nvPr/>
          </p:nvSpPr>
          <p:spPr>
            <a:xfrm>
              <a:off x="4901184" y="2381098"/>
              <a:ext cx="189281" cy="189281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2" name="Text 39">
              <a:extLst>
                <a:ext uri="{FF2B5EF4-FFF2-40B4-BE49-F238E27FC236}">
                  <a16:creationId xmlns:a16="http://schemas.microsoft.com/office/drawing/2014/main" id="{0BD1A176-FE2B-D4FA-9AF3-F9E94D6A7DCF}"/>
                </a:ext>
              </a:extLst>
            </p:cNvPr>
            <p:cNvSpPr/>
            <p:nvPr/>
          </p:nvSpPr>
          <p:spPr>
            <a:xfrm>
              <a:off x="4901184" y="2381098"/>
              <a:ext cx="189281" cy="1892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吃的</a:t>
              </a:r>
              <a:endParaRPr lang="en-US" sz="400" dirty="0"/>
            </a:p>
          </p:txBody>
        </p:sp>
        <p:sp>
          <p:nvSpPr>
            <p:cNvPr id="93" name="Shape 40">
              <a:extLst>
                <a:ext uri="{FF2B5EF4-FFF2-40B4-BE49-F238E27FC236}">
                  <a16:creationId xmlns:a16="http://schemas.microsoft.com/office/drawing/2014/main" id="{4E641791-B699-B411-8A1D-C36C8407ECBD}"/>
                </a:ext>
              </a:extLst>
            </p:cNvPr>
            <p:cNvSpPr/>
            <p:nvPr/>
          </p:nvSpPr>
          <p:spPr>
            <a:xfrm>
              <a:off x="2581351" y="406908"/>
              <a:ext cx="191110" cy="191110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4" name="Text 41">
              <a:extLst>
                <a:ext uri="{FF2B5EF4-FFF2-40B4-BE49-F238E27FC236}">
                  <a16:creationId xmlns:a16="http://schemas.microsoft.com/office/drawing/2014/main" id="{39A05E15-7D27-BCAF-5E87-4AD273B2610A}"/>
                </a:ext>
              </a:extLst>
            </p:cNvPr>
            <p:cNvSpPr/>
            <p:nvPr/>
          </p:nvSpPr>
          <p:spPr>
            <a:xfrm>
              <a:off x="2581351" y="406908"/>
              <a:ext cx="1911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露营</a:t>
              </a:r>
              <a:endParaRPr lang="en-US" sz="400" dirty="0"/>
            </a:p>
          </p:txBody>
        </p:sp>
        <p:sp>
          <p:nvSpPr>
            <p:cNvPr id="95" name="Shape 42">
              <a:extLst>
                <a:ext uri="{FF2B5EF4-FFF2-40B4-BE49-F238E27FC236}">
                  <a16:creationId xmlns:a16="http://schemas.microsoft.com/office/drawing/2014/main" id="{23656871-A980-18E8-C9C9-53124D4FEC35}"/>
                </a:ext>
              </a:extLst>
            </p:cNvPr>
            <p:cNvSpPr/>
            <p:nvPr/>
          </p:nvSpPr>
          <p:spPr>
            <a:xfrm>
              <a:off x="4390034" y="1104595"/>
              <a:ext cx="195682" cy="195682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6" name="Text 43">
              <a:extLst>
                <a:ext uri="{FF2B5EF4-FFF2-40B4-BE49-F238E27FC236}">
                  <a16:creationId xmlns:a16="http://schemas.microsoft.com/office/drawing/2014/main" id="{D5AD7EBA-0C6A-BC39-F39D-6F595D888F24}"/>
                </a:ext>
              </a:extLst>
            </p:cNvPr>
            <p:cNvSpPr/>
            <p:nvPr/>
          </p:nvSpPr>
          <p:spPr>
            <a:xfrm>
              <a:off x="4390034" y="1104595"/>
              <a:ext cx="195682" cy="1956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附近美食</a:t>
              </a:r>
              <a:endParaRPr lang="en-US" sz="400" dirty="0"/>
            </a:p>
          </p:txBody>
        </p:sp>
        <p:sp>
          <p:nvSpPr>
            <p:cNvPr id="97" name="Shape 44">
              <a:extLst>
                <a:ext uri="{FF2B5EF4-FFF2-40B4-BE49-F238E27FC236}">
                  <a16:creationId xmlns:a16="http://schemas.microsoft.com/office/drawing/2014/main" id="{C2595361-5163-BD42-E715-F348D9194F05}"/>
                </a:ext>
              </a:extLst>
            </p:cNvPr>
            <p:cNvSpPr/>
            <p:nvPr/>
          </p:nvSpPr>
          <p:spPr>
            <a:xfrm>
              <a:off x="3391510" y="3995928"/>
              <a:ext cx="197510" cy="197510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8" name="Text 45">
              <a:extLst>
                <a:ext uri="{FF2B5EF4-FFF2-40B4-BE49-F238E27FC236}">
                  <a16:creationId xmlns:a16="http://schemas.microsoft.com/office/drawing/2014/main" id="{7969347E-D00B-8FC5-27AF-C75F1A5F6A30}"/>
                </a:ext>
              </a:extLst>
            </p:cNvPr>
            <p:cNvSpPr/>
            <p:nvPr/>
          </p:nvSpPr>
          <p:spPr>
            <a:xfrm>
              <a:off x="3391510" y="3995928"/>
              <a:ext cx="197510" cy="1975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轻食</a:t>
              </a:r>
              <a:endParaRPr lang="en-US" sz="400" dirty="0"/>
            </a:p>
          </p:txBody>
        </p:sp>
        <p:sp>
          <p:nvSpPr>
            <p:cNvPr id="99" name="Shape 46">
              <a:extLst>
                <a:ext uri="{FF2B5EF4-FFF2-40B4-BE49-F238E27FC236}">
                  <a16:creationId xmlns:a16="http://schemas.microsoft.com/office/drawing/2014/main" id="{9744951B-68BD-2BAA-E78D-0B3D4964D63B}"/>
                </a:ext>
              </a:extLst>
            </p:cNvPr>
            <p:cNvSpPr/>
            <p:nvPr/>
          </p:nvSpPr>
          <p:spPr>
            <a:xfrm>
              <a:off x="6428232" y="4025189"/>
              <a:ext cx="205740" cy="205740"/>
            </a:xfrm>
            <a:prstGeom prst="ellipse">
              <a:avLst/>
            </a:prstGeom>
            <a:solidFill>
              <a:srgbClr val="D94F4F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00" name="Text 47">
              <a:extLst>
                <a:ext uri="{FF2B5EF4-FFF2-40B4-BE49-F238E27FC236}">
                  <a16:creationId xmlns:a16="http://schemas.microsoft.com/office/drawing/2014/main" id="{C42208B8-2A23-543B-51A3-36E71CCC435E}"/>
                </a:ext>
              </a:extLst>
            </p:cNvPr>
            <p:cNvSpPr/>
            <p:nvPr/>
          </p:nvSpPr>
          <p:spPr>
            <a:xfrm>
              <a:off x="6428232" y="4025189"/>
              <a:ext cx="20574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面馆</a:t>
              </a:r>
              <a:endParaRPr lang="en-US" sz="400" dirty="0"/>
            </a:p>
          </p:txBody>
        </p:sp>
        <p:sp>
          <p:nvSpPr>
            <p:cNvPr id="163" name="Shape 48">
              <a:extLst>
                <a:ext uri="{FF2B5EF4-FFF2-40B4-BE49-F238E27FC236}">
                  <a16:creationId xmlns:a16="http://schemas.microsoft.com/office/drawing/2014/main" id="{FCB0EEC9-8626-1E37-C6AF-EF4B22FAE3D2}"/>
                </a:ext>
              </a:extLst>
            </p:cNvPr>
            <p:cNvSpPr/>
            <p:nvPr/>
          </p:nvSpPr>
          <p:spPr>
            <a:xfrm>
              <a:off x="6068873" y="1516075"/>
              <a:ext cx="206654" cy="206654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4" name="Text 49">
              <a:extLst>
                <a:ext uri="{FF2B5EF4-FFF2-40B4-BE49-F238E27FC236}">
                  <a16:creationId xmlns:a16="http://schemas.microsoft.com/office/drawing/2014/main" id="{65D635B8-871C-1723-6F08-2F79E42BA27D}"/>
                </a:ext>
              </a:extLst>
            </p:cNvPr>
            <p:cNvSpPr/>
            <p:nvPr/>
          </p:nvSpPr>
          <p:spPr>
            <a:xfrm>
              <a:off x="6068873" y="1516075"/>
              <a:ext cx="206654" cy="2066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吃饭</a:t>
              </a:r>
              <a:endParaRPr lang="en-US" sz="400" dirty="0"/>
            </a:p>
          </p:txBody>
        </p:sp>
        <p:sp>
          <p:nvSpPr>
            <p:cNvPr id="166" name="Shape 50">
              <a:extLst>
                <a:ext uri="{FF2B5EF4-FFF2-40B4-BE49-F238E27FC236}">
                  <a16:creationId xmlns:a16="http://schemas.microsoft.com/office/drawing/2014/main" id="{3733B190-7E0F-E813-A0FE-4011D231C4A7}"/>
                </a:ext>
              </a:extLst>
            </p:cNvPr>
            <p:cNvSpPr/>
            <p:nvPr/>
          </p:nvSpPr>
          <p:spPr>
            <a:xfrm>
              <a:off x="5650078" y="1736446"/>
              <a:ext cx="208483" cy="208483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7" name="Text 51">
              <a:extLst>
                <a:ext uri="{FF2B5EF4-FFF2-40B4-BE49-F238E27FC236}">
                  <a16:creationId xmlns:a16="http://schemas.microsoft.com/office/drawing/2014/main" id="{FB97A5A0-1F0F-01D8-9D22-246738269C5E}"/>
                </a:ext>
              </a:extLst>
            </p:cNvPr>
            <p:cNvSpPr/>
            <p:nvPr/>
          </p:nvSpPr>
          <p:spPr>
            <a:xfrm>
              <a:off x="5650078" y="1736446"/>
              <a:ext cx="208483" cy="2084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附近美食</a:t>
              </a:r>
              <a:endParaRPr lang="en-US" sz="400" dirty="0"/>
            </a:p>
          </p:txBody>
        </p:sp>
        <p:sp>
          <p:nvSpPr>
            <p:cNvPr id="168" name="Shape 52">
              <a:extLst>
                <a:ext uri="{FF2B5EF4-FFF2-40B4-BE49-F238E27FC236}">
                  <a16:creationId xmlns:a16="http://schemas.microsoft.com/office/drawing/2014/main" id="{16A1BE97-63E4-9F2A-8AE5-F5C5812B1217}"/>
                </a:ext>
              </a:extLst>
            </p:cNvPr>
            <p:cNvSpPr/>
            <p:nvPr/>
          </p:nvSpPr>
          <p:spPr>
            <a:xfrm>
              <a:off x="3634740" y="1974190"/>
              <a:ext cx="235915" cy="235915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69" name="Text 53">
              <a:extLst>
                <a:ext uri="{FF2B5EF4-FFF2-40B4-BE49-F238E27FC236}">
                  <a16:creationId xmlns:a16="http://schemas.microsoft.com/office/drawing/2014/main" id="{322DD198-59A4-FF96-D239-EC0CE41457C4}"/>
                </a:ext>
              </a:extLst>
            </p:cNvPr>
            <p:cNvSpPr/>
            <p:nvPr/>
          </p:nvSpPr>
          <p:spPr>
            <a:xfrm>
              <a:off x="3634740" y="1974190"/>
              <a:ext cx="235915" cy="2359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夜宵</a:t>
              </a:r>
              <a:endParaRPr lang="en-US" sz="400" dirty="0"/>
            </a:p>
          </p:txBody>
        </p:sp>
        <p:sp>
          <p:nvSpPr>
            <p:cNvPr id="170" name="Shape 54">
              <a:extLst>
                <a:ext uri="{FF2B5EF4-FFF2-40B4-BE49-F238E27FC236}">
                  <a16:creationId xmlns:a16="http://schemas.microsoft.com/office/drawing/2014/main" id="{4BBFD54A-DF74-5F56-8E00-7127760B1494}"/>
                </a:ext>
              </a:extLst>
            </p:cNvPr>
            <p:cNvSpPr/>
            <p:nvPr/>
          </p:nvSpPr>
          <p:spPr>
            <a:xfrm>
              <a:off x="3021178" y="1910182"/>
              <a:ext cx="257861" cy="257861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1" name="Text 55">
              <a:extLst>
                <a:ext uri="{FF2B5EF4-FFF2-40B4-BE49-F238E27FC236}">
                  <a16:creationId xmlns:a16="http://schemas.microsoft.com/office/drawing/2014/main" id="{1BD41E1D-329B-8B7E-72B7-E36DA3CBDDCC}"/>
                </a:ext>
              </a:extLst>
            </p:cNvPr>
            <p:cNvSpPr/>
            <p:nvPr/>
          </p:nvSpPr>
          <p:spPr>
            <a:xfrm>
              <a:off x="3021178" y="1910182"/>
              <a:ext cx="257861" cy="2578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酒馆</a:t>
              </a:r>
              <a:endParaRPr lang="en-US" sz="500" dirty="0"/>
            </a:p>
          </p:txBody>
        </p:sp>
        <p:sp>
          <p:nvSpPr>
            <p:cNvPr id="172" name="Shape 56">
              <a:extLst>
                <a:ext uri="{FF2B5EF4-FFF2-40B4-BE49-F238E27FC236}">
                  <a16:creationId xmlns:a16="http://schemas.microsoft.com/office/drawing/2014/main" id="{23A34858-F8D1-6EC4-5D27-642CBF07FDF8}"/>
                </a:ext>
              </a:extLst>
            </p:cNvPr>
            <p:cNvSpPr/>
            <p:nvPr/>
          </p:nvSpPr>
          <p:spPr>
            <a:xfrm>
              <a:off x="8383219" y="2577694"/>
              <a:ext cx="266090" cy="266090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3" name="Text 57">
              <a:extLst>
                <a:ext uri="{FF2B5EF4-FFF2-40B4-BE49-F238E27FC236}">
                  <a16:creationId xmlns:a16="http://schemas.microsoft.com/office/drawing/2014/main" id="{FA4BD1A2-EE4C-39D9-2DA5-F20703EF026F}"/>
                </a:ext>
              </a:extLst>
            </p:cNvPr>
            <p:cNvSpPr/>
            <p:nvPr/>
          </p:nvSpPr>
          <p:spPr>
            <a:xfrm>
              <a:off x="8383219" y="2577694"/>
              <a:ext cx="266090" cy="2660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猫咖</a:t>
              </a:r>
              <a:endParaRPr lang="en-US" sz="500" dirty="0"/>
            </a:p>
          </p:txBody>
        </p:sp>
        <p:sp>
          <p:nvSpPr>
            <p:cNvPr id="174" name="Shape 58">
              <a:extLst>
                <a:ext uri="{FF2B5EF4-FFF2-40B4-BE49-F238E27FC236}">
                  <a16:creationId xmlns:a16="http://schemas.microsoft.com/office/drawing/2014/main" id="{F761E0AF-C827-E5A8-B6A9-75B779B959F0}"/>
                </a:ext>
              </a:extLst>
            </p:cNvPr>
            <p:cNvSpPr/>
            <p:nvPr/>
          </p:nvSpPr>
          <p:spPr>
            <a:xfrm>
              <a:off x="5485486" y="3742639"/>
              <a:ext cx="266090" cy="266090"/>
            </a:xfrm>
            <a:prstGeom prst="ellipse">
              <a:avLst/>
            </a:prstGeom>
            <a:solidFill>
              <a:srgbClr val="D94F4F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5" name="Text 59">
              <a:extLst>
                <a:ext uri="{FF2B5EF4-FFF2-40B4-BE49-F238E27FC236}">
                  <a16:creationId xmlns:a16="http://schemas.microsoft.com/office/drawing/2014/main" id="{DA9CD627-7C71-6B8A-021D-417791E6BCED}"/>
                </a:ext>
              </a:extLst>
            </p:cNvPr>
            <p:cNvSpPr/>
            <p:nvPr/>
          </p:nvSpPr>
          <p:spPr>
            <a:xfrm>
              <a:off x="5485486" y="3742639"/>
              <a:ext cx="266090" cy="2660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咖啡店</a:t>
              </a:r>
              <a:endParaRPr lang="en-US" sz="500" dirty="0"/>
            </a:p>
          </p:txBody>
        </p:sp>
        <p:sp>
          <p:nvSpPr>
            <p:cNvPr id="176" name="Shape 60">
              <a:extLst>
                <a:ext uri="{FF2B5EF4-FFF2-40B4-BE49-F238E27FC236}">
                  <a16:creationId xmlns:a16="http://schemas.microsoft.com/office/drawing/2014/main" id="{8EAA2FBE-E137-5837-6245-32783C3C35B4}"/>
                </a:ext>
              </a:extLst>
            </p:cNvPr>
            <p:cNvSpPr/>
            <p:nvPr/>
          </p:nvSpPr>
          <p:spPr>
            <a:xfrm>
              <a:off x="1045159" y="3581705"/>
              <a:ext cx="287122" cy="28712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7" name="Text 61">
              <a:extLst>
                <a:ext uri="{FF2B5EF4-FFF2-40B4-BE49-F238E27FC236}">
                  <a16:creationId xmlns:a16="http://schemas.microsoft.com/office/drawing/2014/main" id="{0DB48927-6083-B89C-037B-46B8D09DBF4C}"/>
                </a:ext>
              </a:extLst>
            </p:cNvPr>
            <p:cNvSpPr/>
            <p:nvPr/>
          </p:nvSpPr>
          <p:spPr>
            <a:xfrm>
              <a:off x="1045159" y="3581705"/>
              <a:ext cx="287122" cy="2871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米村拌饭</a:t>
              </a:r>
              <a:endParaRPr lang="en-US" sz="500" dirty="0"/>
            </a:p>
          </p:txBody>
        </p:sp>
        <p:sp>
          <p:nvSpPr>
            <p:cNvPr id="178" name="Shape 62">
              <a:extLst>
                <a:ext uri="{FF2B5EF4-FFF2-40B4-BE49-F238E27FC236}">
                  <a16:creationId xmlns:a16="http://schemas.microsoft.com/office/drawing/2014/main" id="{562B1FC0-8F38-2990-4FDA-0F08BD2DB53A}"/>
                </a:ext>
              </a:extLst>
            </p:cNvPr>
            <p:cNvSpPr/>
            <p:nvPr/>
          </p:nvSpPr>
          <p:spPr>
            <a:xfrm>
              <a:off x="11560759" y="6060643"/>
              <a:ext cx="287122" cy="28712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79" name="Text 63">
              <a:extLst>
                <a:ext uri="{FF2B5EF4-FFF2-40B4-BE49-F238E27FC236}">
                  <a16:creationId xmlns:a16="http://schemas.microsoft.com/office/drawing/2014/main" id="{F974DFFC-5E58-8D2A-CED3-0884A964036F}"/>
                </a:ext>
              </a:extLst>
            </p:cNvPr>
            <p:cNvSpPr/>
            <p:nvPr/>
          </p:nvSpPr>
          <p:spPr>
            <a:xfrm>
              <a:off x="11560759" y="6060643"/>
              <a:ext cx="287122" cy="2871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库迪</a:t>
              </a:r>
              <a:endParaRPr lang="en-US" sz="500" dirty="0"/>
            </a:p>
          </p:txBody>
        </p:sp>
        <p:sp>
          <p:nvSpPr>
            <p:cNvPr id="180" name="Shape 64">
              <a:extLst>
                <a:ext uri="{FF2B5EF4-FFF2-40B4-BE49-F238E27FC236}">
                  <a16:creationId xmlns:a16="http://schemas.microsoft.com/office/drawing/2014/main" id="{FDCC02D7-78C2-0A22-A336-9583D34D2CCE}"/>
                </a:ext>
              </a:extLst>
            </p:cNvPr>
            <p:cNvSpPr/>
            <p:nvPr/>
          </p:nvSpPr>
          <p:spPr>
            <a:xfrm>
              <a:off x="10365638" y="1472184"/>
              <a:ext cx="287122" cy="287122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1" name="Text 65">
              <a:extLst>
                <a:ext uri="{FF2B5EF4-FFF2-40B4-BE49-F238E27FC236}">
                  <a16:creationId xmlns:a16="http://schemas.microsoft.com/office/drawing/2014/main" id="{D77BC25F-1892-4342-1C39-453C6CC0690F}"/>
                </a:ext>
              </a:extLst>
            </p:cNvPr>
            <p:cNvSpPr/>
            <p:nvPr/>
          </p:nvSpPr>
          <p:spPr>
            <a:xfrm>
              <a:off x="10365638" y="1472184"/>
              <a:ext cx="287122" cy="2871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肉蟹煲</a:t>
              </a:r>
              <a:endParaRPr lang="en-US" sz="500" dirty="0"/>
            </a:p>
          </p:txBody>
        </p:sp>
        <p:sp>
          <p:nvSpPr>
            <p:cNvPr id="182" name="Shape 66">
              <a:extLst>
                <a:ext uri="{FF2B5EF4-FFF2-40B4-BE49-F238E27FC236}">
                  <a16:creationId xmlns:a16="http://schemas.microsoft.com/office/drawing/2014/main" id="{E97E2CC4-F7BC-42FC-B949-126936A3F880}"/>
                </a:ext>
              </a:extLst>
            </p:cNvPr>
            <p:cNvSpPr/>
            <p:nvPr/>
          </p:nvSpPr>
          <p:spPr>
            <a:xfrm>
              <a:off x="9781337" y="3535985"/>
              <a:ext cx="288036" cy="288036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3" name="Text 67">
              <a:extLst>
                <a:ext uri="{FF2B5EF4-FFF2-40B4-BE49-F238E27FC236}">
                  <a16:creationId xmlns:a16="http://schemas.microsoft.com/office/drawing/2014/main" id="{4E747FE6-D284-40C3-813B-D86BB6DF7AC9}"/>
                </a:ext>
              </a:extLst>
            </p:cNvPr>
            <p:cNvSpPr/>
            <p:nvPr/>
          </p:nvSpPr>
          <p:spPr>
            <a:xfrm>
              <a:off x="9781337" y="3535985"/>
              <a:ext cx="288036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鸡公煲</a:t>
              </a:r>
              <a:endParaRPr lang="en-US" sz="500" dirty="0"/>
            </a:p>
          </p:txBody>
        </p:sp>
        <p:sp>
          <p:nvSpPr>
            <p:cNvPr id="184" name="Shape 68">
              <a:extLst>
                <a:ext uri="{FF2B5EF4-FFF2-40B4-BE49-F238E27FC236}">
                  <a16:creationId xmlns:a16="http://schemas.microsoft.com/office/drawing/2014/main" id="{4C4EAC67-D4A8-BFCB-12D0-0639109B3370}"/>
                </a:ext>
              </a:extLst>
            </p:cNvPr>
            <p:cNvSpPr/>
            <p:nvPr/>
          </p:nvSpPr>
          <p:spPr>
            <a:xfrm>
              <a:off x="10655503" y="2177186"/>
              <a:ext cx="288036" cy="288036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5" name="Text 69">
              <a:extLst>
                <a:ext uri="{FF2B5EF4-FFF2-40B4-BE49-F238E27FC236}">
                  <a16:creationId xmlns:a16="http://schemas.microsoft.com/office/drawing/2014/main" id="{5D17875D-D4D3-3A3A-90DF-4DF7E583914D}"/>
                </a:ext>
              </a:extLst>
            </p:cNvPr>
            <p:cNvSpPr/>
            <p:nvPr/>
          </p:nvSpPr>
          <p:spPr>
            <a:xfrm>
              <a:off x="10655503" y="2177186"/>
              <a:ext cx="288036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火锅鸡</a:t>
              </a:r>
              <a:endParaRPr lang="en-US" sz="500" dirty="0"/>
            </a:p>
          </p:txBody>
        </p:sp>
        <p:sp>
          <p:nvSpPr>
            <p:cNvPr id="186" name="Shape 70">
              <a:extLst>
                <a:ext uri="{FF2B5EF4-FFF2-40B4-BE49-F238E27FC236}">
                  <a16:creationId xmlns:a16="http://schemas.microsoft.com/office/drawing/2014/main" id="{9B8DB39C-BA5F-5318-ECE3-80731BC0D2C2}"/>
                </a:ext>
              </a:extLst>
            </p:cNvPr>
            <p:cNvSpPr/>
            <p:nvPr/>
          </p:nvSpPr>
          <p:spPr>
            <a:xfrm>
              <a:off x="10643616" y="5038344"/>
              <a:ext cx="288950" cy="288950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7" name="Text 71">
              <a:extLst>
                <a:ext uri="{FF2B5EF4-FFF2-40B4-BE49-F238E27FC236}">
                  <a16:creationId xmlns:a16="http://schemas.microsoft.com/office/drawing/2014/main" id="{5BE3B68E-554E-C285-9012-148D7BC262F6}"/>
                </a:ext>
              </a:extLst>
            </p:cNvPr>
            <p:cNvSpPr/>
            <p:nvPr/>
          </p:nvSpPr>
          <p:spPr>
            <a:xfrm>
              <a:off x="10643616" y="5038344"/>
              <a:ext cx="288950" cy="288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爷爷不泡</a:t>
              </a:r>
              <a:endParaRPr lang="en-US" sz="500" dirty="0"/>
            </a:p>
          </p:txBody>
        </p:sp>
        <p:sp>
          <p:nvSpPr>
            <p:cNvPr id="188" name="Shape 72">
              <a:extLst>
                <a:ext uri="{FF2B5EF4-FFF2-40B4-BE49-F238E27FC236}">
                  <a16:creationId xmlns:a16="http://schemas.microsoft.com/office/drawing/2014/main" id="{57EA7F73-3CEB-FB58-24C4-3C29B4E3C9A1}"/>
                </a:ext>
              </a:extLst>
            </p:cNvPr>
            <p:cNvSpPr/>
            <p:nvPr/>
          </p:nvSpPr>
          <p:spPr>
            <a:xfrm>
              <a:off x="1043330" y="4547311"/>
              <a:ext cx="290779" cy="290779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89" name="Text 73">
              <a:extLst>
                <a:ext uri="{FF2B5EF4-FFF2-40B4-BE49-F238E27FC236}">
                  <a16:creationId xmlns:a16="http://schemas.microsoft.com/office/drawing/2014/main" id="{08CE0663-C560-8F24-CEEB-CA957A1A3BE0}"/>
                </a:ext>
              </a:extLst>
            </p:cNvPr>
            <p:cNvSpPr/>
            <p:nvPr/>
          </p:nvSpPr>
          <p:spPr>
            <a:xfrm>
              <a:off x="1043330" y="4547311"/>
              <a:ext cx="290779" cy="2907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茶颜悦色</a:t>
              </a:r>
              <a:endParaRPr lang="en-US" sz="500" dirty="0"/>
            </a:p>
          </p:txBody>
        </p:sp>
        <p:sp>
          <p:nvSpPr>
            <p:cNvPr id="190" name="Shape 74">
              <a:extLst>
                <a:ext uri="{FF2B5EF4-FFF2-40B4-BE49-F238E27FC236}">
                  <a16:creationId xmlns:a16="http://schemas.microsoft.com/office/drawing/2014/main" id="{4F13A425-4CAA-87E7-9333-78F631BFBEC2}"/>
                </a:ext>
              </a:extLst>
            </p:cNvPr>
            <p:cNvSpPr/>
            <p:nvPr/>
          </p:nvSpPr>
          <p:spPr>
            <a:xfrm>
              <a:off x="9968789" y="4304995"/>
              <a:ext cx="291694" cy="291694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1" name="Text 75">
              <a:extLst>
                <a:ext uri="{FF2B5EF4-FFF2-40B4-BE49-F238E27FC236}">
                  <a16:creationId xmlns:a16="http://schemas.microsoft.com/office/drawing/2014/main" id="{D1983C20-6125-617A-D2D5-713605CC1C66}"/>
                </a:ext>
              </a:extLst>
            </p:cNvPr>
            <p:cNvSpPr/>
            <p:nvPr/>
          </p:nvSpPr>
          <p:spPr>
            <a:xfrm>
              <a:off x="9968789" y="4304995"/>
              <a:ext cx="291694" cy="2916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茉酸奶</a:t>
              </a:r>
              <a:endParaRPr lang="en-US" sz="500" dirty="0"/>
            </a:p>
          </p:txBody>
        </p:sp>
        <p:sp>
          <p:nvSpPr>
            <p:cNvPr id="192" name="Shape 76">
              <a:extLst>
                <a:ext uri="{FF2B5EF4-FFF2-40B4-BE49-F238E27FC236}">
                  <a16:creationId xmlns:a16="http://schemas.microsoft.com/office/drawing/2014/main" id="{8231DC63-073F-C39B-ACFA-2AEBF7089822}"/>
                </a:ext>
              </a:extLst>
            </p:cNvPr>
            <p:cNvSpPr/>
            <p:nvPr/>
          </p:nvSpPr>
          <p:spPr>
            <a:xfrm>
              <a:off x="4588459" y="3237890"/>
              <a:ext cx="291694" cy="291694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3" name="Text 77">
              <a:extLst>
                <a:ext uri="{FF2B5EF4-FFF2-40B4-BE49-F238E27FC236}">
                  <a16:creationId xmlns:a16="http://schemas.microsoft.com/office/drawing/2014/main" id="{100D76D9-0812-386B-E271-4F290894D283}"/>
                </a:ext>
              </a:extLst>
            </p:cNvPr>
            <p:cNvSpPr/>
            <p:nvPr/>
          </p:nvSpPr>
          <p:spPr>
            <a:xfrm>
              <a:off x="4588459" y="3237890"/>
              <a:ext cx="291694" cy="2916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小蛋糕</a:t>
              </a:r>
              <a:endParaRPr lang="en-US" sz="500" dirty="0"/>
            </a:p>
          </p:txBody>
        </p:sp>
        <p:sp>
          <p:nvSpPr>
            <p:cNvPr id="194" name="Shape 78">
              <a:extLst>
                <a:ext uri="{FF2B5EF4-FFF2-40B4-BE49-F238E27FC236}">
                  <a16:creationId xmlns:a16="http://schemas.microsoft.com/office/drawing/2014/main" id="{F71F11A0-6269-F81E-4021-83EB3CBE11F2}"/>
                </a:ext>
              </a:extLst>
            </p:cNvPr>
            <p:cNvSpPr/>
            <p:nvPr/>
          </p:nvSpPr>
          <p:spPr>
            <a:xfrm>
              <a:off x="1042416" y="4335170"/>
              <a:ext cx="292608" cy="292608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5" name="Text 79">
              <a:extLst>
                <a:ext uri="{FF2B5EF4-FFF2-40B4-BE49-F238E27FC236}">
                  <a16:creationId xmlns:a16="http://schemas.microsoft.com/office/drawing/2014/main" id="{C54C4937-C02A-998E-55DA-BEF782A21E49}"/>
                </a:ext>
              </a:extLst>
            </p:cNvPr>
            <p:cNvSpPr/>
            <p:nvPr/>
          </p:nvSpPr>
          <p:spPr>
            <a:xfrm>
              <a:off x="1042416" y="4335170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卡旺卡</a:t>
              </a:r>
              <a:endParaRPr lang="en-US" sz="500" dirty="0"/>
            </a:p>
          </p:txBody>
        </p:sp>
        <p:sp>
          <p:nvSpPr>
            <p:cNvPr id="196" name="Shape 80">
              <a:extLst>
                <a:ext uri="{FF2B5EF4-FFF2-40B4-BE49-F238E27FC236}">
                  <a16:creationId xmlns:a16="http://schemas.microsoft.com/office/drawing/2014/main" id="{9D256BA5-F4C0-EB74-46BC-8B5875FC22A8}"/>
                </a:ext>
              </a:extLst>
            </p:cNvPr>
            <p:cNvSpPr/>
            <p:nvPr/>
          </p:nvSpPr>
          <p:spPr>
            <a:xfrm>
              <a:off x="8493862" y="3352190"/>
              <a:ext cx="292608" cy="292608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7" name="Text 81">
              <a:extLst>
                <a:ext uri="{FF2B5EF4-FFF2-40B4-BE49-F238E27FC236}">
                  <a16:creationId xmlns:a16="http://schemas.microsoft.com/office/drawing/2014/main" id="{579AF899-DD99-C5D6-9926-5E974E34BC7C}"/>
                </a:ext>
              </a:extLst>
            </p:cNvPr>
            <p:cNvSpPr/>
            <p:nvPr/>
          </p:nvSpPr>
          <p:spPr>
            <a:xfrm>
              <a:off x="8493862" y="3352190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源麦甜</a:t>
              </a:r>
              <a:endParaRPr lang="en-US" sz="500" dirty="0"/>
            </a:p>
          </p:txBody>
        </p:sp>
        <p:sp>
          <p:nvSpPr>
            <p:cNvPr id="198" name="Shape 82">
              <a:extLst>
                <a:ext uri="{FF2B5EF4-FFF2-40B4-BE49-F238E27FC236}">
                  <a16:creationId xmlns:a16="http://schemas.microsoft.com/office/drawing/2014/main" id="{9FB875DD-55C1-BCA2-EB58-683B8546A557}"/>
                </a:ext>
              </a:extLst>
            </p:cNvPr>
            <p:cNvSpPr/>
            <p:nvPr/>
          </p:nvSpPr>
          <p:spPr>
            <a:xfrm>
              <a:off x="7817206" y="1493215"/>
              <a:ext cx="298094" cy="298094"/>
            </a:xfrm>
            <a:prstGeom prst="ellipse">
              <a:avLst/>
            </a:prstGeom>
            <a:solidFill>
              <a:srgbClr val="4CAF7D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9" name="Text 83">
              <a:extLst>
                <a:ext uri="{FF2B5EF4-FFF2-40B4-BE49-F238E27FC236}">
                  <a16:creationId xmlns:a16="http://schemas.microsoft.com/office/drawing/2014/main" id="{58008EDA-7D19-4020-8479-CEC2D0E61F74}"/>
                </a:ext>
              </a:extLst>
            </p:cNvPr>
            <p:cNvSpPr/>
            <p:nvPr/>
          </p:nvSpPr>
          <p:spPr>
            <a:xfrm>
              <a:off x="7817206" y="1493215"/>
              <a:ext cx="298094" cy="298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牛肉</a:t>
              </a:r>
              <a:endParaRPr lang="en-US" sz="500" dirty="0"/>
            </a:p>
          </p:txBody>
        </p:sp>
        <p:sp>
          <p:nvSpPr>
            <p:cNvPr id="200" name="Shape 84">
              <a:extLst>
                <a:ext uri="{FF2B5EF4-FFF2-40B4-BE49-F238E27FC236}">
                  <a16:creationId xmlns:a16="http://schemas.microsoft.com/office/drawing/2014/main" id="{AF8398AB-8120-773C-8179-F90C609CAC00}"/>
                </a:ext>
              </a:extLst>
            </p:cNvPr>
            <p:cNvSpPr/>
            <p:nvPr/>
          </p:nvSpPr>
          <p:spPr>
            <a:xfrm>
              <a:off x="10774375" y="4538167"/>
              <a:ext cx="298094" cy="298094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1" name="Text 85">
              <a:extLst>
                <a:ext uri="{FF2B5EF4-FFF2-40B4-BE49-F238E27FC236}">
                  <a16:creationId xmlns:a16="http://schemas.microsoft.com/office/drawing/2014/main" id="{D7A5CAC8-A3C4-BBEB-DE2E-66126CC93EE4}"/>
                </a:ext>
              </a:extLst>
            </p:cNvPr>
            <p:cNvSpPr/>
            <p:nvPr/>
          </p:nvSpPr>
          <p:spPr>
            <a:xfrm>
              <a:off x="10774375" y="4538167"/>
              <a:ext cx="298094" cy="298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华莱士·</a:t>
              </a:r>
              <a:endParaRPr lang="en-US" sz="500" dirty="0"/>
            </a:p>
          </p:txBody>
        </p:sp>
        <p:sp>
          <p:nvSpPr>
            <p:cNvPr id="202" name="Shape 86">
              <a:extLst>
                <a:ext uri="{FF2B5EF4-FFF2-40B4-BE49-F238E27FC236}">
                  <a16:creationId xmlns:a16="http://schemas.microsoft.com/office/drawing/2014/main" id="{2B230122-CEFF-2B22-21E9-4AF8565CA732}"/>
                </a:ext>
              </a:extLst>
            </p:cNvPr>
            <p:cNvSpPr/>
            <p:nvPr/>
          </p:nvSpPr>
          <p:spPr>
            <a:xfrm>
              <a:off x="8939174" y="2039112"/>
              <a:ext cx="298094" cy="298094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3" name="Text 87">
              <a:extLst>
                <a:ext uri="{FF2B5EF4-FFF2-40B4-BE49-F238E27FC236}">
                  <a16:creationId xmlns:a16="http://schemas.microsoft.com/office/drawing/2014/main" id="{366B9FB2-3FF7-86C4-942C-D27306DA9A30}"/>
                </a:ext>
              </a:extLst>
            </p:cNvPr>
            <p:cNvSpPr/>
            <p:nvPr/>
          </p:nvSpPr>
          <p:spPr>
            <a:xfrm>
              <a:off x="8939174" y="2039112"/>
              <a:ext cx="298094" cy="2980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串串</a:t>
              </a:r>
              <a:endParaRPr lang="en-US" sz="500" dirty="0"/>
            </a:p>
          </p:txBody>
        </p:sp>
        <p:sp>
          <p:nvSpPr>
            <p:cNvPr id="204" name="Shape 88">
              <a:extLst>
                <a:ext uri="{FF2B5EF4-FFF2-40B4-BE49-F238E27FC236}">
                  <a16:creationId xmlns:a16="http://schemas.microsoft.com/office/drawing/2014/main" id="{FB0AE245-A8A3-6617-6176-743B35B6F6DF}"/>
                </a:ext>
              </a:extLst>
            </p:cNvPr>
            <p:cNvSpPr/>
            <p:nvPr/>
          </p:nvSpPr>
          <p:spPr>
            <a:xfrm>
              <a:off x="8697773" y="1965046"/>
              <a:ext cx="299923" cy="299923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5" name="Text 89">
              <a:extLst>
                <a:ext uri="{FF2B5EF4-FFF2-40B4-BE49-F238E27FC236}">
                  <a16:creationId xmlns:a16="http://schemas.microsoft.com/office/drawing/2014/main" id="{C03D5460-1064-4B63-5FFA-7E3A1DD4A7A8}"/>
                </a:ext>
              </a:extLst>
            </p:cNvPr>
            <p:cNvSpPr/>
            <p:nvPr/>
          </p:nvSpPr>
          <p:spPr>
            <a:xfrm>
              <a:off x="8697773" y="1965046"/>
              <a:ext cx="299923" cy="2999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好利来</a:t>
              </a:r>
              <a:endParaRPr lang="en-US" sz="500" dirty="0"/>
            </a:p>
          </p:txBody>
        </p:sp>
        <p:sp>
          <p:nvSpPr>
            <p:cNvPr id="206" name="Shape 90">
              <a:extLst>
                <a:ext uri="{FF2B5EF4-FFF2-40B4-BE49-F238E27FC236}">
                  <a16:creationId xmlns:a16="http://schemas.microsoft.com/office/drawing/2014/main" id="{C5D30A82-B15F-5E89-417A-EFDAD6CEE5BC}"/>
                </a:ext>
              </a:extLst>
            </p:cNvPr>
            <p:cNvSpPr/>
            <p:nvPr/>
          </p:nvSpPr>
          <p:spPr>
            <a:xfrm>
              <a:off x="5009083" y="4129430"/>
              <a:ext cx="299923" cy="299923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7" name="Text 91">
              <a:extLst>
                <a:ext uri="{FF2B5EF4-FFF2-40B4-BE49-F238E27FC236}">
                  <a16:creationId xmlns:a16="http://schemas.microsoft.com/office/drawing/2014/main" id="{C0BF807C-5881-EAB1-52F3-0866632F845F}"/>
                </a:ext>
              </a:extLst>
            </p:cNvPr>
            <p:cNvSpPr/>
            <p:nvPr/>
          </p:nvSpPr>
          <p:spPr>
            <a:xfrm>
              <a:off x="5009083" y="4129430"/>
              <a:ext cx="299923" cy="2999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水果</a:t>
              </a:r>
              <a:endParaRPr lang="en-US" sz="500" dirty="0"/>
            </a:p>
          </p:txBody>
        </p:sp>
        <p:sp>
          <p:nvSpPr>
            <p:cNvPr id="208" name="Shape 92">
              <a:extLst>
                <a:ext uri="{FF2B5EF4-FFF2-40B4-BE49-F238E27FC236}">
                  <a16:creationId xmlns:a16="http://schemas.microsoft.com/office/drawing/2014/main" id="{3B8DB9F1-7DA4-932D-12D9-EA8873FB2D47}"/>
                </a:ext>
              </a:extLst>
            </p:cNvPr>
            <p:cNvSpPr/>
            <p:nvPr/>
          </p:nvSpPr>
          <p:spPr>
            <a:xfrm>
              <a:off x="4836262" y="2332634"/>
              <a:ext cx="301752" cy="301752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09" name="Text 93">
              <a:extLst>
                <a:ext uri="{FF2B5EF4-FFF2-40B4-BE49-F238E27FC236}">
                  <a16:creationId xmlns:a16="http://schemas.microsoft.com/office/drawing/2014/main" id="{93F13D13-7626-003E-E62D-7FB1CA1E879A}"/>
                </a:ext>
              </a:extLst>
            </p:cNvPr>
            <p:cNvSpPr/>
            <p:nvPr/>
          </p:nvSpPr>
          <p:spPr>
            <a:xfrm>
              <a:off x="4836262" y="2332634"/>
              <a:ext cx="301752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下午茶</a:t>
              </a:r>
              <a:endParaRPr lang="en-US" sz="500" dirty="0"/>
            </a:p>
          </p:txBody>
        </p:sp>
        <p:sp>
          <p:nvSpPr>
            <p:cNvPr id="210" name="Shape 94">
              <a:extLst>
                <a:ext uri="{FF2B5EF4-FFF2-40B4-BE49-F238E27FC236}">
                  <a16:creationId xmlns:a16="http://schemas.microsoft.com/office/drawing/2014/main" id="{F78CEC17-479E-63A3-6248-00970FD0C793}"/>
                </a:ext>
              </a:extLst>
            </p:cNvPr>
            <p:cNvSpPr/>
            <p:nvPr/>
          </p:nvSpPr>
          <p:spPr>
            <a:xfrm>
              <a:off x="6359652" y="1541678"/>
              <a:ext cx="304495" cy="304495"/>
            </a:xfrm>
            <a:prstGeom prst="ellipse">
              <a:avLst/>
            </a:prstGeom>
            <a:solidFill>
              <a:srgbClr val="4A90D9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1" name="Text 95">
              <a:extLst>
                <a:ext uri="{FF2B5EF4-FFF2-40B4-BE49-F238E27FC236}">
                  <a16:creationId xmlns:a16="http://schemas.microsoft.com/office/drawing/2014/main" id="{7A5A3F33-A79F-C97A-3EE3-A3AE5A29B9B1}"/>
                </a:ext>
              </a:extLst>
            </p:cNvPr>
            <p:cNvSpPr/>
            <p:nvPr/>
          </p:nvSpPr>
          <p:spPr>
            <a:xfrm>
              <a:off x="6359652" y="1541678"/>
              <a:ext cx="304495" cy="3044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万达广场</a:t>
              </a:r>
              <a:endParaRPr lang="en-US" sz="500" dirty="0"/>
            </a:p>
          </p:txBody>
        </p:sp>
        <p:sp>
          <p:nvSpPr>
            <p:cNvPr id="212" name="Shape 96">
              <a:extLst>
                <a:ext uri="{FF2B5EF4-FFF2-40B4-BE49-F238E27FC236}">
                  <a16:creationId xmlns:a16="http://schemas.microsoft.com/office/drawing/2014/main" id="{696E3C49-2070-5344-BF03-40CA638AB85C}"/>
                </a:ext>
              </a:extLst>
            </p:cNvPr>
            <p:cNvSpPr/>
            <p:nvPr/>
          </p:nvSpPr>
          <p:spPr>
            <a:xfrm>
              <a:off x="8713318" y="1580083"/>
              <a:ext cx="307238" cy="30723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3" name="Text 97">
              <a:extLst>
                <a:ext uri="{FF2B5EF4-FFF2-40B4-BE49-F238E27FC236}">
                  <a16:creationId xmlns:a16="http://schemas.microsoft.com/office/drawing/2014/main" id="{6458142A-3C88-D98A-70B9-C4CCA52F4819}"/>
                </a:ext>
              </a:extLst>
            </p:cNvPr>
            <p:cNvSpPr/>
            <p:nvPr/>
          </p:nvSpPr>
          <p:spPr>
            <a:xfrm>
              <a:off x="8713318" y="1580083"/>
              <a:ext cx="307238" cy="3072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自助火锅</a:t>
              </a:r>
              <a:endParaRPr lang="en-US" sz="500" dirty="0"/>
            </a:p>
          </p:txBody>
        </p:sp>
        <p:sp>
          <p:nvSpPr>
            <p:cNvPr id="214" name="Shape 98">
              <a:extLst>
                <a:ext uri="{FF2B5EF4-FFF2-40B4-BE49-F238E27FC236}">
                  <a16:creationId xmlns:a16="http://schemas.microsoft.com/office/drawing/2014/main" id="{A8AE334F-E2A8-C350-CEFA-1E9A550CD792}"/>
                </a:ext>
              </a:extLst>
            </p:cNvPr>
            <p:cNvSpPr/>
            <p:nvPr/>
          </p:nvSpPr>
          <p:spPr>
            <a:xfrm>
              <a:off x="10177272" y="843077"/>
              <a:ext cx="307238" cy="307238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5" name="Text 99">
              <a:extLst>
                <a:ext uri="{FF2B5EF4-FFF2-40B4-BE49-F238E27FC236}">
                  <a16:creationId xmlns:a16="http://schemas.microsoft.com/office/drawing/2014/main" id="{A31DFFDF-E918-3EA9-744D-EEF79BEB1178}"/>
                </a:ext>
              </a:extLst>
            </p:cNvPr>
            <p:cNvSpPr/>
            <p:nvPr/>
          </p:nvSpPr>
          <p:spPr>
            <a:xfrm>
              <a:off x="10177272" y="843077"/>
              <a:ext cx="307238" cy="3072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椰子鸡</a:t>
              </a:r>
              <a:endParaRPr lang="en-US" sz="500" dirty="0"/>
            </a:p>
          </p:txBody>
        </p:sp>
        <p:sp>
          <p:nvSpPr>
            <p:cNvPr id="216" name="Shape 100">
              <a:extLst>
                <a:ext uri="{FF2B5EF4-FFF2-40B4-BE49-F238E27FC236}">
                  <a16:creationId xmlns:a16="http://schemas.microsoft.com/office/drawing/2014/main" id="{F87A8CD9-84AC-0D02-9937-192484354B7D}"/>
                </a:ext>
              </a:extLst>
            </p:cNvPr>
            <p:cNvSpPr/>
            <p:nvPr/>
          </p:nvSpPr>
          <p:spPr>
            <a:xfrm>
              <a:off x="10220249" y="3717950"/>
              <a:ext cx="308153" cy="308153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7" name="Text 101">
              <a:extLst>
                <a:ext uri="{FF2B5EF4-FFF2-40B4-BE49-F238E27FC236}">
                  <a16:creationId xmlns:a16="http://schemas.microsoft.com/office/drawing/2014/main" id="{F4FF64AE-64A2-EB45-A859-8C0B83EEBC54}"/>
                </a:ext>
              </a:extLst>
            </p:cNvPr>
            <p:cNvSpPr/>
            <p:nvPr/>
          </p:nvSpPr>
          <p:spPr>
            <a:xfrm>
              <a:off x="10220249" y="3717950"/>
              <a:ext cx="308153" cy="3081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kfc</a:t>
              </a:r>
              <a:endParaRPr lang="en-US" sz="500" dirty="0"/>
            </a:p>
          </p:txBody>
        </p:sp>
        <p:sp>
          <p:nvSpPr>
            <p:cNvPr id="218" name="Shape 102">
              <a:extLst>
                <a:ext uri="{FF2B5EF4-FFF2-40B4-BE49-F238E27FC236}">
                  <a16:creationId xmlns:a16="http://schemas.microsoft.com/office/drawing/2014/main" id="{839EBF02-D03A-0E1C-F30D-0C8A4823E622}"/>
                </a:ext>
              </a:extLst>
            </p:cNvPr>
            <p:cNvSpPr/>
            <p:nvPr/>
          </p:nvSpPr>
          <p:spPr>
            <a:xfrm>
              <a:off x="2126894" y="4808830"/>
              <a:ext cx="308153" cy="308153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19" name="Text 103">
              <a:extLst>
                <a:ext uri="{FF2B5EF4-FFF2-40B4-BE49-F238E27FC236}">
                  <a16:creationId xmlns:a16="http://schemas.microsoft.com/office/drawing/2014/main" id="{893C3BCF-86F1-7FD2-5274-A43E90D25C7B}"/>
                </a:ext>
              </a:extLst>
            </p:cNvPr>
            <p:cNvSpPr/>
            <p:nvPr/>
          </p:nvSpPr>
          <p:spPr>
            <a:xfrm>
              <a:off x="2126894" y="4808830"/>
              <a:ext cx="308153" cy="3081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魏家凉皮</a:t>
              </a:r>
              <a:endParaRPr lang="en-US" sz="500" dirty="0"/>
            </a:p>
          </p:txBody>
        </p:sp>
        <p:sp>
          <p:nvSpPr>
            <p:cNvPr id="220" name="Shape 104">
              <a:extLst>
                <a:ext uri="{FF2B5EF4-FFF2-40B4-BE49-F238E27FC236}">
                  <a16:creationId xmlns:a16="http://schemas.microsoft.com/office/drawing/2014/main" id="{1E1003B0-2004-1259-9745-564B6FD758CB}"/>
                </a:ext>
              </a:extLst>
            </p:cNvPr>
            <p:cNvSpPr/>
            <p:nvPr/>
          </p:nvSpPr>
          <p:spPr>
            <a:xfrm>
              <a:off x="1920240" y="1739189"/>
              <a:ext cx="309067" cy="309067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1" name="Text 105">
              <a:extLst>
                <a:ext uri="{FF2B5EF4-FFF2-40B4-BE49-F238E27FC236}">
                  <a16:creationId xmlns:a16="http://schemas.microsoft.com/office/drawing/2014/main" id="{9BC102DC-C834-DCF9-700B-66D3380E0146}"/>
                </a:ext>
              </a:extLst>
            </p:cNvPr>
            <p:cNvSpPr/>
            <p:nvPr/>
          </p:nvSpPr>
          <p:spPr>
            <a:xfrm>
              <a:off x="1920240" y="1739189"/>
              <a:ext cx="309067" cy="309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寿司郎</a:t>
              </a:r>
              <a:endParaRPr lang="en-US" sz="500" dirty="0"/>
            </a:p>
          </p:txBody>
        </p:sp>
        <p:sp>
          <p:nvSpPr>
            <p:cNvPr id="222" name="Shape 106">
              <a:extLst>
                <a:ext uri="{FF2B5EF4-FFF2-40B4-BE49-F238E27FC236}">
                  <a16:creationId xmlns:a16="http://schemas.microsoft.com/office/drawing/2014/main" id="{78066C33-C5AE-554D-9C7F-0B65F1B0A2AC}"/>
                </a:ext>
              </a:extLst>
            </p:cNvPr>
            <p:cNvSpPr/>
            <p:nvPr/>
          </p:nvSpPr>
          <p:spPr>
            <a:xfrm>
              <a:off x="10246766" y="5896966"/>
              <a:ext cx="310896" cy="310896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3" name="Text 107">
              <a:extLst>
                <a:ext uri="{FF2B5EF4-FFF2-40B4-BE49-F238E27FC236}">
                  <a16:creationId xmlns:a16="http://schemas.microsoft.com/office/drawing/2014/main" id="{F66871A7-2439-F8A9-337F-03DDCDCAB86C}"/>
                </a:ext>
              </a:extLst>
            </p:cNvPr>
            <p:cNvSpPr/>
            <p:nvPr/>
          </p:nvSpPr>
          <p:spPr>
            <a:xfrm>
              <a:off x="10246766" y="5896966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正新鸡排</a:t>
              </a:r>
              <a:endParaRPr lang="en-US" sz="500" dirty="0"/>
            </a:p>
          </p:txBody>
        </p:sp>
        <p:sp>
          <p:nvSpPr>
            <p:cNvPr id="224" name="Shape 108">
              <a:extLst>
                <a:ext uri="{FF2B5EF4-FFF2-40B4-BE49-F238E27FC236}">
                  <a16:creationId xmlns:a16="http://schemas.microsoft.com/office/drawing/2014/main" id="{207E8250-4324-2015-C236-60E23F2DA8D5}"/>
                </a:ext>
              </a:extLst>
            </p:cNvPr>
            <p:cNvSpPr/>
            <p:nvPr/>
          </p:nvSpPr>
          <p:spPr>
            <a:xfrm>
              <a:off x="11380622" y="1638605"/>
              <a:ext cx="310896" cy="310896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5" name="Text 109">
              <a:extLst>
                <a:ext uri="{FF2B5EF4-FFF2-40B4-BE49-F238E27FC236}">
                  <a16:creationId xmlns:a16="http://schemas.microsoft.com/office/drawing/2014/main" id="{C55CB8F8-D147-9CD2-E462-EFCE7B5E1F87}"/>
                </a:ext>
              </a:extLst>
            </p:cNvPr>
            <p:cNvSpPr/>
            <p:nvPr/>
          </p:nvSpPr>
          <p:spPr>
            <a:xfrm>
              <a:off x="11380622" y="1638605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绿茶餐厅</a:t>
              </a:r>
              <a:endParaRPr lang="en-US" sz="500" dirty="0"/>
            </a:p>
          </p:txBody>
        </p:sp>
        <p:sp>
          <p:nvSpPr>
            <p:cNvPr id="226" name="Shape 110">
              <a:extLst>
                <a:ext uri="{FF2B5EF4-FFF2-40B4-BE49-F238E27FC236}">
                  <a16:creationId xmlns:a16="http://schemas.microsoft.com/office/drawing/2014/main" id="{30D20A24-DD8D-D4AF-701D-E7D71735BCF5}"/>
                </a:ext>
              </a:extLst>
            </p:cNvPr>
            <p:cNvSpPr/>
            <p:nvPr/>
          </p:nvSpPr>
          <p:spPr>
            <a:xfrm>
              <a:off x="5794553" y="1941271"/>
              <a:ext cx="312725" cy="312725"/>
            </a:xfrm>
            <a:prstGeom prst="ellipse">
              <a:avLst/>
            </a:prstGeom>
            <a:solidFill>
              <a:srgbClr val="4CAF7D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7" name="Text 111">
              <a:extLst>
                <a:ext uri="{FF2B5EF4-FFF2-40B4-BE49-F238E27FC236}">
                  <a16:creationId xmlns:a16="http://schemas.microsoft.com/office/drawing/2014/main" id="{3279F45E-7F31-382B-9BCB-DD039BEB9EF0}"/>
                </a:ext>
              </a:extLst>
            </p:cNvPr>
            <p:cNvSpPr/>
            <p:nvPr/>
          </p:nvSpPr>
          <p:spPr>
            <a:xfrm>
              <a:off x="5794553" y="1941271"/>
              <a:ext cx="312725" cy="312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三文鱼</a:t>
              </a:r>
              <a:endParaRPr lang="en-US" sz="500" dirty="0"/>
            </a:p>
          </p:txBody>
        </p:sp>
        <p:sp>
          <p:nvSpPr>
            <p:cNvPr id="228" name="Shape 112">
              <a:extLst>
                <a:ext uri="{FF2B5EF4-FFF2-40B4-BE49-F238E27FC236}">
                  <a16:creationId xmlns:a16="http://schemas.microsoft.com/office/drawing/2014/main" id="{23625C67-1CB1-64D6-7C8B-66713426457B}"/>
                </a:ext>
              </a:extLst>
            </p:cNvPr>
            <p:cNvSpPr/>
            <p:nvPr/>
          </p:nvSpPr>
          <p:spPr>
            <a:xfrm>
              <a:off x="8281721" y="1510589"/>
              <a:ext cx="318211" cy="318211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29" name="Text 113">
              <a:extLst>
                <a:ext uri="{FF2B5EF4-FFF2-40B4-BE49-F238E27FC236}">
                  <a16:creationId xmlns:a16="http://schemas.microsoft.com/office/drawing/2014/main" id="{7A455C81-73D1-94CB-4736-297FA2421B87}"/>
                </a:ext>
              </a:extLst>
            </p:cNvPr>
            <p:cNvSpPr/>
            <p:nvPr/>
          </p:nvSpPr>
          <p:spPr>
            <a:xfrm>
              <a:off x="8281721" y="1510589"/>
              <a:ext cx="318211" cy="3182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牛蛙</a:t>
              </a:r>
              <a:endParaRPr lang="en-US" sz="500" dirty="0"/>
            </a:p>
          </p:txBody>
        </p:sp>
        <p:sp>
          <p:nvSpPr>
            <p:cNvPr id="230" name="Shape 114">
              <a:extLst>
                <a:ext uri="{FF2B5EF4-FFF2-40B4-BE49-F238E27FC236}">
                  <a16:creationId xmlns:a16="http://schemas.microsoft.com/office/drawing/2014/main" id="{E22D0E3C-5F09-1DF7-4C55-54BEC0F8A013}"/>
                </a:ext>
              </a:extLst>
            </p:cNvPr>
            <p:cNvSpPr/>
            <p:nvPr/>
          </p:nvSpPr>
          <p:spPr>
            <a:xfrm>
              <a:off x="7181698" y="4760366"/>
              <a:ext cx="319126" cy="319126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1" name="Text 115">
              <a:extLst>
                <a:ext uri="{FF2B5EF4-FFF2-40B4-BE49-F238E27FC236}">
                  <a16:creationId xmlns:a16="http://schemas.microsoft.com/office/drawing/2014/main" id="{BCA1C607-4908-FFA4-E1F1-29BB513A16D5}"/>
                </a:ext>
              </a:extLst>
            </p:cNvPr>
            <p:cNvSpPr/>
            <p:nvPr/>
          </p:nvSpPr>
          <p:spPr>
            <a:xfrm>
              <a:off x="7181698" y="4760366"/>
              <a:ext cx="319126" cy="3191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糖水</a:t>
              </a:r>
              <a:endParaRPr lang="en-US" sz="500" dirty="0"/>
            </a:p>
          </p:txBody>
        </p:sp>
        <p:sp>
          <p:nvSpPr>
            <p:cNvPr id="232" name="Shape 116">
              <a:extLst>
                <a:ext uri="{FF2B5EF4-FFF2-40B4-BE49-F238E27FC236}">
                  <a16:creationId xmlns:a16="http://schemas.microsoft.com/office/drawing/2014/main" id="{6CDDFEF8-6748-06F2-31FE-5F82C3FA61F8}"/>
                </a:ext>
              </a:extLst>
            </p:cNvPr>
            <p:cNvSpPr/>
            <p:nvPr/>
          </p:nvSpPr>
          <p:spPr>
            <a:xfrm>
              <a:off x="4423867" y="454457"/>
              <a:ext cx="320040" cy="320040"/>
            </a:xfrm>
            <a:prstGeom prst="ellipse">
              <a:avLst/>
            </a:prstGeom>
            <a:solidFill>
              <a:srgbClr val="D94F4F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3" name="Text 117">
              <a:extLst>
                <a:ext uri="{FF2B5EF4-FFF2-40B4-BE49-F238E27FC236}">
                  <a16:creationId xmlns:a16="http://schemas.microsoft.com/office/drawing/2014/main" id="{3514EC68-58C8-8ACE-87C8-4A85CA9E591F}"/>
                </a:ext>
              </a:extLst>
            </p:cNvPr>
            <p:cNvSpPr/>
            <p:nvPr/>
          </p:nvSpPr>
          <p:spPr>
            <a:xfrm>
              <a:off x="4423867" y="454457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饭店</a:t>
              </a:r>
              <a:endParaRPr lang="en-US" sz="500" dirty="0"/>
            </a:p>
          </p:txBody>
        </p:sp>
        <p:sp>
          <p:nvSpPr>
            <p:cNvPr id="234" name="Shape 118">
              <a:extLst>
                <a:ext uri="{FF2B5EF4-FFF2-40B4-BE49-F238E27FC236}">
                  <a16:creationId xmlns:a16="http://schemas.microsoft.com/office/drawing/2014/main" id="{EA1022BD-0649-DFF3-2222-F8AB4C6CA2A8}"/>
                </a:ext>
              </a:extLst>
            </p:cNvPr>
            <p:cNvSpPr/>
            <p:nvPr/>
          </p:nvSpPr>
          <p:spPr>
            <a:xfrm>
              <a:off x="7607808" y="1483157"/>
              <a:ext cx="320040" cy="320040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5" name="Text 119">
              <a:extLst>
                <a:ext uri="{FF2B5EF4-FFF2-40B4-BE49-F238E27FC236}">
                  <a16:creationId xmlns:a16="http://schemas.microsoft.com/office/drawing/2014/main" id="{489B1B1F-7587-FCE7-2103-F8615CC57133}"/>
                </a:ext>
              </a:extLst>
            </p:cNvPr>
            <p:cNvSpPr/>
            <p:nvPr/>
          </p:nvSpPr>
          <p:spPr>
            <a:xfrm>
              <a:off x="7607808" y="1483157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滨寿司</a:t>
              </a:r>
              <a:endParaRPr lang="en-US" sz="500" dirty="0"/>
            </a:p>
          </p:txBody>
        </p:sp>
        <p:sp>
          <p:nvSpPr>
            <p:cNvPr id="236" name="Shape 120">
              <a:extLst>
                <a:ext uri="{FF2B5EF4-FFF2-40B4-BE49-F238E27FC236}">
                  <a16:creationId xmlns:a16="http://schemas.microsoft.com/office/drawing/2014/main" id="{377458B3-FE24-B7F3-3DEF-6C2D0B23AE28}"/>
                </a:ext>
              </a:extLst>
            </p:cNvPr>
            <p:cNvSpPr/>
            <p:nvPr/>
          </p:nvSpPr>
          <p:spPr>
            <a:xfrm>
              <a:off x="11541557" y="6055157"/>
              <a:ext cx="324612" cy="32461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7" name="Text 121">
              <a:extLst>
                <a:ext uri="{FF2B5EF4-FFF2-40B4-BE49-F238E27FC236}">
                  <a16:creationId xmlns:a16="http://schemas.microsoft.com/office/drawing/2014/main" id="{D71A0D36-0951-DA86-6EB0-1089D6076410}"/>
                </a:ext>
              </a:extLst>
            </p:cNvPr>
            <p:cNvSpPr/>
            <p:nvPr/>
          </p:nvSpPr>
          <p:spPr>
            <a:xfrm>
              <a:off x="11541557" y="6055157"/>
              <a:ext cx="32461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库迪咖啡</a:t>
              </a:r>
              <a:endParaRPr lang="en-US" sz="500" dirty="0"/>
            </a:p>
          </p:txBody>
        </p:sp>
        <p:sp>
          <p:nvSpPr>
            <p:cNvPr id="238" name="Shape 122">
              <a:extLst>
                <a:ext uri="{FF2B5EF4-FFF2-40B4-BE49-F238E27FC236}">
                  <a16:creationId xmlns:a16="http://schemas.microsoft.com/office/drawing/2014/main" id="{51DC3805-88AC-4165-87BD-4ABEEBE572FF}"/>
                </a:ext>
              </a:extLst>
            </p:cNvPr>
            <p:cNvSpPr/>
            <p:nvPr/>
          </p:nvSpPr>
          <p:spPr>
            <a:xfrm>
              <a:off x="10429646" y="4452214"/>
              <a:ext cx="328270" cy="328270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39" name="Text 123">
              <a:extLst>
                <a:ext uri="{FF2B5EF4-FFF2-40B4-BE49-F238E27FC236}">
                  <a16:creationId xmlns:a16="http://schemas.microsoft.com/office/drawing/2014/main" id="{C7196800-7177-C0B8-8E63-A31575933BD0}"/>
                </a:ext>
              </a:extLst>
            </p:cNvPr>
            <p:cNvSpPr/>
            <p:nvPr/>
          </p:nvSpPr>
          <p:spPr>
            <a:xfrm>
              <a:off x="10429646" y="4452214"/>
              <a:ext cx="328270" cy="3282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塔斯汀汉</a:t>
              </a:r>
              <a:endParaRPr lang="en-US" sz="500" dirty="0"/>
            </a:p>
          </p:txBody>
        </p:sp>
        <p:sp>
          <p:nvSpPr>
            <p:cNvPr id="240" name="Shape 124">
              <a:extLst>
                <a:ext uri="{FF2B5EF4-FFF2-40B4-BE49-F238E27FC236}">
                  <a16:creationId xmlns:a16="http://schemas.microsoft.com/office/drawing/2014/main" id="{C371F80C-E902-47FE-1F01-05337BA3D87E}"/>
                </a:ext>
              </a:extLst>
            </p:cNvPr>
            <p:cNvSpPr/>
            <p:nvPr/>
          </p:nvSpPr>
          <p:spPr>
            <a:xfrm>
              <a:off x="3423514" y="3412541"/>
              <a:ext cx="331013" cy="331013"/>
            </a:xfrm>
            <a:prstGeom prst="ellipse">
              <a:avLst/>
            </a:prstGeom>
            <a:solidFill>
              <a:srgbClr val="4CAF7D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1" name="Text 125">
              <a:extLst>
                <a:ext uri="{FF2B5EF4-FFF2-40B4-BE49-F238E27FC236}">
                  <a16:creationId xmlns:a16="http://schemas.microsoft.com/office/drawing/2014/main" id="{BFD5E66E-75EB-94BB-B872-F3A278A54CE4}"/>
                </a:ext>
              </a:extLst>
            </p:cNvPr>
            <p:cNvSpPr/>
            <p:nvPr/>
          </p:nvSpPr>
          <p:spPr>
            <a:xfrm>
              <a:off x="3423514" y="3412541"/>
              <a:ext cx="331013" cy="331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饭</a:t>
              </a:r>
              <a:endParaRPr lang="en-US" sz="500" dirty="0"/>
            </a:p>
          </p:txBody>
        </p:sp>
        <p:sp>
          <p:nvSpPr>
            <p:cNvPr id="242" name="Shape 126">
              <a:extLst>
                <a:ext uri="{FF2B5EF4-FFF2-40B4-BE49-F238E27FC236}">
                  <a16:creationId xmlns:a16="http://schemas.microsoft.com/office/drawing/2014/main" id="{AE4180CE-2722-1AD4-3AC7-67780157F6FC}"/>
                </a:ext>
              </a:extLst>
            </p:cNvPr>
            <p:cNvSpPr/>
            <p:nvPr/>
          </p:nvSpPr>
          <p:spPr>
            <a:xfrm>
              <a:off x="10598810" y="4682642"/>
              <a:ext cx="333756" cy="333756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3" name="Text 127">
              <a:extLst>
                <a:ext uri="{FF2B5EF4-FFF2-40B4-BE49-F238E27FC236}">
                  <a16:creationId xmlns:a16="http://schemas.microsoft.com/office/drawing/2014/main" id="{3E13A2A8-E97C-AB44-F468-D17A8A5E85B2}"/>
                </a:ext>
              </a:extLst>
            </p:cNvPr>
            <p:cNvSpPr/>
            <p:nvPr/>
          </p:nvSpPr>
          <p:spPr>
            <a:xfrm>
              <a:off x="10598810" y="4682642"/>
              <a:ext cx="333756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茉莉奶白</a:t>
              </a:r>
              <a:endParaRPr lang="en-US" sz="500" dirty="0"/>
            </a:p>
          </p:txBody>
        </p:sp>
        <p:sp>
          <p:nvSpPr>
            <p:cNvPr id="244" name="Shape 128">
              <a:extLst>
                <a:ext uri="{FF2B5EF4-FFF2-40B4-BE49-F238E27FC236}">
                  <a16:creationId xmlns:a16="http://schemas.microsoft.com/office/drawing/2014/main" id="{40270FD3-0092-C110-21F3-9164CC6D2C68}"/>
                </a:ext>
              </a:extLst>
            </p:cNvPr>
            <p:cNvSpPr/>
            <p:nvPr/>
          </p:nvSpPr>
          <p:spPr>
            <a:xfrm>
              <a:off x="11315700" y="6048756"/>
              <a:ext cx="338328" cy="338328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5" name="Text 129">
              <a:extLst>
                <a:ext uri="{FF2B5EF4-FFF2-40B4-BE49-F238E27FC236}">
                  <a16:creationId xmlns:a16="http://schemas.microsoft.com/office/drawing/2014/main" id="{E3E00EB5-F6C6-57E6-B275-DEA564D83F9B}"/>
                </a:ext>
              </a:extLst>
            </p:cNvPr>
            <p:cNvSpPr/>
            <p:nvPr/>
          </p:nvSpPr>
          <p:spPr>
            <a:xfrm>
              <a:off x="11315700" y="6048756"/>
              <a:ext cx="338328" cy="338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幸运咖</a:t>
              </a:r>
              <a:endParaRPr lang="en-US" sz="500" dirty="0"/>
            </a:p>
          </p:txBody>
        </p:sp>
        <p:sp>
          <p:nvSpPr>
            <p:cNvPr id="246" name="Shape 130">
              <a:extLst>
                <a:ext uri="{FF2B5EF4-FFF2-40B4-BE49-F238E27FC236}">
                  <a16:creationId xmlns:a16="http://schemas.microsoft.com/office/drawing/2014/main" id="{9854ABC9-5494-B66F-E521-A9C55426A564}"/>
                </a:ext>
              </a:extLst>
            </p:cNvPr>
            <p:cNvSpPr/>
            <p:nvPr/>
          </p:nvSpPr>
          <p:spPr>
            <a:xfrm>
              <a:off x="8528609" y="4972507"/>
              <a:ext cx="342900" cy="342900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7" name="Text 131">
              <a:extLst>
                <a:ext uri="{FF2B5EF4-FFF2-40B4-BE49-F238E27FC236}">
                  <a16:creationId xmlns:a16="http://schemas.microsoft.com/office/drawing/2014/main" id="{D1D5967B-8B4E-4FE1-3DD6-03AFCB545807}"/>
                </a:ext>
              </a:extLst>
            </p:cNvPr>
            <p:cNvSpPr/>
            <p:nvPr/>
          </p:nvSpPr>
          <p:spPr>
            <a:xfrm>
              <a:off x="8528609" y="4972507"/>
              <a:ext cx="3429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冰淇淋</a:t>
              </a:r>
              <a:endParaRPr lang="en-US" sz="500" dirty="0"/>
            </a:p>
          </p:txBody>
        </p:sp>
        <p:sp>
          <p:nvSpPr>
            <p:cNvPr id="248" name="Shape 132">
              <a:extLst>
                <a:ext uri="{FF2B5EF4-FFF2-40B4-BE49-F238E27FC236}">
                  <a16:creationId xmlns:a16="http://schemas.microsoft.com/office/drawing/2014/main" id="{E80D9E30-6351-6B37-6507-1581AF2A74FA}"/>
                </a:ext>
              </a:extLst>
            </p:cNvPr>
            <p:cNvSpPr/>
            <p:nvPr/>
          </p:nvSpPr>
          <p:spPr>
            <a:xfrm>
              <a:off x="10134295" y="1337767"/>
              <a:ext cx="345643" cy="345643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9" name="Text 133">
              <a:extLst>
                <a:ext uri="{FF2B5EF4-FFF2-40B4-BE49-F238E27FC236}">
                  <a16:creationId xmlns:a16="http://schemas.microsoft.com/office/drawing/2014/main" id="{5A287AB3-3BBC-22E6-AAD0-7935A2FC93AC}"/>
                </a:ext>
              </a:extLst>
            </p:cNvPr>
            <p:cNvSpPr/>
            <p:nvPr/>
          </p:nvSpPr>
          <p:spPr>
            <a:xfrm>
              <a:off x="10134295" y="1337767"/>
              <a:ext cx="345643" cy="345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铁锅炖</a:t>
              </a:r>
              <a:endParaRPr lang="en-US" sz="500" dirty="0"/>
            </a:p>
          </p:txBody>
        </p:sp>
        <p:sp>
          <p:nvSpPr>
            <p:cNvPr id="250" name="Shape 134">
              <a:extLst>
                <a:ext uri="{FF2B5EF4-FFF2-40B4-BE49-F238E27FC236}">
                  <a16:creationId xmlns:a16="http://schemas.microsoft.com/office/drawing/2014/main" id="{C67F646C-38F8-BE81-59CD-57D84C43D02E}"/>
                </a:ext>
              </a:extLst>
            </p:cNvPr>
            <p:cNvSpPr/>
            <p:nvPr/>
          </p:nvSpPr>
          <p:spPr>
            <a:xfrm>
              <a:off x="5751576" y="1555394"/>
              <a:ext cx="347472" cy="347472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1" name="Text 135">
              <a:extLst>
                <a:ext uri="{FF2B5EF4-FFF2-40B4-BE49-F238E27FC236}">
                  <a16:creationId xmlns:a16="http://schemas.microsoft.com/office/drawing/2014/main" id="{3C7A88FB-481C-14C9-FE65-68B7E155941B}"/>
                </a:ext>
              </a:extLst>
            </p:cNvPr>
            <p:cNvSpPr/>
            <p:nvPr/>
          </p:nvSpPr>
          <p:spPr>
            <a:xfrm>
              <a:off x="5751576" y="1555394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清真</a:t>
              </a:r>
              <a:endParaRPr lang="en-US" sz="500" dirty="0"/>
            </a:p>
          </p:txBody>
        </p:sp>
        <p:sp>
          <p:nvSpPr>
            <p:cNvPr id="252" name="Shape 136">
              <a:extLst>
                <a:ext uri="{FF2B5EF4-FFF2-40B4-BE49-F238E27FC236}">
                  <a16:creationId xmlns:a16="http://schemas.microsoft.com/office/drawing/2014/main" id="{954ABA16-7B8B-8F7E-50D5-C93A049C4A6D}"/>
                </a:ext>
              </a:extLst>
            </p:cNvPr>
            <p:cNvSpPr/>
            <p:nvPr/>
          </p:nvSpPr>
          <p:spPr>
            <a:xfrm>
              <a:off x="4172407" y="2465222"/>
              <a:ext cx="347472" cy="347472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3" name="Text 137">
              <a:extLst>
                <a:ext uri="{FF2B5EF4-FFF2-40B4-BE49-F238E27FC236}">
                  <a16:creationId xmlns:a16="http://schemas.microsoft.com/office/drawing/2014/main" id="{E5DE0A5C-3A5A-F3CE-BEAB-7D97D8C97425}"/>
                </a:ext>
              </a:extLst>
            </p:cNvPr>
            <p:cNvSpPr/>
            <p:nvPr/>
          </p:nvSpPr>
          <p:spPr>
            <a:xfrm>
              <a:off x="4172407" y="2465222"/>
              <a:ext cx="34747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粥</a:t>
              </a:r>
              <a:endParaRPr lang="en-US" sz="600" dirty="0"/>
            </a:p>
          </p:txBody>
        </p:sp>
        <p:sp>
          <p:nvSpPr>
            <p:cNvPr id="254" name="Shape 138">
              <a:extLst>
                <a:ext uri="{FF2B5EF4-FFF2-40B4-BE49-F238E27FC236}">
                  <a16:creationId xmlns:a16="http://schemas.microsoft.com/office/drawing/2014/main" id="{9E49EDEC-E1E2-AD25-1A22-2BEB0E67D04B}"/>
                </a:ext>
              </a:extLst>
            </p:cNvPr>
            <p:cNvSpPr/>
            <p:nvPr/>
          </p:nvSpPr>
          <p:spPr>
            <a:xfrm>
              <a:off x="10359238" y="3644798"/>
              <a:ext cx="352958" cy="352958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5" name="Text 139">
              <a:extLst>
                <a:ext uri="{FF2B5EF4-FFF2-40B4-BE49-F238E27FC236}">
                  <a16:creationId xmlns:a16="http://schemas.microsoft.com/office/drawing/2014/main" id="{EBE629E6-3CE9-B19F-C8CF-FA4160268DE3}"/>
                </a:ext>
              </a:extLst>
            </p:cNvPr>
            <p:cNvSpPr/>
            <p:nvPr/>
          </p:nvSpPr>
          <p:spPr>
            <a:xfrm>
              <a:off x="10359238" y="3644798"/>
              <a:ext cx="35295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KFC</a:t>
              </a:r>
              <a:endParaRPr lang="en-US" sz="600" dirty="0"/>
            </a:p>
          </p:txBody>
        </p:sp>
        <p:sp>
          <p:nvSpPr>
            <p:cNvPr id="256" name="Shape 140">
              <a:extLst>
                <a:ext uri="{FF2B5EF4-FFF2-40B4-BE49-F238E27FC236}">
                  <a16:creationId xmlns:a16="http://schemas.microsoft.com/office/drawing/2014/main" id="{81FC693A-A93D-D9A6-239F-69B0221A0494}"/>
                </a:ext>
              </a:extLst>
            </p:cNvPr>
            <p:cNvSpPr/>
            <p:nvPr/>
          </p:nvSpPr>
          <p:spPr>
            <a:xfrm>
              <a:off x="11023092" y="3869741"/>
              <a:ext cx="355702" cy="35570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7" name="Text 141">
              <a:extLst>
                <a:ext uri="{FF2B5EF4-FFF2-40B4-BE49-F238E27FC236}">
                  <a16:creationId xmlns:a16="http://schemas.microsoft.com/office/drawing/2014/main" id="{2ED3771F-4BD0-00E4-5F92-6259545CCC47}"/>
                </a:ext>
              </a:extLst>
            </p:cNvPr>
            <p:cNvSpPr/>
            <p:nvPr/>
          </p:nvSpPr>
          <p:spPr>
            <a:xfrm>
              <a:off x="11023092" y="3869741"/>
              <a:ext cx="355702" cy="355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汉堡王</a:t>
              </a:r>
              <a:endParaRPr lang="en-US" sz="600" dirty="0"/>
            </a:p>
          </p:txBody>
        </p:sp>
        <p:sp>
          <p:nvSpPr>
            <p:cNvPr id="258" name="Shape 142">
              <a:extLst>
                <a:ext uri="{FF2B5EF4-FFF2-40B4-BE49-F238E27FC236}">
                  <a16:creationId xmlns:a16="http://schemas.microsoft.com/office/drawing/2014/main" id="{43B74F0C-4EE8-AF55-6561-4B839242FAFF}"/>
                </a:ext>
              </a:extLst>
            </p:cNvPr>
            <p:cNvSpPr/>
            <p:nvPr/>
          </p:nvSpPr>
          <p:spPr>
            <a:xfrm>
              <a:off x="4690872" y="1331366"/>
              <a:ext cx="356616" cy="356616"/>
            </a:xfrm>
            <a:prstGeom prst="ellipse">
              <a:avLst/>
            </a:prstGeom>
            <a:solidFill>
              <a:srgbClr val="4A90D9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59" name="Text 143">
              <a:extLst>
                <a:ext uri="{FF2B5EF4-FFF2-40B4-BE49-F238E27FC236}">
                  <a16:creationId xmlns:a16="http://schemas.microsoft.com/office/drawing/2014/main" id="{67CBFD3B-88B2-CA0E-BF86-CB929AEA2FFA}"/>
                </a:ext>
              </a:extLst>
            </p:cNvPr>
            <p:cNvSpPr/>
            <p:nvPr/>
          </p:nvSpPr>
          <p:spPr>
            <a:xfrm>
              <a:off x="4690872" y="1331366"/>
              <a:ext cx="356616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万象城</a:t>
              </a:r>
              <a:endParaRPr lang="en-US" sz="600" dirty="0"/>
            </a:p>
          </p:txBody>
        </p:sp>
        <p:sp>
          <p:nvSpPr>
            <p:cNvPr id="260" name="Shape 144">
              <a:extLst>
                <a:ext uri="{FF2B5EF4-FFF2-40B4-BE49-F238E27FC236}">
                  <a16:creationId xmlns:a16="http://schemas.microsoft.com/office/drawing/2014/main" id="{51407E9E-DEB8-0C81-AACE-B7A87306803E}"/>
                </a:ext>
              </a:extLst>
            </p:cNvPr>
            <p:cNvSpPr/>
            <p:nvPr/>
          </p:nvSpPr>
          <p:spPr>
            <a:xfrm>
              <a:off x="10056571" y="3849624"/>
              <a:ext cx="358445" cy="358445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1" name="Text 145">
              <a:extLst>
                <a:ext uri="{FF2B5EF4-FFF2-40B4-BE49-F238E27FC236}">
                  <a16:creationId xmlns:a16="http://schemas.microsoft.com/office/drawing/2014/main" id="{4447EA32-D7DD-13C8-384D-5D90B247DDBF}"/>
                </a:ext>
              </a:extLst>
            </p:cNvPr>
            <p:cNvSpPr/>
            <p:nvPr/>
          </p:nvSpPr>
          <p:spPr>
            <a:xfrm>
              <a:off x="10056571" y="3849624"/>
              <a:ext cx="358445" cy="3584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德克士</a:t>
              </a:r>
              <a:endParaRPr lang="en-US" sz="600" dirty="0"/>
            </a:p>
          </p:txBody>
        </p:sp>
        <p:sp>
          <p:nvSpPr>
            <p:cNvPr id="262" name="Shape 146">
              <a:extLst>
                <a:ext uri="{FF2B5EF4-FFF2-40B4-BE49-F238E27FC236}">
                  <a16:creationId xmlns:a16="http://schemas.microsoft.com/office/drawing/2014/main" id="{D3A107C2-CF05-3513-A19A-A2374C58D85D}"/>
                </a:ext>
              </a:extLst>
            </p:cNvPr>
            <p:cNvSpPr/>
            <p:nvPr/>
          </p:nvSpPr>
          <p:spPr>
            <a:xfrm>
              <a:off x="11399825" y="5864047"/>
              <a:ext cx="359359" cy="359359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3" name="Text 147">
              <a:extLst>
                <a:ext uri="{FF2B5EF4-FFF2-40B4-BE49-F238E27FC236}">
                  <a16:creationId xmlns:a16="http://schemas.microsoft.com/office/drawing/2014/main" id="{D3F7F99D-28F5-133A-A8A7-05167A2CE5A7}"/>
                </a:ext>
              </a:extLst>
            </p:cNvPr>
            <p:cNvSpPr/>
            <p:nvPr/>
          </p:nvSpPr>
          <p:spPr>
            <a:xfrm>
              <a:off x="11399825" y="5864047"/>
              <a:ext cx="359359" cy="3593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益禾堂</a:t>
              </a:r>
              <a:endParaRPr lang="en-US" sz="600" dirty="0"/>
            </a:p>
          </p:txBody>
        </p:sp>
        <p:sp>
          <p:nvSpPr>
            <p:cNvPr id="264" name="Shape 148">
              <a:extLst>
                <a:ext uri="{FF2B5EF4-FFF2-40B4-BE49-F238E27FC236}">
                  <a16:creationId xmlns:a16="http://schemas.microsoft.com/office/drawing/2014/main" id="{6EC6531F-D01C-847B-39FC-F1A69E10C850}"/>
                </a:ext>
              </a:extLst>
            </p:cNvPr>
            <p:cNvSpPr/>
            <p:nvPr/>
          </p:nvSpPr>
          <p:spPr>
            <a:xfrm>
              <a:off x="9306763" y="1344168"/>
              <a:ext cx="360274" cy="360274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5" name="Text 149">
              <a:extLst>
                <a:ext uri="{FF2B5EF4-FFF2-40B4-BE49-F238E27FC236}">
                  <a16:creationId xmlns:a16="http://schemas.microsoft.com/office/drawing/2014/main" id="{2EB85FF7-0B29-C2CF-10EA-9EA6810ACB0A}"/>
                </a:ext>
              </a:extLst>
            </p:cNvPr>
            <p:cNvSpPr/>
            <p:nvPr/>
          </p:nvSpPr>
          <p:spPr>
            <a:xfrm>
              <a:off x="9306763" y="1344168"/>
              <a:ext cx="360274" cy="360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自助烤肉</a:t>
              </a:r>
              <a:endParaRPr lang="en-US" sz="600" dirty="0"/>
            </a:p>
          </p:txBody>
        </p:sp>
        <p:sp>
          <p:nvSpPr>
            <p:cNvPr id="266" name="Shape 150">
              <a:extLst>
                <a:ext uri="{FF2B5EF4-FFF2-40B4-BE49-F238E27FC236}">
                  <a16:creationId xmlns:a16="http://schemas.microsoft.com/office/drawing/2014/main" id="{1DA3EC5B-7DEC-E9F6-6CB3-05EE7846C1E2}"/>
                </a:ext>
              </a:extLst>
            </p:cNvPr>
            <p:cNvSpPr/>
            <p:nvPr/>
          </p:nvSpPr>
          <p:spPr>
            <a:xfrm>
              <a:off x="6421831" y="1566367"/>
              <a:ext cx="361188" cy="36118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7" name="Text 151">
              <a:extLst>
                <a:ext uri="{FF2B5EF4-FFF2-40B4-BE49-F238E27FC236}">
                  <a16:creationId xmlns:a16="http://schemas.microsoft.com/office/drawing/2014/main" id="{2341E7DB-044E-2DA0-3AC5-5654865F97E2}"/>
                </a:ext>
              </a:extLst>
            </p:cNvPr>
            <p:cNvSpPr/>
            <p:nvPr/>
          </p:nvSpPr>
          <p:spPr>
            <a:xfrm>
              <a:off x="6421831" y="1566367"/>
              <a:ext cx="361188" cy="361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早茶</a:t>
              </a:r>
              <a:endParaRPr lang="en-US" sz="600" dirty="0"/>
            </a:p>
          </p:txBody>
        </p:sp>
        <p:sp>
          <p:nvSpPr>
            <p:cNvPr id="268" name="Shape 152">
              <a:extLst>
                <a:ext uri="{FF2B5EF4-FFF2-40B4-BE49-F238E27FC236}">
                  <a16:creationId xmlns:a16="http://schemas.microsoft.com/office/drawing/2014/main" id="{8D316ECB-4BDA-AB2B-821E-1C259506595F}"/>
                </a:ext>
              </a:extLst>
            </p:cNvPr>
            <p:cNvSpPr/>
            <p:nvPr/>
          </p:nvSpPr>
          <p:spPr>
            <a:xfrm>
              <a:off x="5639105" y="4264762"/>
              <a:ext cx="361188" cy="36118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69" name="Text 153">
              <a:extLst>
                <a:ext uri="{FF2B5EF4-FFF2-40B4-BE49-F238E27FC236}">
                  <a16:creationId xmlns:a16="http://schemas.microsoft.com/office/drawing/2014/main" id="{244F4A16-CA66-FCB0-1FB4-EBB9F7B53B89}"/>
                </a:ext>
              </a:extLst>
            </p:cNvPr>
            <p:cNvSpPr/>
            <p:nvPr/>
          </p:nvSpPr>
          <p:spPr>
            <a:xfrm>
              <a:off x="5639105" y="4264762"/>
              <a:ext cx="361188" cy="3611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甜品</a:t>
              </a:r>
              <a:endParaRPr lang="en-US" sz="600" dirty="0"/>
            </a:p>
          </p:txBody>
        </p:sp>
        <p:sp>
          <p:nvSpPr>
            <p:cNvPr id="270" name="Shape 154">
              <a:extLst>
                <a:ext uri="{FF2B5EF4-FFF2-40B4-BE49-F238E27FC236}">
                  <a16:creationId xmlns:a16="http://schemas.microsoft.com/office/drawing/2014/main" id="{5C5975AC-8CE4-C56C-A011-8FAD4AAA752E}"/>
                </a:ext>
              </a:extLst>
            </p:cNvPr>
            <p:cNvSpPr/>
            <p:nvPr/>
          </p:nvSpPr>
          <p:spPr>
            <a:xfrm>
              <a:off x="10954512" y="5208422"/>
              <a:ext cx="363931" cy="363931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1" name="Text 155">
              <a:extLst>
                <a:ext uri="{FF2B5EF4-FFF2-40B4-BE49-F238E27FC236}">
                  <a16:creationId xmlns:a16="http://schemas.microsoft.com/office/drawing/2014/main" id="{177FFEC6-B4F8-7E12-AD11-6845F1CCB1D3}"/>
                </a:ext>
              </a:extLst>
            </p:cNvPr>
            <p:cNvSpPr/>
            <p:nvPr/>
          </p:nvSpPr>
          <p:spPr>
            <a:xfrm>
              <a:off x="10954512" y="5208422"/>
              <a:ext cx="363931" cy="3639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沪上阿姨</a:t>
              </a:r>
              <a:endParaRPr lang="en-US" sz="600" dirty="0"/>
            </a:p>
          </p:txBody>
        </p:sp>
        <p:sp>
          <p:nvSpPr>
            <p:cNvPr id="272" name="Shape 156">
              <a:extLst>
                <a:ext uri="{FF2B5EF4-FFF2-40B4-BE49-F238E27FC236}">
                  <a16:creationId xmlns:a16="http://schemas.microsoft.com/office/drawing/2014/main" id="{A767BE2B-8BCE-661D-F33B-1035892C06CB}"/>
                </a:ext>
              </a:extLst>
            </p:cNvPr>
            <p:cNvSpPr/>
            <p:nvPr/>
          </p:nvSpPr>
          <p:spPr>
            <a:xfrm>
              <a:off x="9230868" y="1354226"/>
              <a:ext cx="367589" cy="367589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3" name="Text 157">
              <a:extLst>
                <a:ext uri="{FF2B5EF4-FFF2-40B4-BE49-F238E27FC236}">
                  <a16:creationId xmlns:a16="http://schemas.microsoft.com/office/drawing/2014/main" id="{011A7B42-1F4D-866B-B7BE-7F0D2DD50DF7}"/>
                </a:ext>
              </a:extLst>
            </p:cNvPr>
            <p:cNvSpPr/>
            <p:nvPr/>
          </p:nvSpPr>
          <p:spPr>
            <a:xfrm>
              <a:off x="9230868" y="1354226"/>
              <a:ext cx="367589" cy="3675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烤肉自助</a:t>
              </a:r>
              <a:endParaRPr lang="en-US" sz="600" dirty="0"/>
            </a:p>
          </p:txBody>
        </p:sp>
        <p:sp>
          <p:nvSpPr>
            <p:cNvPr id="274" name="Shape 158">
              <a:extLst>
                <a:ext uri="{FF2B5EF4-FFF2-40B4-BE49-F238E27FC236}">
                  <a16:creationId xmlns:a16="http://schemas.microsoft.com/office/drawing/2014/main" id="{611D60F8-A49F-FAB6-8851-9BF2EAEF3467}"/>
                </a:ext>
              </a:extLst>
            </p:cNvPr>
            <p:cNvSpPr/>
            <p:nvPr/>
          </p:nvSpPr>
          <p:spPr>
            <a:xfrm>
              <a:off x="7538314" y="1388974"/>
              <a:ext cx="367589" cy="367589"/>
            </a:xfrm>
            <a:prstGeom prst="ellipse">
              <a:avLst/>
            </a:prstGeom>
            <a:solidFill>
              <a:srgbClr val="4CAF7D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5" name="Text 159">
              <a:extLst>
                <a:ext uri="{FF2B5EF4-FFF2-40B4-BE49-F238E27FC236}">
                  <a16:creationId xmlns:a16="http://schemas.microsoft.com/office/drawing/2014/main" id="{BB2F3F90-75FE-BE1E-B7E3-1D6610765938}"/>
                </a:ext>
              </a:extLst>
            </p:cNvPr>
            <p:cNvSpPr/>
            <p:nvPr/>
          </p:nvSpPr>
          <p:spPr>
            <a:xfrm>
              <a:off x="7538314" y="1388974"/>
              <a:ext cx="367589" cy="3675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鱼</a:t>
              </a:r>
              <a:endParaRPr lang="en-US" sz="600" dirty="0"/>
            </a:p>
          </p:txBody>
        </p:sp>
        <p:sp>
          <p:nvSpPr>
            <p:cNvPr id="276" name="Shape 160">
              <a:extLst>
                <a:ext uri="{FF2B5EF4-FFF2-40B4-BE49-F238E27FC236}">
                  <a16:creationId xmlns:a16="http://schemas.microsoft.com/office/drawing/2014/main" id="{74CADA75-5C63-8D88-74BF-74AB66B41C35}"/>
                </a:ext>
              </a:extLst>
            </p:cNvPr>
            <p:cNvSpPr/>
            <p:nvPr/>
          </p:nvSpPr>
          <p:spPr>
            <a:xfrm>
              <a:off x="5469941" y="1817827"/>
              <a:ext cx="371246" cy="371246"/>
            </a:xfrm>
            <a:prstGeom prst="ellipse">
              <a:avLst/>
            </a:prstGeom>
            <a:solidFill>
              <a:srgbClr val="4A90D9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7" name="Text 161">
              <a:extLst>
                <a:ext uri="{FF2B5EF4-FFF2-40B4-BE49-F238E27FC236}">
                  <a16:creationId xmlns:a16="http://schemas.microsoft.com/office/drawing/2014/main" id="{5046DC41-70EB-C5D2-60E2-554D55230EF5}"/>
                </a:ext>
              </a:extLst>
            </p:cNvPr>
            <p:cNvSpPr/>
            <p:nvPr/>
          </p:nvSpPr>
          <p:spPr>
            <a:xfrm>
              <a:off x="5469941" y="1817827"/>
              <a:ext cx="371246" cy="3712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万达</a:t>
              </a:r>
              <a:endParaRPr lang="en-US" sz="600" dirty="0"/>
            </a:p>
          </p:txBody>
        </p:sp>
        <p:sp>
          <p:nvSpPr>
            <p:cNvPr id="278" name="Shape 162">
              <a:extLst>
                <a:ext uri="{FF2B5EF4-FFF2-40B4-BE49-F238E27FC236}">
                  <a16:creationId xmlns:a16="http://schemas.microsoft.com/office/drawing/2014/main" id="{1439A71D-8BD6-D27A-3EF1-7998F0AFA436}"/>
                </a:ext>
              </a:extLst>
            </p:cNvPr>
            <p:cNvSpPr/>
            <p:nvPr/>
          </p:nvSpPr>
          <p:spPr>
            <a:xfrm>
              <a:off x="11162081" y="4441241"/>
              <a:ext cx="377647" cy="377647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79" name="Text 163">
              <a:extLst>
                <a:ext uri="{FF2B5EF4-FFF2-40B4-BE49-F238E27FC236}">
                  <a16:creationId xmlns:a16="http://schemas.microsoft.com/office/drawing/2014/main" id="{EFBC5D05-CCBC-1CD3-45C2-66A570F362D2}"/>
                </a:ext>
              </a:extLst>
            </p:cNvPr>
            <p:cNvSpPr/>
            <p:nvPr/>
          </p:nvSpPr>
          <p:spPr>
            <a:xfrm>
              <a:off x="11162081" y="4441241"/>
              <a:ext cx="377647" cy="3776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塔斯汀中</a:t>
              </a:r>
              <a:endParaRPr lang="en-US" sz="600" dirty="0"/>
            </a:p>
          </p:txBody>
        </p:sp>
        <p:sp>
          <p:nvSpPr>
            <p:cNvPr id="280" name="Shape 164">
              <a:extLst>
                <a:ext uri="{FF2B5EF4-FFF2-40B4-BE49-F238E27FC236}">
                  <a16:creationId xmlns:a16="http://schemas.microsoft.com/office/drawing/2014/main" id="{19F2F08A-CA79-DDFF-B0EA-AAC85050F3EC}"/>
                </a:ext>
              </a:extLst>
            </p:cNvPr>
            <p:cNvSpPr/>
            <p:nvPr/>
          </p:nvSpPr>
          <p:spPr>
            <a:xfrm>
              <a:off x="7084771" y="313639"/>
              <a:ext cx="378562" cy="378562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1" name="Text 165">
              <a:extLst>
                <a:ext uri="{FF2B5EF4-FFF2-40B4-BE49-F238E27FC236}">
                  <a16:creationId xmlns:a16="http://schemas.microsoft.com/office/drawing/2014/main" id="{F187D665-CCCB-3F27-38CC-7B50894B9173}"/>
                </a:ext>
              </a:extLst>
            </p:cNvPr>
            <p:cNvSpPr/>
            <p:nvPr/>
          </p:nvSpPr>
          <p:spPr>
            <a:xfrm>
              <a:off x="7084771" y="313639"/>
              <a:ext cx="378562" cy="378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日料</a:t>
              </a:r>
              <a:endParaRPr lang="en-US" sz="600" dirty="0"/>
            </a:p>
          </p:txBody>
        </p:sp>
        <p:sp>
          <p:nvSpPr>
            <p:cNvPr id="282" name="Shape 166">
              <a:extLst>
                <a:ext uri="{FF2B5EF4-FFF2-40B4-BE49-F238E27FC236}">
                  <a16:creationId xmlns:a16="http://schemas.microsoft.com/office/drawing/2014/main" id="{B3475DE0-9DD9-C09A-DF16-97871FE33C39}"/>
                </a:ext>
              </a:extLst>
            </p:cNvPr>
            <p:cNvSpPr/>
            <p:nvPr/>
          </p:nvSpPr>
          <p:spPr>
            <a:xfrm>
              <a:off x="6611112" y="326441"/>
              <a:ext cx="380390" cy="380390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3" name="Text 167">
              <a:extLst>
                <a:ext uri="{FF2B5EF4-FFF2-40B4-BE49-F238E27FC236}">
                  <a16:creationId xmlns:a16="http://schemas.microsoft.com/office/drawing/2014/main" id="{F9D52190-467D-5152-D4AD-93921B13153C}"/>
                </a:ext>
              </a:extLst>
            </p:cNvPr>
            <p:cNvSpPr/>
            <p:nvPr/>
          </p:nvSpPr>
          <p:spPr>
            <a:xfrm>
              <a:off x="6611112" y="326441"/>
              <a:ext cx="380390" cy="3803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海鲜</a:t>
              </a:r>
              <a:endParaRPr lang="en-US" sz="600" dirty="0"/>
            </a:p>
          </p:txBody>
        </p:sp>
        <p:sp>
          <p:nvSpPr>
            <p:cNvPr id="284" name="Shape 168">
              <a:extLst>
                <a:ext uri="{FF2B5EF4-FFF2-40B4-BE49-F238E27FC236}">
                  <a16:creationId xmlns:a16="http://schemas.microsoft.com/office/drawing/2014/main" id="{F3CD6EF4-484A-D974-7A99-E73F1B59D0EA}"/>
                </a:ext>
              </a:extLst>
            </p:cNvPr>
            <p:cNvSpPr/>
            <p:nvPr/>
          </p:nvSpPr>
          <p:spPr>
            <a:xfrm>
              <a:off x="8433511" y="1059790"/>
              <a:ext cx="384048" cy="38404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5" name="Text 169">
              <a:extLst>
                <a:ext uri="{FF2B5EF4-FFF2-40B4-BE49-F238E27FC236}">
                  <a16:creationId xmlns:a16="http://schemas.microsoft.com/office/drawing/2014/main" id="{E785F556-4115-6401-3691-23D7D3657F3A}"/>
                </a:ext>
              </a:extLst>
            </p:cNvPr>
            <p:cNvSpPr/>
            <p:nvPr/>
          </p:nvSpPr>
          <p:spPr>
            <a:xfrm>
              <a:off x="8433511" y="105979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牛排</a:t>
              </a:r>
              <a:endParaRPr lang="en-US" sz="600" dirty="0"/>
            </a:p>
          </p:txBody>
        </p:sp>
        <p:sp>
          <p:nvSpPr>
            <p:cNvPr id="286" name="Shape 170">
              <a:extLst>
                <a:ext uri="{FF2B5EF4-FFF2-40B4-BE49-F238E27FC236}">
                  <a16:creationId xmlns:a16="http://schemas.microsoft.com/office/drawing/2014/main" id="{FDE54BEF-C95D-B865-48B0-3895752BD3CC}"/>
                </a:ext>
              </a:extLst>
            </p:cNvPr>
            <p:cNvSpPr/>
            <p:nvPr/>
          </p:nvSpPr>
          <p:spPr>
            <a:xfrm>
              <a:off x="10582351" y="4469587"/>
              <a:ext cx="384962" cy="38496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7" name="Text 171">
              <a:extLst>
                <a:ext uri="{FF2B5EF4-FFF2-40B4-BE49-F238E27FC236}">
                  <a16:creationId xmlns:a16="http://schemas.microsoft.com/office/drawing/2014/main" id="{D7150653-1FD6-4CCF-A27A-4638F16017A3}"/>
                </a:ext>
              </a:extLst>
            </p:cNvPr>
            <p:cNvSpPr/>
            <p:nvPr/>
          </p:nvSpPr>
          <p:spPr>
            <a:xfrm>
              <a:off x="10582351" y="4469587"/>
              <a:ext cx="384962" cy="3849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塔斯汀·</a:t>
              </a:r>
              <a:endParaRPr lang="en-US" sz="600" dirty="0"/>
            </a:p>
          </p:txBody>
        </p:sp>
        <p:sp>
          <p:nvSpPr>
            <p:cNvPr id="288" name="Shape 172">
              <a:extLst>
                <a:ext uri="{FF2B5EF4-FFF2-40B4-BE49-F238E27FC236}">
                  <a16:creationId xmlns:a16="http://schemas.microsoft.com/office/drawing/2014/main" id="{D2600440-B8CB-AAD3-4E50-8257C8FEC9F2}"/>
                </a:ext>
              </a:extLst>
            </p:cNvPr>
            <p:cNvSpPr/>
            <p:nvPr/>
          </p:nvSpPr>
          <p:spPr>
            <a:xfrm>
              <a:off x="4076395" y="1439266"/>
              <a:ext cx="385877" cy="385877"/>
            </a:xfrm>
            <a:prstGeom prst="ellipse">
              <a:avLst/>
            </a:prstGeom>
            <a:solidFill>
              <a:srgbClr val="4CAF7D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89" name="Text 173">
              <a:extLst>
                <a:ext uri="{FF2B5EF4-FFF2-40B4-BE49-F238E27FC236}">
                  <a16:creationId xmlns:a16="http://schemas.microsoft.com/office/drawing/2014/main" id="{D1889CF6-82FF-E21D-117D-828E83A9A5D1}"/>
                </a:ext>
              </a:extLst>
            </p:cNvPr>
            <p:cNvSpPr/>
            <p:nvPr/>
          </p:nvSpPr>
          <p:spPr>
            <a:xfrm>
              <a:off x="4076395" y="1439266"/>
              <a:ext cx="385877" cy="3858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炒菜</a:t>
              </a:r>
              <a:endParaRPr lang="en-US" sz="600" dirty="0"/>
            </a:p>
          </p:txBody>
        </p:sp>
        <p:sp>
          <p:nvSpPr>
            <p:cNvPr id="290" name="Shape 174">
              <a:extLst>
                <a:ext uri="{FF2B5EF4-FFF2-40B4-BE49-F238E27FC236}">
                  <a16:creationId xmlns:a16="http://schemas.microsoft.com/office/drawing/2014/main" id="{12F6A13C-BB8B-6EC8-4902-BA817B20CC4D}"/>
                </a:ext>
              </a:extLst>
            </p:cNvPr>
            <p:cNvSpPr/>
            <p:nvPr/>
          </p:nvSpPr>
          <p:spPr>
            <a:xfrm>
              <a:off x="10734142" y="5541264"/>
              <a:ext cx="391363" cy="391363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1" name="Text 175">
              <a:extLst>
                <a:ext uri="{FF2B5EF4-FFF2-40B4-BE49-F238E27FC236}">
                  <a16:creationId xmlns:a16="http://schemas.microsoft.com/office/drawing/2014/main" id="{7416C258-4381-31D4-8A8D-E72890261122}"/>
                </a:ext>
              </a:extLst>
            </p:cNvPr>
            <p:cNvSpPr/>
            <p:nvPr/>
          </p:nvSpPr>
          <p:spPr>
            <a:xfrm>
              <a:off x="10734142" y="5541264"/>
              <a:ext cx="391363" cy="3913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鸡柳大人</a:t>
              </a:r>
              <a:endParaRPr lang="en-US" sz="600" dirty="0"/>
            </a:p>
          </p:txBody>
        </p:sp>
        <p:sp>
          <p:nvSpPr>
            <p:cNvPr id="292" name="Shape 176">
              <a:extLst>
                <a:ext uri="{FF2B5EF4-FFF2-40B4-BE49-F238E27FC236}">
                  <a16:creationId xmlns:a16="http://schemas.microsoft.com/office/drawing/2014/main" id="{3211C81F-5347-AB11-6BB0-8847D209A858}"/>
                </a:ext>
              </a:extLst>
            </p:cNvPr>
            <p:cNvSpPr/>
            <p:nvPr/>
          </p:nvSpPr>
          <p:spPr>
            <a:xfrm>
              <a:off x="8795614" y="2046427"/>
              <a:ext cx="392278" cy="392278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3" name="Text 177">
              <a:extLst>
                <a:ext uri="{FF2B5EF4-FFF2-40B4-BE49-F238E27FC236}">
                  <a16:creationId xmlns:a16="http://schemas.microsoft.com/office/drawing/2014/main" id="{7FB8798D-2DA1-0A0D-1C36-2FA048A3B30E}"/>
                </a:ext>
              </a:extLst>
            </p:cNvPr>
            <p:cNvSpPr/>
            <p:nvPr/>
          </p:nvSpPr>
          <p:spPr>
            <a:xfrm>
              <a:off x="8795614" y="2046427"/>
              <a:ext cx="392278" cy="392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达美乐</a:t>
              </a:r>
              <a:endParaRPr lang="en-US" sz="600" dirty="0"/>
            </a:p>
          </p:txBody>
        </p:sp>
        <p:sp>
          <p:nvSpPr>
            <p:cNvPr id="294" name="Shape 178">
              <a:extLst>
                <a:ext uri="{FF2B5EF4-FFF2-40B4-BE49-F238E27FC236}">
                  <a16:creationId xmlns:a16="http://schemas.microsoft.com/office/drawing/2014/main" id="{AA607200-B4A1-B4EF-136A-EE1904BB9194}"/>
                </a:ext>
              </a:extLst>
            </p:cNvPr>
            <p:cNvSpPr/>
            <p:nvPr/>
          </p:nvSpPr>
          <p:spPr>
            <a:xfrm>
              <a:off x="8425282" y="4170578"/>
              <a:ext cx="405994" cy="405994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5" name="Text 179">
              <a:extLst>
                <a:ext uri="{FF2B5EF4-FFF2-40B4-BE49-F238E27FC236}">
                  <a16:creationId xmlns:a16="http://schemas.microsoft.com/office/drawing/2014/main" id="{EE5651C6-71A8-E860-3050-A51D69CFADAF}"/>
                </a:ext>
              </a:extLst>
            </p:cNvPr>
            <p:cNvSpPr/>
            <p:nvPr/>
          </p:nvSpPr>
          <p:spPr>
            <a:xfrm>
              <a:off x="8425282" y="4170578"/>
              <a:ext cx="405994" cy="4059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米线</a:t>
              </a:r>
              <a:endParaRPr lang="en-US" sz="600" dirty="0"/>
            </a:p>
          </p:txBody>
        </p:sp>
        <p:sp>
          <p:nvSpPr>
            <p:cNvPr id="296" name="Shape 180">
              <a:extLst>
                <a:ext uri="{FF2B5EF4-FFF2-40B4-BE49-F238E27FC236}">
                  <a16:creationId xmlns:a16="http://schemas.microsoft.com/office/drawing/2014/main" id="{ACC58912-19D9-9D9A-C784-E0CCE4CFA503}"/>
                </a:ext>
              </a:extLst>
            </p:cNvPr>
            <p:cNvSpPr/>
            <p:nvPr/>
          </p:nvSpPr>
          <p:spPr>
            <a:xfrm>
              <a:off x="6945782" y="4123030"/>
              <a:ext cx="406908" cy="40690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7" name="Text 181">
              <a:extLst>
                <a:ext uri="{FF2B5EF4-FFF2-40B4-BE49-F238E27FC236}">
                  <a16:creationId xmlns:a16="http://schemas.microsoft.com/office/drawing/2014/main" id="{6EF41599-0607-CA80-7FD6-02B69B7E7E4C}"/>
                </a:ext>
              </a:extLst>
            </p:cNvPr>
            <p:cNvSpPr/>
            <p:nvPr/>
          </p:nvSpPr>
          <p:spPr>
            <a:xfrm>
              <a:off x="6945782" y="4123030"/>
              <a:ext cx="406908" cy="4069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面</a:t>
              </a:r>
              <a:endParaRPr lang="en-US" sz="600" dirty="0"/>
            </a:p>
          </p:txBody>
        </p:sp>
        <p:sp>
          <p:nvSpPr>
            <p:cNvPr id="298" name="Shape 182">
              <a:extLst>
                <a:ext uri="{FF2B5EF4-FFF2-40B4-BE49-F238E27FC236}">
                  <a16:creationId xmlns:a16="http://schemas.microsoft.com/office/drawing/2014/main" id="{B1FF04A5-9F56-854E-3B43-682CB4859261}"/>
                </a:ext>
              </a:extLst>
            </p:cNvPr>
            <p:cNvSpPr/>
            <p:nvPr/>
          </p:nvSpPr>
          <p:spPr>
            <a:xfrm>
              <a:off x="6302045" y="4411066"/>
              <a:ext cx="408737" cy="408737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99" name="Text 183">
              <a:extLst>
                <a:ext uri="{FF2B5EF4-FFF2-40B4-BE49-F238E27FC236}">
                  <a16:creationId xmlns:a16="http://schemas.microsoft.com/office/drawing/2014/main" id="{C7057E43-0D6E-4CB9-E306-9D3B6AC79949}"/>
                </a:ext>
              </a:extLst>
            </p:cNvPr>
            <p:cNvSpPr/>
            <p:nvPr/>
          </p:nvSpPr>
          <p:spPr>
            <a:xfrm>
              <a:off x="6302045" y="4411066"/>
              <a:ext cx="408737" cy="4087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面包</a:t>
              </a:r>
              <a:endParaRPr lang="en-US" sz="600" dirty="0"/>
            </a:p>
          </p:txBody>
        </p:sp>
        <p:sp>
          <p:nvSpPr>
            <p:cNvPr id="300" name="Shape 184">
              <a:extLst>
                <a:ext uri="{FF2B5EF4-FFF2-40B4-BE49-F238E27FC236}">
                  <a16:creationId xmlns:a16="http://schemas.microsoft.com/office/drawing/2014/main" id="{7A3587FB-2432-EB9E-ADAF-C58D08FCF7E1}"/>
                </a:ext>
              </a:extLst>
            </p:cNvPr>
            <p:cNvSpPr/>
            <p:nvPr/>
          </p:nvSpPr>
          <p:spPr>
            <a:xfrm>
              <a:off x="5478170" y="4213555"/>
              <a:ext cx="416966" cy="416966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1" name="Text 185">
              <a:extLst>
                <a:ext uri="{FF2B5EF4-FFF2-40B4-BE49-F238E27FC236}">
                  <a16:creationId xmlns:a16="http://schemas.microsoft.com/office/drawing/2014/main" id="{A3A98780-304D-CAF9-BB0E-E795EB78E700}"/>
                </a:ext>
              </a:extLst>
            </p:cNvPr>
            <p:cNvSpPr/>
            <p:nvPr/>
          </p:nvSpPr>
          <p:spPr>
            <a:xfrm>
              <a:off x="5478170" y="4213555"/>
              <a:ext cx="416966" cy="4169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麻辣烫</a:t>
              </a:r>
              <a:endParaRPr lang="en-US" sz="600" dirty="0"/>
            </a:p>
          </p:txBody>
        </p:sp>
        <p:sp>
          <p:nvSpPr>
            <p:cNvPr id="302" name="Shape 186">
              <a:extLst>
                <a:ext uri="{FF2B5EF4-FFF2-40B4-BE49-F238E27FC236}">
                  <a16:creationId xmlns:a16="http://schemas.microsoft.com/office/drawing/2014/main" id="{241C032A-2909-2165-6DA1-D966254FBC32}"/>
                </a:ext>
              </a:extLst>
            </p:cNvPr>
            <p:cNvSpPr/>
            <p:nvPr/>
          </p:nvSpPr>
          <p:spPr>
            <a:xfrm>
              <a:off x="7836408" y="1878178"/>
              <a:ext cx="420624" cy="420624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3" name="Text 187">
              <a:extLst>
                <a:ext uri="{FF2B5EF4-FFF2-40B4-BE49-F238E27FC236}">
                  <a16:creationId xmlns:a16="http://schemas.microsoft.com/office/drawing/2014/main" id="{D4B586C7-FB8E-E004-BF7D-CA16BC1C5912}"/>
                </a:ext>
              </a:extLst>
            </p:cNvPr>
            <p:cNvSpPr/>
            <p:nvPr/>
          </p:nvSpPr>
          <p:spPr>
            <a:xfrm>
              <a:off x="7836408" y="1878178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烤鸭</a:t>
              </a:r>
              <a:endParaRPr lang="en-US" sz="600" dirty="0"/>
            </a:p>
          </p:txBody>
        </p:sp>
        <p:sp>
          <p:nvSpPr>
            <p:cNvPr id="304" name="Shape 188">
              <a:extLst>
                <a:ext uri="{FF2B5EF4-FFF2-40B4-BE49-F238E27FC236}">
                  <a16:creationId xmlns:a16="http://schemas.microsoft.com/office/drawing/2014/main" id="{9090CF8B-06D0-2F37-E389-27479ACCF640}"/>
                </a:ext>
              </a:extLst>
            </p:cNvPr>
            <p:cNvSpPr/>
            <p:nvPr/>
          </p:nvSpPr>
          <p:spPr>
            <a:xfrm>
              <a:off x="6568135" y="4316882"/>
              <a:ext cx="421538" cy="42153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5" name="Text 189">
              <a:extLst>
                <a:ext uri="{FF2B5EF4-FFF2-40B4-BE49-F238E27FC236}">
                  <a16:creationId xmlns:a16="http://schemas.microsoft.com/office/drawing/2014/main" id="{709918EC-2A1C-4A16-BC7A-4FD0C00DA9B9}"/>
                </a:ext>
              </a:extLst>
            </p:cNvPr>
            <p:cNvSpPr/>
            <p:nvPr/>
          </p:nvSpPr>
          <p:spPr>
            <a:xfrm>
              <a:off x="6568135" y="4316882"/>
              <a:ext cx="421538" cy="4215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炸鸡</a:t>
              </a:r>
              <a:endParaRPr lang="en-US" sz="600" dirty="0"/>
            </a:p>
          </p:txBody>
        </p:sp>
        <p:sp>
          <p:nvSpPr>
            <p:cNvPr id="306" name="Shape 190">
              <a:extLst>
                <a:ext uri="{FF2B5EF4-FFF2-40B4-BE49-F238E27FC236}">
                  <a16:creationId xmlns:a16="http://schemas.microsoft.com/office/drawing/2014/main" id="{17D9B819-F472-6A65-34EA-A45D59ADB5A2}"/>
                </a:ext>
              </a:extLst>
            </p:cNvPr>
            <p:cNvSpPr/>
            <p:nvPr/>
          </p:nvSpPr>
          <p:spPr>
            <a:xfrm>
              <a:off x="7434072" y="290779"/>
              <a:ext cx="424282" cy="424282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7" name="Text 191">
              <a:extLst>
                <a:ext uri="{FF2B5EF4-FFF2-40B4-BE49-F238E27FC236}">
                  <a16:creationId xmlns:a16="http://schemas.microsoft.com/office/drawing/2014/main" id="{B064391A-D35E-6D24-AE55-23ECCF74F186}"/>
                </a:ext>
              </a:extLst>
            </p:cNvPr>
            <p:cNvSpPr/>
            <p:nvPr/>
          </p:nvSpPr>
          <p:spPr>
            <a:xfrm>
              <a:off x="7434072" y="290779"/>
              <a:ext cx="424282" cy="4242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海鲜自助</a:t>
              </a:r>
              <a:endParaRPr lang="en-US" sz="600" dirty="0"/>
            </a:p>
          </p:txBody>
        </p:sp>
        <p:sp>
          <p:nvSpPr>
            <p:cNvPr id="308" name="Shape 192">
              <a:extLst>
                <a:ext uri="{FF2B5EF4-FFF2-40B4-BE49-F238E27FC236}">
                  <a16:creationId xmlns:a16="http://schemas.microsoft.com/office/drawing/2014/main" id="{73483C9C-3A4B-B8B4-5E40-DBC0229B3584}"/>
                </a:ext>
              </a:extLst>
            </p:cNvPr>
            <p:cNvSpPr/>
            <p:nvPr/>
          </p:nvSpPr>
          <p:spPr>
            <a:xfrm>
              <a:off x="7328002" y="2668219"/>
              <a:ext cx="429768" cy="42976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09" name="Text 193">
              <a:extLst>
                <a:ext uri="{FF2B5EF4-FFF2-40B4-BE49-F238E27FC236}">
                  <a16:creationId xmlns:a16="http://schemas.microsoft.com/office/drawing/2014/main" id="{588231C4-A84A-69D8-5DF1-A1EB6301F229}"/>
                </a:ext>
              </a:extLst>
            </p:cNvPr>
            <p:cNvSpPr/>
            <p:nvPr/>
          </p:nvSpPr>
          <p:spPr>
            <a:xfrm>
              <a:off x="7328002" y="2668219"/>
              <a:ext cx="429768" cy="4297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寿司</a:t>
              </a:r>
              <a:endParaRPr lang="en-US" sz="600" dirty="0"/>
            </a:p>
          </p:txBody>
        </p:sp>
        <p:sp>
          <p:nvSpPr>
            <p:cNvPr id="310" name="Shape 194">
              <a:extLst>
                <a:ext uri="{FF2B5EF4-FFF2-40B4-BE49-F238E27FC236}">
                  <a16:creationId xmlns:a16="http://schemas.microsoft.com/office/drawing/2014/main" id="{1F7C0DDE-5F35-4AED-7FFE-EFBD242DB075}"/>
                </a:ext>
              </a:extLst>
            </p:cNvPr>
            <p:cNvSpPr/>
            <p:nvPr/>
          </p:nvSpPr>
          <p:spPr>
            <a:xfrm>
              <a:off x="5586984" y="1484986"/>
              <a:ext cx="433426" cy="433426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1" name="Text 195">
              <a:extLst>
                <a:ext uri="{FF2B5EF4-FFF2-40B4-BE49-F238E27FC236}">
                  <a16:creationId xmlns:a16="http://schemas.microsoft.com/office/drawing/2014/main" id="{49906CF0-7E77-DD3F-F867-10BFB49E55AB}"/>
                </a:ext>
              </a:extLst>
            </p:cNvPr>
            <p:cNvSpPr/>
            <p:nvPr/>
          </p:nvSpPr>
          <p:spPr>
            <a:xfrm>
              <a:off x="5586984" y="1484986"/>
              <a:ext cx="433426" cy="4334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附近的美</a:t>
              </a:r>
              <a:endParaRPr lang="en-US" sz="600" dirty="0"/>
            </a:p>
          </p:txBody>
        </p:sp>
        <p:sp>
          <p:nvSpPr>
            <p:cNvPr id="312" name="Shape 196">
              <a:extLst>
                <a:ext uri="{FF2B5EF4-FFF2-40B4-BE49-F238E27FC236}">
                  <a16:creationId xmlns:a16="http://schemas.microsoft.com/office/drawing/2014/main" id="{32A35451-B99B-13A5-13F9-B476A69E58D8}"/>
                </a:ext>
              </a:extLst>
            </p:cNvPr>
            <p:cNvSpPr/>
            <p:nvPr/>
          </p:nvSpPr>
          <p:spPr>
            <a:xfrm>
              <a:off x="4323283" y="4543654"/>
              <a:ext cx="443484" cy="443484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3" name="Text 197">
              <a:extLst>
                <a:ext uri="{FF2B5EF4-FFF2-40B4-BE49-F238E27FC236}">
                  <a16:creationId xmlns:a16="http://schemas.microsoft.com/office/drawing/2014/main" id="{E15E0E9F-99DC-C90D-F0FB-34DA861413E2}"/>
                </a:ext>
              </a:extLst>
            </p:cNvPr>
            <p:cNvSpPr/>
            <p:nvPr/>
          </p:nvSpPr>
          <p:spPr>
            <a:xfrm>
              <a:off x="4323283" y="4543654"/>
              <a:ext cx="443484" cy="443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早餐</a:t>
              </a:r>
              <a:endParaRPr lang="en-US" sz="600" dirty="0"/>
            </a:p>
          </p:txBody>
        </p:sp>
        <p:sp>
          <p:nvSpPr>
            <p:cNvPr id="314" name="Shape 198">
              <a:extLst>
                <a:ext uri="{FF2B5EF4-FFF2-40B4-BE49-F238E27FC236}">
                  <a16:creationId xmlns:a16="http://schemas.microsoft.com/office/drawing/2014/main" id="{F7AD5DEB-6869-C238-C294-A7CFE23C2AAB}"/>
                </a:ext>
              </a:extLst>
            </p:cNvPr>
            <p:cNvSpPr/>
            <p:nvPr/>
          </p:nvSpPr>
          <p:spPr>
            <a:xfrm>
              <a:off x="6505042" y="1216152"/>
              <a:ext cx="458114" cy="458114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5" name="Text 199">
              <a:extLst>
                <a:ext uri="{FF2B5EF4-FFF2-40B4-BE49-F238E27FC236}">
                  <a16:creationId xmlns:a16="http://schemas.microsoft.com/office/drawing/2014/main" id="{CA4F9ED2-6B71-2C35-832F-BF0DFDE3AC5F}"/>
                </a:ext>
              </a:extLst>
            </p:cNvPr>
            <p:cNvSpPr/>
            <p:nvPr/>
          </p:nvSpPr>
          <p:spPr>
            <a:xfrm>
              <a:off x="6505042" y="1216152"/>
              <a:ext cx="458114" cy="458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龙虾</a:t>
              </a:r>
              <a:endParaRPr lang="en-US" sz="600" dirty="0"/>
            </a:p>
          </p:txBody>
        </p:sp>
        <p:sp>
          <p:nvSpPr>
            <p:cNvPr id="316" name="Shape 200">
              <a:extLst>
                <a:ext uri="{FF2B5EF4-FFF2-40B4-BE49-F238E27FC236}">
                  <a16:creationId xmlns:a16="http://schemas.microsoft.com/office/drawing/2014/main" id="{455D85B4-FBDE-9541-CEA3-5D2F90CB9837}"/>
                </a:ext>
              </a:extLst>
            </p:cNvPr>
            <p:cNvSpPr/>
            <p:nvPr/>
          </p:nvSpPr>
          <p:spPr>
            <a:xfrm>
              <a:off x="10773461" y="3487522"/>
              <a:ext cx="458114" cy="458114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7" name="Text 201">
              <a:extLst>
                <a:ext uri="{FF2B5EF4-FFF2-40B4-BE49-F238E27FC236}">
                  <a16:creationId xmlns:a16="http://schemas.microsoft.com/office/drawing/2014/main" id="{3435AC95-F762-7A24-95DA-A9A321F2B4FF}"/>
                </a:ext>
              </a:extLst>
            </p:cNvPr>
            <p:cNvSpPr/>
            <p:nvPr/>
          </p:nvSpPr>
          <p:spPr>
            <a:xfrm>
              <a:off x="10773461" y="3487522"/>
              <a:ext cx="458114" cy="458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星巴克</a:t>
              </a:r>
              <a:endParaRPr lang="en-US" sz="600" dirty="0"/>
            </a:p>
          </p:txBody>
        </p:sp>
        <p:sp>
          <p:nvSpPr>
            <p:cNvPr id="318" name="Shape 202">
              <a:extLst>
                <a:ext uri="{FF2B5EF4-FFF2-40B4-BE49-F238E27FC236}">
                  <a16:creationId xmlns:a16="http://schemas.microsoft.com/office/drawing/2014/main" id="{09A87B74-E25D-E629-9936-5EE58CE8D976}"/>
                </a:ext>
              </a:extLst>
            </p:cNvPr>
            <p:cNvSpPr/>
            <p:nvPr/>
          </p:nvSpPr>
          <p:spPr>
            <a:xfrm>
              <a:off x="8565185" y="4151376"/>
              <a:ext cx="461772" cy="461772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19" name="Text 203">
              <a:extLst>
                <a:ext uri="{FF2B5EF4-FFF2-40B4-BE49-F238E27FC236}">
                  <a16:creationId xmlns:a16="http://schemas.microsoft.com/office/drawing/2014/main" id="{48EB3140-4036-E239-91F4-C0F232CDD7BB}"/>
                </a:ext>
              </a:extLst>
            </p:cNvPr>
            <p:cNvSpPr/>
            <p:nvPr/>
          </p:nvSpPr>
          <p:spPr>
            <a:xfrm>
              <a:off x="8565185" y="4151376"/>
              <a:ext cx="461772" cy="4617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汉堡</a:t>
              </a:r>
              <a:endParaRPr lang="en-US" sz="600" dirty="0"/>
            </a:p>
          </p:txBody>
        </p:sp>
        <p:sp>
          <p:nvSpPr>
            <p:cNvPr id="320" name="Shape 204">
              <a:extLst>
                <a:ext uri="{FF2B5EF4-FFF2-40B4-BE49-F238E27FC236}">
                  <a16:creationId xmlns:a16="http://schemas.microsoft.com/office/drawing/2014/main" id="{CB45D2F8-D5C2-4D99-5949-557821851922}"/>
                </a:ext>
              </a:extLst>
            </p:cNvPr>
            <p:cNvSpPr/>
            <p:nvPr/>
          </p:nvSpPr>
          <p:spPr>
            <a:xfrm>
              <a:off x="7002475" y="2776118"/>
              <a:ext cx="464515" cy="464515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1" name="Text 205">
              <a:extLst>
                <a:ext uri="{FF2B5EF4-FFF2-40B4-BE49-F238E27FC236}">
                  <a16:creationId xmlns:a16="http://schemas.microsoft.com/office/drawing/2014/main" id="{89B009A0-28B7-B55C-774C-45167372D4DB}"/>
                </a:ext>
              </a:extLst>
            </p:cNvPr>
            <p:cNvSpPr/>
            <p:nvPr/>
          </p:nvSpPr>
          <p:spPr>
            <a:xfrm>
              <a:off x="7002475" y="2776118"/>
              <a:ext cx="464515" cy="4645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披萨</a:t>
              </a:r>
              <a:endParaRPr lang="en-US" sz="600" dirty="0"/>
            </a:p>
          </p:txBody>
        </p:sp>
        <p:sp>
          <p:nvSpPr>
            <p:cNvPr id="322" name="Shape 206">
              <a:extLst>
                <a:ext uri="{FF2B5EF4-FFF2-40B4-BE49-F238E27FC236}">
                  <a16:creationId xmlns:a16="http://schemas.microsoft.com/office/drawing/2014/main" id="{B7EC7527-A520-88EE-85A9-564CEBA32AC9}"/>
                </a:ext>
              </a:extLst>
            </p:cNvPr>
            <p:cNvSpPr/>
            <p:nvPr/>
          </p:nvSpPr>
          <p:spPr>
            <a:xfrm>
              <a:off x="10902391" y="4447642"/>
              <a:ext cx="470002" cy="47000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3" name="Text 207">
              <a:extLst>
                <a:ext uri="{FF2B5EF4-FFF2-40B4-BE49-F238E27FC236}">
                  <a16:creationId xmlns:a16="http://schemas.microsoft.com/office/drawing/2014/main" id="{BE6A5F15-394A-666E-E4B5-BDCE56B69FF9}"/>
                </a:ext>
              </a:extLst>
            </p:cNvPr>
            <p:cNvSpPr/>
            <p:nvPr/>
          </p:nvSpPr>
          <p:spPr>
            <a:xfrm>
              <a:off x="10902391" y="4447642"/>
              <a:ext cx="470002" cy="470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塔斯汀</a:t>
              </a:r>
              <a:endParaRPr lang="en-US" sz="600" dirty="0"/>
            </a:p>
          </p:txBody>
        </p:sp>
        <p:sp>
          <p:nvSpPr>
            <p:cNvPr id="324" name="Shape 208">
              <a:extLst>
                <a:ext uri="{FF2B5EF4-FFF2-40B4-BE49-F238E27FC236}">
                  <a16:creationId xmlns:a16="http://schemas.microsoft.com/office/drawing/2014/main" id="{41FB0A28-EB45-8318-19E8-33775C3923EC}"/>
                </a:ext>
              </a:extLst>
            </p:cNvPr>
            <p:cNvSpPr/>
            <p:nvPr/>
          </p:nvSpPr>
          <p:spPr>
            <a:xfrm>
              <a:off x="11174882" y="4560113"/>
              <a:ext cx="480060" cy="480060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5" name="Text 209">
              <a:extLst>
                <a:ext uri="{FF2B5EF4-FFF2-40B4-BE49-F238E27FC236}">
                  <a16:creationId xmlns:a16="http://schemas.microsoft.com/office/drawing/2014/main" id="{1CE20115-AFC0-63F8-034E-C4DE9F556033}"/>
                </a:ext>
              </a:extLst>
            </p:cNvPr>
            <p:cNvSpPr/>
            <p:nvPr/>
          </p:nvSpPr>
          <p:spPr>
            <a:xfrm>
              <a:off x="11174882" y="4560113"/>
              <a:ext cx="48006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华莱士</a:t>
              </a:r>
              <a:endParaRPr lang="en-US" sz="700" dirty="0"/>
            </a:p>
          </p:txBody>
        </p:sp>
        <p:sp>
          <p:nvSpPr>
            <p:cNvPr id="326" name="Shape 210">
              <a:extLst>
                <a:ext uri="{FF2B5EF4-FFF2-40B4-BE49-F238E27FC236}">
                  <a16:creationId xmlns:a16="http://schemas.microsoft.com/office/drawing/2014/main" id="{0037E22A-F0C1-0BDB-2C5F-C2E4DD661D3A}"/>
                </a:ext>
              </a:extLst>
            </p:cNvPr>
            <p:cNvSpPr/>
            <p:nvPr/>
          </p:nvSpPr>
          <p:spPr>
            <a:xfrm>
              <a:off x="9434779" y="4671670"/>
              <a:ext cx="487375" cy="487375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7" name="Text 211">
              <a:extLst>
                <a:ext uri="{FF2B5EF4-FFF2-40B4-BE49-F238E27FC236}">
                  <a16:creationId xmlns:a16="http://schemas.microsoft.com/office/drawing/2014/main" id="{70DF2B1F-3BD7-265A-9B25-66735F85C8F8}"/>
                </a:ext>
              </a:extLst>
            </p:cNvPr>
            <p:cNvSpPr/>
            <p:nvPr/>
          </p:nvSpPr>
          <p:spPr>
            <a:xfrm>
              <a:off x="9434779" y="4671670"/>
              <a:ext cx="487375" cy="487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螺蛳粉</a:t>
              </a:r>
              <a:endParaRPr lang="en-US" sz="700" dirty="0"/>
            </a:p>
          </p:txBody>
        </p:sp>
        <p:sp>
          <p:nvSpPr>
            <p:cNvPr id="328" name="Shape 212">
              <a:extLst>
                <a:ext uri="{FF2B5EF4-FFF2-40B4-BE49-F238E27FC236}">
                  <a16:creationId xmlns:a16="http://schemas.microsoft.com/office/drawing/2014/main" id="{D695C564-142C-8B2F-891C-66353D05294D}"/>
                </a:ext>
              </a:extLst>
            </p:cNvPr>
            <p:cNvSpPr/>
            <p:nvPr/>
          </p:nvSpPr>
          <p:spPr>
            <a:xfrm>
              <a:off x="8869680" y="1465783"/>
              <a:ext cx="493776" cy="493776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29" name="Text 213">
              <a:extLst>
                <a:ext uri="{FF2B5EF4-FFF2-40B4-BE49-F238E27FC236}">
                  <a16:creationId xmlns:a16="http://schemas.microsoft.com/office/drawing/2014/main" id="{014ADFE5-C71F-0A52-281F-EBCFB10DF0AC}"/>
                </a:ext>
              </a:extLst>
            </p:cNvPr>
            <p:cNvSpPr/>
            <p:nvPr/>
          </p:nvSpPr>
          <p:spPr>
            <a:xfrm>
              <a:off x="8869680" y="1465783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烤鱼</a:t>
              </a:r>
              <a:endParaRPr lang="en-US" sz="700" dirty="0"/>
            </a:p>
          </p:txBody>
        </p:sp>
        <p:sp>
          <p:nvSpPr>
            <p:cNvPr id="330" name="Shape 214">
              <a:extLst>
                <a:ext uri="{FF2B5EF4-FFF2-40B4-BE49-F238E27FC236}">
                  <a16:creationId xmlns:a16="http://schemas.microsoft.com/office/drawing/2014/main" id="{4C61E811-AE67-A1ED-0C42-33859DAE703E}"/>
                </a:ext>
              </a:extLst>
            </p:cNvPr>
            <p:cNvSpPr/>
            <p:nvPr/>
          </p:nvSpPr>
          <p:spPr>
            <a:xfrm>
              <a:off x="5537606" y="4853635"/>
              <a:ext cx="496519" cy="496519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1" name="Text 215">
              <a:extLst>
                <a:ext uri="{FF2B5EF4-FFF2-40B4-BE49-F238E27FC236}">
                  <a16:creationId xmlns:a16="http://schemas.microsoft.com/office/drawing/2014/main" id="{7D509773-EFA3-7149-E02A-6070021EE07E}"/>
                </a:ext>
              </a:extLst>
            </p:cNvPr>
            <p:cNvSpPr/>
            <p:nvPr/>
          </p:nvSpPr>
          <p:spPr>
            <a:xfrm>
              <a:off x="5537606" y="4853635"/>
              <a:ext cx="496519" cy="496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喜茶</a:t>
              </a:r>
              <a:endParaRPr lang="en-US" sz="700" dirty="0"/>
            </a:p>
          </p:txBody>
        </p:sp>
        <p:sp>
          <p:nvSpPr>
            <p:cNvPr id="332" name="Shape 216">
              <a:extLst>
                <a:ext uri="{FF2B5EF4-FFF2-40B4-BE49-F238E27FC236}">
                  <a16:creationId xmlns:a16="http://schemas.microsoft.com/office/drawing/2014/main" id="{6A087589-49B6-620D-9C59-D2BBA8402574}"/>
                </a:ext>
              </a:extLst>
            </p:cNvPr>
            <p:cNvSpPr/>
            <p:nvPr/>
          </p:nvSpPr>
          <p:spPr>
            <a:xfrm>
              <a:off x="9905695" y="5214823"/>
              <a:ext cx="498348" cy="498348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3" name="Text 217">
              <a:extLst>
                <a:ext uri="{FF2B5EF4-FFF2-40B4-BE49-F238E27FC236}">
                  <a16:creationId xmlns:a16="http://schemas.microsoft.com/office/drawing/2014/main" id="{E972E7A6-3F92-1731-C4F6-C7AD79B24861}"/>
                </a:ext>
              </a:extLst>
            </p:cNvPr>
            <p:cNvSpPr/>
            <p:nvPr/>
          </p:nvSpPr>
          <p:spPr>
            <a:xfrm>
              <a:off x="9905695" y="5214823"/>
              <a:ext cx="498348" cy="4983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茶百道</a:t>
              </a:r>
              <a:endParaRPr lang="en-US" sz="700" dirty="0"/>
            </a:p>
          </p:txBody>
        </p:sp>
        <p:sp>
          <p:nvSpPr>
            <p:cNvPr id="334" name="Shape 218">
              <a:extLst>
                <a:ext uri="{FF2B5EF4-FFF2-40B4-BE49-F238E27FC236}">
                  <a16:creationId xmlns:a16="http://schemas.microsoft.com/office/drawing/2014/main" id="{62C1C346-D563-CCA7-359D-23BC06998993}"/>
                </a:ext>
              </a:extLst>
            </p:cNvPr>
            <p:cNvSpPr/>
            <p:nvPr/>
          </p:nvSpPr>
          <p:spPr>
            <a:xfrm>
              <a:off x="8879738" y="1659636"/>
              <a:ext cx="508406" cy="508406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5" name="Text 219">
              <a:extLst>
                <a:ext uri="{FF2B5EF4-FFF2-40B4-BE49-F238E27FC236}">
                  <a16:creationId xmlns:a16="http://schemas.microsoft.com/office/drawing/2014/main" id="{EF19E6E3-64B4-BA2D-D538-D42852DAEAAD}"/>
                </a:ext>
              </a:extLst>
            </p:cNvPr>
            <p:cNvSpPr/>
            <p:nvPr/>
          </p:nvSpPr>
          <p:spPr>
            <a:xfrm>
              <a:off x="8879738" y="1659636"/>
              <a:ext cx="508406" cy="5084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必胜客</a:t>
              </a:r>
              <a:endParaRPr lang="en-US" sz="700" dirty="0"/>
            </a:p>
          </p:txBody>
        </p:sp>
        <p:sp>
          <p:nvSpPr>
            <p:cNvPr id="336" name="Shape 220">
              <a:extLst>
                <a:ext uri="{FF2B5EF4-FFF2-40B4-BE49-F238E27FC236}">
                  <a16:creationId xmlns:a16="http://schemas.microsoft.com/office/drawing/2014/main" id="{22700CA7-01EE-83A5-AED1-A237FDAD6A5C}"/>
                </a:ext>
              </a:extLst>
            </p:cNvPr>
            <p:cNvSpPr/>
            <p:nvPr/>
          </p:nvSpPr>
          <p:spPr>
            <a:xfrm>
              <a:off x="10056571" y="4956048"/>
              <a:ext cx="514807" cy="514807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7" name="Text 221">
              <a:extLst>
                <a:ext uri="{FF2B5EF4-FFF2-40B4-BE49-F238E27FC236}">
                  <a16:creationId xmlns:a16="http://schemas.microsoft.com/office/drawing/2014/main" id="{5C5A19F5-0C0B-6836-E5DE-CF1455E4783A}"/>
                </a:ext>
              </a:extLst>
            </p:cNvPr>
            <p:cNvSpPr/>
            <p:nvPr/>
          </p:nvSpPr>
          <p:spPr>
            <a:xfrm>
              <a:off x="10056571" y="4956048"/>
              <a:ext cx="514807" cy="5148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一点点</a:t>
              </a:r>
              <a:endParaRPr lang="en-US" sz="700" dirty="0"/>
            </a:p>
          </p:txBody>
        </p:sp>
        <p:sp>
          <p:nvSpPr>
            <p:cNvPr id="338" name="Shape 222">
              <a:extLst>
                <a:ext uri="{FF2B5EF4-FFF2-40B4-BE49-F238E27FC236}">
                  <a16:creationId xmlns:a16="http://schemas.microsoft.com/office/drawing/2014/main" id="{8E359D4A-7DCC-7EAD-0B17-2C4A7EC5137A}"/>
                </a:ext>
              </a:extLst>
            </p:cNvPr>
            <p:cNvSpPr/>
            <p:nvPr/>
          </p:nvSpPr>
          <p:spPr>
            <a:xfrm>
              <a:off x="9924898" y="298094"/>
              <a:ext cx="523037" cy="523037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39" name="Text 223">
              <a:extLst>
                <a:ext uri="{FF2B5EF4-FFF2-40B4-BE49-F238E27FC236}">
                  <a16:creationId xmlns:a16="http://schemas.microsoft.com/office/drawing/2014/main" id="{264593F8-418A-9333-8BB3-1933C0BABE4C}"/>
                </a:ext>
              </a:extLst>
            </p:cNvPr>
            <p:cNvSpPr/>
            <p:nvPr/>
          </p:nvSpPr>
          <p:spPr>
            <a:xfrm>
              <a:off x="9924898" y="298094"/>
              <a:ext cx="523037" cy="5230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海底捞</a:t>
              </a:r>
              <a:endParaRPr lang="en-US" sz="700" dirty="0"/>
            </a:p>
          </p:txBody>
        </p:sp>
        <p:sp>
          <p:nvSpPr>
            <p:cNvPr id="340" name="Shape 224">
              <a:extLst>
                <a:ext uri="{FF2B5EF4-FFF2-40B4-BE49-F238E27FC236}">
                  <a16:creationId xmlns:a16="http://schemas.microsoft.com/office/drawing/2014/main" id="{8FAECDB7-968F-3215-E12E-F93761E4D747}"/>
                </a:ext>
              </a:extLst>
            </p:cNvPr>
            <p:cNvSpPr/>
            <p:nvPr/>
          </p:nvSpPr>
          <p:spPr>
            <a:xfrm>
              <a:off x="9817913" y="4196182"/>
              <a:ext cx="525780" cy="525780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1" name="Text 225">
              <a:extLst>
                <a:ext uri="{FF2B5EF4-FFF2-40B4-BE49-F238E27FC236}">
                  <a16:creationId xmlns:a16="http://schemas.microsoft.com/office/drawing/2014/main" id="{31EB5834-083A-2F20-9DBA-AE246960CB5E}"/>
                </a:ext>
              </a:extLst>
            </p:cNvPr>
            <p:cNvSpPr/>
            <p:nvPr/>
          </p:nvSpPr>
          <p:spPr>
            <a:xfrm>
              <a:off x="9817913" y="4196182"/>
              <a:ext cx="525780" cy="5257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霸王茶姬</a:t>
              </a:r>
              <a:endParaRPr lang="en-US" sz="700" dirty="0"/>
            </a:p>
          </p:txBody>
        </p:sp>
        <p:sp>
          <p:nvSpPr>
            <p:cNvPr id="342" name="Shape 228">
              <a:extLst>
                <a:ext uri="{FF2B5EF4-FFF2-40B4-BE49-F238E27FC236}">
                  <a16:creationId xmlns:a16="http://schemas.microsoft.com/office/drawing/2014/main" id="{36AE07E2-EDF0-CCE7-8659-0D163A35AF91}"/>
                </a:ext>
              </a:extLst>
            </p:cNvPr>
            <p:cNvSpPr/>
            <p:nvPr/>
          </p:nvSpPr>
          <p:spPr>
            <a:xfrm>
              <a:off x="5521147" y="1423721"/>
              <a:ext cx="556870" cy="556870"/>
            </a:xfrm>
            <a:prstGeom prst="ellipse">
              <a:avLst/>
            </a:prstGeom>
            <a:solidFill>
              <a:srgbClr val="9B59B6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3" name="Text 229">
              <a:extLst>
                <a:ext uri="{FF2B5EF4-FFF2-40B4-BE49-F238E27FC236}">
                  <a16:creationId xmlns:a16="http://schemas.microsoft.com/office/drawing/2014/main" id="{DBBFD1D6-7276-AA8C-D85E-4C4CB687451E}"/>
                </a:ext>
              </a:extLst>
            </p:cNvPr>
            <p:cNvSpPr/>
            <p:nvPr/>
          </p:nvSpPr>
          <p:spPr>
            <a:xfrm>
              <a:off x="5521147" y="1423721"/>
              <a:ext cx="556870" cy="5568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美食</a:t>
              </a:r>
              <a:endParaRPr lang="en-US" sz="700" dirty="0"/>
            </a:p>
          </p:txBody>
        </p:sp>
        <p:sp>
          <p:nvSpPr>
            <p:cNvPr id="344" name="Shape 230">
              <a:extLst>
                <a:ext uri="{FF2B5EF4-FFF2-40B4-BE49-F238E27FC236}">
                  <a16:creationId xmlns:a16="http://schemas.microsoft.com/office/drawing/2014/main" id="{C2D31D13-1410-393C-0B68-D8A81F255202}"/>
                </a:ext>
              </a:extLst>
            </p:cNvPr>
            <p:cNvSpPr/>
            <p:nvPr/>
          </p:nvSpPr>
          <p:spPr>
            <a:xfrm>
              <a:off x="7410298" y="1380744"/>
              <a:ext cx="561442" cy="561442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5" name="Text 231">
              <a:extLst>
                <a:ext uri="{FF2B5EF4-FFF2-40B4-BE49-F238E27FC236}">
                  <a16:creationId xmlns:a16="http://schemas.microsoft.com/office/drawing/2014/main" id="{19A5C633-D113-C06A-F06B-FC82579A8FAD}"/>
                </a:ext>
              </a:extLst>
            </p:cNvPr>
            <p:cNvSpPr/>
            <p:nvPr/>
          </p:nvSpPr>
          <p:spPr>
            <a:xfrm>
              <a:off x="7410298" y="1380744"/>
              <a:ext cx="561442" cy="561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生日蛋糕</a:t>
              </a:r>
              <a:endParaRPr lang="en-US" sz="700" dirty="0"/>
            </a:p>
          </p:txBody>
        </p:sp>
        <p:sp>
          <p:nvSpPr>
            <p:cNvPr id="346" name="Shape 232">
              <a:extLst>
                <a:ext uri="{FF2B5EF4-FFF2-40B4-BE49-F238E27FC236}">
                  <a16:creationId xmlns:a16="http://schemas.microsoft.com/office/drawing/2014/main" id="{98D6535F-DD8C-C576-F620-192CBF945D6A}"/>
                </a:ext>
              </a:extLst>
            </p:cNvPr>
            <p:cNvSpPr/>
            <p:nvPr/>
          </p:nvSpPr>
          <p:spPr>
            <a:xfrm>
              <a:off x="11420856" y="4887468"/>
              <a:ext cx="567842" cy="56784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7" name="Text 233">
              <a:extLst>
                <a:ext uri="{FF2B5EF4-FFF2-40B4-BE49-F238E27FC236}">
                  <a16:creationId xmlns:a16="http://schemas.microsoft.com/office/drawing/2014/main" id="{60665604-AD44-992E-7202-85FFC8234A01}"/>
                </a:ext>
              </a:extLst>
            </p:cNvPr>
            <p:cNvSpPr/>
            <p:nvPr/>
          </p:nvSpPr>
          <p:spPr>
            <a:xfrm>
              <a:off x="11420856" y="4887468"/>
              <a:ext cx="567842" cy="5678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瑞幸</a:t>
              </a:r>
              <a:endParaRPr lang="en-US" sz="700" dirty="0"/>
            </a:p>
          </p:txBody>
        </p:sp>
        <p:sp>
          <p:nvSpPr>
            <p:cNvPr id="348" name="Shape 234">
              <a:extLst>
                <a:ext uri="{FF2B5EF4-FFF2-40B4-BE49-F238E27FC236}">
                  <a16:creationId xmlns:a16="http://schemas.microsoft.com/office/drawing/2014/main" id="{CFDE15EA-642D-45FA-0EF5-BEF1CA76D7DF}"/>
                </a:ext>
              </a:extLst>
            </p:cNvPr>
            <p:cNvSpPr/>
            <p:nvPr/>
          </p:nvSpPr>
          <p:spPr>
            <a:xfrm>
              <a:off x="8390534" y="4911242"/>
              <a:ext cx="570586" cy="570586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49" name="Text 235">
              <a:extLst>
                <a:ext uri="{FF2B5EF4-FFF2-40B4-BE49-F238E27FC236}">
                  <a16:creationId xmlns:a16="http://schemas.microsoft.com/office/drawing/2014/main" id="{78106586-7E10-AE6B-9BEF-37ABC3299945}"/>
                </a:ext>
              </a:extLst>
            </p:cNvPr>
            <p:cNvSpPr/>
            <p:nvPr/>
          </p:nvSpPr>
          <p:spPr>
            <a:xfrm>
              <a:off x="8390534" y="4911242"/>
              <a:ext cx="570586" cy="5705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古茗</a:t>
              </a:r>
              <a:endParaRPr lang="en-US" sz="700" dirty="0"/>
            </a:p>
          </p:txBody>
        </p:sp>
        <p:sp>
          <p:nvSpPr>
            <p:cNvPr id="350" name="Shape 238">
              <a:extLst>
                <a:ext uri="{FF2B5EF4-FFF2-40B4-BE49-F238E27FC236}">
                  <a16:creationId xmlns:a16="http://schemas.microsoft.com/office/drawing/2014/main" id="{240E5517-E4DB-EE4F-BDD5-D2C22643B8CE}"/>
                </a:ext>
              </a:extLst>
            </p:cNvPr>
            <p:cNvSpPr/>
            <p:nvPr/>
          </p:nvSpPr>
          <p:spPr>
            <a:xfrm>
              <a:off x="8908999" y="4816145"/>
              <a:ext cx="586130" cy="586130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1" name="Text 239">
              <a:extLst>
                <a:ext uri="{FF2B5EF4-FFF2-40B4-BE49-F238E27FC236}">
                  <a16:creationId xmlns:a16="http://schemas.microsoft.com/office/drawing/2014/main" id="{3CBE8376-5D40-CB21-3A34-5D08E3AE3D3A}"/>
                </a:ext>
              </a:extLst>
            </p:cNvPr>
            <p:cNvSpPr/>
            <p:nvPr/>
          </p:nvSpPr>
          <p:spPr>
            <a:xfrm>
              <a:off x="8908999" y="4816145"/>
              <a:ext cx="586130" cy="5861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咖啡</a:t>
              </a:r>
              <a:endParaRPr lang="en-US" sz="700" dirty="0"/>
            </a:p>
          </p:txBody>
        </p:sp>
        <p:sp>
          <p:nvSpPr>
            <p:cNvPr id="352" name="Shape 240">
              <a:extLst>
                <a:ext uri="{FF2B5EF4-FFF2-40B4-BE49-F238E27FC236}">
                  <a16:creationId xmlns:a16="http://schemas.microsoft.com/office/drawing/2014/main" id="{C91FCADE-DB70-F4E9-34B6-9449FE5620D5}"/>
                </a:ext>
              </a:extLst>
            </p:cNvPr>
            <p:cNvSpPr/>
            <p:nvPr/>
          </p:nvSpPr>
          <p:spPr>
            <a:xfrm>
              <a:off x="6024982" y="1416406"/>
              <a:ext cx="590702" cy="59070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3" name="Text 241">
              <a:extLst>
                <a:ext uri="{FF2B5EF4-FFF2-40B4-BE49-F238E27FC236}">
                  <a16:creationId xmlns:a16="http://schemas.microsoft.com/office/drawing/2014/main" id="{A0200AC6-4D91-B090-6BDC-9E27FB6F3D77}"/>
                </a:ext>
              </a:extLst>
            </p:cNvPr>
            <p:cNvSpPr/>
            <p:nvPr/>
          </p:nvSpPr>
          <p:spPr>
            <a:xfrm>
              <a:off x="6024982" y="1416406"/>
              <a:ext cx="590702" cy="590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小龙虾</a:t>
              </a:r>
              <a:endParaRPr lang="en-US" sz="700" dirty="0"/>
            </a:p>
          </p:txBody>
        </p:sp>
        <p:sp>
          <p:nvSpPr>
            <p:cNvPr id="354" name="Shape 242">
              <a:extLst>
                <a:ext uri="{FF2B5EF4-FFF2-40B4-BE49-F238E27FC236}">
                  <a16:creationId xmlns:a16="http://schemas.microsoft.com/office/drawing/2014/main" id="{05FC7806-25FC-F47E-1ECC-CF2393F101B6}"/>
                </a:ext>
              </a:extLst>
            </p:cNvPr>
            <p:cNvSpPr/>
            <p:nvPr/>
          </p:nvSpPr>
          <p:spPr>
            <a:xfrm>
              <a:off x="11323930" y="4856378"/>
              <a:ext cx="590702" cy="590702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5" name="Text 243">
              <a:extLst>
                <a:ext uri="{FF2B5EF4-FFF2-40B4-BE49-F238E27FC236}">
                  <a16:creationId xmlns:a16="http://schemas.microsoft.com/office/drawing/2014/main" id="{59899125-9FFA-8B32-1AC0-C6E36C6336FB}"/>
                </a:ext>
              </a:extLst>
            </p:cNvPr>
            <p:cNvSpPr/>
            <p:nvPr/>
          </p:nvSpPr>
          <p:spPr>
            <a:xfrm>
              <a:off x="11323930" y="4856378"/>
              <a:ext cx="590702" cy="5907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瑞幸咖啡</a:t>
              </a:r>
              <a:endParaRPr lang="en-US" sz="700" dirty="0"/>
            </a:p>
          </p:txBody>
        </p:sp>
        <p:sp>
          <p:nvSpPr>
            <p:cNvPr id="356" name="Shape 244">
              <a:extLst>
                <a:ext uri="{FF2B5EF4-FFF2-40B4-BE49-F238E27FC236}">
                  <a16:creationId xmlns:a16="http://schemas.microsoft.com/office/drawing/2014/main" id="{1BC2E88B-B4AA-E05A-45F5-0A96A2A20C25}"/>
                </a:ext>
              </a:extLst>
            </p:cNvPr>
            <p:cNvSpPr/>
            <p:nvPr/>
          </p:nvSpPr>
          <p:spPr>
            <a:xfrm>
              <a:off x="10215677" y="3490265"/>
              <a:ext cx="603504" cy="603504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7" name="Text 245">
              <a:extLst>
                <a:ext uri="{FF2B5EF4-FFF2-40B4-BE49-F238E27FC236}">
                  <a16:creationId xmlns:a16="http://schemas.microsoft.com/office/drawing/2014/main" id="{850DF8C0-0680-2861-EDBA-AE8D6A0C53F9}"/>
                </a:ext>
              </a:extLst>
            </p:cNvPr>
            <p:cNvSpPr/>
            <p:nvPr/>
          </p:nvSpPr>
          <p:spPr>
            <a:xfrm>
              <a:off x="10215677" y="3490265"/>
              <a:ext cx="603504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肯德基</a:t>
              </a:r>
              <a:endParaRPr lang="en-US" sz="700" dirty="0"/>
            </a:p>
          </p:txBody>
        </p:sp>
        <p:sp>
          <p:nvSpPr>
            <p:cNvPr id="358" name="Shape 246">
              <a:extLst>
                <a:ext uri="{FF2B5EF4-FFF2-40B4-BE49-F238E27FC236}">
                  <a16:creationId xmlns:a16="http://schemas.microsoft.com/office/drawing/2014/main" id="{C3C978F9-8965-332C-9A6E-114E31768109}"/>
                </a:ext>
              </a:extLst>
            </p:cNvPr>
            <p:cNvSpPr/>
            <p:nvPr/>
          </p:nvSpPr>
          <p:spPr>
            <a:xfrm>
              <a:off x="11050524" y="3658514"/>
              <a:ext cx="605333" cy="605333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59" name="Text 247">
              <a:extLst>
                <a:ext uri="{FF2B5EF4-FFF2-40B4-BE49-F238E27FC236}">
                  <a16:creationId xmlns:a16="http://schemas.microsoft.com/office/drawing/2014/main" id="{53941292-415F-4278-BE54-2FE17C6C3210}"/>
                </a:ext>
              </a:extLst>
            </p:cNvPr>
            <p:cNvSpPr/>
            <p:nvPr/>
          </p:nvSpPr>
          <p:spPr>
            <a:xfrm>
              <a:off x="11050524" y="3658514"/>
              <a:ext cx="605333" cy="605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麦当劳</a:t>
              </a:r>
              <a:endParaRPr lang="en-US" sz="700" dirty="0"/>
            </a:p>
          </p:txBody>
        </p:sp>
        <p:sp>
          <p:nvSpPr>
            <p:cNvPr id="360" name="Shape 250">
              <a:extLst>
                <a:ext uri="{FF2B5EF4-FFF2-40B4-BE49-F238E27FC236}">
                  <a16:creationId xmlns:a16="http://schemas.microsoft.com/office/drawing/2014/main" id="{1AA671D2-1D46-9446-17DE-1F6FDE6423B6}"/>
                </a:ext>
              </a:extLst>
            </p:cNvPr>
            <p:cNvSpPr/>
            <p:nvPr/>
          </p:nvSpPr>
          <p:spPr>
            <a:xfrm>
              <a:off x="6687007" y="1645920"/>
              <a:ext cx="635508" cy="635508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1" name="Text 251">
              <a:extLst>
                <a:ext uri="{FF2B5EF4-FFF2-40B4-BE49-F238E27FC236}">
                  <a16:creationId xmlns:a16="http://schemas.microsoft.com/office/drawing/2014/main" id="{01828DB1-7A29-A653-D192-56CF91260741}"/>
                </a:ext>
              </a:extLst>
            </p:cNvPr>
            <p:cNvSpPr/>
            <p:nvPr/>
          </p:nvSpPr>
          <p:spPr>
            <a:xfrm>
              <a:off x="6687007" y="1645920"/>
              <a:ext cx="635508" cy="6355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蛋糕</a:t>
              </a:r>
              <a:endParaRPr lang="en-US" sz="700" dirty="0"/>
            </a:p>
          </p:txBody>
        </p:sp>
        <p:sp>
          <p:nvSpPr>
            <p:cNvPr id="362" name="Shape 252">
              <a:extLst>
                <a:ext uri="{FF2B5EF4-FFF2-40B4-BE49-F238E27FC236}">
                  <a16:creationId xmlns:a16="http://schemas.microsoft.com/office/drawing/2014/main" id="{ADC1AF9C-F785-1AB3-329E-FFD36BD1FA82}"/>
                </a:ext>
              </a:extLst>
            </p:cNvPr>
            <p:cNvSpPr/>
            <p:nvPr/>
          </p:nvSpPr>
          <p:spPr>
            <a:xfrm>
              <a:off x="10517429" y="5896051"/>
              <a:ext cx="642823" cy="642823"/>
            </a:xfrm>
            <a:prstGeom prst="ellipse">
              <a:avLst/>
            </a:prstGeom>
            <a:solidFill>
              <a:srgbClr val="E07B3A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3" name="Text 253">
              <a:extLst>
                <a:ext uri="{FF2B5EF4-FFF2-40B4-BE49-F238E27FC236}">
                  <a16:creationId xmlns:a16="http://schemas.microsoft.com/office/drawing/2014/main" id="{DF38FEA3-F10B-708B-2AEA-05B29808D7AE}"/>
                </a:ext>
              </a:extLst>
            </p:cNvPr>
            <p:cNvSpPr/>
            <p:nvPr/>
          </p:nvSpPr>
          <p:spPr>
            <a:xfrm>
              <a:off x="10517429" y="5896051"/>
              <a:ext cx="642823" cy="6428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蜜雪冰城</a:t>
              </a:r>
              <a:endParaRPr lang="en-US" sz="700" dirty="0"/>
            </a:p>
          </p:txBody>
        </p:sp>
        <p:sp>
          <p:nvSpPr>
            <p:cNvPr id="364" name="Shape 256">
              <a:extLst>
                <a:ext uri="{FF2B5EF4-FFF2-40B4-BE49-F238E27FC236}">
                  <a16:creationId xmlns:a16="http://schemas.microsoft.com/office/drawing/2014/main" id="{4609E85D-8E6A-F6EB-BF58-ACF61AC6B559}"/>
                </a:ext>
              </a:extLst>
            </p:cNvPr>
            <p:cNvSpPr/>
            <p:nvPr/>
          </p:nvSpPr>
          <p:spPr>
            <a:xfrm>
              <a:off x="8334756" y="4814316"/>
              <a:ext cx="651053" cy="651053"/>
            </a:xfrm>
            <a:prstGeom prst="ellipse">
              <a:avLst/>
            </a:prstGeom>
            <a:solidFill>
              <a:srgbClr val="E8A020">
                <a:alpha val="90000"/>
              </a:srgbClr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365" name="Text 257">
              <a:extLst>
                <a:ext uri="{FF2B5EF4-FFF2-40B4-BE49-F238E27FC236}">
                  <a16:creationId xmlns:a16="http://schemas.microsoft.com/office/drawing/2014/main" id="{2E4E3EB4-1C3F-4ECF-8747-C316ECF3A6E3}"/>
                </a:ext>
              </a:extLst>
            </p:cNvPr>
            <p:cNvSpPr/>
            <p:nvPr/>
          </p:nvSpPr>
          <p:spPr>
            <a:xfrm>
              <a:off x="8334756" y="4814316"/>
              <a:ext cx="651053" cy="6510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奶茶</a:t>
              </a:r>
              <a:endParaRPr lang="en-US" sz="700" dirty="0"/>
            </a:p>
          </p:txBody>
        </p:sp>
        <p:sp>
          <p:nvSpPr>
            <p:cNvPr id="366" name="Shape 260">
              <a:extLst>
                <a:ext uri="{FF2B5EF4-FFF2-40B4-BE49-F238E27FC236}">
                  <a16:creationId xmlns:a16="http://schemas.microsoft.com/office/drawing/2014/main" id="{C55467BC-BF80-8D55-9503-16DAA0262563}"/>
                </a:ext>
              </a:extLst>
            </p:cNvPr>
            <p:cNvSpPr/>
            <p:nvPr/>
          </p:nvSpPr>
          <p:spPr>
            <a:xfrm>
              <a:off x="868680" y="6492240"/>
              <a:ext cx="201168" cy="201168"/>
            </a:xfrm>
            <a:prstGeom prst="ellipse">
              <a:avLst/>
            </a:prstGeom>
            <a:solidFill>
              <a:srgbClr val="D94F4F"/>
            </a:solidFill>
            <a:ln w="12700">
              <a:solidFill>
                <a:srgbClr val="D94F4F"/>
              </a:solidFill>
              <a:prstDash val="solid"/>
            </a:ln>
          </p:spPr>
        </p:sp>
        <p:sp>
          <p:nvSpPr>
            <p:cNvPr id="367" name="Text 261">
              <a:extLst>
                <a:ext uri="{FF2B5EF4-FFF2-40B4-BE49-F238E27FC236}">
                  <a16:creationId xmlns:a16="http://schemas.microsoft.com/office/drawing/2014/main" id="{139BFFE7-CE93-D19F-B3DB-B11C325FB56F}"/>
                </a:ext>
              </a:extLst>
            </p:cNvPr>
            <p:cNvSpPr/>
            <p:nvPr/>
          </p:nvSpPr>
          <p:spPr>
            <a:xfrm>
              <a:off x="1115568" y="6473952"/>
              <a:ext cx="141732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33333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商家意图</a:t>
              </a:r>
              <a:endParaRPr lang="en-US" sz="700" dirty="0"/>
            </a:p>
          </p:txBody>
        </p:sp>
        <p:sp>
          <p:nvSpPr>
            <p:cNvPr id="368" name="Shape 262">
              <a:extLst>
                <a:ext uri="{FF2B5EF4-FFF2-40B4-BE49-F238E27FC236}">
                  <a16:creationId xmlns:a16="http://schemas.microsoft.com/office/drawing/2014/main" id="{3BC073E2-E2FF-0419-F3E4-7DF76F18071A}"/>
                </a:ext>
              </a:extLst>
            </p:cNvPr>
            <p:cNvSpPr/>
            <p:nvPr/>
          </p:nvSpPr>
          <p:spPr>
            <a:xfrm>
              <a:off x="2606040" y="6492240"/>
              <a:ext cx="201168" cy="201168"/>
            </a:xfrm>
            <a:prstGeom prst="ellipse">
              <a:avLst/>
            </a:prstGeom>
            <a:solidFill>
              <a:srgbClr val="E07B3A"/>
            </a:solidFill>
            <a:ln w="12700">
              <a:solidFill>
                <a:srgbClr val="E07B3A"/>
              </a:solidFill>
              <a:prstDash val="solid"/>
            </a:ln>
          </p:spPr>
        </p:sp>
        <p:sp>
          <p:nvSpPr>
            <p:cNvPr id="369" name="Text 263">
              <a:extLst>
                <a:ext uri="{FF2B5EF4-FFF2-40B4-BE49-F238E27FC236}">
                  <a16:creationId xmlns:a16="http://schemas.microsoft.com/office/drawing/2014/main" id="{8851F2F9-22CF-EDF8-0C4B-1F0F7329B797}"/>
                </a:ext>
              </a:extLst>
            </p:cNvPr>
            <p:cNvSpPr/>
            <p:nvPr/>
          </p:nvSpPr>
          <p:spPr>
            <a:xfrm>
              <a:off x="2852928" y="6473952"/>
              <a:ext cx="141732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33333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品牌意图</a:t>
              </a:r>
              <a:endParaRPr lang="en-US" sz="700" dirty="0"/>
            </a:p>
          </p:txBody>
        </p:sp>
        <p:sp>
          <p:nvSpPr>
            <p:cNvPr id="370" name="Shape 264">
              <a:extLst>
                <a:ext uri="{FF2B5EF4-FFF2-40B4-BE49-F238E27FC236}">
                  <a16:creationId xmlns:a16="http://schemas.microsoft.com/office/drawing/2014/main" id="{39C5DF40-7EA7-A4A2-FDC2-D4FD48D44775}"/>
                </a:ext>
              </a:extLst>
            </p:cNvPr>
            <p:cNvSpPr/>
            <p:nvPr/>
          </p:nvSpPr>
          <p:spPr>
            <a:xfrm>
              <a:off x="4343400" y="6492240"/>
              <a:ext cx="201168" cy="201168"/>
            </a:xfrm>
            <a:prstGeom prst="ellipse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</p:sp>
        <p:sp>
          <p:nvSpPr>
            <p:cNvPr id="371" name="Text 265">
              <a:extLst>
                <a:ext uri="{FF2B5EF4-FFF2-40B4-BE49-F238E27FC236}">
                  <a16:creationId xmlns:a16="http://schemas.microsoft.com/office/drawing/2014/main" id="{B24C1E0F-188A-FBA7-37A1-BE99B6ED0DD6}"/>
                </a:ext>
              </a:extLst>
            </p:cNvPr>
            <p:cNvSpPr/>
            <p:nvPr/>
          </p:nvSpPr>
          <p:spPr>
            <a:xfrm>
              <a:off x="4590288" y="6473952"/>
              <a:ext cx="141732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33333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品类意图</a:t>
              </a:r>
              <a:endParaRPr lang="en-US" sz="700" dirty="0"/>
            </a:p>
          </p:txBody>
        </p:sp>
        <p:sp>
          <p:nvSpPr>
            <p:cNvPr id="372" name="Shape 266">
              <a:extLst>
                <a:ext uri="{FF2B5EF4-FFF2-40B4-BE49-F238E27FC236}">
                  <a16:creationId xmlns:a16="http://schemas.microsoft.com/office/drawing/2014/main" id="{418722D7-9D57-10EC-137F-805735BDD2C8}"/>
                </a:ext>
              </a:extLst>
            </p:cNvPr>
            <p:cNvSpPr/>
            <p:nvPr/>
          </p:nvSpPr>
          <p:spPr>
            <a:xfrm>
              <a:off x="6080760" y="6492240"/>
              <a:ext cx="201168" cy="201168"/>
            </a:xfrm>
            <a:prstGeom prst="ellipse">
              <a:avLst/>
            </a:prstGeom>
            <a:solidFill>
              <a:srgbClr val="4CAF7D"/>
            </a:solidFill>
            <a:ln w="12700">
              <a:solidFill>
                <a:srgbClr val="4CAF7D"/>
              </a:solidFill>
              <a:prstDash val="solid"/>
            </a:ln>
          </p:spPr>
        </p:sp>
        <p:sp>
          <p:nvSpPr>
            <p:cNvPr id="373" name="Text 267">
              <a:extLst>
                <a:ext uri="{FF2B5EF4-FFF2-40B4-BE49-F238E27FC236}">
                  <a16:creationId xmlns:a16="http://schemas.microsoft.com/office/drawing/2014/main" id="{78BDF4D1-5447-0D10-BCAD-75D8C2E1E8AC}"/>
                </a:ext>
              </a:extLst>
            </p:cNvPr>
            <p:cNvSpPr/>
            <p:nvPr/>
          </p:nvSpPr>
          <p:spPr>
            <a:xfrm>
              <a:off x="6327648" y="6473952"/>
              <a:ext cx="141732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33333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菜品意图</a:t>
              </a:r>
              <a:endParaRPr lang="en-US" sz="700" dirty="0"/>
            </a:p>
          </p:txBody>
        </p:sp>
        <p:sp>
          <p:nvSpPr>
            <p:cNvPr id="374" name="Shape 268">
              <a:extLst>
                <a:ext uri="{FF2B5EF4-FFF2-40B4-BE49-F238E27FC236}">
                  <a16:creationId xmlns:a16="http://schemas.microsoft.com/office/drawing/2014/main" id="{F3936283-8F28-CDA5-5B10-62E355FC0FA2}"/>
                </a:ext>
              </a:extLst>
            </p:cNvPr>
            <p:cNvSpPr/>
            <p:nvPr/>
          </p:nvSpPr>
          <p:spPr>
            <a:xfrm>
              <a:off x="7818120" y="6492240"/>
              <a:ext cx="201168" cy="201168"/>
            </a:xfrm>
            <a:prstGeom prst="ellipse">
              <a:avLst/>
            </a:prstGeom>
            <a:solidFill>
              <a:srgbClr val="4A90D9"/>
            </a:solidFill>
            <a:ln w="12700">
              <a:solidFill>
                <a:srgbClr val="4A90D9"/>
              </a:solidFill>
              <a:prstDash val="solid"/>
            </a:ln>
          </p:spPr>
        </p:sp>
        <p:sp>
          <p:nvSpPr>
            <p:cNvPr id="375" name="Text 269">
              <a:extLst>
                <a:ext uri="{FF2B5EF4-FFF2-40B4-BE49-F238E27FC236}">
                  <a16:creationId xmlns:a16="http://schemas.microsoft.com/office/drawing/2014/main" id="{06C95782-ED52-7C1A-1AC4-9609904549F9}"/>
                </a:ext>
              </a:extLst>
            </p:cNvPr>
            <p:cNvSpPr/>
            <p:nvPr/>
          </p:nvSpPr>
          <p:spPr>
            <a:xfrm>
              <a:off x="8065008" y="6473952"/>
              <a:ext cx="141732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33333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地址意图</a:t>
              </a:r>
              <a:endParaRPr lang="en-US" sz="700" dirty="0"/>
            </a:p>
          </p:txBody>
        </p:sp>
        <p:sp>
          <p:nvSpPr>
            <p:cNvPr id="376" name="Shape 270">
              <a:extLst>
                <a:ext uri="{FF2B5EF4-FFF2-40B4-BE49-F238E27FC236}">
                  <a16:creationId xmlns:a16="http://schemas.microsoft.com/office/drawing/2014/main" id="{DADF11DB-31EE-083B-279E-0FBB3D37E5FD}"/>
                </a:ext>
              </a:extLst>
            </p:cNvPr>
            <p:cNvSpPr/>
            <p:nvPr/>
          </p:nvSpPr>
          <p:spPr>
            <a:xfrm>
              <a:off x="9555480" y="6492240"/>
              <a:ext cx="201168" cy="201168"/>
            </a:xfrm>
            <a:prstGeom prst="ellipse">
              <a:avLst/>
            </a:prstGeom>
            <a:solidFill>
              <a:srgbClr val="9B59B6"/>
            </a:solidFill>
            <a:ln w="12700">
              <a:solidFill>
                <a:srgbClr val="9B59B6"/>
              </a:solidFill>
              <a:prstDash val="solid"/>
            </a:ln>
          </p:spPr>
        </p:sp>
        <p:sp>
          <p:nvSpPr>
            <p:cNvPr id="377" name="Text 271">
              <a:extLst>
                <a:ext uri="{FF2B5EF4-FFF2-40B4-BE49-F238E27FC236}">
                  <a16:creationId xmlns:a16="http://schemas.microsoft.com/office/drawing/2014/main" id="{961AAD56-A807-C688-9FDD-E69FE9BEE09E}"/>
                </a:ext>
              </a:extLst>
            </p:cNvPr>
            <p:cNvSpPr/>
            <p:nvPr/>
          </p:nvSpPr>
          <p:spPr>
            <a:xfrm>
              <a:off x="9802368" y="6473952"/>
              <a:ext cx="141732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333333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场景意图</a:t>
              </a:r>
              <a:endParaRPr lang="en-US" sz="700" dirty="0"/>
            </a:p>
          </p:txBody>
        </p:sp>
        <p:sp>
          <p:nvSpPr>
            <p:cNvPr id="378" name="Text 272">
              <a:extLst>
                <a:ext uri="{FF2B5EF4-FFF2-40B4-BE49-F238E27FC236}">
                  <a16:creationId xmlns:a16="http://schemas.microsoft.com/office/drawing/2014/main" id="{50080440-6F01-9194-A7F7-9ACF40D1555B}"/>
                </a:ext>
              </a:extLst>
            </p:cNvPr>
            <p:cNvSpPr/>
            <p:nvPr/>
          </p:nvSpPr>
          <p:spPr>
            <a:xfrm>
              <a:off x="457199" y="6912518"/>
              <a:ext cx="11247121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00" dirty="0">
                  <a:solidFill>
                    <a:srgbClr val="AAAAAA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气泡大小 = view_qv（对数比例）  ·  X/Y轴均为对数坐标  ·  中位线: CXR=2.05% / 客单价=57元  ·  数据来源：五一节top5k</a:t>
              </a:r>
              <a:endParaRPr lang="en-US" sz="5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27143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4BCDB-AFDA-82C2-4E50-737B668BE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B0138B17-6D36-76C5-0159-27B6628B1FB2}"/>
              </a:ext>
            </a:extLst>
          </p:cNvPr>
          <p:cNvSpPr txBox="1"/>
          <p:nvPr/>
        </p:nvSpPr>
        <p:spPr>
          <a:xfrm>
            <a:off x="128907" y="0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榜单用户需求洞察 </a:t>
            </a:r>
            <a:r>
              <a:rPr lang="en-US" altLang="zh-CN" sz="2100" dirty="0">
                <a:latin typeface="+mj-ea"/>
              </a:rPr>
              <a:t>@</a:t>
            </a:r>
            <a:r>
              <a:rPr lang="zh-CN" altLang="en-US" sz="2100" dirty="0">
                <a:latin typeface="+mj-ea"/>
              </a:rPr>
              <a:t>思佳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55CB09-808E-3C5D-0382-7325A3310169}"/>
              </a:ext>
            </a:extLst>
          </p:cNvPr>
          <p:cNvSpPr/>
          <p:nvPr/>
        </p:nvSpPr>
        <p:spPr>
          <a:xfrm>
            <a:off x="41031" y="428936"/>
            <a:ext cx="9038492" cy="2092149"/>
          </a:xfrm>
          <a:prstGeom prst="rect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68997D8-DDB9-CD37-DFBF-4FC05E48A498}"/>
              </a:ext>
            </a:extLst>
          </p:cNvPr>
          <p:cNvGrpSpPr/>
          <p:nvPr/>
        </p:nvGrpSpPr>
        <p:grpSpPr>
          <a:xfrm>
            <a:off x="3323494" y="421617"/>
            <a:ext cx="2743199" cy="2142813"/>
            <a:chOff x="3300047" y="425277"/>
            <a:chExt cx="2743199" cy="2142813"/>
          </a:xfrm>
        </p:grpSpPr>
        <p:graphicFrame>
          <p:nvGraphicFramePr>
            <p:cNvPr id="20" name="图表 19">
              <a:extLst>
                <a:ext uri="{FF2B5EF4-FFF2-40B4-BE49-F238E27FC236}">
                  <a16:creationId xmlns:a16="http://schemas.microsoft.com/office/drawing/2014/main" id="{1CC49B5F-8DEF-F3BE-856F-D11F20FEE327}"/>
                </a:ext>
              </a:extLst>
            </p:cNvPr>
            <p:cNvGraphicFramePr/>
            <p:nvPr/>
          </p:nvGraphicFramePr>
          <p:xfrm>
            <a:off x="3300047" y="425277"/>
            <a:ext cx="2743199" cy="21428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7" name="矩形: 圆角 9">
              <a:extLst>
                <a:ext uri="{FF2B5EF4-FFF2-40B4-BE49-F238E27FC236}">
                  <a16:creationId xmlns:a16="http://schemas.microsoft.com/office/drawing/2014/main" id="{67900C6C-77EA-26DC-1EC5-CBC25380EE90}"/>
                </a:ext>
              </a:extLst>
            </p:cNvPr>
            <p:cNvSpPr/>
            <p:nvPr/>
          </p:nvSpPr>
          <p:spPr>
            <a:xfrm>
              <a:off x="3382108" y="1230923"/>
              <a:ext cx="2661138" cy="521677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: 圆角 10">
              <a:extLst>
                <a:ext uri="{FF2B5EF4-FFF2-40B4-BE49-F238E27FC236}">
                  <a16:creationId xmlns:a16="http://schemas.microsoft.com/office/drawing/2014/main" id="{17077E4E-1125-1763-E2E6-A3360C5D43A2}"/>
                </a:ext>
              </a:extLst>
            </p:cNvPr>
            <p:cNvSpPr/>
            <p:nvPr/>
          </p:nvSpPr>
          <p:spPr>
            <a:xfrm>
              <a:off x="3382108" y="2051538"/>
              <a:ext cx="2661138" cy="263770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1FD683C-4657-BAF1-1F98-071F7E02B6F0}"/>
              </a:ext>
            </a:extLst>
          </p:cNvPr>
          <p:cNvGrpSpPr/>
          <p:nvPr/>
        </p:nvGrpSpPr>
        <p:grpSpPr>
          <a:xfrm>
            <a:off x="5972909" y="425277"/>
            <a:ext cx="3182815" cy="2142812"/>
            <a:chOff x="5961185" y="425277"/>
            <a:chExt cx="3182815" cy="2142812"/>
          </a:xfrm>
        </p:grpSpPr>
        <p:graphicFrame>
          <p:nvGraphicFramePr>
            <p:cNvPr id="36" name="图表 35">
              <a:extLst>
                <a:ext uri="{FF2B5EF4-FFF2-40B4-BE49-F238E27FC236}">
                  <a16:creationId xmlns:a16="http://schemas.microsoft.com/office/drawing/2014/main" id="{4CC2C70B-BE74-CEB9-ABAD-37D83B1A0329}"/>
                </a:ext>
              </a:extLst>
            </p:cNvPr>
            <p:cNvGraphicFramePr/>
            <p:nvPr/>
          </p:nvGraphicFramePr>
          <p:xfrm>
            <a:off x="5961185" y="425277"/>
            <a:ext cx="3182815" cy="21428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7" name="矩形: 圆角 11">
              <a:extLst>
                <a:ext uri="{FF2B5EF4-FFF2-40B4-BE49-F238E27FC236}">
                  <a16:creationId xmlns:a16="http://schemas.microsoft.com/office/drawing/2014/main" id="{36B94ACF-0EF9-9CC1-DF39-8E68924F4EC5}"/>
                </a:ext>
              </a:extLst>
            </p:cNvPr>
            <p:cNvSpPr/>
            <p:nvPr/>
          </p:nvSpPr>
          <p:spPr>
            <a:xfrm>
              <a:off x="6263054" y="1629509"/>
              <a:ext cx="2743198" cy="685800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: 圆角 12">
              <a:extLst>
                <a:ext uri="{FF2B5EF4-FFF2-40B4-BE49-F238E27FC236}">
                  <a16:creationId xmlns:a16="http://schemas.microsoft.com/office/drawing/2014/main" id="{71FABC3D-8EF9-16CA-5A1E-A51051BB5CDE}"/>
                </a:ext>
              </a:extLst>
            </p:cNvPr>
            <p:cNvSpPr/>
            <p:nvPr/>
          </p:nvSpPr>
          <p:spPr>
            <a:xfrm>
              <a:off x="6291073" y="1033829"/>
              <a:ext cx="2743198" cy="238125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B31B204E-AE3A-62B0-34B7-B1C7A8D5ED15}"/>
              </a:ext>
            </a:extLst>
          </p:cNvPr>
          <p:cNvSpPr txBox="1"/>
          <p:nvPr/>
        </p:nvSpPr>
        <p:spPr>
          <a:xfrm>
            <a:off x="46871" y="615532"/>
            <a:ext cx="3279531" cy="1871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zh-CN" altLang="en-US" sz="900" b="1" dirty="0"/>
              <a:t>与大盘结构差异反映出榜单对高客单价，高决策门槛的正餐品类具有更强的决策影响力、用户在选择正餐时更依赖榜单作为找店参考。</a:t>
            </a:r>
            <a:r>
              <a:rPr lang="en-US" altLang="zh-CN" sz="900" b="1" dirty="0"/>
              <a:t> </a:t>
            </a:r>
          </a:p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900" b="1" dirty="0"/>
              <a:t>价格带对比：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到餐大盘用户呈明显下沉分布，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元以下占比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47%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，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100-200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元区间占比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26%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。与看榜下单用户画像差异显著：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100-200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元区间成为核心聚集带，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元以下用户占比骤降至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26%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，与大盘差距超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20pp</a:t>
            </a:r>
            <a:endParaRPr lang="zh-CN" altLang="en-US" sz="900" i="1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900" b="1" dirty="0"/>
              <a:t>品类对比：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到餐大盘中，小吃快餐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+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饮品合计占比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50%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，为主力品类。看榜下单用户该品类占比明显低于大盘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10pp+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，而火锅、自助餐、地方菜等正餐品类占比显著高于大盘。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21DE3B4-77A1-CF5F-EA1D-CD91A080BC9A}"/>
              </a:ext>
            </a:extLst>
          </p:cNvPr>
          <p:cNvSpPr/>
          <p:nvPr/>
        </p:nvSpPr>
        <p:spPr>
          <a:xfrm>
            <a:off x="41031" y="2547266"/>
            <a:ext cx="9038492" cy="2457141"/>
          </a:xfrm>
          <a:prstGeom prst="rect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99D06E8-620C-C692-17A0-41B4AA687235}"/>
              </a:ext>
            </a:extLst>
          </p:cNvPr>
          <p:cNvSpPr txBox="1"/>
          <p:nvPr/>
        </p:nvSpPr>
        <p:spPr>
          <a:xfrm>
            <a:off x="41031" y="2781628"/>
            <a:ext cx="3373318" cy="223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</a:pPr>
            <a:r>
              <a:rPr lang="zh-CN" altLang="en-US" sz="900" b="1" dirty="0">
                <a:effectLst/>
              </a:rPr>
              <a:t>当用户搜索具体菜品、食材或按场景餐型决策时，其消费场景本质上对应高客单正餐品类，榜单对这类需求的承接匹配度较高。同时 “附近”搜索中亦存在对高客单正餐的显著需求，是榜单接入决策路径的潜在空间。</a:t>
            </a:r>
            <a:endParaRPr lang="en-US" altLang="zh-CN" sz="900" dirty="0"/>
          </a:p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900" b="1" dirty="0"/>
              <a:t>菜品意图：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搜索食物类别用户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70%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集中在轻快餐，而搜索具体菜品或食材的用户，下单价格显著上移，超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50%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以上用户集中于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100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元以上，且在地方菜，火锅，异国料理等正餐。</a:t>
            </a:r>
            <a:endParaRPr lang="en-US" altLang="zh-CN" sz="900" i="1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900" b="1" dirty="0"/>
              <a:t>场景意图：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搜索餐型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zh-CN" sz="800" i="1" dirty="0" err="1">
                <a:solidFill>
                  <a:schemeClr val="bg1">
                    <a:lumMod val="50000"/>
                  </a:schemeClr>
                </a:solidFill>
              </a:rPr>
              <a:t>eg</a:t>
            </a:r>
            <a:r>
              <a:rPr lang="zh-CN" altLang="en-US" sz="800" i="1" dirty="0">
                <a:solidFill>
                  <a:schemeClr val="bg1">
                    <a:lumMod val="50000"/>
                  </a:schemeClr>
                </a:solidFill>
              </a:rPr>
              <a:t>“3-4人餐”“多人聚餐”等)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的用户画像最为集中，100-200元区间占比达42%，品类分布中52%集中于地方菜，高度契合高客单正餐消费场景。</a:t>
            </a:r>
            <a:endParaRPr lang="en-US" altLang="zh-CN" sz="900" i="1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lnSpc>
                <a:spcPts val="1400"/>
              </a:lnSpc>
              <a:buFont typeface="Wingdings" panose="05000000000000000000" pitchFamily="2" charset="2"/>
              <a:buChar char="Ø"/>
            </a:pPr>
            <a:r>
              <a:rPr lang="zh-CN" altLang="en-US" sz="900" b="1" dirty="0"/>
              <a:t>地址意图：</a:t>
            </a:r>
            <a:r>
              <a:rPr lang="en-US" altLang="zh-CN" sz="900" b="1" dirty="0"/>
              <a:t> 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搜索“附近”在 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100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元以上占比5</a:t>
            </a:r>
            <a:r>
              <a:rPr lang="en-US" altLang="zh-CN" sz="900" i="1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zh-CN" altLang="en-US" sz="900" i="1" dirty="0">
                <a:solidFill>
                  <a:schemeClr val="bg1">
                    <a:lumMod val="50000"/>
                  </a:schemeClr>
                </a:solidFill>
              </a:rPr>
              <a:t>%。品类中火锅和地方菜占比达40%，显示对高客单就近正餐显著需求。</a:t>
            </a:r>
            <a:endParaRPr lang="en-US" altLang="zh-CN" sz="900" b="1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281FEA2-A4BA-D7A6-D224-43A10125966E}"/>
              </a:ext>
            </a:extLst>
          </p:cNvPr>
          <p:cNvGrpSpPr/>
          <p:nvPr/>
        </p:nvGrpSpPr>
        <p:grpSpPr>
          <a:xfrm>
            <a:off x="3282462" y="2528404"/>
            <a:ext cx="2784232" cy="2497141"/>
            <a:chOff x="3282462" y="2543607"/>
            <a:chExt cx="2784232" cy="2417456"/>
          </a:xfrm>
        </p:grpSpPr>
        <p:graphicFrame>
          <p:nvGraphicFramePr>
            <p:cNvPr id="46" name="图表 45">
              <a:extLst>
                <a:ext uri="{FF2B5EF4-FFF2-40B4-BE49-F238E27FC236}">
                  <a16:creationId xmlns:a16="http://schemas.microsoft.com/office/drawing/2014/main" id="{B82EC9CC-D5B7-B518-4F9D-5FF54C73BA16}"/>
                </a:ext>
              </a:extLst>
            </p:cNvPr>
            <p:cNvGraphicFramePr/>
            <p:nvPr/>
          </p:nvGraphicFramePr>
          <p:xfrm>
            <a:off x="3282462" y="2543607"/>
            <a:ext cx="2784232" cy="241745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47" name="矩形: 圆角 36">
              <a:extLst>
                <a:ext uri="{FF2B5EF4-FFF2-40B4-BE49-F238E27FC236}">
                  <a16:creationId xmlns:a16="http://schemas.microsoft.com/office/drawing/2014/main" id="{DD3FED69-2A2F-4C33-EF9A-3C8395D095BD}"/>
                </a:ext>
              </a:extLst>
            </p:cNvPr>
            <p:cNvSpPr/>
            <p:nvPr/>
          </p:nvSpPr>
          <p:spPr>
            <a:xfrm>
              <a:off x="3909647" y="2820024"/>
              <a:ext cx="674077" cy="767238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: 圆角 37">
              <a:extLst>
                <a:ext uri="{FF2B5EF4-FFF2-40B4-BE49-F238E27FC236}">
                  <a16:creationId xmlns:a16="http://schemas.microsoft.com/office/drawing/2014/main" id="{85401606-CF5E-8D58-B424-70F4A5FB86B2}"/>
                </a:ext>
              </a:extLst>
            </p:cNvPr>
            <p:cNvSpPr/>
            <p:nvPr/>
          </p:nvSpPr>
          <p:spPr>
            <a:xfrm>
              <a:off x="4695093" y="2820023"/>
              <a:ext cx="410307" cy="943085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55781BE-00A5-4A96-E126-2F59E6177261}"/>
              </a:ext>
            </a:extLst>
          </p:cNvPr>
          <p:cNvGrpSpPr/>
          <p:nvPr/>
        </p:nvGrpSpPr>
        <p:grpSpPr>
          <a:xfrm>
            <a:off x="5845244" y="2543131"/>
            <a:ext cx="3234279" cy="2528067"/>
            <a:chOff x="5845244" y="2564430"/>
            <a:chExt cx="3234279" cy="2442286"/>
          </a:xfrm>
        </p:grpSpPr>
        <p:graphicFrame>
          <p:nvGraphicFramePr>
            <p:cNvPr id="50" name="图表 49">
              <a:extLst>
                <a:ext uri="{FF2B5EF4-FFF2-40B4-BE49-F238E27FC236}">
                  <a16:creationId xmlns:a16="http://schemas.microsoft.com/office/drawing/2014/main" id="{437BA881-6EAD-40C3-E183-27AE0CF1CEE1}"/>
                </a:ext>
              </a:extLst>
            </p:cNvPr>
            <p:cNvGraphicFramePr/>
            <p:nvPr/>
          </p:nvGraphicFramePr>
          <p:xfrm>
            <a:off x="5845244" y="2564430"/>
            <a:ext cx="3234279" cy="244228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51" name="矩形: 圆角 38">
              <a:extLst>
                <a:ext uri="{FF2B5EF4-FFF2-40B4-BE49-F238E27FC236}">
                  <a16:creationId xmlns:a16="http://schemas.microsoft.com/office/drawing/2014/main" id="{7760FB6A-863E-63DA-D10F-036A360548C1}"/>
                </a:ext>
              </a:extLst>
            </p:cNvPr>
            <p:cNvSpPr/>
            <p:nvPr/>
          </p:nvSpPr>
          <p:spPr>
            <a:xfrm>
              <a:off x="6561992" y="2820023"/>
              <a:ext cx="1591407" cy="943085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6" name="矩形: 圆角 40">
            <a:extLst>
              <a:ext uri="{FF2B5EF4-FFF2-40B4-BE49-F238E27FC236}">
                <a16:creationId xmlns:a16="http://schemas.microsoft.com/office/drawing/2014/main" id="{35184A24-C2A7-2311-807F-14F31043C395}"/>
              </a:ext>
            </a:extLst>
          </p:cNvPr>
          <p:cNvSpPr/>
          <p:nvPr/>
        </p:nvSpPr>
        <p:spPr>
          <a:xfrm>
            <a:off x="64477" y="454093"/>
            <a:ext cx="1893276" cy="1839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</a:rPr>
              <a:t>到餐</a:t>
            </a:r>
            <a:r>
              <a:rPr lang="en-US" altLang="zh-CN" sz="1200" b="1" dirty="0">
                <a:solidFill>
                  <a:schemeClr val="tx1"/>
                </a:solidFill>
              </a:rPr>
              <a:t>&amp;</a:t>
            </a:r>
            <a:r>
              <a:rPr lang="zh-CN" altLang="en-US" sz="1200" b="1" dirty="0">
                <a:solidFill>
                  <a:schemeClr val="tx1"/>
                </a:solidFill>
              </a:rPr>
              <a:t>榜单用户结构</a:t>
            </a:r>
          </a:p>
        </p:txBody>
      </p:sp>
      <p:sp>
        <p:nvSpPr>
          <p:cNvPr id="59" name="矩形: 圆角 41">
            <a:extLst>
              <a:ext uri="{FF2B5EF4-FFF2-40B4-BE49-F238E27FC236}">
                <a16:creationId xmlns:a16="http://schemas.microsoft.com/office/drawing/2014/main" id="{80196377-E405-3661-1A63-F7C99F482740}"/>
              </a:ext>
            </a:extLst>
          </p:cNvPr>
          <p:cNvSpPr/>
          <p:nvPr/>
        </p:nvSpPr>
        <p:spPr>
          <a:xfrm>
            <a:off x="64476" y="2581379"/>
            <a:ext cx="1893277" cy="1765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</a:rPr>
              <a:t>榜单未承接用户意图分析</a:t>
            </a:r>
          </a:p>
        </p:txBody>
      </p:sp>
    </p:spTree>
    <p:extLst>
      <p:ext uri="{BB962C8B-B14F-4D97-AF65-F5344CB8AC3E}">
        <p14:creationId xmlns:p14="http://schemas.microsoft.com/office/powerpoint/2010/main" val="387355338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08D1-27B8-2B86-41CB-98BAA3B8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>
            <a:extLst>
              <a:ext uri="{FF2B5EF4-FFF2-40B4-BE49-F238E27FC236}">
                <a16:creationId xmlns:a16="http://schemas.microsoft.com/office/drawing/2014/main" id="{40859833-6F78-41F7-A0E6-6421F6A1F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054" y="988562"/>
            <a:ext cx="1173438" cy="2543942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EFC0BC5-414A-1B0A-6D3E-BB051A3DC4E3}"/>
              </a:ext>
            </a:extLst>
          </p:cNvPr>
          <p:cNvSpPr/>
          <p:nvPr/>
        </p:nvSpPr>
        <p:spPr>
          <a:xfrm>
            <a:off x="0" y="4756921"/>
            <a:ext cx="9144000" cy="392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Rounded Rectangle 13">
            <a:extLst>
              <a:ext uri="{FF2B5EF4-FFF2-40B4-BE49-F238E27FC236}">
                <a16:creationId xmlns:a16="http://schemas.microsoft.com/office/drawing/2014/main" id="{60F88F90-C308-1032-7372-7A968B6A9C5B}"/>
              </a:ext>
            </a:extLst>
          </p:cNvPr>
          <p:cNvSpPr/>
          <p:nvPr/>
        </p:nvSpPr>
        <p:spPr>
          <a:xfrm>
            <a:off x="3374135" y="707732"/>
            <a:ext cx="2821807" cy="4382563"/>
          </a:xfrm>
          <a:prstGeom prst="roundRect">
            <a:avLst>
              <a:gd name="adj" fmla="val 5224"/>
            </a:avLst>
          </a:prstGeom>
          <a:noFill/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3">
            <a:extLst>
              <a:ext uri="{FF2B5EF4-FFF2-40B4-BE49-F238E27FC236}">
                <a16:creationId xmlns:a16="http://schemas.microsoft.com/office/drawing/2014/main" id="{38ABDFD8-DBD3-2DBE-FB1E-CA8A62A7A6C0}"/>
              </a:ext>
            </a:extLst>
          </p:cNvPr>
          <p:cNvSpPr/>
          <p:nvPr/>
        </p:nvSpPr>
        <p:spPr>
          <a:xfrm>
            <a:off x="429360" y="707732"/>
            <a:ext cx="2789873" cy="4382563"/>
          </a:xfrm>
          <a:prstGeom prst="roundRect">
            <a:avLst>
              <a:gd name="adj" fmla="val 4621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米菲PPT9">
            <a:extLst>
              <a:ext uri="{FF2B5EF4-FFF2-40B4-BE49-F238E27FC236}">
                <a16:creationId xmlns:a16="http://schemas.microsoft.com/office/drawing/2014/main" id="{86B61BE0-A4D0-A227-AA27-16296FF098BA}"/>
              </a:ext>
            </a:extLst>
          </p:cNvPr>
          <p:cNvSpPr/>
          <p:nvPr/>
        </p:nvSpPr>
        <p:spPr>
          <a:xfrm>
            <a:off x="435942" y="442026"/>
            <a:ext cx="2880000" cy="239395"/>
          </a:xfrm>
          <a:prstGeom prst="homePlate">
            <a:avLst>
              <a:gd name="adj" fmla="val 3628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起心动念</a:t>
            </a:r>
          </a:p>
        </p:txBody>
      </p:sp>
      <p:sp>
        <p:nvSpPr>
          <p:cNvPr id="13" name="米菲PPT10">
            <a:extLst>
              <a:ext uri="{FF2B5EF4-FFF2-40B4-BE49-F238E27FC236}">
                <a16:creationId xmlns:a16="http://schemas.microsoft.com/office/drawing/2014/main" id="{1AD29903-EEB4-B822-8B10-B3758B43405C}"/>
              </a:ext>
            </a:extLst>
          </p:cNvPr>
          <p:cNvSpPr/>
          <p:nvPr/>
        </p:nvSpPr>
        <p:spPr>
          <a:xfrm>
            <a:off x="3315942" y="442026"/>
            <a:ext cx="2880000" cy="239395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考虑决策</a:t>
            </a:r>
          </a:p>
        </p:txBody>
      </p:sp>
      <p:sp>
        <p:nvSpPr>
          <p:cNvPr id="7" name="米菲PPT11">
            <a:extLst>
              <a:ext uri="{FF2B5EF4-FFF2-40B4-BE49-F238E27FC236}">
                <a16:creationId xmlns:a16="http://schemas.microsoft.com/office/drawing/2014/main" id="{F3EDFC62-B747-1B8E-2FCF-945655D11A03}"/>
              </a:ext>
            </a:extLst>
          </p:cNvPr>
          <p:cNvSpPr/>
          <p:nvPr/>
        </p:nvSpPr>
        <p:spPr>
          <a:xfrm>
            <a:off x="6195942" y="442026"/>
            <a:ext cx="2880000" cy="239395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评估选择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6E8DDAAE-67F4-CF29-CF10-9AAD9B78B4D8}"/>
              </a:ext>
            </a:extLst>
          </p:cNvPr>
          <p:cNvSpPr txBox="1"/>
          <p:nvPr/>
        </p:nvSpPr>
        <p:spPr>
          <a:xfrm>
            <a:off x="3365407" y="5292048"/>
            <a:ext cx="2767655" cy="206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b="1" dirty="0"/>
              <a:t>必吃榜金刚 </a:t>
            </a:r>
            <a:r>
              <a:rPr lang="zh-CN" altLang="en-US" sz="900" b="1" dirty="0">
                <a:latin typeface="+mn-ea"/>
              </a:rPr>
              <a:t>曝光</a:t>
            </a:r>
            <a:r>
              <a:rPr lang="en-US" altLang="zh-CN" sz="900" b="1" dirty="0">
                <a:latin typeface="+mn-ea"/>
              </a:rPr>
              <a:t>UV189</a:t>
            </a:r>
            <a:r>
              <a:rPr lang="zh-CN" altLang="en-US" sz="900" b="1" dirty="0">
                <a:latin typeface="+mn-ea"/>
              </a:rPr>
              <a:t>万</a:t>
            </a:r>
            <a:endParaRPr lang="en-US" altLang="zh-CN" sz="9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latin typeface="+mn-ea"/>
              </a:rPr>
              <a:t>橱窗</a:t>
            </a:r>
            <a:r>
              <a:rPr lang="zh-CN" altLang="en-US" sz="900" b="1" dirty="0">
                <a:latin typeface="+mn-ea"/>
                <a:sym typeface="+mj-lt"/>
              </a:rPr>
              <a:t>曝光</a:t>
            </a:r>
            <a:r>
              <a:rPr lang="en-US" altLang="zh-CN" sz="900" b="1" dirty="0">
                <a:latin typeface="+mn-ea"/>
                <a:sym typeface="+mj-lt"/>
              </a:rPr>
              <a:t>UV148</a:t>
            </a:r>
            <a:r>
              <a:rPr lang="zh-CN" altLang="en-US" sz="900" b="1" dirty="0">
                <a:latin typeface="+mn-ea"/>
                <a:sym typeface="+mj-lt"/>
              </a:rPr>
              <a:t>万</a:t>
            </a:r>
            <a:endParaRPr lang="en-US" altLang="zh-CN" sz="900" b="1" dirty="0">
              <a:latin typeface="+mn-ea"/>
              <a:sym typeface="+mj-lt"/>
            </a:endParaRPr>
          </a:p>
          <a:p>
            <a:pPr>
              <a:lnSpc>
                <a:spcPct val="120000"/>
              </a:lnSpc>
            </a:pPr>
            <a:r>
              <a:rPr lang="zh-CN" altLang="en-US" sz="900" b="1" dirty="0">
                <a:latin typeface="+mn-ea"/>
                <a:sym typeface="+mj-lt"/>
              </a:rPr>
              <a:t>发现日均曝光</a:t>
            </a:r>
            <a:r>
              <a:rPr lang="en-US" altLang="zh-CN" sz="900" b="1" dirty="0">
                <a:latin typeface="+mn-ea"/>
                <a:sym typeface="+mj-lt"/>
              </a:rPr>
              <a:t>2.5w</a:t>
            </a:r>
            <a:endParaRPr lang="en-US" altLang="zh-CN" sz="900" b="1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900" dirty="0"/>
          </a:p>
          <a:p>
            <a:pPr>
              <a:lnSpc>
                <a:spcPct val="120000"/>
              </a:lnSpc>
            </a:pPr>
            <a:endParaRPr lang="en-US" altLang="zh-CN" sz="900" dirty="0"/>
          </a:p>
          <a:p>
            <a:pPr>
              <a:lnSpc>
                <a:spcPct val="120000"/>
              </a:lnSpc>
            </a:pPr>
            <a:r>
              <a:rPr lang="zh-CN" altLang="en-US" sz="900" dirty="0"/>
              <a:t>异地首页强化榜单心智</a:t>
            </a:r>
            <a:r>
              <a:rPr lang="zh-CN" altLang="en-US" sz="900" dirty="0">
                <a:latin typeface="+mn-ea"/>
              </a:rPr>
              <a:t>，①榜单金刚位前置，春节期间曝光</a:t>
            </a:r>
            <a:r>
              <a:rPr lang="en-US" altLang="zh-CN" sz="900" dirty="0">
                <a:latin typeface="+mn-ea"/>
              </a:rPr>
              <a:t>UV189</a:t>
            </a:r>
            <a:r>
              <a:rPr lang="zh-CN" altLang="en-US" sz="900" dirty="0">
                <a:latin typeface="+mn-ea"/>
              </a:rPr>
              <a:t>万，</a:t>
            </a:r>
            <a:r>
              <a:rPr lang="en-US" altLang="zh-CN" sz="900" dirty="0">
                <a:latin typeface="+mn-ea"/>
              </a:rPr>
              <a:t>CTR4.5%</a:t>
            </a:r>
            <a:r>
              <a:rPr lang="zh-CN" altLang="en-US" sz="900" dirty="0">
                <a:latin typeface="+mn-ea"/>
              </a:rPr>
              <a:t>，带来榜单</a:t>
            </a:r>
            <a:r>
              <a:rPr lang="en-US" altLang="zh-CN" sz="900" dirty="0">
                <a:latin typeface="+mn-ea"/>
              </a:rPr>
              <a:t>DAU8.9</a:t>
            </a:r>
            <a:r>
              <a:rPr lang="zh-CN" altLang="en-US" sz="900" dirty="0">
                <a:latin typeface="+mn-ea"/>
              </a:rPr>
              <a:t>万，意向率</a:t>
            </a:r>
            <a:r>
              <a:rPr lang="en-US" altLang="zh-CN" sz="900" dirty="0">
                <a:latin typeface="+mn-ea"/>
              </a:rPr>
              <a:t>46.3%</a:t>
            </a:r>
            <a:r>
              <a:rPr lang="zh-CN" altLang="en-US" sz="900" dirty="0">
                <a:latin typeface="+mn-ea"/>
              </a:rPr>
              <a:t>，访购率</a:t>
            </a:r>
            <a:r>
              <a:rPr lang="en-US" altLang="zh-CN" sz="900" dirty="0">
                <a:latin typeface="+mn-ea"/>
              </a:rPr>
              <a:t>1.65% </a:t>
            </a:r>
            <a:r>
              <a:rPr lang="zh-CN" altLang="en-US" sz="900" dirty="0">
                <a:latin typeface="+mn-ea"/>
              </a:rPr>
              <a:t>；②</a:t>
            </a:r>
            <a:r>
              <a:rPr lang="zh-CN" altLang="en-US" sz="900" dirty="0">
                <a:latin typeface="+mn-ea"/>
                <a:sym typeface="+mj-lt"/>
              </a:rPr>
              <a:t>橱窗主推当地特色榜单，春节期间日均曝光</a:t>
            </a:r>
            <a:r>
              <a:rPr lang="en-US" altLang="zh-CN" sz="900" dirty="0">
                <a:latin typeface="+mn-ea"/>
                <a:sym typeface="+mj-lt"/>
              </a:rPr>
              <a:t>UV148</a:t>
            </a:r>
            <a:r>
              <a:rPr lang="zh-CN" altLang="en-US" sz="900" dirty="0">
                <a:latin typeface="+mn-ea"/>
                <a:sym typeface="+mj-lt"/>
              </a:rPr>
              <a:t>万，点击率</a:t>
            </a:r>
            <a:r>
              <a:rPr lang="en-US" altLang="zh-CN" sz="900" dirty="0">
                <a:latin typeface="+mn-ea"/>
                <a:sym typeface="+mj-lt"/>
              </a:rPr>
              <a:t>3.2%</a:t>
            </a:r>
            <a:r>
              <a:rPr lang="zh-CN" altLang="en-US" sz="900" dirty="0">
                <a:latin typeface="+mn-ea"/>
                <a:sym typeface="+mj-lt"/>
              </a:rPr>
              <a:t>，带来</a:t>
            </a:r>
            <a:r>
              <a:rPr lang="zh-CN" altLang="en-US" sz="900" dirty="0">
                <a:latin typeface="+mn-ea"/>
              </a:rPr>
              <a:t>榜单</a:t>
            </a:r>
            <a:r>
              <a:rPr lang="en-US" altLang="zh-CN" sz="900" dirty="0">
                <a:latin typeface="+mn-ea"/>
              </a:rPr>
              <a:t>DAU4.8</a:t>
            </a:r>
            <a:r>
              <a:rPr lang="zh-CN" altLang="en-US" sz="900" dirty="0">
                <a:latin typeface="+mn-ea"/>
              </a:rPr>
              <a:t>万，</a:t>
            </a:r>
            <a:r>
              <a:rPr lang="zh-CN" altLang="en-US" sz="900" dirty="0">
                <a:latin typeface="+mn-ea"/>
                <a:sym typeface="+mj-lt"/>
              </a:rPr>
              <a:t>意向率</a:t>
            </a:r>
            <a:r>
              <a:rPr lang="en-US" altLang="zh-CN" sz="900" dirty="0">
                <a:latin typeface="+mn-ea"/>
                <a:sym typeface="+mj-lt"/>
              </a:rPr>
              <a:t>45.6%</a:t>
            </a:r>
            <a:r>
              <a:rPr lang="zh-CN" altLang="en-US" sz="900" dirty="0">
                <a:latin typeface="+mn-ea"/>
                <a:sym typeface="+mj-lt"/>
              </a:rPr>
              <a:t>，访购率</a:t>
            </a:r>
            <a:r>
              <a:rPr lang="en-US" altLang="zh-CN" sz="900" dirty="0">
                <a:latin typeface="+mn-ea"/>
                <a:sym typeface="+mj-lt"/>
              </a:rPr>
              <a:t>1.7%</a:t>
            </a:r>
            <a:r>
              <a:rPr lang="zh-CN" altLang="en-US" sz="900" dirty="0">
                <a:latin typeface="+mn-ea"/>
                <a:sym typeface="+mj-lt"/>
              </a:rPr>
              <a:t>。</a:t>
            </a:r>
            <a:endParaRPr lang="en-US" altLang="zh-CN" sz="900" dirty="0">
              <a:latin typeface="+mn-ea"/>
              <a:sym typeface="+mj-lt"/>
            </a:endParaRPr>
          </a:p>
          <a:p>
            <a:pPr>
              <a:lnSpc>
                <a:spcPct val="120000"/>
              </a:lnSpc>
            </a:pPr>
            <a:r>
              <a:rPr lang="zh-CN" altLang="en-US" sz="900" dirty="0">
                <a:latin typeface="+mn-ea"/>
                <a:sym typeface="+mj-lt"/>
              </a:rPr>
              <a:t>搜索目的地页：“必吃榜”“当地人推荐”快筛帮助决策，“上海”搜索</a:t>
            </a:r>
            <a:r>
              <a:rPr lang="en-US" altLang="zh-CN" sz="900" dirty="0">
                <a:latin typeface="+mn-ea"/>
                <a:sym typeface="+mj-lt"/>
              </a:rPr>
              <a:t>1200+</a:t>
            </a:r>
          </a:p>
        </p:txBody>
      </p:sp>
      <p:sp>
        <p:nvSpPr>
          <p:cNvPr id="100" name="TextBox 17">
            <a:extLst>
              <a:ext uri="{FF2B5EF4-FFF2-40B4-BE49-F238E27FC236}">
                <a16:creationId xmlns:a16="http://schemas.microsoft.com/office/drawing/2014/main" id="{456C1263-E971-17B6-81B2-F2B64FE52100}"/>
              </a:ext>
            </a:extLst>
          </p:cNvPr>
          <p:cNvSpPr txBox="1"/>
          <p:nvPr/>
        </p:nvSpPr>
        <p:spPr>
          <a:xfrm>
            <a:off x="2007386" y="727014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美团首页</a:t>
            </a:r>
            <a:endParaRPr lang="en-US" altLang="zh-CN" sz="1000" b="1" dirty="0"/>
          </a:p>
        </p:txBody>
      </p:sp>
      <p:sp>
        <p:nvSpPr>
          <p:cNvPr id="102" name="TextBox 17">
            <a:extLst>
              <a:ext uri="{FF2B5EF4-FFF2-40B4-BE49-F238E27FC236}">
                <a16:creationId xmlns:a16="http://schemas.microsoft.com/office/drawing/2014/main" id="{82988444-EE74-7437-0165-FA2794097D49}"/>
              </a:ext>
            </a:extLst>
          </p:cNvPr>
          <p:cNvSpPr txBox="1"/>
          <p:nvPr/>
        </p:nvSpPr>
        <p:spPr>
          <a:xfrm>
            <a:off x="3611065" y="716763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美食频道</a:t>
            </a:r>
            <a:endParaRPr lang="en-US" altLang="zh-CN" sz="1000" b="1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47A5F8E-7DA2-8756-E1BC-91C3A8B7F530}"/>
              </a:ext>
            </a:extLst>
          </p:cNvPr>
          <p:cNvSpPr txBox="1"/>
          <p:nvPr/>
        </p:nvSpPr>
        <p:spPr>
          <a:xfrm>
            <a:off x="1875942" y="3576153"/>
            <a:ext cx="1430453" cy="140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/>
              <a:t>①</a:t>
            </a:r>
            <a:r>
              <a:rPr lang="zh-CN" altLang="en-US" sz="800" dirty="0"/>
              <a:t>结合营销通过“跟榜吃” 强化榜单心智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r>
              <a:rPr lang="en-US" altLang="zh-CN" sz="800" dirty="0"/>
              <a:t>②</a:t>
            </a:r>
            <a:r>
              <a:rPr lang="zh-CN" altLang="en-US" sz="800" dirty="0"/>
              <a:t>结合用户偏好，叠加上榜标签，帮助异地用户做发现探索</a:t>
            </a:r>
            <a:endParaRPr lang="en-US" altLang="zh-CN" sz="800" dirty="0"/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金刚</a:t>
            </a:r>
            <a:r>
              <a:rPr lang="en-US" altLang="zh-CN" sz="800" dirty="0">
                <a:latin typeface="+mn-ea"/>
              </a:rPr>
              <a:t>CTR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4.8%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通投</a:t>
            </a:r>
            <a:r>
              <a:rPr lang="en-US" altLang="zh-CN" sz="800" dirty="0">
                <a:latin typeface="+mn-ea"/>
              </a:rPr>
              <a:t>+0.9pp</a:t>
            </a:r>
            <a:r>
              <a:rPr lang="zh-CN" altLang="en-US" sz="800" dirty="0">
                <a:latin typeface="+mn-ea"/>
              </a:rPr>
              <a:t>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榜单标签</a:t>
            </a:r>
            <a:r>
              <a:rPr lang="en-US" altLang="zh-CN" sz="800" dirty="0">
                <a:latin typeface="+mn-ea"/>
              </a:rPr>
              <a:t>CTCVR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3.2%</a:t>
            </a:r>
          </a:p>
        </p:txBody>
      </p:sp>
      <p:sp>
        <p:nvSpPr>
          <p:cNvPr id="112" name="Rounded Rectangle 13">
            <a:extLst>
              <a:ext uri="{FF2B5EF4-FFF2-40B4-BE49-F238E27FC236}">
                <a16:creationId xmlns:a16="http://schemas.microsoft.com/office/drawing/2014/main" id="{0A29A48A-72AF-19F8-6C08-19CE34F22010}"/>
              </a:ext>
            </a:extLst>
          </p:cNvPr>
          <p:cNvSpPr/>
          <p:nvPr/>
        </p:nvSpPr>
        <p:spPr>
          <a:xfrm>
            <a:off x="6350844" y="720696"/>
            <a:ext cx="2652697" cy="4334335"/>
          </a:xfrm>
          <a:prstGeom prst="roundRect">
            <a:avLst>
              <a:gd name="adj" fmla="val 5103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CF46D73C-D9DD-25C5-753E-428ACF80E527}"/>
              </a:ext>
            </a:extLst>
          </p:cNvPr>
          <p:cNvGrpSpPr>
            <a:grpSpLocks noChangeAspect="1"/>
          </p:cNvGrpSpPr>
          <p:nvPr/>
        </p:nvGrpSpPr>
        <p:grpSpPr>
          <a:xfrm>
            <a:off x="7746216" y="966133"/>
            <a:ext cx="1162389" cy="2520000"/>
            <a:chOff x="7170438" y="1105086"/>
            <a:chExt cx="1162389" cy="2520000"/>
          </a:xfrm>
        </p:grpSpPr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93CE1FEF-C426-2E35-FF17-8580926A0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70438" y="1105086"/>
              <a:ext cx="1162388" cy="2520000"/>
            </a:xfrm>
            <a:prstGeom prst="rect">
              <a:avLst/>
            </a:prstGeom>
          </p:spPr>
        </p:pic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B18E1B32-CC08-304D-A5DD-33C267B253EE}"/>
                </a:ext>
              </a:extLst>
            </p:cNvPr>
            <p:cNvSpPr/>
            <p:nvPr/>
          </p:nvSpPr>
          <p:spPr>
            <a:xfrm>
              <a:off x="7170439" y="2136696"/>
              <a:ext cx="1162388" cy="1772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4" name="TextBox 17">
            <a:extLst>
              <a:ext uri="{FF2B5EF4-FFF2-40B4-BE49-F238E27FC236}">
                <a16:creationId xmlns:a16="http://schemas.microsoft.com/office/drawing/2014/main" id="{90A896B6-285C-8758-97BB-CB3FF08FE777}"/>
              </a:ext>
            </a:extLst>
          </p:cNvPr>
          <p:cNvSpPr txBox="1"/>
          <p:nvPr/>
        </p:nvSpPr>
        <p:spPr>
          <a:xfrm>
            <a:off x="7510820" y="721128"/>
            <a:ext cx="1633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+mn-ea"/>
                <a:ea typeface="+mn-ea"/>
              </a:rPr>
              <a:t>POI</a:t>
            </a:r>
            <a:r>
              <a:rPr lang="zh-CN" altLang="en-US" sz="1000" dirty="0">
                <a:solidFill>
                  <a:schemeClr val="tx1"/>
                </a:solidFill>
                <a:latin typeface="+mn-ea"/>
                <a:ea typeface="+mn-ea"/>
              </a:rPr>
              <a:t>页</a:t>
            </a:r>
            <a:endParaRPr lang="en-US" altLang="zh-CN" sz="1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4E624DD-8EFE-8886-D3DF-D708C5DCA5EC}"/>
              </a:ext>
            </a:extLst>
          </p:cNvPr>
          <p:cNvSpPr txBox="1"/>
          <p:nvPr/>
        </p:nvSpPr>
        <p:spPr>
          <a:xfrm>
            <a:off x="7783398" y="5292048"/>
            <a:ext cx="1933258" cy="735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latin typeface="+mn-ea"/>
              </a:rPr>
              <a:t>亮点标签加强背书，五一期间整体榜单标签日均</a:t>
            </a:r>
            <a:r>
              <a:rPr lang="zh-CN" altLang="en-US" sz="900" b="1" dirty="0">
                <a:latin typeface="+mn-ea"/>
              </a:rPr>
              <a:t>曝光</a:t>
            </a:r>
            <a:r>
              <a:rPr lang="en-US" altLang="zh-CN" sz="900" b="1" dirty="0">
                <a:latin typeface="+mn-ea"/>
              </a:rPr>
              <a:t>UV 2201</a:t>
            </a:r>
            <a:r>
              <a:rPr lang="zh-CN" altLang="en-US" sz="900" b="1" dirty="0">
                <a:latin typeface="+mn-ea"/>
              </a:rPr>
              <a:t>万</a:t>
            </a:r>
            <a:r>
              <a:rPr lang="zh-CN" altLang="en-US" sz="900" dirty="0">
                <a:latin typeface="+mn-ea"/>
              </a:rPr>
              <a:t>，</a:t>
            </a:r>
            <a:r>
              <a:rPr lang="en-US" altLang="zh-CN" sz="900" dirty="0">
                <a:latin typeface="+mn-ea"/>
              </a:rPr>
              <a:t>CTR1.8%</a:t>
            </a:r>
            <a:r>
              <a:rPr lang="zh-CN" altLang="en-US" sz="900" dirty="0">
                <a:latin typeface="+mn-ea"/>
              </a:rPr>
              <a:t>，带来榜单</a:t>
            </a:r>
            <a:r>
              <a:rPr lang="en-US" altLang="zh-CN" sz="900" dirty="0">
                <a:latin typeface="+mn-ea"/>
              </a:rPr>
              <a:t>DAU40.3</a:t>
            </a:r>
            <a:r>
              <a:rPr lang="zh-CN" altLang="en-US" sz="900" dirty="0">
                <a:latin typeface="+mn-ea"/>
              </a:rPr>
              <a:t>万，意向率</a:t>
            </a:r>
            <a:r>
              <a:rPr lang="en-US" altLang="zh-CN" sz="900" dirty="0">
                <a:latin typeface="+mn-ea"/>
              </a:rPr>
              <a:t>36.7%</a:t>
            </a:r>
            <a:r>
              <a:rPr lang="zh-CN" altLang="en-US" sz="900" dirty="0">
                <a:latin typeface="+mn-ea"/>
              </a:rPr>
              <a:t>，访购率</a:t>
            </a:r>
            <a:r>
              <a:rPr lang="en-US" altLang="zh-CN" sz="900" dirty="0">
                <a:latin typeface="+mn-ea"/>
              </a:rPr>
              <a:t>0.68%</a:t>
            </a: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0370A437-D85E-D175-9BC9-65D88C617A45}"/>
              </a:ext>
            </a:extLst>
          </p:cNvPr>
          <p:cNvSpPr txBox="1"/>
          <p:nvPr/>
        </p:nvSpPr>
        <p:spPr>
          <a:xfrm>
            <a:off x="4619209" y="714074"/>
            <a:ext cx="1740211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大搜目的页</a:t>
            </a:r>
            <a:endParaRPr lang="en-US" altLang="zh-CN" sz="10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05B0193-0135-3B51-CFF4-E976117D6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245" y="981698"/>
            <a:ext cx="1162394" cy="252000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5DC07C31-67F9-0914-8373-927AD6E66E92}"/>
              </a:ext>
            </a:extLst>
          </p:cNvPr>
          <p:cNvSpPr/>
          <p:nvPr/>
        </p:nvSpPr>
        <p:spPr>
          <a:xfrm>
            <a:off x="5413734" y="2001554"/>
            <a:ext cx="418302" cy="127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017FB67-E26C-179F-CBB3-A110DEE9558C}"/>
              </a:ext>
            </a:extLst>
          </p:cNvPr>
          <p:cNvSpPr txBox="1">
            <a:spLocks/>
          </p:cNvSpPr>
          <p:nvPr/>
        </p:nvSpPr>
        <p:spPr>
          <a:xfrm>
            <a:off x="252000" y="32009"/>
            <a:ext cx="7664380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异地旅游用户动线 </a:t>
            </a:r>
            <a:r>
              <a:rPr lang="en-US" altLang="zh-CN" sz="2100" dirty="0">
                <a:latin typeface="+mj-ea"/>
              </a:rPr>
              <a:t>@</a:t>
            </a:r>
            <a:r>
              <a:rPr lang="zh-CN" altLang="en-US" sz="2100" dirty="0">
                <a:latin typeface="+mj-ea"/>
              </a:rPr>
              <a:t>雯漪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045607EB-B9D3-A252-30AC-DDB266CE5DFB}"/>
              </a:ext>
            </a:extLst>
          </p:cNvPr>
          <p:cNvSpPr txBox="1"/>
          <p:nvPr/>
        </p:nvSpPr>
        <p:spPr>
          <a:xfrm>
            <a:off x="6252793" y="714074"/>
            <a:ext cx="1633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当地人推荐</a:t>
            </a:r>
            <a:endParaRPr lang="en-US" altLang="zh-CN" sz="1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A2B0932-7282-61AE-CB7A-F820103F8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918" y="993196"/>
            <a:ext cx="1163793" cy="2520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4AB650B-E86D-30E3-3197-844EE2776F74}"/>
              </a:ext>
            </a:extLst>
          </p:cNvPr>
          <p:cNvSpPr/>
          <p:nvPr/>
        </p:nvSpPr>
        <p:spPr>
          <a:xfrm>
            <a:off x="2225713" y="1585179"/>
            <a:ext cx="250249" cy="2000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E489E7-6B32-43F3-FD4B-EE65359F757C}"/>
              </a:ext>
            </a:extLst>
          </p:cNvPr>
          <p:cNvSpPr/>
          <p:nvPr/>
        </p:nvSpPr>
        <p:spPr>
          <a:xfrm>
            <a:off x="1981282" y="2673146"/>
            <a:ext cx="562835" cy="104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8299260C-ADAA-6CE4-C6EB-1F38422AF921}"/>
              </a:ext>
            </a:extLst>
          </p:cNvPr>
          <p:cNvSpPr txBox="1"/>
          <p:nvPr/>
        </p:nvSpPr>
        <p:spPr>
          <a:xfrm>
            <a:off x="651439" y="701892"/>
            <a:ext cx="1078296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dirty="0"/>
              <a:t>直播</a:t>
            </a:r>
            <a:r>
              <a:rPr lang="en-US" altLang="zh-CN" sz="1000" dirty="0"/>
              <a:t>&amp;Push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F9D50C7-04ED-590C-2167-ECF9355F645C}"/>
              </a:ext>
            </a:extLst>
          </p:cNvPr>
          <p:cNvSpPr txBox="1"/>
          <p:nvPr/>
        </p:nvSpPr>
        <p:spPr>
          <a:xfrm>
            <a:off x="-14287" y="3821999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策略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196D3D-D1AF-9512-9499-0D386526EC71}"/>
              </a:ext>
            </a:extLst>
          </p:cNvPr>
          <p:cNvSpPr txBox="1"/>
          <p:nvPr/>
        </p:nvSpPr>
        <p:spPr>
          <a:xfrm>
            <a:off x="-20870" y="4520920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效果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AF01CD-BE24-A484-FB66-8AEE172B9B00}"/>
              </a:ext>
            </a:extLst>
          </p:cNvPr>
          <p:cNvSpPr txBox="1"/>
          <p:nvPr/>
        </p:nvSpPr>
        <p:spPr>
          <a:xfrm>
            <a:off x="0" y="1889856"/>
            <a:ext cx="450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用户</a:t>
            </a:r>
            <a:endParaRPr lang="en-US" altLang="zh-CN" sz="1000" b="1" dirty="0"/>
          </a:p>
          <a:p>
            <a:r>
              <a:rPr lang="zh-CN" altLang="en-US" sz="1000" b="1" dirty="0"/>
              <a:t>动线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648588-AFA0-B47D-3EC6-497BF78C9D80}"/>
              </a:ext>
            </a:extLst>
          </p:cNvPr>
          <p:cNvSpPr txBox="1"/>
          <p:nvPr/>
        </p:nvSpPr>
        <p:spPr>
          <a:xfrm>
            <a:off x="2279156" y="1617727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7365019-7F7B-FA6F-101D-1EF0292A9872}"/>
              </a:ext>
            </a:extLst>
          </p:cNvPr>
          <p:cNvSpPr txBox="1"/>
          <p:nvPr/>
        </p:nvSpPr>
        <p:spPr>
          <a:xfrm>
            <a:off x="1777521" y="2617558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②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8129EF-A191-C23D-593E-CD43733F599C}"/>
              </a:ext>
            </a:extLst>
          </p:cNvPr>
          <p:cNvSpPr txBox="1"/>
          <p:nvPr/>
        </p:nvSpPr>
        <p:spPr>
          <a:xfrm>
            <a:off x="429359" y="3569220"/>
            <a:ext cx="1508498" cy="169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①根据定位城市推送当地特色榜单。为节假日旅游用户提供值得信赖的选择</a:t>
            </a:r>
            <a:r>
              <a:rPr lang="en-US" altLang="zh-CN" sz="800" dirty="0">
                <a:latin typeface="+mn-ea"/>
              </a:rPr>
              <a:t>;②</a:t>
            </a:r>
            <a:r>
              <a:rPr lang="zh-CN" altLang="en-US" sz="800" dirty="0">
                <a:latin typeface="+mn-ea"/>
              </a:rPr>
              <a:t>联动城市直播，主播口播宣传</a:t>
            </a:r>
            <a:r>
              <a:rPr lang="en-US" altLang="zh-CN" sz="800" dirty="0">
                <a:latin typeface="+mn-ea"/>
              </a:rPr>
              <a:t>+</a:t>
            </a:r>
            <a:r>
              <a:rPr lang="zh-CN" altLang="en-US" sz="800" dirty="0">
                <a:latin typeface="+mn-ea"/>
              </a:rPr>
              <a:t>榜单供给露出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①</a:t>
            </a:r>
            <a:r>
              <a:rPr lang="en-US" altLang="zh-CN" sz="800" dirty="0">
                <a:latin typeface="+mn-ea"/>
              </a:rPr>
              <a:t>Push</a:t>
            </a:r>
            <a:r>
              <a:rPr lang="zh-CN" altLang="en-US" sz="800" dirty="0">
                <a:latin typeface="+mn-ea"/>
              </a:rPr>
              <a:t>日均曝光</a:t>
            </a:r>
            <a:r>
              <a:rPr lang="en-US" altLang="zh-CN" sz="800" dirty="0">
                <a:latin typeface="+mn-ea"/>
              </a:rPr>
              <a:t>UV2.8w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0.4%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业务均值</a:t>
            </a:r>
            <a:r>
              <a:rPr lang="en-US" altLang="zh-CN" sz="800" dirty="0">
                <a:latin typeface="+mn-ea"/>
              </a:rPr>
              <a:t>+0.24pp</a:t>
            </a:r>
            <a:r>
              <a:rPr lang="zh-CN" altLang="en-US" sz="800" dirty="0">
                <a:latin typeface="+mn-ea"/>
              </a:rPr>
              <a:t>）；</a:t>
            </a: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单场直播榜单</a:t>
            </a:r>
            <a:r>
              <a:rPr lang="en-US" altLang="zh-CN" sz="800" dirty="0">
                <a:latin typeface="+mn-ea"/>
              </a:rPr>
              <a:t>deal</a:t>
            </a:r>
            <a:r>
              <a:rPr lang="zh-CN" altLang="en-US" sz="800" dirty="0">
                <a:latin typeface="+mn-ea"/>
              </a:rPr>
              <a:t>曝光</a:t>
            </a:r>
            <a:r>
              <a:rPr lang="en-US" altLang="zh-CN" sz="800" dirty="0">
                <a:latin typeface="+mn-ea"/>
              </a:rPr>
              <a:t>UV6.7w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2.1%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159D7BD-60F2-A55D-F6D0-AF3CA45BCDD3}"/>
              </a:ext>
            </a:extLst>
          </p:cNvPr>
          <p:cNvSpPr txBox="1"/>
          <p:nvPr/>
        </p:nvSpPr>
        <p:spPr>
          <a:xfrm>
            <a:off x="3310963" y="3566037"/>
            <a:ext cx="1740211" cy="155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异地场景下进到美食频道，用强心智“必吃榜”代替“美食榜单”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异地橱窗，提供当地美食推荐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③</a:t>
            </a:r>
            <a:r>
              <a:rPr lang="zh-CN" altLang="en-US" sz="800" dirty="0">
                <a:latin typeface="+mn-ea"/>
              </a:rPr>
              <a:t>发现频道，提供榜单维度的推荐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①</a:t>
            </a:r>
            <a:r>
              <a:rPr lang="zh-CN" altLang="en-US" sz="800" dirty="0">
                <a:latin typeface="+mn-ea"/>
              </a:rPr>
              <a:t>金刚</a:t>
            </a:r>
            <a:r>
              <a:rPr lang="en-US" altLang="zh-CN" sz="800" dirty="0">
                <a:latin typeface="+mn-ea"/>
              </a:rPr>
              <a:t>CTR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4.8%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本地美食榜单</a:t>
            </a:r>
            <a:r>
              <a:rPr lang="en-US" altLang="zh-CN" sz="800" dirty="0">
                <a:latin typeface="+mn-ea"/>
              </a:rPr>
              <a:t>+2.8pp</a:t>
            </a:r>
            <a:r>
              <a:rPr lang="zh-CN" altLang="en-US" sz="800" dirty="0">
                <a:latin typeface="+mn-ea"/>
              </a:rPr>
              <a:t>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</a:rPr>
              <a:t>②</a:t>
            </a:r>
            <a:r>
              <a:rPr lang="zh-CN" altLang="en-US" sz="800" dirty="0">
                <a:latin typeface="+mn-ea"/>
              </a:rPr>
              <a:t>当地人和特色菜点击率</a:t>
            </a:r>
            <a:r>
              <a:rPr lang="en-US" altLang="zh-CN" sz="800" dirty="0">
                <a:latin typeface="+mn-ea"/>
                <a:sym typeface="+mj-lt"/>
              </a:rPr>
              <a:t>3.2%</a:t>
            </a:r>
          </a:p>
          <a:p>
            <a:pPr>
              <a:lnSpc>
                <a:spcPct val="120000"/>
              </a:lnSpc>
            </a:pPr>
            <a:r>
              <a:rPr lang="en-US" altLang="zh-CN" sz="800" dirty="0">
                <a:latin typeface="+mn-ea"/>
                <a:sym typeface="+mj-lt"/>
              </a:rPr>
              <a:t>③</a:t>
            </a:r>
            <a:r>
              <a:rPr lang="zh-CN" altLang="en-US" sz="800" dirty="0">
                <a:latin typeface="+mn-ea"/>
                <a:sym typeface="+mj-lt"/>
              </a:rPr>
              <a:t>发现页榜单日均曝光</a:t>
            </a:r>
            <a:r>
              <a:rPr lang="en-US" altLang="zh-CN" sz="800" dirty="0">
                <a:latin typeface="+mn-ea"/>
                <a:sym typeface="+mj-lt"/>
              </a:rPr>
              <a:t>2.5w</a:t>
            </a:r>
            <a:r>
              <a:rPr lang="zh-CN" altLang="en-US" sz="800" dirty="0">
                <a:latin typeface="+mn-ea"/>
                <a:sym typeface="+mj-lt"/>
              </a:rPr>
              <a:t>，点击率</a:t>
            </a:r>
            <a:r>
              <a:rPr lang="en-US" altLang="zh-CN" sz="800" dirty="0">
                <a:latin typeface="+mn-ea"/>
                <a:sym typeface="+mj-lt"/>
              </a:rPr>
              <a:t>0.3%</a:t>
            </a:r>
            <a:endParaRPr lang="en-US" altLang="zh-CN" sz="800" dirty="0"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8B88BB-F192-03FE-F484-77F94C07A37D}"/>
              </a:ext>
            </a:extLst>
          </p:cNvPr>
          <p:cNvSpPr txBox="1"/>
          <p:nvPr/>
        </p:nvSpPr>
        <p:spPr>
          <a:xfrm>
            <a:off x="3637220" y="1446384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①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70E141-46DD-6C22-3C07-A9B70A842EC4}"/>
              </a:ext>
            </a:extLst>
          </p:cNvPr>
          <p:cNvSpPr txBox="1"/>
          <p:nvPr/>
        </p:nvSpPr>
        <p:spPr>
          <a:xfrm>
            <a:off x="3378394" y="1942376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②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FA29961-4D1B-7B64-5F59-5DB75233E459}"/>
              </a:ext>
            </a:extLst>
          </p:cNvPr>
          <p:cNvSpPr txBox="1"/>
          <p:nvPr/>
        </p:nvSpPr>
        <p:spPr>
          <a:xfrm>
            <a:off x="5015743" y="3576153"/>
            <a:ext cx="1257769" cy="140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大搜搜索目的地页中，增加“必吃榜”“当地人推荐”快筛，帮助用户不踩雷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“必吃榜”快筛日均曝光</a:t>
            </a:r>
            <a:r>
              <a:rPr lang="en-US" altLang="zh-CN" sz="800" dirty="0">
                <a:latin typeface="+mn-ea"/>
              </a:rPr>
              <a:t>UV2000+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2.0%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其他快筛</a:t>
            </a:r>
            <a:r>
              <a:rPr lang="en-US" altLang="zh-CN" sz="800" dirty="0">
                <a:latin typeface="+mn-ea"/>
              </a:rPr>
              <a:t>+1.0pp</a:t>
            </a:r>
            <a:r>
              <a:rPr lang="zh-CN" altLang="en-US" sz="800" dirty="0">
                <a:latin typeface="+mn-ea"/>
              </a:rPr>
              <a:t>）</a:t>
            </a:r>
            <a:endParaRPr lang="en-US" altLang="zh-CN" sz="8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7980CAF-E0E3-668E-9D19-2DC94B0C0131}"/>
              </a:ext>
            </a:extLst>
          </p:cNvPr>
          <p:cNvSpPr txBox="1"/>
          <p:nvPr/>
        </p:nvSpPr>
        <p:spPr>
          <a:xfrm>
            <a:off x="6300904" y="3547751"/>
            <a:ext cx="1524283" cy="1557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当地人推荐扩城至</a:t>
            </a:r>
            <a:r>
              <a:rPr lang="en-US" altLang="zh-CN" sz="800" dirty="0">
                <a:latin typeface="+mn-ea"/>
              </a:rPr>
              <a:t>674</a:t>
            </a:r>
            <a:r>
              <a:rPr lang="zh-CN" altLang="en-US" sz="800" dirty="0">
                <a:latin typeface="+mn-ea"/>
              </a:rPr>
              <a:t>、特色菜扩城至</a:t>
            </a:r>
            <a:r>
              <a:rPr lang="en-US" altLang="zh-CN" sz="800" dirty="0">
                <a:latin typeface="+mn-ea"/>
              </a:rPr>
              <a:t>524</a:t>
            </a:r>
            <a:r>
              <a:rPr lang="zh-CN" altLang="en-US" sz="800" dirty="0">
                <a:latin typeface="+mn-ea"/>
              </a:rPr>
              <a:t>，新增菜品至</a:t>
            </a:r>
            <a:r>
              <a:rPr lang="en-US" altLang="zh-CN" sz="800" dirty="0">
                <a:latin typeface="+mn-ea"/>
              </a:rPr>
              <a:t>4119</a:t>
            </a:r>
            <a:r>
              <a:rPr lang="zh-CN" altLang="en-US" sz="800" dirty="0">
                <a:latin typeface="+mn-ea"/>
              </a:rPr>
              <a:t>；新增</a:t>
            </a:r>
            <a:r>
              <a:rPr lang="en-US" altLang="zh-CN" sz="800" dirty="0">
                <a:latin typeface="+mn-ea"/>
              </a:rPr>
              <a:t>8000+</a:t>
            </a:r>
            <a:r>
              <a:rPr lang="zh-CN" altLang="en-US" sz="800" dirty="0">
                <a:latin typeface="+mn-ea"/>
              </a:rPr>
              <a:t>个</a:t>
            </a:r>
            <a:r>
              <a:rPr lang="en-US" altLang="zh-CN" sz="800" dirty="0"/>
              <a:t>AOI</a:t>
            </a:r>
            <a:r>
              <a:rPr lang="zh-CN" altLang="en-US" sz="800" dirty="0"/>
              <a:t>热门景点筛选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五一榜单日均曝光</a:t>
            </a:r>
            <a:r>
              <a:rPr lang="en-US" altLang="zh-CN" sz="800" dirty="0">
                <a:latin typeface="+mn-ea"/>
              </a:rPr>
              <a:t>UV7.9</a:t>
            </a:r>
            <a:r>
              <a:rPr lang="zh-CN" altLang="en-US" sz="800" dirty="0">
                <a:latin typeface="+mn-ea"/>
              </a:rPr>
              <a:t>万（</a:t>
            </a:r>
            <a:r>
              <a:rPr lang="en-US" altLang="zh-CN" sz="800" dirty="0">
                <a:latin typeface="+mn-ea"/>
              </a:rPr>
              <a:t>YoY+18.8%</a:t>
            </a:r>
            <a:r>
              <a:rPr lang="zh-CN" altLang="en-US" sz="800" dirty="0">
                <a:latin typeface="+mn-ea"/>
              </a:rPr>
              <a:t>）</a:t>
            </a:r>
            <a:r>
              <a:rPr lang="en-US" altLang="zh-CN" sz="800" dirty="0">
                <a:latin typeface="+mn-ea"/>
              </a:rPr>
              <a:t>,</a:t>
            </a:r>
            <a:r>
              <a:rPr lang="zh-CN" altLang="en-US" sz="800" dirty="0">
                <a:latin typeface="+mn-ea"/>
              </a:rPr>
              <a:t>意向率日均</a:t>
            </a:r>
            <a:r>
              <a:rPr lang="en-US" altLang="zh-CN" sz="800" dirty="0">
                <a:latin typeface="+mn-ea"/>
              </a:rPr>
              <a:t>44.6%</a:t>
            </a:r>
            <a:r>
              <a:rPr lang="zh-CN" altLang="en-US" sz="800" dirty="0">
                <a:latin typeface="+mn-ea"/>
              </a:rPr>
              <a:t>；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节假日热门景点筛选项异地点击率达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8.6%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 （</a:t>
            </a:r>
            <a:r>
              <a:rPr lang="en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vs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本地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+4.2</a:t>
            </a:r>
            <a:r>
              <a:rPr lang="en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pp</a:t>
            </a:r>
            <a:r>
              <a:rPr lang="zh-CN" altLang="e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），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意向率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25.3%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 （</a:t>
            </a:r>
            <a:r>
              <a:rPr lang="en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vs</a:t>
            </a:r>
            <a:r>
              <a:rPr lang="zh-CN" altLang="en-US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本地</a:t>
            </a:r>
            <a:r>
              <a:rPr lang="en-US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+13.2</a:t>
            </a:r>
            <a:r>
              <a:rPr lang="en" altLang="zh-C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pp</a:t>
            </a:r>
            <a:r>
              <a:rPr lang="zh-CN" altLang="en" sz="800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j-lt"/>
              </a:rPr>
              <a:t>）</a:t>
            </a:r>
            <a:endParaRPr lang="en" altLang="zh-CN" sz="8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A73651-40CD-8748-5851-709578BFB72F}"/>
              </a:ext>
            </a:extLst>
          </p:cNvPr>
          <p:cNvSpPr txBox="1"/>
          <p:nvPr/>
        </p:nvSpPr>
        <p:spPr>
          <a:xfrm>
            <a:off x="7698525" y="3566037"/>
            <a:ext cx="1257769" cy="1476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+mn-ea"/>
              </a:rPr>
              <a:t>POI</a:t>
            </a:r>
            <a:r>
              <a:rPr lang="zh-CN" altLang="en-US" sz="800" dirty="0">
                <a:latin typeface="+mn-ea"/>
              </a:rPr>
              <a:t>标签露出优先级：</a:t>
            </a:r>
            <a:r>
              <a:rPr lang="zh-CN" altLang="en-US" sz="800" dirty="0"/>
              <a:t>黑珍珠必吃榜 </a:t>
            </a:r>
            <a:r>
              <a:rPr lang="en-US" altLang="zh-CN" sz="800" dirty="0"/>
              <a:t>&gt; </a:t>
            </a:r>
            <a:r>
              <a:rPr lang="zh-CN" altLang="en-US" sz="800" b="1" dirty="0"/>
              <a:t>异地榜</a:t>
            </a:r>
            <a:r>
              <a:rPr lang="zh-CN" altLang="en-US" sz="800" dirty="0"/>
              <a:t> </a:t>
            </a:r>
            <a:r>
              <a:rPr lang="en-US" altLang="zh-CN" sz="800" dirty="0"/>
              <a:t>&gt; </a:t>
            </a:r>
            <a:r>
              <a:rPr lang="zh-CN" altLang="en-US" sz="800" dirty="0"/>
              <a:t>普通榜 </a:t>
            </a:r>
            <a:r>
              <a:rPr lang="en-US" altLang="zh-CN" sz="800" dirty="0"/>
              <a:t>&gt; </a:t>
            </a:r>
            <a:r>
              <a:rPr lang="zh-CN" altLang="en-US" sz="800" dirty="0"/>
              <a:t>内容类亮点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五一当地人推荐榜单标签日均曝光</a:t>
            </a:r>
            <a:r>
              <a:rPr lang="en-US" altLang="zh-CN" sz="800" dirty="0">
                <a:latin typeface="+mn-ea"/>
              </a:rPr>
              <a:t>133w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0.8%</a:t>
            </a:r>
            <a:r>
              <a:rPr lang="zh-CN" altLang="en-US" sz="800" dirty="0">
                <a:latin typeface="+mn-ea"/>
              </a:rPr>
              <a:t>；特色菜榜单标签日均曝光</a:t>
            </a:r>
            <a:r>
              <a:rPr lang="en-US" altLang="zh-CN" sz="800" dirty="0">
                <a:latin typeface="+mn-ea"/>
              </a:rPr>
              <a:t>99.9w</a:t>
            </a:r>
            <a:r>
              <a:rPr lang="zh-CN" altLang="en-US" sz="800" dirty="0">
                <a:latin typeface="+mn-ea"/>
              </a:rPr>
              <a:t>，点击率</a:t>
            </a:r>
            <a:r>
              <a:rPr lang="en-US" altLang="zh-CN" sz="800" dirty="0">
                <a:latin typeface="+mn-ea"/>
              </a:rPr>
              <a:t>1.6%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FA97266-F781-0FD1-0ED5-E1D8F88BC90A}"/>
              </a:ext>
            </a:extLst>
          </p:cNvPr>
          <p:cNvSpPr txBox="1"/>
          <p:nvPr/>
        </p:nvSpPr>
        <p:spPr>
          <a:xfrm>
            <a:off x="3693568" y="3225555"/>
            <a:ext cx="2244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rgbClr val="FF0000"/>
                </a:solidFill>
              </a:rPr>
              <a:t>③</a:t>
            </a:r>
            <a:endParaRPr lang="zh-CN" altLang="en-US" sz="800" dirty="0">
              <a:solidFill>
                <a:srgbClr val="FF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2E3A35-9402-F17A-353C-F73C055F68C7}"/>
              </a:ext>
            </a:extLst>
          </p:cNvPr>
          <p:cNvSpPr/>
          <p:nvPr/>
        </p:nvSpPr>
        <p:spPr>
          <a:xfrm>
            <a:off x="3896135" y="3309771"/>
            <a:ext cx="170950" cy="1446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EB9F1930-ADCE-0B6A-CEFC-AA5D5B0CE5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8885" y="959687"/>
            <a:ext cx="1162394" cy="2520000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BBE6F1A-C93F-77A4-5138-6CFC68C78F0A}"/>
              </a:ext>
            </a:extLst>
          </p:cNvPr>
          <p:cNvSpPr txBox="1"/>
          <p:nvPr/>
        </p:nvSpPr>
        <p:spPr>
          <a:xfrm>
            <a:off x="6330128" y="6088739"/>
            <a:ext cx="21238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800" b="1" dirty="0">
                <a:effectLst/>
              </a:rPr>
              <a:t>点击方面：</a:t>
            </a:r>
            <a:endParaRPr lang="zh-CN" altLang="en-US" sz="800" dirty="0">
              <a:effectLst/>
            </a:endParaRPr>
          </a:p>
          <a:p>
            <a:pPr>
              <a:buNone/>
            </a:pPr>
            <a:r>
              <a:rPr lang="zh-CN" altLang="en-US" sz="800" dirty="0">
                <a:effectLst/>
              </a:rPr>
              <a:t>点击率：春节期间点击率总体日均</a:t>
            </a:r>
            <a:r>
              <a:rPr lang="en-US" altLang="zh-CN" sz="800" dirty="0">
                <a:effectLst/>
              </a:rPr>
              <a:t>6.5%</a:t>
            </a:r>
            <a:r>
              <a:rPr lang="zh-CN" altLang="en-US" sz="800" dirty="0">
                <a:effectLst/>
              </a:rPr>
              <a:t>，其中异地</a:t>
            </a:r>
            <a:r>
              <a:rPr lang="en-US" altLang="zh-CN" sz="800" dirty="0">
                <a:effectLst/>
              </a:rPr>
              <a:t>8.6%</a:t>
            </a:r>
            <a:r>
              <a:rPr lang="zh-CN" altLang="en-US" sz="800" dirty="0">
                <a:effectLst/>
              </a:rPr>
              <a:t>，本地</a:t>
            </a:r>
            <a:r>
              <a:rPr lang="en-US" altLang="zh-CN" sz="800" dirty="0">
                <a:effectLst/>
              </a:rPr>
              <a:t>4.4%</a:t>
            </a:r>
            <a:r>
              <a:rPr lang="zh-CN" altLang="en-US" sz="800" dirty="0">
                <a:effectLst/>
              </a:rPr>
              <a:t>，异地较本地高出</a:t>
            </a:r>
            <a:r>
              <a:rPr lang="en-US" altLang="zh-CN" sz="800" dirty="0">
                <a:effectLst/>
              </a:rPr>
              <a:t>4.2</a:t>
            </a:r>
            <a:r>
              <a:rPr lang="en" altLang="zh-CN" sz="800" dirty="0">
                <a:effectLst/>
              </a:rPr>
              <a:t>pp</a:t>
            </a:r>
            <a:r>
              <a:rPr lang="zh-CN" altLang="en" sz="800" dirty="0">
                <a:effectLst/>
              </a:rPr>
              <a:t>；</a:t>
            </a:r>
          </a:p>
          <a:p>
            <a:pPr>
              <a:buNone/>
            </a:pPr>
            <a:r>
              <a:rPr lang="zh-CN" altLang="en-US" sz="800" dirty="0">
                <a:effectLst/>
              </a:rPr>
              <a:t>绝对值：春节期间</a:t>
            </a:r>
            <a:r>
              <a:rPr lang="en" altLang="zh-CN" sz="800" dirty="0" err="1">
                <a:effectLst/>
              </a:rPr>
              <a:t>aoi</a:t>
            </a:r>
            <a:r>
              <a:rPr lang="zh-CN" altLang="en-US" sz="800" dirty="0">
                <a:effectLst/>
              </a:rPr>
              <a:t>点击总体日均</a:t>
            </a:r>
            <a:r>
              <a:rPr lang="en-US" altLang="zh-CN" sz="800" dirty="0">
                <a:effectLst/>
              </a:rPr>
              <a:t>1525</a:t>
            </a:r>
            <a:r>
              <a:rPr lang="zh-CN" altLang="en-US" sz="800" dirty="0">
                <a:effectLst/>
              </a:rPr>
              <a:t>，其中异地</a:t>
            </a:r>
            <a:r>
              <a:rPr lang="en-US" altLang="zh-CN" sz="800" dirty="0">
                <a:effectLst/>
              </a:rPr>
              <a:t>2323</a:t>
            </a:r>
            <a:r>
              <a:rPr lang="zh-CN" altLang="en-US" sz="800" dirty="0">
                <a:effectLst/>
              </a:rPr>
              <a:t>，本地</a:t>
            </a:r>
            <a:r>
              <a:rPr lang="en-US" altLang="zh-CN" sz="800" dirty="0">
                <a:effectLst/>
              </a:rPr>
              <a:t>753</a:t>
            </a:r>
          </a:p>
          <a:p>
            <a:pPr>
              <a:buNone/>
            </a:pPr>
            <a:r>
              <a:rPr lang="zh-CN" altLang="en-US" sz="800" b="1" dirty="0">
                <a:effectLst/>
              </a:rPr>
              <a:t>意向方面：</a:t>
            </a:r>
            <a:endParaRPr lang="zh-CN" altLang="en-US" sz="800" dirty="0">
              <a:effectLst/>
            </a:endParaRPr>
          </a:p>
          <a:p>
            <a:pPr>
              <a:buNone/>
            </a:pPr>
            <a:r>
              <a:rPr lang="zh-CN" altLang="en-US" sz="800" dirty="0">
                <a:effectLst/>
              </a:rPr>
              <a:t>意向率：春节期间意向率总体日均</a:t>
            </a:r>
            <a:r>
              <a:rPr lang="en-US" altLang="zh-CN" sz="800" dirty="0">
                <a:effectLst/>
              </a:rPr>
              <a:t>18.7%</a:t>
            </a:r>
            <a:r>
              <a:rPr lang="zh-CN" altLang="en-US" sz="800" dirty="0">
                <a:effectLst/>
              </a:rPr>
              <a:t>，其中异地</a:t>
            </a:r>
            <a:r>
              <a:rPr lang="en-US" altLang="zh-CN" sz="800" dirty="0">
                <a:effectLst/>
              </a:rPr>
              <a:t>25.3%</a:t>
            </a:r>
            <a:r>
              <a:rPr lang="zh-CN" altLang="en-US" sz="800" dirty="0">
                <a:effectLst/>
              </a:rPr>
              <a:t>，本地</a:t>
            </a:r>
            <a:r>
              <a:rPr lang="en-US" altLang="zh-CN" sz="800" dirty="0">
                <a:effectLst/>
              </a:rPr>
              <a:t>12.1%</a:t>
            </a:r>
            <a:r>
              <a:rPr lang="zh-CN" altLang="en-US" sz="800" dirty="0">
                <a:effectLst/>
              </a:rPr>
              <a:t>，异地较本地高出</a:t>
            </a:r>
            <a:r>
              <a:rPr lang="en-US" altLang="zh-CN" sz="800" dirty="0">
                <a:effectLst/>
              </a:rPr>
              <a:t>13.2</a:t>
            </a:r>
            <a:r>
              <a:rPr lang="en" altLang="zh-CN" sz="800" dirty="0">
                <a:effectLst/>
              </a:rPr>
              <a:t>pp</a:t>
            </a:r>
            <a:r>
              <a:rPr lang="zh-CN" altLang="en" sz="800" dirty="0">
                <a:effectLst/>
              </a:rPr>
              <a:t>；</a:t>
            </a:r>
          </a:p>
          <a:p>
            <a:pPr>
              <a:buNone/>
            </a:pPr>
            <a:r>
              <a:rPr lang="zh-CN" altLang="en-US" sz="800" dirty="0">
                <a:effectLst/>
              </a:rPr>
              <a:t>绝对值：春节期间</a:t>
            </a:r>
            <a:r>
              <a:rPr lang="en" altLang="zh-CN" sz="800" dirty="0" err="1">
                <a:effectLst/>
              </a:rPr>
              <a:t>aoi</a:t>
            </a:r>
            <a:r>
              <a:rPr lang="zh-CN" altLang="en-US" sz="800" dirty="0">
                <a:effectLst/>
              </a:rPr>
              <a:t>意向总体日均</a:t>
            </a:r>
            <a:r>
              <a:rPr lang="en-US" altLang="zh-CN" sz="800" dirty="0">
                <a:effectLst/>
              </a:rPr>
              <a:t>332</a:t>
            </a:r>
            <a:r>
              <a:rPr lang="zh-CN" altLang="en-US" sz="800" dirty="0">
                <a:effectLst/>
              </a:rPr>
              <a:t>，其中异地</a:t>
            </a:r>
            <a:r>
              <a:rPr lang="en-US" altLang="zh-CN" sz="800" dirty="0">
                <a:effectLst/>
              </a:rPr>
              <a:t>585</a:t>
            </a:r>
            <a:r>
              <a:rPr lang="zh-CN" altLang="en-US" sz="800" dirty="0">
                <a:effectLst/>
              </a:rPr>
              <a:t>，本地</a:t>
            </a:r>
            <a:r>
              <a:rPr lang="en-US" altLang="zh-CN" sz="800" dirty="0">
                <a:effectLst/>
              </a:rPr>
              <a:t>89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6090A8-D3F2-4870-AF6A-7CE5585C13D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227" b="21094"/>
          <a:stretch/>
        </p:blipFill>
        <p:spPr>
          <a:xfrm>
            <a:off x="599374" y="1592889"/>
            <a:ext cx="1114876" cy="1880222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EB63BF74-E9D1-4FC3-AF5F-85F294836A35}"/>
              </a:ext>
            </a:extLst>
          </p:cNvPr>
          <p:cNvSpPr txBox="1"/>
          <p:nvPr/>
        </p:nvSpPr>
        <p:spPr>
          <a:xfrm>
            <a:off x="1828138" y="5322535"/>
            <a:ext cx="14472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+mn-ea"/>
              </a:rPr>
              <a:t>美食金刚</a:t>
            </a:r>
            <a:r>
              <a:rPr lang="en-US" altLang="zh-CN" sz="900" b="1" dirty="0">
                <a:latin typeface="+mn-ea"/>
              </a:rPr>
              <a:t>UV</a:t>
            </a:r>
            <a:r>
              <a:rPr lang="zh-CN" altLang="en-US" sz="900" b="1" dirty="0">
                <a:latin typeface="+mn-ea"/>
              </a:rPr>
              <a:t> </a:t>
            </a:r>
            <a:r>
              <a:rPr lang="en-US" altLang="zh-CN" sz="900" b="1" dirty="0">
                <a:latin typeface="+mn-ea"/>
              </a:rPr>
              <a:t>500w</a:t>
            </a:r>
            <a:r>
              <a:rPr lang="zh-CN" altLang="en-US" sz="900" b="1" dirty="0">
                <a:latin typeface="+mn-ea"/>
              </a:rPr>
              <a:t>，标签曝光</a:t>
            </a:r>
            <a:r>
              <a:rPr lang="en-US" altLang="zh-CN" sz="900" b="1" dirty="0">
                <a:latin typeface="+mn-ea"/>
              </a:rPr>
              <a:t>483w</a:t>
            </a:r>
            <a:r>
              <a:rPr lang="zh-CN" altLang="en-US" sz="900" b="1" dirty="0">
                <a:latin typeface="+mn-ea"/>
              </a:rPr>
              <a:t> </a:t>
            </a:r>
            <a:endParaRPr lang="en-US" altLang="zh-CN" sz="900" b="1" dirty="0">
              <a:latin typeface="+mn-ea"/>
            </a:endParaRPr>
          </a:p>
          <a:p>
            <a:r>
              <a:rPr lang="zh-CN" altLang="en-US" sz="900" b="1" dirty="0">
                <a:latin typeface="+mn-ea"/>
              </a:rPr>
              <a:t>猜喜 </a:t>
            </a:r>
            <a:r>
              <a:rPr lang="en-US" altLang="zh-CN" sz="900" b="1" dirty="0">
                <a:latin typeface="+mn-ea"/>
              </a:rPr>
              <a:t>100w</a:t>
            </a:r>
            <a:r>
              <a:rPr lang="zh-CN" altLang="en-US" sz="900" b="1" dirty="0">
                <a:latin typeface="+mn-ea"/>
              </a:rPr>
              <a:t>，引流</a:t>
            </a:r>
            <a:r>
              <a:rPr lang="en-US" altLang="zh-CN" sz="900" b="1" dirty="0">
                <a:latin typeface="+mn-ea"/>
              </a:rPr>
              <a:t>10w</a:t>
            </a:r>
          </a:p>
          <a:p>
            <a:endParaRPr lang="en-US" altLang="zh-CN" sz="900" dirty="0">
              <a:latin typeface="+mn-ea"/>
            </a:endParaRPr>
          </a:p>
          <a:p>
            <a:r>
              <a:rPr lang="zh-CN" altLang="en-US" sz="900" dirty="0">
                <a:latin typeface="+mn-ea"/>
              </a:rPr>
              <a:t>春节“跟榜吃”金刚位</a:t>
            </a:r>
            <a:r>
              <a:rPr lang="en-US" altLang="zh-CN" sz="900" dirty="0">
                <a:latin typeface="+mn-ea"/>
              </a:rPr>
              <a:t>CTR</a:t>
            </a:r>
            <a:r>
              <a:rPr lang="zh-CN" altLang="en-US" sz="900" dirty="0">
                <a:latin typeface="+mn-ea"/>
              </a:rPr>
              <a:t> </a:t>
            </a:r>
            <a:r>
              <a:rPr lang="en-US" altLang="zh-CN" sz="900" dirty="0">
                <a:latin typeface="+mn-ea"/>
              </a:rPr>
              <a:t>4.8%</a:t>
            </a:r>
            <a:r>
              <a:rPr lang="zh-CN" altLang="en-US" sz="900" dirty="0">
                <a:latin typeface="+mn-ea"/>
              </a:rPr>
              <a:t>（</a:t>
            </a:r>
            <a:r>
              <a:rPr lang="en-US" altLang="zh-CN" sz="900" dirty="0">
                <a:latin typeface="+mn-ea"/>
              </a:rPr>
              <a:t>vs</a:t>
            </a:r>
            <a:r>
              <a:rPr lang="zh-CN" altLang="en-US" sz="900" dirty="0">
                <a:latin typeface="+mn-ea"/>
              </a:rPr>
              <a:t>元旦通投</a:t>
            </a:r>
            <a:r>
              <a:rPr lang="en-US" altLang="zh-CN" sz="900" dirty="0">
                <a:latin typeface="+mn-ea"/>
              </a:rPr>
              <a:t>+0.9pp</a:t>
            </a:r>
            <a:r>
              <a:rPr lang="zh-CN" altLang="en-US" sz="900" dirty="0">
                <a:latin typeface="+mn-ea"/>
              </a:rPr>
              <a:t>）</a:t>
            </a:r>
            <a:endParaRPr lang="en-US" altLang="zh-CN" sz="900" dirty="0">
              <a:latin typeface="+mn-ea"/>
            </a:endParaRPr>
          </a:p>
          <a:p>
            <a:endParaRPr lang="en-US" altLang="zh-CN" sz="900" dirty="0">
              <a:effectLst/>
            </a:endParaRPr>
          </a:p>
          <a:p>
            <a:r>
              <a:rPr lang="zh-CN" altLang="en-US" sz="900" dirty="0">
                <a:effectLst/>
              </a:rPr>
              <a:t>猜喜标签有效提升了业务及圈选供给整体的</a:t>
            </a:r>
            <a:r>
              <a:rPr lang="en-US" altLang="zh-CN" sz="900" dirty="0" err="1">
                <a:effectLst/>
              </a:rPr>
              <a:t>pvCTCVR</a:t>
            </a:r>
            <a:r>
              <a:rPr lang="en-US" altLang="zh-CN" sz="900" dirty="0">
                <a:effectLst/>
              </a:rPr>
              <a:t> </a:t>
            </a:r>
            <a:r>
              <a:rPr lang="zh-CN" altLang="en-US" sz="900" dirty="0">
                <a:effectLst/>
              </a:rPr>
              <a:t>转化效率</a:t>
            </a:r>
            <a:r>
              <a:rPr lang="en-US" altLang="zh-CN" sz="900" dirty="0">
                <a:effectLst/>
              </a:rPr>
              <a:t>(</a:t>
            </a:r>
            <a:r>
              <a:rPr lang="zh-CN" altLang="en-US" sz="900" dirty="0">
                <a:effectLst/>
              </a:rPr>
              <a:t>首页</a:t>
            </a:r>
            <a:r>
              <a:rPr lang="en-US" altLang="zh-CN" sz="900" dirty="0" err="1">
                <a:effectLst/>
              </a:rPr>
              <a:t>pvCTCVR</a:t>
            </a:r>
            <a:r>
              <a:rPr lang="en-US" altLang="zh-CN" sz="900" dirty="0">
                <a:effectLst/>
              </a:rPr>
              <a:t> </a:t>
            </a:r>
            <a:r>
              <a:rPr lang="zh-CN" altLang="en-US" sz="900" dirty="0">
                <a:effectLst/>
              </a:rPr>
              <a:t>显著正向</a:t>
            </a:r>
            <a:r>
              <a:rPr lang="en-US" altLang="zh-CN" sz="900" dirty="0">
                <a:effectLst/>
              </a:rPr>
              <a:t>+1%</a:t>
            </a:r>
            <a:r>
              <a:rPr lang="zh-CN" altLang="en-US" sz="900" dirty="0">
                <a:effectLst/>
              </a:rPr>
              <a:t>， 到餐首页</a:t>
            </a:r>
            <a:r>
              <a:rPr lang="en-US" altLang="zh-CN" sz="900" dirty="0" err="1">
                <a:effectLst/>
              </a:rPr>
              <a:t>pvCTCVR</a:t>
            </a:r>
            <a:r>
              <a:rPr lang="en-US" altLang="zh-CN" sz="900" dirty="0">
                <a:effectLst/>
              </a:rPr>
              <a:t> </a:t>
            </a:r>
            <a:r>
              <a:rPr lang="zh-CN" altLang="en-US" sz="900" dirty="0">
                <a:effectLst/>
              </a:rPr>
              <a:t>显著正向</a:t>
            </a:r>
            <a:r>
              <a:rPr lang="en-US" altLang="zh-CN" sz="900" dirty="0">
                <a:effectLst/>
              </a:rPr>
              <a:t>+1.38%)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17221D2-B50E-43D0-B495-0D527188608C}"/>
              </a:ext>
            </a:extLst>
          </p:cNvPr>
          <p:cNvSpPr txBox="1"/>
          <p:nvPr/>
        </p:nvSpPr>
        <p:spPr>
          <a:xfrm>
            <a:off x="12920792" y="3492098"/>
            <a:ext cx="1408264" cy="568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当地人推荐快筛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CTR0.7%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，高于大搜快筛基准值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0.22pp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AFFD718-97D6-46B4-8365-35C708937616}"/>
              </a:ext>
            </a:extLst>
          </p:cNvPr>
          <p:cNvSpPr txBox="1"/>
          <p:nvPr/>
        </p:nvSpPr>
        <p:spPr>
          <a:xfrm>
            <a:off x="286757" y="5399513"/>
            <a:ext cx="144721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/>
              <a:t>Push</a:t>
            </a:r>
            <a:r>
              <a:rPr lang="zh-CN" altLang="en-US" sz="900" b="1" dirty="0"/>
              <a:t> </a:t>
            </a:r>
            <a:r>
              <a:rPr lang="en-US" altLang="zh-CN" sz="900" b="1" dirty="0"/>
              <a:t>2.8w</a:t>
            </a:r>
          </a:p>
          <a:p>
            <a:r>
              <a:rPr lang="zh-CN" altLang="en-US" sz="900" b="1" dirty="0"/>
              <a:t>直播曝光 </a:t>
            </a:r>
            <a:r>
              <a:rPr lang="en-US" altLang="zh-CN" sz="900" b="1" dirty="0"/>
              <a:t>1w</a:t>
            </a:r>
          </a:p>
          <a:p>
            <a:endParaRPr lang="en-US" altLang="zh-CN" sz="900" dirty="0"/>
          </a:p>
          <a:p>
            <a:r>
              <a:rPr lang="zh-CN" altLang="en-US" sz="900" dirty="0">
                <a:effectLst/>
              </a:rPr>
              <a:t>宜宾当地人推荐直播宣传，榜单链接曝光</a:t>
            </a:r>
            <a:r>
              <a:rPr lang="en-US" altLang="zh-CN" sz="900" dirty="0">
                <a:effectLst/>
              </a:rPr>
              <a:t>UV1w</a:t>
            </a:r>
            <a:r>
              <a:rPr lang="zh-CN" altLang="en-US" sz="900" dirty="0">
                <a:effectLst/>
              </a:rPr>
              <a:t>，点击率</a:t>
            </a:r>
            <a:r>
              <a:rPr lang="en-US" altLang="zh-CN" sz="900" dirty="0">
                <a:effectLst/>
              </a:rPr>
              <a:t>3.4%</a:t>
            </a:r>
            <a:r>
              <a:rPr lang="zh-CN" altLang="en-US" sz="900" dirty="0">
                <a:effectLst/>
              </a:rPr>
              <a:t>；</a:t>
            </a:r>
            <a:r>
              <a:rPr lang="zh-CN" altLang="en-US" sz="900" dirty="0"/>
              <a:t>榜单</a:t>
            </a:r>
            <a:r>
              <a:rPr lang="en-US" altLang="zh-CN" sz="900" dirty="0"/>
              <a:t>deal</a:t>
            </a:r>
            <a:r>
              <a:rPr lang="zh-CN" altLang="en-US" sz="900" dirty="0"/>
              <a:t>曝光</a:t>
            </a:r>
            <a:r>
              <a:rPr lang="en-US" altLang="zh-CN" sz="900" dirty="0"/>
              <a:t>UV6.7w</a:t>
            </a:r>
            <a:r>
              <a:rPr lang="zh-CN" altLang="en-US" sz="900" dirty="0"/>
              <a:t>，点击</a:t>
            </a:r>
            <a:r>
              <a:rPr lang="en-US" altLang="zh-CN" sz="900" dirty="0"/>
              <a:t>2.07%</a:t>
            </a:r>
            <a:r>
              <a:rPr lang="zh-CN" altLang="en-US" sz="900" dirty="0"/>
              <a:t>。</a:t>
            </a:r>
            <a:endParaRPr lang="zh-CN" altLang="en-US" sz="900" dirty="0">
              <a:effectLst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D526CD5-39CC-4F43-A926-7168FF9300AD}"/>
              </a:ext>
            </a:extLst>
          </p:cNvPr>
          <p:cNvSpPr txBox="1"/>
          <p:nvPr/>
        </p:nvSpPr>
        <p:spPr>
          <a:xfrm>
            <a:off x="9247280" y="3623801"/>
            <a:ext cx="1725520" cy="1495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latin typeface="+mn-ea"/>
              </a:rPr>
              <a:t>合作首页旅游版，强化当地特色美食，并通过图筛承接用户需求。针对搜索结果进行上榜门店的大搜提权。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 marL="0" marR="0"/>
            <a:r>
              <a:rPr lang="zh-CN" altLang="en-US" sz="800" dirty="0"/>
              <a:t>①</a:t>
            </a:r>
            <a:r>
              <a:rPr lang="zh-CN" altLang="en-US" sz="800" dirty="0">
                <a:effectLst/>
              </a:rPr>
              <a:t>铁锅炖和烧烤烤肉坑位日均曝光</a:t>
            </a:r>
            <a:r>
              <a:rPr lang="en-US" altLang="zh-CN" sz="800" dirty="0">
                <a:effectLst/>
              </a:rPr>
              <a:t>1142</a:t>
            </a:r>
            <a:r>
              <a:rPr lang="zh-CN" altLang="en-US" sz="800" dirty="0">
                <a:effectLst/>
              </a:rPr>
              <a:t>，点击率分别为</a:t>
            </a:r>
            <a:r>
              <a:rPr lang="en-US" altLang="zh-CN" sz="800" dirty="0">
                <a:effectLst/>
              </a:rPr>
              <a:t>2.7%</a:t>
            </a:r>
            <a:r>
              <a:rPr lang="zh-CN" altLang="en-US" sz="800" dirty="0">
                <a:effectLst/>
              </a:rPr>
              <a:t>和</a:t>
            </a:r>
            <a:r>
              <a:rPr lang="en-US" altLang="zh-CN" sz="800" dirty="0">
                <a:effectLst/>
              </a:rPr>
              <a:t>1.6%</a:t>
            </a:r>
            <a:r>
              <a:rPr lang="zh-CN" altLang="en-US" sz="800" dirty="0">
                <a:effectLst/>
              </a:rPr>
              <a:t>，在各坑位中属于中高水平。②大搜提权下，上榜商户曝光</a:t>
            </a:r>
            <a:r>
              <a:rPr lang="en-US" altLang="zh-CN" sz="800" dirty="0">
                <a:effectLst/>
              </a:rPr>
              <a:t>UV</a:t>
            </a:r>
            <a:r>
              <a:rPr lang="zh-CN" altLang="en-US" sz="800" dirty="0"/>
              <a:t>，较对照组</a:t>
            </a:r>
            <a:r>
              <a:rPr lang="en-US" altLang="zh-CN" sz="800" dirty="0">
                <a:effectLst/>
              </a:rPr>
              <a:t>+4.6%</a:t>
            </a:r>
            <a:endParaRPr lang="zh-CN" altLang="en-US" sz="800" dirty="0">
              <a:effectLst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5B7B178-A70E-47F6-9901-2CE26729A206}"/>
              </a:ext>
            </a:extLst>
          </p:cNvPr>
          <p:cNvGrpSpPr/>
          <p:nvPr/>
        </p:nvGrpSpPr>
        <p:grpSpPr>
          <a:xfrm>
            <a:off x="11627101" y="705377"/>
            <a:ext cx="1144518" cy="2425174"/>
            <a:chOff x="11627101" y="705377"/>
            <a:chExt cx="1144518" cy="2425174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9818FC87-5048-4DF4-96E7-8C80AD7DB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627101" y="705377"/>
              <a:ext cx="1119042" cy="2425174"/>
            </a:xfrm>
            <a:prstGeom prst="rect">
              <a:avLst/>
            </a:prstGeom>
          </p:spPr>
        </p:pic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6518A7BF-69EB-4142-9795-031B785B7A18}"/>
                </a:ext>
              </a:extLst>
            </p:cNvPr>
            <p:cNvSpPr/>
            <p:nvPr/>
          </p:nvSpPr>
          <p:spPr>
            <a:xfrm>
              <a:off x="11652576" y="1127939"/>
              <a:ext cx="1119043" cy="3210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441A5E1-AE62-4484-A914-DEDD4702BBC0}"/>
              </a:ext>
            </a:extLst>
          </p:cNvPr>
          <p:cNvGrpSpPr/>
          <p:nvPr/>
        </p:nvGrpSpPr>
        <p:grpSpPr>
          <a:xfrm>
            <a:off x="10439818" y="705376"/>
            <a:ext cx="1135073" cy="2459916"/>
            <a:chOff x="10439818" y="705376"/>
            <a:chExt cx="1135073" cy="2459916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B962350F-26E5-4315-AD0B-D12AA0689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39818" y="705376"/>
              <a:ext cx="1135073" cy="2459916"/>
            </a:xfrm>
            <a:prstGeom prst="rect">
              <a:avLst/>
            </a:prstGeom>
          </p:spPr>
        </p:pic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96EE39C7-4144-48B8-9B2A-B0726478E423}"/>
                </a:ext>
              </a:extLst>
            </p:cNvPr>
            <p:cNvSpPr/>
            <p:nvPr/>
          </p:nvSpPr>
          <p:spPr>
            <a:xfrm>
              <a:off x="10845799" y="1600140"/>
              <a:ext cx="361951" cy="4251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C17C73B-DEFE-49CC-B174-14FDC88C40D5}"/>
              </a:ext>
            </a:extLst>
          </p:cNvPr>
          <p:cNvGrpSpPr/>
          <p:nvPr/>
        </p:nvGrpSpPr>
        <p:grpSpPr>
          <a:xfrm>
            <a:off x="9252929" y="670634"/>
            <a:ext cx="1134680" cy="2459916"/>
            <a:chOff x="9252929" y="670634"/>
            <a:chExt cx="1134680" cy="245991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A7748CF-34F5-4A4D-8AA1-F7E615702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252929" y="670634"/>
              <a:ext cx="1134680" cy="2459916"/>
            </a:xfrm>
            <a:prstGeom prst="rect">
              <a:avLst/>
            </a:prstGeom>
          </p:spPr>
        </p:pic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66657D55-421D-46C1-BEFA-50AC5005C7EC}"/>
                </a:ext>
              </a:extLst>
            </p:cNvPr>
            <p:cNvSpPr/>
            <p:nvPr/>
          </p:nvSpPr>
          <p:spPr>
            <a:xfrm>
              <a:off x="9997029" y="1993124"/>
              <a:ext cx="373468" cy="317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61079C44-381B-45A0-8650-F97189103F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62029" y="724132"/>
            <a:ext cx="1135073" cy="2460769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3C986E7-2054-434A-ABB7-68792BEDCB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155945" y="763659"/>
            <a:ext cx="1107796" cy="240163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2C6F85A-9A5D-A550-2352-D2E638EC7A7D}"/>
              </a:ext>
            </a:extLst>
          </p:cNvPr>
          <p:cNvSpPr txBox="1"/>
          <p:nvPr/>
        </p:nvSpPr>
        <p:spPr>
          <a:xfrm>
            <a:off x="5157232" y="5312966"/>
            <a:ext cx="873948" cy="317497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31w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ABC9056-42B0-B5F4-E7B9-688420A29EF5}"/>
              </a:ext>
            </a:extLst>
          </p:cNvPr>
          <p:cNvSpPr txBox="1"/>
          <p:nvPr/>
        </p:nvSpPr>
        <p:spPr>
          <a:xfrm>
            <a:off x="6374360" y="5317085"/>
            <a:ext cx="1167740" cy="677075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9.8w</a:t>
            </a:r>
          </a:p>
          <a:p>
            <a:r>
              <a:rPr lang="zh-CN" altLang="en-US" b="1" dirty="0">
                <a:solidFill>
                  <a:schemeClr val="tx1"/>
                </a:solidFill>
              </a:rPr>
              <a:t>特色菜 </a:t>
            </a:r>
            <a:r>
              <a:rPr lang="en-US" altLang="zh-CN" b="1" dirty="0">
                <a:solidFill>
                  <a:schemeClr val="tx1"/>
                </a:solidFill>
              </a:rPr>
              <a:t>362-448</a:t>
            </a:r>
            <a:r>
              <a:rPr lang="zh-CN" altLang="en-US" b="1" dirty="0">
                <a:solidFill>
                  <a:schemeClr val="tx1"/>
                </a:solidFill>
              </a:rPr>
              <a:t>城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当地人推荐 </a:t>
            </a:r>
            <a:r>
              <a:rPr lang="en-US" altLang="zh-CN" b="1" dirty="0">
                <a:solidFill>
                  <a:schemeClr val="tx1"/>
                </a:solidFill>
              </a:rPr>
              <a:t>660</a:t>
            </a:r>
            <a:r>
              <a:rPr lang="zh-CN" altLang="en-US" b="1" dirty="0">
                <a:solidFill>
                  <a:schemeClr val="tx1"/>
                </a:solidFill>
              </a:rPr>
              <a:t>城</a:t>
            </a:r>
            <a:r>
              <a:rPr lang="en-US" altLang="zh-CN" b="1" dirty="0">
                <a:solidFill>
                  <a:schemeClr val="tx1"/>
                </a:solidFill>
              </a:rPr>
              <a:t>-670</a:t>
            </a:r>
            <a:r>
              <a:rPr lang="zh-CN" altLang="en-US" b="1" dirty="0">
                <a:solidFill>
                  <a:schemeClr val="tx1"/>
                </a:solidFill>
              </a:rPr>
              <a:t>城</a:t>
            </a:r>
            <a:endParaRPr lang="en-US" altLang="zh-CN" b="1" dirty="0">
              <a:solidFill>
                <a:schemeClr val="tx1"/>
              </a:solidFill>
            </a:endParaRPr>
          </a:p>
          <a:p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04145C-CCC8-CDEF-37AB-DBDC8CE96F11}"/>
              </a:ext>
            </a:extLst>
          </p:cNvPr>
          <p:cNvSpPr txBox="1"/>
          <p:nvPr/>
        </p:nvSpPr>
        <p:spPr>
          <a:xfrm>
            <a:off x="219892" y="6677910"/>
            <a:ext cx="1257769" cy="81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结合本异地用户</a:t>
            </a: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LBS+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个性化偏好，推荐上榜门店，并结合履约服务做推送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572813A-8A39-624D-B02B-D4FB917B4E33}"/>
              </a:ext>
            </a:extLst>
          </p:cNvPr>
          <p:cNvSpPr txBox="1"/>
          <p:nvPr/>
        </p:nvSpPr>
        <p:spPr>
          <a:xfrm>
            <a:off x="1847077" y="7256518"/>
            <a:ext cx="1257769" cy="959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面向榜单深度用户（高频使用），或潜在用户（常吃上榜门店</a:t>
            </a: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点评榜单用户），首页露出榜单入口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2409BF6-916F-4D57-8719-C940FEB88E31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-1" t="64951" r="2602" b="18741"/>
          <a:stretch/>
        </p:blipFill>
        <p:spPr>
          <a:xfrm>
            <a:off x="596552" y="1038527"/>
            <a:ext cx="1148971" cy="41706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8EA6C8E-ACAE-0600-D5EB-6002A443A632}"/>
              </a:ext>
            </a:extLst>
          </p:cNvPr>
          <p:cNvSpPr txBox="1"/>
          <p:nvPr/>
        </p:nvSpPr>
        <p:spPr>
          <a:xfrm>
            <a:off x="-2100735" y="1835898"/>
            <a:ext cx="204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动线建设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93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2AAD6E8-02A3-7B12-42C5-8943FDA3B5B9}"/>
              </a:ext>
            </a:extLst>
          </p:cNvPr>
          <p:cNvSpPr/>
          <p:nvPr/>
        </p:nvSpPr>
        <p:spPr>
          <a:xfrm>
            <a:off x="0" y="4756680"/>
            <a:ext cx="9144000" cy="3926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004E48EA-2A7B-47D4-B60F-01B36A37ED70}"/>
              </a:ext>
            </a:extLst>
          </p:cNvPr>
          <p:cNvSpPr/>
          <p:nvPr/>
        </p:nvSpPr>
        <p:spPr>
          <a:xfrm>
            <a:off x="6198865" y="818747"/>
            <a:ext cx="2653200" cy="4233367"/>
          </a:xfrm>
          <a:prstGeom prst="roundRect">
            <a:avLst>
              <a:gd name="adj" fmla="val 4769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13">
            <a:extLst>
              <a:ext uri="{FF2B5EF4-FFF2-40B4-BE49-F238E27FC236}">
                <a16:creationId xmlns:a16="http://schemas.microsoft.com/office/drawing/2014/main" id="{E0FFFB2F-C5D7-49AD-9C85-1CF2E71E1A2F}"/>
              </a:ext>
            </a:extLst>
          </p:cNvPr>
          <p:cNvSpPr/>
          <p:nvPr/>
        </p:nvSpPr>
        <p:spPr>
          <a:xfrm>
            <a:off x="3365519" y="818747"/>
            <a:ext cx="2653200" cy="4233367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13">
            <a:extLst>
              <a:ext uri="{FF2B5EF4-FFF2-40B4-BE49-F238E27FC236}">
                <a16:creationId xmlns:a16="http://schemas.microsoft.com/office/drawing/2014/main" id="{5DEEBE23-4B86-4E26-8ACB-824F40E736B7}"/>
              </a:ext>
            </a:extLst>
          </p:cNvPr>
          <p:cNvSpPr/>
          <p:nvPr/>
        </p:nvSpPr>
        <p:spPr>
          <a:xfrm>
            <a:off x="514641" y="818747"/>
            <a:ext cx="2653200" cy="4233367"/>
          </a:xfrm>
          <a:prstGeom prst="roundRect">
            <a:avLst>
              <a:gd name="adj" fmla="val 4769"/>
            </a:avLst>
          </a:prstGeom>
          <a:solidFill>
            <a:schemeClr val="bg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E573436D-75A1-41E7-ABA8-A419304B6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54" y="1109203"/>
            <a:ext cx="1210709" cy="2520000"/>
          </a:xfrm>
          <a:prstGeom prst="rect">
            <a:avLst/>
          </a:prstGeom>
        </p:spPr>
      </p:pic>
      <p:sp>
        <p:nvSpPr>
          <p:cNvPr id="44" name="米菲PPT9">
            <a:extLst>
              <a:ext uri="{FF2B5EF4-FFF2-40B4-BE49-F238E27FC236}">
                <a16:creationId xmlns:a16="http://schemas.microsoft.com/office/drawing/2014/main" id="{12F10D34-65FC-4D7A-8DDF-6A6ADB8FDF6B}"/>
              </a:ext>
            </a:extLst>
          </p:cNvPr>
          <p:cNvSpPr/>
          <p:nvPr/>
        </p:nvSpPr>
        <p:spPr>
          <a:xfrm>
            <a:off x="374812" y="530181"/>
            <a:ext cx="2880000" cy="237600"/>
          </a:xfrm>
          <a:prstGeom prst="homePlate">
            <a:avLst>
              <a:gd name="adj" fmla="val 36289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起心动念</a:t>
            </a:r>
          </a:p>
        </p:txBody>
      </p:sp>
      <p:sp>
        <p:nvSpPr>
          <p:cNvPr id="45" name="米菲PPT10">
            <a:extLst>
              <a:ext uri="{FF2B5EF4-FFF2-40B4-BE49-F238E27FC236}">
                <a16:creationId xmlns:a16="http://schemas.microsoft.com/office/drawing/2014/main" id="{DB85B201-6F44-43E3-A56C-9D5EF0BDA25B}"/>
              </a:ext>
            </a:extLst>
          </p:cNvPr>
          <p:cNvSpPr/>
          <p:nvPr/>
        </p:nvSpPr>
        <p:spPr>
          <a:xfrm>
            <a:off x="3233168" y="530181"/>
            <a:ext cx="2880000" cy="237600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考虑决策</a:t>
            </a:r>
          </a:p>
        </p:txBody>
      </p:sp>
      <p:sp>
        <p:nvSpPr>
          <p:cNvPr id="46" name="米菲PPT11">
            <a:extLst>
              <a:ext uri="{FF2B5EF4-FFF2-40B4-BE49-F238E27FC236}">
                <a16:creationId xmlns:a16="http://schemas.microsoft.com/office/drawing/2014/main" id="{873D7362-08E5-4D62-8CDC-032C135BF7A3}"/>
              </a:ext>
            </a:extLst>
          </p:cNvPr>
          <p:cNvSpPr/>
          <p:nvPr/>
        </p:nvSpPr>
        <p:spPr>
          <a:xfrm>
            <a:off x="6113168" y="525759"/>
            <a:ext cx="2880000" cy="237600"/>
          </a:xfrm>
          <a:prstGeom prst="chevron">
            <a:avLst>
              <a:gd name="adj" fmla="val 31173"/>
            </a:avLst>
          </a:pr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+mn-ea"/>
                <a:cs typeface="MiSans Medium" panose="00000600000000000000" pitchFamily="2" charset="-122"/>
                <a:sym typeface="MiSans Bold" panose="00000800000000000000" pitchFamily="2" charset="-122"/>
              </a:rPr>
              <a:t>评估选择</a:t>
            </a:r>
          </a:p>
        </p:txBody>
      </p:sp>
      <p:sp>
        <p:nvSpPr>
          <p:cNvPr id="56" name="TextBox 17">
            <a:extLst>
              <a:ext uri="{FF2B5EF4-FFF2-40B4-BE49-F238E27FC236}">
                <a16:creationId xmlns:a16="http://schemas.microsoft.com/office/drawing/2014/main" id="{99A86A54-FE21-4F54-854C-440019B4FCA8}"/>
              </a:ext>
            </a:extLst>
          </p:cNvPr>
          <p:cNvSpPr txBox="1"/>
          <p:nvPr/>
        </p:nvSpPr>
        <p:spPr>
          <a:xfrm>
            <a:off x="3846056" y="843746"/>
            <a:ext cx="1531818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搜索结果页</a:t>
            </a:r>
            <a:endParaRPr lang="en-US" altLang="zh-CN" sz="1000" b="1" dirty="0"/>
          </a:p>
        </p:txBody>
      </p:sp>
      <p:sp>
        <p:nvSpPr>
          <p:cNvPr id="57" name="TextBox 17">
            <a:extLst>
              <a:ext uri="{FF2B5EF4-FFF2-40B4-BE49-F238E27FC236}">
                <a16:creationId xmlns:a16="http://schemas.microsoft.com/office/drawing/2014/main" id="{5269527B-1BF4-4839-BFD7-E584F0883243}"/>
              </a:ext>
            </a:extLst>
          </p:cNvPr>
          <p:cNvSpPr txBox="1"/>
          <p:nvPr/>
        </p:nvSpPr>
        <p:spPr>
          <a:xfrm>
            <a:off x="348506" y="828782"/>
            <a:ext cx="1889895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美团首页</a:t>
            </a:r>
            <a:endParaRPr lang="en-US" altLang="zh-CN" sz="1000" b="1" dirty="0"/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30D688BB-CAB7-45A5-B202-217E32B6C5C5}"/>
              </a:ext>
            </a:extLst>
          </p:cNvPr>
          <p:cNvSpPr txBox="1"/>
          <p:nvPr/>
        </p:nvSpPr>
        <p:spPr>
          <a:xfrm>
            <a:off x="1490957" y="822668"/>
            <a:ext cx="1889895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搜索</a:t>
            </a:r>
            <a:endParaRPr lang="en-US" altLang="zh-CN" sz="10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0DDF7F1-EC08-4446-AFE5-C3715D8BAAED}"/>
              </a:ext>
            </a:extLst>
          </p:cNvPr>
          <p:cNvSpPr txBox="1"/>
          <p:nvPr/>
        </p:nvSpPr>
        <p:spPr>
          <a:xfrm>
            <a:off x="1863708" y="5289370"/>
            <a:ext cx="1365094" cy="771868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180w</a:t>
            </a:r>
          </a:p>
          <a:p>
            <a:pPr algn="l"/>
            <a:r>
              <a:rPr lang="zh-CN" altLang="en-US" b="1" dirty="0">
                <a:solidFill>
                  <a:schemeClr val="tx1"/>
                </a:solidFill>
              </a:rPr>
              <a:t>大搜</a:t>
            </a:r>
            <a:r>
              <a:rPr lang="en-US" altLang="zh-CN" b="1" dirty="0" err="1">
                <a:solidFill>
                  <a:schemeClr val="tx1"/>
                </a:solidFill>
              </a:rPr>
              <a:t>sug</a:t>
            </a:r>
            <a:r>
              <a:rPr lang="zh-CN" altLang="en-US" b="1" dirty="0">
                <a:solidFill>
                  <a:schemeClr val="tx1"/>
                </a:solidFill>
              </a:rPr>
              <a:t>承接品类找店需求</a:t>
            </a:r>
            <a:r>
              <a:rPr lang="zh-CN" altLang="en-US" dirty="0"/>
              <a:t>，带来榜单页</a:t>
            </a:r>
            <a:r>
              <a:rPr lang="en-US" altLang="zh-CN" dirty="0"/>
              <a:t>DAU11</a:t>
            </a:r>
            <a:r>
              <a:rPr lang="zh-CN" altLang="en-US" dirty="0"/>
              <a:t>万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EEAA996-A525-4095-A98B-F293FE4B31F5}"/>
              </a:ext>
            </a:extLst>
          </p:cNvPr>
          <p:cNvSpPr txBox="1"/>
          <p:nvPr/>
        </p:nvSpPr>
        <p:spPr>
          <a:xfrm>
            <a:off x="415779" y="5359706"/>
            <a:ext cx="1365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/>
              <a:t>PVCTCVR= </a:t>
            </a:r>
            <a:r>
              <a:rPr lang="zh-CN" altLang="en-US" sz="900" dirty="0"/>
              <a:t>订单</a:t>
            </a:r>
            <a:r>
              <a:rPr lang="en-US" altLang="zh-CN" sz="900" dirty="0"/>
              <a:t>/</a:t>
            </a:r>
            <a:r>
              <a:rPr lang="zh-CN" altLang="en-US" sz="900" dirty="0"/>
              <a:t>曝光</a:t>
            </a:r>
            <a:r>
              <a:rPr lang="en" altLang="zh-CN" sz="900" dirty="0" err="1"/>
              <a:t>pv</a:t>
            </a:r>
            <a:r>
              <a:rPr lang="zh-CN" altLang="en" sz="900" dirty="0"/>
              <a:t>，</a:t>
            </a:r>
            <a:r>
              <a:rPr lang="zh-CN" altLang="en-US" sz="900" dirty="0"/>
              <a:t>也就是</a:t>
            </a:r>
            <a:r>
              <a:rPr lang="en" altLang="zh-CN" sz="900" dirty="0"/>
              <a:t>CTR*CVR</a:t>
            </a:r>
          </a:p>
          <a:p>
            <a:endParaRPr lang="en-US" altLang="zh-CN" sz="900" b="1" dirty="0"/>
          </a:p>
          <a:p>
            <a:r>
              <a:rPr lang="zh-CN" altLang="en-US" sz="900" b="1" dirty="0"/>
              <a:t>曝光</a:t>
            </a:r>
            <a:r>
              <a:rPr lang="en-US" altLang="zh-CN" sz="900" b="1" dirty="0"/>
              <a:t>100w</a:t>
            </a:r>
          </a:p>
          <a:p>
            <a:r>
              <a:rPr lang="zh-CN" altLang="en-US" sz="900" b="1" dirty="0"/>
              <a:t>猜喜榜单标签，</a:t>
            </a:r>
            <a:r>
              <a:rPr lang="zh-CN" altLang="en-US" sz="900" dirty="0"/>
              <a:t>清明期间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带来榜单页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DAU20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万，榜单意向率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64.5%</a:t>
            </a:r>
            <a:r>
              <a:rPr lang="zh-CN" altLang="en-US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，访购率</a:t>
            </a:r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8.7%</a:t>
            </a:r>
            <a:endParaRPr lang="zh-CN" altLang="en-US" sz="900" dirty="0">
              <a:solidFill>
                <a:schemeClr val="bg1">
                  <a:lumMod val="50000"/>
                </a:schemeClr>
              </a:solidFill>
              <a:effectLst/>
            </a:endParaRPr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03ED75DC-8F4D-4D33-8F42-628AF266C009}"/>
              </a:ext>
            </a:extLst>
          </p:cNvPr>
          <p:cNvSpPr txBox="1"/>
          <p:nvPr/>
        </p:nvSpPr>
        <p:spPr>
          <a:xfrm>
            <a:off x="7168120" y="829163"/>
            <a:ext cx="914914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defRPr sz="9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rPr lang="zh-CN" altLang="en-US" sz="1000" b="1" dirty="0"/>
              <a:t>榜单集合页</a:t>
            </a:r>
            <a:endParaRPr lang="en-US" altLang="zh-CN" sz="1000" b="1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E605D2B1-7775-4EF6-BA2F-5476F64B01EC}"/>
              </a:ext>
            </a:extLst>
          </p:cNvPr>
          <p:cNvCxnSpPr/>
          <p:nvPr/>
        </p:nvCxnSpPr>
        <p:spPr>
          <a:xfrm>
            <a:off x="2682942" y="2306468"/>
            <a:ext cx="355703" cy="1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15736503-681A-4B0D-AF39-A15639775AEC}"/>
              </a:ext>
            </a:extLst>
          </p:cNvPr>
          <p:cNvCxnSpPr>
            <a:cxnSpLocks/>
          </p:cNvCxnSpPr>
          <p:nvPr/>
        </p:nvCxnSpPr>
        <p:spPr>
          <a:xfrm>
            <a:off x="5844258" y="2874233"/>
            <a:ext cx="451129" cy="1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68599963-A76C-47B8-839A-FBFF35CE0478}"/>
              </a:ext>
            </a:extLst>
          </p:cNvPr>
          <p:cNvGrpSpPr/>
          <p:nvPr/>
        </p:nvGrpSpPr>
        <p:grpSpPr>
          <a:xfrm>
            <a:off x="3447832" y="1094620"/>
            <a:ext cx="1162394" cy="2520000"/>
            <a:chOff x="3143404" y="1270862"/>
            <a:chExt cx="1162394" cy="2520000"/>
          </a:xfrm>
        </p:grpSpPr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1CB8C71B-CECB-4A50-A7E2-3676BDE41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3404" y="1270862"/>
              <a:ext cx="1162394" cy="2520000"/>
            </a:xfrm>
            <a:prstGeom prst="rect">
              <a:avLst/>
            </a:prstGeom>
          </p:spPr>
        </p:pic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C7A5E103-5C42-44AF-B354-694A9B11111E}"/>
                </a:ext>
              </a:extLst>
            </p:cNvPr>
            <p:cNvSpPr/>
            <p:nvPr/>
          </p:nvSpPr>
          <p:spPr>
            <a:xfrm>
              <a:off x="3472636" y="1677591"/>
              <a:ext cx="229151" cy="13242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E7791AB-967A-461B-943A-E0A35B3DD9E3}"/>
              </a:ext>
            </a:extLst>
          </p:cNvPr>
          <p:cNvGrpSpPr/>
          <p:nvPr/>
        </p:nvGrpSpPr>
        <p:grpSpPr>
          <a:xfrm>
            <a:off x="1902027" y="1102060"/>
            <a:ext cx="1162394" cy="2520000"/>
            <a:chOff x="1550608" y="1214776"/>
            <a:chExt cx="1162394" cy="25200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109680E-C0DC-4C0D-92B4-F7509405C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50608" y="1214776"/>
              <a:ext cx="1162394" cy="2520000"/>
            </a:xfrm>
            <a:prstGeom prst="rect">
              <a:avLst/>
            </a:prstGeom>
          </p:spPr>
        </p:pic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700AAAAD-53FE-4905-8B15-1DAFD46864E6}"/>
                </a:ext>
              </a:extLst>
            </p:cNvPr>
            <p:cNvSpPr/>
            <p:nvPr/>
          </p:nvSpPr>
          <p:spPr>
            <a:xfrm>
              <a:off x="1559253" y="2368464"/>
              <a:ext cx="483019" cy="1462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264249C0-D4E4-4E44-AF5E-BE14F5C49DD1}"/>
              </a:ext>
            </a:extLst>
          </p:cNvPr>
          <p:cNvSpPr/>
          <p:nvPr/>
        </p:nvSpPr>
        <p:spPr>
          <a:xfrm>
            <a:off x="589050" y="3231552"/>
            <a:ext cx="619284" cy="103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9643EB1-BDEB-D673-9601-F4524A283D48}"/>
              </a:ext>
            </a:extLst>
          </p:cNvPr>
          <p:cNvSpPr txBox="1">
            <a:spLocks/>
          </p:cNvSpPr>
          <p:nvPr/>
        </p:nvSpPr>
        <p:spPr>
          <a:xfrm>
            <a:off x="252000" y="32009"/>
            <a:ext cx="7664380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日常找店用户动线 </a:t>
            </a:r>
            <a:r>
              <a:rPr lang="en-US" altLang="zh-CN" sz="2100" dirty="0">
                <a:latin typeface="+mj-ea"/>
              </a:rPr>
              <a:t>@</a:t>
            </a:r>
            <a:r>
              <a:rPr lang="zh-CN" altLang="en-US" sz="2100" dirty="0">
                <a:latin typeface="+mj-ea"/>
              </a:rPr>
              <a:t>雯漪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3E3CDC-CB31-AEBC-2791-3D05D127C14D}"/>
              </a:ext>
            </a:extLst>
          </p:cNvPr>
          <p:cNvSpPr txBox="1"/>
          <p:nvPr/>
        </p:nvSpPr>
        <p:spPr>
          <a:xfrm>
            <a:off x="-14287" y="3898091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策略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B80CD2-CE7B-1D16-1576-5D90417735FE}"/>
              </a:ext>
            </a:extLst>
          </p:cNvPr>
          <p:cNvSpPr txBox="1"/>
          <p:nvPr/>
        </p:nvSpPr>
        <p:spPr>
          <a:xfrm>
            <a:off x="-20870" y="4597012"/>
            <a:ext cx="4502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效果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121DCC-F2E6-1D19-1E8C-773EBB5D7F3C}"/>
              </a:ext>
            </a:extLst>
          </p:cNvPr>
          <p:cNvSpPr txBox="1"/>
          <p:nvPr/>
        </p:nvSpPr>
        <p:spPr>
          <a:xfrm>
            <a:off x="0" y="1965948"/>
            <a:ext cx="450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1" dirty="0"/>
              <a:t>用户</a:t>
            </a:r>
            <a:endParaRPr lang="en-US" altLang="zh-CN" sz="1000" b="1" dirty="0"/>
          </a:p>
          <a:p>
            <a:r>
              <a:rPr lang="zh-CN" altLang="en-US" sz="1000" b="1" dirty="0"/>
              <a:t>动线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B07D28-7EC9-FFBF-1862-B0944FF61D60}"/>
              </a:ext>
            </a:extLst>
          </p:cNvPr>
          <p:cNvSpPr txBox="1"/>
          <p:nvPr/>
        </p:nvSpPr>
        <p:spPr>
          <a:xfrm>
            <a:off x="523104" y="3825280"/>
            <a:ext cx="1257769" cy="1291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结合用户偏好，通过人气上榜好店，可以持续激发用户的就餐需求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/>
              <a:t>曝光</a:t>
            </a:r>
            <a:r>
              <a:rPr lang="en-US" altLang="zh-CN" sz="800" dirty="0"/>
              <a:t>100w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带来榜单页</a:t>
            </a:r>
            <a:r>
              <a:rPr lang="en-US" altLang="zh-CN" sz="800" dirty="0">
                <a:latin typeface="+mn-ea"/>
              </a:rPr>
              <a:t>DAU20</a:t>
            </a:r>
            <a:r>
              <a:rPr lang="zh-CN" altLang="en-US" sz="800" dirty="0">
                <a:latin typeface="+mn-ea"/>
              </a:rPr>
              <a:t>万，榜单标签</a:t>
            </a:r>
            <a:r>
              <a:rPr lang="en-US" altLang="zh-CN" sz="800" dirty="0">
                <a:latin typeface="+mn-ea"/>
              </a:rPr>
              <a:t>CTCVR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3.2%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79F122E-87AB-9ACD-0EBB-5B12322B678E}"/>
              </a:ext>
            </a:extLst>
          </p:cNvPr>
          <p:cNvSpPr txBox="1"/>
          <p:nvPr/>
        </p:nvSpPr>
        <p:spPr>
          <a:xfrm>
            <a:off x="1878201" y="3842704"/>
            <a:ext cx="1257769" cy="1228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投放共计</a:t>
            </a:r>
            <a:r>
              <a:rPr lang="en-US" altLang="zh-CN" sz="800" dirty="0">
                <a:latin typeface="+mn-ea"/>
              </a:rPr>
              <a:t>337</a:t>
            </a:r>
            <a:r>
              <a:rPr lang="zh-CN" altLang="en-US" sz="800" dirty="0">
                <a:latin typeface="+mn-ea"/>
              </a:rPr>
              <a:t>个触发词（包含品类词、菜品词、场景词等）</a:t>
            </a:r>
            <a:endParaRPr lang="en-US" altLang="zh-CN" sz="800" dirty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800" dirty="0"/>
              <a:t>曝光</a:t>
            </a:r>
            <a:r>
              <a:rPr lang="en-US" altLang="zh-CN" sz="800" dirty="0"/>
              <a:t>180w</a:t>
            </a:r>
            <a:r>
              <a:rPr lang="zh-CN" altLang="en-US" sz="800" dirty="0"/>
              <a:t>，带来榜单页</a:t>
            </a:r>
            <a:r>
              <a:rPr lang="en-US" altLang="zh-CN" sz="800" dirty="0"/>
              <a:t>DAU11</a:t>
            </a:r>
            <a:r>
              <a:rPr lang="zh-CN" altLang="en-US" sz="800" dirty="0"/>
              <a:t>万，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3.8%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其他投放</a:t>
            </a:r>
            <a:r>
              <a:rPr lang="en-US" altLang="zh-CN" sz="800" dirty="0">
                <a:latin typeface="+mn-ea"/>
              </a:rPr>
              <a:t>+1.5pp</a:t>
            </a:r>
            <a:r>
              <a:rPr lang="zh-CN" altLang="en-US" sz="800" dirty="0">
                <a:latin typeface="+mn-ea"/>
              </a:rPr>
              <a:t>），意向率：</a:t>
            </a:r>
            <a:r>
              <a:rPr lang="en-US" altLang="zh-CN" sz="800" dirty="0">
                <a:latin typeface="+mn-ea"/>
              </a:rPr>
              <a:t>38.6%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其他投放</a:t>
            </a:r>
            <a:r>
              <a:rPr lang="en-US" altLang="zh-CN" sz="800" dirty="0">
                <a:latin typeface="+mn-ea"/>
              </a:rPr>
              <a:t>+17.3pp</a:t>
            </a:r>
            <a:r>
              <a:rPr lang="zh-CN" altLang="en-US" sz="800" dirty="0">
                <a:latin typeface="+mn-ea"/>
              </a:rPr>
              <a:t>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D96B67-5FF2-4C5A-EE04-5C121E58B09E}"/>
              </a:ext>
            </a:extLst>
          </p:cNvPr>
          <p:cNvSpPr txBox="1"/>
          <p:nvPr/>
        </p:nvSpPr>
        <p:spPr>
          <a:xfrm>
            <a:off x="3424005" y="3819877"/>
            <a:ext cx="125776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在榜单可以承接的高搜低转</a:t>
            </a:r>
            <a:r>
              <a:rPr lang="en-US" altLang="zh-CN" sz="800" dirty="0">
                <a:latin typeface="+mn-ea"/>
              </a:rPr>
              <a:t>TOP</a:t>
            </a:r>
            <a:r>
              <a:rPr lang="zh-CN" altLang="en-US" sz="800" dirty="0">
                <a:latin typeface="+mn-ea"/>
              </a:rPr>
              <a:t> </a:t>
            </a:r>
            <a:r>
              <a:rPr lang="en-US" altLang="zh-CN" sz="800" dirty="0">
                <a:latin typeface="+mn-ea"/>
              </a:rPr>
              <a:t>200+query</a:t>
            </a:r>
            <a:r>
              <a:rPr lang="zh-CN" altLang="en-US" sz="800" dirty="0">
                <a:latin typeface="+mn-ea"/>
              </a:rPr>
              <a:t>下增加“上榜好店”筛选帮助用户提升决策效率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800" dirty="0"/>
              <a:t>曝光</a:t>
            </a:r>
            <a:r>
              <a:rPr lang="en-US" altLang="zh-CN" sz="800" dirty="0"/>
              <a:t>40w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0.89%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基准值</a:t>
            </a:r>
            <a:r>
              <a:rPr lang="en-US" altLang="zh-CN" sz="800" dirty="0">
                <a:latin typeface="+mn-ea"/>
              </a:rPr>
              <a:t>+0.39pp</a:t>
            </a:r>
            <a:r>
              <a:rPr lang="zh-CN" altLang="en-US" sz="800" dirty="0">
                <a:latin typeface="+mn-ea"/>
              </a:rPr>
              <a:t>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ACC53B0-0E76-2CA1-FB62-91D19A17A125}"/>
              </a:ext>
            </a:extLst>
          </p:cNvPr>
          <p:cNvSpPr txBox="1"/>
          <p:nvPr/>
        </p:nvSpPr>
        <p:spPr>
          <a:xfrm>
            <a:off x="4770069" y="3829812"/>
            <a:ext cx="1257769" cy="11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大搜结果页在下滑第六位用阿拉丁承接品类榜单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/>
              <a:t>曝光</a:t>
            </a:r>
            <a:r>
              <a:rPr lang="en-US" altLang="zh-CN" sz="800" dirty="0"/>
              <a:t>31w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0.8%</a:t>
            </a:r>
            <a:r>
              <a:rPr lang="zh-CN" altLang="en-US" sz="800" dirty="0">
                <a:latin typeface="+mn-ea"/>
              </a:rPr>
              <a:t>，后向意向率</a:t>
            </a:r>
            <a:r>
              <a:rPr lang="en-US" altLang="zh-CN" sz="800" dirty="0">
                <a:latin typeface="+mn-ea"/>
              </a:rPr>
              <a:t>37.4%</a:t>
            </a:r>
          </a:p>
        </p:txBody>
      </p:sp>
      <p:pic>
        <p:nvPicPr>
          <p:cNvPr id="25" name="图片 24" descr="图形用户界面&#10;&#10;AI 生成的内容可能不正确。">
            <a:extLst>
              <a:ext uri="{FF2B5EF4-FFF2-40B4-BE49-F238E27FC236}">
                <a16:creationId xmlns:a16="http://schemas.microsoft.com/office/drawing/2014/main" id="{E9FE27A7-D78D-A0FF-16E8-396E4352A9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043" y="1094620"/>
            <a:ext cx="1159833" cy="25200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DB604136-F02E-40A7-A074-BBD37AB13DED}"/>
              </a:ext>
            </a:extLst>
          </p:cNvPr>
          <p:cNvSpPr txBox="1"/>
          <p:nvPr/>
        </p:nvSpPr>
        <p:spPr>
          <a:xfrm>
            <a:off x="9341678" y="3888926"/>
            <a:ext cx="1257769" cy="125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给与优质上榜门店以大搜流量扶持。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春节期间，当地人推荐及特色菜扶持门店较对照组曝光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提升</a:t>
            </a:r>
            <a:r>
              <a:rPr lang="en-US" altLang="zh-CN" sz="800" dirty="0">
                <a:latin typeface="+mn-ea"/>
              </a:rPr>
              <a:t>30.9%</a:t>
            </a:r>
            <a:r>
              <a:rPr lang="zh-CN" altLang="en-US" sz="800" dirty="0">
                <a:latin typeface="+mn-ea"/>
              </a:rPr>
              <a:t>，意向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提升</a:t>
            </a:r>
            <a:r>
              <a:rPr lang="en-US" altLang="zh-CN" sz="800" dirty="0">
                <a:latin typeface="+mn-ea"/>
              </a:rPr>
              <a:t>34.9%</a:t>
            </a:r>
            <a:r>
              <a:rPr lang="zh-CN" altLang="en-US" sz="800" dirty="0">
                <a:latin typeface="+mn-ea"/>
              </a:rPr>
              <a:t>，支付</a:t>
            </a:r>
            <a:r>
              <a:rPr lang="en-US" altLang="zh-CN" sz="800" dirty="0">
                <a:latin typeface="+mn-ea"/>
              </a:rPr>
              <a:t>UV</a:t>
            </a:r>
            <a:r>
              <a:rPr lang="zh-CN" altLang="en-US" sz="800" dirty="0">
                <a:latin typeface="+mn-ea"/>
              </a:rPr>
              <a:t>提升</a:t>
            </a:r>
            <a:r>
              <a:rPr lang="en-US" altLang="zh-CN" sz="800" dirty="0">
                <a:latin typeface="+mn-ea"/>
              </a:rPr>
              <a:t>16.6%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D7C4DA6-5F80-4DF7-82C9-96788DDF8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4966" y="735015"/>
            <a:ext cx="1374913" cy="298072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4D2EC69-9B6E-5489-7890-0693EDC6E832}"/>
              </a:ext>
            </a:extLst>
          </p:cNvPr>
          <p:cNvSpPr txBox="1"/>
          <p:nvPr/>
        </p:nvSpPr>
        <p:spPr>
          <a:xfrm>
            <a:off x="6309822" y="3817954"/>
            <a:ext cx="1257769" cy="1254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新版榜单页，强化榜单心智，目前放量</a:t>
            </a:r>
            <a:r>
              <a:rPr lang="en-US" altLang="zh-CN" sz="800" dirty="0">
                <a:latin typeface="+mn-ea"/>
              </a:rPr>
              <a:t>50%</a:t>
            </a: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800" dirty="0"/>
              <a:t>DAU100-120w</a:t>
            </a:r>
            <a:r>
              <a:rPr lang="zh-CN" altLang="en-US" sz="800" dirty="0"/>
              <a:t>，</a:t>
            </a: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>
                <a:latin typeface="+mn-ea"/>
              </a:rPr>
              <a:t>78.9%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旧版</a:t>
            </a:r>
            <a:r>
              <a:rPr lang="en-US" altLang="zh-CN" sz="800" dirty="0">
                <a:latin typeface="+mn-ea"/>
              </a:rPr>
              <a:t>+14pp</a:t>
            </a:r>
            <a:r>
              <a:rPr lang="zh-CN" altLang="en-US" sz="800" dirty="0">
                <a:latin typeface="+mn-ea"/>
              </a:rPr>
              <a:t>），意向率：</a:t>
            </a:r>
            <a:r>
              <a:rPr lang="en-US" altLang="zh-CN" sz="800" dirty="0">
                <a:latin typeface="+mn-ea"/>
              </a:rPr>
              <a:t>43.1%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vs</a:t>
            </a:r>
            <a:r>
              <a:rPr lang="zh-CN" altLang="en-US" sz="800" dirty="0">
                <a:latin typeface="+mn-ea"/>
              </a:rPr>
              <a:t>旧版</a:t>
            </a:r>
            <a:r>
              <a:rPr lang="en-US" altLang="zh-CN" sz="800" dirty="0">
                <a:latin typeface="+mn-ea"/>
              </a:rPr>
              <a:t>-3pp</a:t>
            </a:r>
            <a:r>
              <a:rPr lang="zh-CN" altLang="en-US" sz="800" dirty="0">
                <a:latin typeface="+mn-ea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6CAAB3-21C9-EFF3-BFF2-A7D17C360476}"/>
              </a:ext>
            </a:extLst>
          </p:cNvPr>
          <p:cNvSpPr txBox="1"/>
          <p:nvPr/>
        </p:nvSpPr>
        <p:spPr>
          <a:xfrm>
            <a:off x="7607648" y="3819877"/>
            <a:ext cx="1257769" cy="1114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放开二三级</a:t>
            </a:r>
            <a:r>
              <a:rPr lang="en-US" altLang="zh-CN" sz="800" dirty="0">
                <a:latin typeface="+mn-ea"/>
              </a:rPr>
              <a:t>74</a:t>
            </a:r>
            <a:r>
              <a:rPr lang="zh-CN" altLang="en-US" sz="800" dirty="0">
                <a:latin typeface="+mn-ea"/>
              </a:rPr>
              <a:t>个品类成榜，支持更多的品类找店的需求承接</a:t>
            </a: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8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</a:rPr>
              <a:t>点击率</a:t>
            </a:r>
            <a:r>
              <a:rPr lang="en-US" altLang="zh-CN" sz="800" dirty="0"/>
              <a:t>6.9</a:t>
            </a:r>
            <a:r>
              <a:rPr lang="en-US" altLang="zh-CN" sz="800" dirty="0">
                <a:latin typeface="+mn-ea"/>
              </a:rPr>
              <a:t>%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/>
              <a:t> vs</a:t>
            </a:r>
            <a:r>
              <a:rPr lang="zh-CN" altLang="en-US" sz="800" dirty="0"/>
              <a:t>增加前</a:t>
            </a:r>
            <a:r>
              <a:rPr lang="en-US" altLang="zh-CN" sz="800" dirty="0">
                <a:latin typeface="+mn-ea"/>
              </a:rPr>
              <a:t>+1.2pp</a:t>
            </a:r>
            <a:r>
              <a:rPr lang="zh-CN" altLang="en-US" sz="800" dirty="0">
                <a:latin typeface="+mn-ea"/>
              </a:rPr>
              <a:t>），</a:t>
            </a:r>
            <a:r>
              <a:rPr lang="zh-CN" altLang="en-US" sz="800" dirty="0"/>
              <a:t>意向率</a:t>
            </a:r>
            <a:r>
              <a:rPr lang="en-US" altLang="zh-CN" sz="800" dirty="0"/>
              <a:t>40.8%</a:t>
            </a:r>
            <a:r>
              <a:rPr lang="zh-CN" altLang="en-US" sz="800" dirty="0"/>
              <a:t>（</a:t>
            </a:r>
            <a:r>
              <a:rPr lang="en-US" altLang="zh-CN" sz="800" dirty="0"/>
              <a:t>vs</a:t>
            </a:r>
            <a:r>
              <a:rPr lang="zh-CN" altLang="en-US" sz="800" dirty="0"/>
              <a:t>增加前</a:t>
            </a:r>
            <a:r>
              <a:rPr lang="en-US" altLang="zh-CN" sz="800" dirty="0"/>
              <a:t>+4.8pp</a:t>
            </a:r>
            <a:r>
              <a:rPr lang="zh-CN" altLang="en-US" sz="800" dirty="0"/>
              <a:t>）</a:t>
            </a:r>
            <a:endParaRPr lang="zh-CN" altLang="en-US" sz="800" dirty="0">
              <a:latin typeface="+mn-ea"/>
            </a:endParaRPr>
          </a:p>
        </p:txBody>
      </p:sp>
      <p:pic>
        <p:nvPicPr>
          <p:cNvPr id="20" name="图片 19" descr="图形用户界面, 网站&#10;&#10;AI 生成的内容可能不正确。">
            <a:extLst>
              <a:ext uri="{FF2B5EF4-FFF2-40B4-BE49-F238E27FC236}">
                <a16:creationId xmlns:a16="http://schemas.microsoft.com/office/drawing/2014/main" id="{ED5CE1C9-4348-4E8A-3D39-684A91CC32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0674" y="1102060"/>
            <a:ext cx="1162798" cy="25200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6E21ED0D-3394-7628-EF46-B27637D2482A}"/>
              </a:ext>
            </a:extLst>
          </p:cNvPr>
          <p:cNvSpPr/>
          <p:nvPr/>
        </p:nvSpPr>
        <p:spPr>
          <a:xfrm>
            <a:off x="4742710" y="2721744"/>
            <a:ext cx="1150762" cy="3049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 descr="表格&#10;&#10;AI 生成的内容可能不正确。">
            <a:extLst>
              <a:ext uri="{FF2B5EF4-FFF2-40B4-BE49-F238E27FC236}">
                <a16:creationId xmlns:a16="http://schemas.microsoft.com/office/drawing/2014/main" id="{8BED77DE-3CF7-624B-AB95-42E5EE8D14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812" y="6745097"/>
            <a:ext cx="7772400" cy="193253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D71CD3E-2099-B26B-56F1-ECFB24D80F76}"/>
              </a:ext>
            </a:extLst>
          </p:cNvPr>
          <p:cNvSpPr txBox="1"/>
          <p:nvPr/>
        </p:nvSpPr>
        <p:spPr>
          <a:xfrm>
            <a:off x="5019524" y="5372419"/>
            <a:ext cx="873948" cy="317497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31w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E1B485E-C4FF-2226-B4EC-86A4D8D5DB43}"/>
              </a:ext>
            </a:extLst>
          </p:cNvPr>
          <p:cNvSpPr txBox="1"/>
          <p:nvPr/>
        </p:nvSpPr>
        <p:spPr>
          <a:xfrm>
            <a:off x="6309822" y="5367415"/>
            <a:ext cx="1038165" cy="317497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100-120w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47BEA69-6767-65C4-5DE7-3B79FB1F67BC}"/>
              </a:ext>
            </a:extLst>
          </p:cNvPr>
          <p:cNvSpPr txBox="1"/>
          <p:nvPr/>
        </p:nvSpPr>
        <p:spPr>
          <a:xfrm>
            <a:off x="3466945" y="5379121"/>
            <a:ext cx="1124168" cy="430804"/>
          </a:xfrm>
          <a:prstGeom prst="rect">
            <a:avLst/>
          </a:prstGeom>
          <a:noFill/>
          <a:ln w="6350">
            <a:noFill/>
          </a:ln>
          <a:effectLst>
            <a:outerShdw blurRad="469900" dist="123444" dir="5400000" sx="99000" sy="99000" algn="ctr" rotWithShape="0">
              <a:schemeClr val="accent3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>
            <a:defPPr>
              <a:defRPr lang="zh-CN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cs typeface="MiSans Medium" panose="000006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</a:rPr>
              <a:t>曝光</a:t>
            </a:r>
            <a:r>
              <a:rPr lang="en-US" altLang="zh-CN" b="1" dirty="0">
                <a:solidFill>
                  <a:schemeClr val="tx1"/>
                </a:solidFill>
              </a:rPr>
              <a:t>40w</a:t>
            </a:r>
          </a:p>
          <a:p>
            <a:r>
              <a:rPr lang="en-US" altLang="zh-CN" b="1" dirty="0">
                <a:solidFill>
                  <a:schemeClr val="tx1"/>
                </a:solidFill>
              </a:rPr>
              <a:t>200</a:t>
            </a:r>
            <a:r>
              <a:rPr lang="zh-CN" altLang="en-US" b="1" dirty="0">
                <a:solidFill>
                  <a:schemeClr val="tx1"/>
                </a:solidFill>
              </a:rPr>
              <a:t>多个高搜低转</a:t>
            </a:r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A15A8AB-BDB5-3FE2-98CC-A1DED95B3E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373" y="1086619"/>
            <a:ext cx="1160395" cy="25200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0E333E74-DEFF-E060-EB11-D6FC53CC3660}"/>
              </a:ext>
            </a:extLst>
          </p:cNvPr>
          <p:cNvSpPr txBox="1"/>
          <p:nvPr/>
        </p:nvSpPr>
        <p:spPr>
          <a:xfrm>
            <a:off x="1841241" y="6012296"/>
            <a:ext cx="1257769" cy="515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月初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针对不同城市*特色菜做产品化的</a:t>
            </a: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Sug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投放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FEBC911-7A64-0F83-90B6-E43B0CDF71F3}"/>
              </a:ext>
            </a:extLst>
          </p:cNvPr>
          <p:cNvSpPr txBox="1"/>
          <p:nvPr/>
        </p:nvSpPr>
        <p:spPr>
          <a:xfrm>
            <a:off x="4829256" y="5799118"/>
            <a:ext cx="1257769" cy="515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月底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强化上榜标签，更明显但也更稀缺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1190CF-B97E-70D4-D8DB-1AC7FF5A09EA}"/>
              </a:ext>
            </a:extLst>
          </p:cNvPr>
          <p:cNvSpPr txBox="1"/>
          <p:nvPr/>
        </p:nvSpPr>
        <p:spPr>
          <a:xfrm>
            <a:off x="3523730" y="5829627"/>
            <a:ext cx="1257769" cy="811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月中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800" dirty="0">
                <a:solidFill>
                  <a:srgbClr val="FF0000"/>
                </a:solidFill>
                <a:latin typeface="+mn-ea"/>
              </a:rPr>
              <a:t>针对泛品类、泛场景搜索词，在原本已有的图筛结果中增加品类、场景榜单的承接</a:t>
            </a:r>
            <a:endParaRPr lang="en-US" altLang="zh-CN" sz="8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2077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E09A-AF32-63ED-3377-089C07C5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B703C-E8B4-106C-8957-4B636A4AE7E5}"/>
              </a:ext>
            </a:extLst>
          </p:cNvPr>
          <p:cNvSpPr txBox="1">
            <a:spLocks/>
          </p:cNvSpPr>
          <p:nvPr/>
        </p:nvSpPr>
        <p:spPr>
          <a:xfrm>
            <a:off x="290900" y="30175"/>
            <a:ext cx="7664380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场景榜单的试点 </a:t>
            </a:r>
            <a:r>
              <a:rPr lang="en-US" altLang="zh-CN" sz="2100" dirty="0">
                <a:latin typeface="+mj-ea"/>
              </a:rPr>
              <a:t>@</a:t>
            </a:r>
            <a:r>
              <a:rPr lang="zh-CN" altLang="en-US" sz="2100" dirty="0">
                <a:latin typeface="+mj-ea"/>
              </a:rPr>
              <a:t>雯漪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F79B24D-E51B-9DC8-80B6-405EDA822F86}"/>
              </a:ext>
            </a:extLst>
          </p:cNvPr>
          <p:cNvSpPr txBox="1"/>
          <p:nvPr/>
        </p:nvSpPr>
        <p:spPr>
          <a:xfrm>
            <a:off x="-2078171" y="528247"/>
            <a:ext cx="19353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增加旅游榜单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增加数据效果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下沉情况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AOI</a:t>
            </a:r>
            <a:r>
              <a:rPr lang="zh-CN" altLang="en-US" dirty="0">
                <a:solidFill>
                  <a:srgbClr val="C00000"/>
                </a:solidFill>
              </a:rPr>
              <a:t>扩充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后续开放榜与政府联名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107" name="圆角矩形 13">
            <a:extLst>
              <a:ext uri="{FF2B5EF4-FFF2-40B4-BE49-F238E27FC236}">
                <a16:creationId xmlns:a16="http://schemas.microsoft.com/office/drawing/2014/main" id="{9F1F12CE-CE0F-470B-B6E5-2C7DB9D0437B}"/>
              </a:ext>
            </a:extLst>
          </p:cNvPr>
          <p:cNvSpPr/>
          <p:nvPr/>
        </p:nvSpPr>
        <p:spPr>
          <a:xfrm>
            <a:off x="45175" y="-822177"/>
            <a:ext cx="970587" cy="42731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bg1"/>
                </a:solidFill>
                <a:latin typeface="+mn-ea"/>
              </a:rPr>
              <a:t>评选规则</a:t>
            </a:r>
          </a:p>
        </p:txBody>
      </p:sp>
      <p:sp>
        <p:nvSpPr>
          <p:cNvPr id="109" name="圆角矩形 13">
            <a:extLst>
              <a:ext uri="{FF2B5EF4-FFF2-40B4-BE49-F238E27FC236}">
                <a16:creationId xmlns:a16="http://schemas.microsoft.com/office/drawing/2014/main" id="{06812D71-30AC-46BD-A894-CBA0FA625B82}"/>
              </a:ext>
            </a:extLst>
          </p:cNvPr>
          <p:cNvSpPr/>
          <p:nvPr/>
        </p:nvSpPr>
        <p:spPr>
          <a:xfrm>
            <a:off x="-4962" y="5318707"/>
            <a:ext cx="970587" cy="68294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ysClr val="windowText" lastClr="000000"/>
                </a:solidFill>
                <a:latin typeface="+mn-ea"/>
              </a:rPr>
              <a:t>BC</a:t>
            </a:r>
            <a:r>
              <a:rPr kumimoji="1" lang="zh-CN" altLang="en-US" sz="1400" b="1" dirty="0">
                <a:solidFill>
                  <a:sysClr val="windowText" lastClr="000000"/>
                </a:solidFill>
                <a:latin typeface="+mn-ea"/>
              </a:rPr>
              <a:t>端反馈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78DC486-789C-4503-8B4E-9FDDCAA85648}"/>
              </a:ext>
            </a:extLst>
          </p:cNvPr>
          <p:cNvSpPr txBox="1"/>
          <p:nvPr/>
        </p:nvSpPr>
        <p:spPr>
          <a:xfrm>
            <a:off x="1128374" y="-762139"/>
            <a:ext cx="7828679" cy="34855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latin typeface="+mn-ea"/>
              </a:rPr>
              <a:t>主题契合度</a:t>
            </a:r>
            <a:r>
              <a:rPr lang="en-US" altLang="zh-CN" sz="1600" dirty="0">
                <a:latin typeface="+mn-ea"/>
              </a:rPr>
              <a:t> + </a:t>
            </a:r>
            <a:r>
              <a:rPr lang="zh-CN" altLang="en-US" sz="1600" dirty="0">
                <a:latin typeface="+mn-ea"/>
              </a:rPr>
              <a:t>用户认可度 </a:t>
            </a:r>
            <a:r>
              <a:rPr lang="en-US" altLang="zh-CN" sz="1600" dirty="0">
                <a:latin typeface="+mn-ea"/>
              </a:rPr>
              <a:t>+</a:t>
            </a:r>
            <a:r>
              <a:rPr lang="zh-CN" altLang="en-US" sz="1600" dirty="0">
                <a:latin typeface="+mn-ea"/>
              </a:rPr>
              <a:t> 经营指标 </a:t>
            </a:r>
            <a:r>
              <a:rPr lang="en-US" altLang="zh-CN" sz="1600" dirty="0">
                <a:latin typeface="+mn-ea"/>
              </a:rPr>
              <a:t>+ </a:t>
            </a:r>
            <a:r>
              <a:rPr lang="zh-CN" altLang="en-US" sz="1600" dirty="0">
                <a:latin typeface="+mn-ea"/>
              </a:rPr>
              <a:t>门店热度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B3BBB013-FF29-43B9-8C67-415141C44AA5}"/>
              </a:ext>
            </a:extLst>
          </p:cNvPr>
          <p:cNvSpPr txBox="1"/>
          <p:nvPr/>
        </p:nvSpPr>
        <p:spPr>
          <a:xfrm>
            <a:off x="6462483" y="5262992"/>
            <a:ext cx="24515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1050" i="1" dirty="0">
                <a:solidFill>
                  <a:srgbClr val="7F7F7F"/>
                </a:solidFill>
                <a:effectLst/>
              </a:rPr>
              <a:t>调研用户：“老二年龄小一点，我们就会选择亲子餐厅，里面孩子玩的比较多，也有一些布置；老大有点自己主见了</a:t>
            </a:r>
            <a:r>
              <a:rPr lang="en-US" altLang="zh-CN" sz="1050" i="1" dirty="0">
                <a:solidFill>
                  <a:srgbClr val="7F7F7F"/>
                </a:solidFill>
                <a:effectLst/>
              </a:rPr>
              <a:t>…</a:t>
            </a:r>
            <a:r>
              <a:rPr lang="zh-CN" altLang="en-US" sz="1050" i="1" dirty="0">
                <a:solidFill>
                  <a:srgbClr val="7F7F7F"/>
                </a:solidFill>
                <a:effectLst/>
              </a:rPr>
              <a:t>有的店会有仪式、送小礼物；”</a:t>
            </a:r>
            <a:endParaRPr lang="zh-CN" altLang="en-US" sz="1050" dirty="0">
              <a:effectLst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FCBC2376-5D10-4855-9956-48D9886812D0}"/>
              </a:ext>
            </a:extLst>
          </p:cNvPr>
          <p:cNvSpPr txBox="1"/>
          <p:nvPr/>
        </p:nvSpPr>
        <p:spPr>
          <a:xfrm>
            <a:off x="1059026" y="5375716"/>
            <a:ext cx="245153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zh-CN" altLang="en-US" sz="1050" i="1" dirty="0">
                <a:solidFill>
                  <a:srgbClr val="7F7F7F"/>
                </a:solidFill>
              </a:rPr>
              <a:t>上榜商户</a:t>
            </a:r>
            <a:r>
              <a:rPr lang="zh-CN" altLang="en-US" sz="1050" i="1" dirty="0">
                <a:solidFill>
                  <a:srgbClr val="7F7F7F"/>
                </a:solidFill>
                <a:effectLst/>
              </a:rPr>
              <a:t>：“不清楚上榜了，但是这个榜单挺适合我们这儿</a:t>
            </a:r>
            <a:r>
              <a:rPr lang="zh-CN" altLang="en-US" sz="1050" i="1" dirty="0">
                <a:solidFill>
                  <a:srgbClr val="7F7F7F"/>
                </a:solidFill>
              </a:rPr>
              <a:t>的，可以给我们传个榜单物料放在门口</a:t>
            </a:r>
            <a:r>
              <a:rPr lang="zh-CN" altLang="en-US" sz="1050" i="1" dirty="0">
                <a:solidFill>
                  <a:srgbClr val="7F7F7F"/>
                </a:solidFill>
                <a:effectLst/>
              </a:rPr>
              <a:t>；</a:t>
            </a:r>
            <a:endParaRPr lang="zh-CN" altLang="en-US" sz="1050" dirty="0">
              <a:effectLst/>
            </a:endParaRPr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7CC0CF4D-8B73-CCBB-25BD-BEB374E3097B}"/>
              </a:ext>
            </a:extLst>
          </p:cNvPr>
          <p:cNvSpPr/>
          <p:nvPr/>
        </p:nvSpPr>
        <p:spPr>
          <a:xfrm>
            <a:off x="128016" y="566928"/>
            <a:ext cx="727117" cy="986393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15">
            <a:extLst>
              <a:ext uri="{FF2B5EF4-FFF2-40B4-BE49-F238E27FC236}">
                <a16:creationId xmlns:a16="http://schemas.microsoft.com/office/drawing/2014/main" id="{652C061F-AEC3-CDDC-2595-898927A671D1}"/>
              </a:ext>
            </a:extLst>
          </p:cNvPr>
          <p:cNvSpPr/>
          <p:nvPr/>
        </p:nvSpPr>
        <p:spPr>
          <a:xfrm>
            <a:off x="128016" y="566928"/>
            <a:ext cx="727117" cy="986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00"/>
                </a:solidFill>
                <a:latin typeface="+mn-ea"/>
                <a:cs typeface="Microsoft YaHei" pitchFamily="34" charset="-120"/>
              </a:rPr>
              <a:t>特质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D100"/>
                </a:solidFill>
                <a:latin typeface="+mn-ea"/>
                <a:cs typeface="Microsoft YaHei" pitchFamily="34" charset="-120"/>
              </a:rPr>
              <a:t>定位</a:t>
            </a:r>
            <a:endParaRPr lang="en-US" sz="1100" dirty="0">
              <a:latin typeface="+mn-ea"/>
            </a:endParaRPr>
          </a:p>
        </p:txBody>
      </p:sp>
      <p:sp>
        <p:nvSpPr>
          <p:cNvPr id="6" name="Shape 16">
            <a:extLst>
              <a:ext uri="{FF2B5EF4-FFF2-40B4-BE49-F238E27FC236}">
                <a16:creationId xmlns:a16="http://schemas.microsoft.com/office/drawing/2014/main" id="{21A1AA1E-D17E-ED89-088D-B419E3885F25}"/>
              </a:ext>
            </a:extLst>
          </p:cNvPr>
          <p:cNvSpPr/>
          <p:nvPr/>
        </p:nvSpPr>
        <p:spPr>
          <a:xfrm>
            <a:off x="128016" y="1593716"/>
            <a:ext cx="727117" cy="627704"/>
          </a:xfrm>
          <a:prstGeom prst="rect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92D2A8E3-55F6-41A7-379D-3A2B81F182B5}"/>
              </a:ext>
            </a:extLst>
          </p:cNvPr>
          <p:cNvSpPr/>
          <p:nvPr/>
        </p:nvSpPr>
        <p:spPr>
          <a:xfrm>
            <a:off x="128016" y="1593716"/>
            <a:ext cx="727117" cy="627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用户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结构</a:t>
            </a:r>
            <a:endParaRPr lang="en-US" sz="1100" dirty="0">
              <a:latin typeface="+mn-ea"/>
            </a:endParaRPr>
          </a:p>
        </p:txBody>
      </p:sp>
      <p:sp>
        <p:nvSpPr>
          <p:cNvPr id="8" name="Shape 18">
            <a:extLst>
              <a:ext uri="{FF2B5EF4-FFF2-40B4-BE49-F238E27FC236}">
                <a16:creationId xmlns:a16="http://schemas.microsoft.com/office/drawing/2014/main" id="{2671C480-3BC5-8938-D462-B0D9C0F031DC}"/>
              </a:ext>
            </a:extLst>
          </p:cNvPr>
          <p:cNvSpPr/>
          <p:nvPr/>
        </p:nvSpPr>
        <p:spPr>
          <a:xfrm>
            <a:off x="128016" y="2261816"/>
            <a:ext cx="727117" cy="538033"/>
          </a:xfrm>
          <a:prstGeom prst="rect">
            <a:avLst/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9C2191D8-1C9D-1454-C008-6B0FF3EB918C}"/>
              </a:ext>
            </a:extLst>
          </p:cNvPr>
          <p:cNvSpPr/>
          <p:nvPr/>
        </p:nvSpPr>
        <p:spPr>
          <a:xfrm>
            <a:off x="128016" y="2261816"/>
            <a:ext cx="727117" cy="538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需求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节点</a:t>
            </a:r>
            <a:endParaRPr lang="en-US" sz="1100" dirty="0">
              <a:latin typeface="+mn-ea"/>
            </a:endParaRPr>
          </a:p>
        </p:txBody>
      </p:sp>
      <p:sp>
        <p:nvSpPr>
          <p:cNvPr id="10" name="Shape 20">
            <a:extLst>
              <a:ext uri="{FF2B5EF4-FFF2-40B4-BE49-F238E27FC236}">
                <a16:creationId xmlns:a16="http://schemas.microsoft.com/office/drawing/2014/main" id="{FF07410C-1614-1DDF-FE9F-F1D76122A5A5}"/>
              </a:ext>
            </a:extLst>
          </p:cNvPr>
          <p:cNvSpPr/>
          <p:nvPr/>
        </p:nvSpPr>
        <p:spPr>
          <a:xfrm>
            <a:off x="128016" y="2840244"/>
            <a:ext cx="727117" cy="807049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A7E40818-A7C2-E7B6-F634-E427BC74B2D6}"/>
              </a:ext>
            </a:extLst>
          </p:cNvPr>
          <p:cNvSpPr/>
          <p:nvPr/>
        </p:nvSpPr>
        <p:spPr>
          <a:xfrm>
            <a:off x="128016" y="2840244"/>
            <a:ext cx="727117" cy="8070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供给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Microsoft YaHei" pitchFamily="34" charset="-120"/>
              </a:rPr>
              <a:t>特征</a:t>
            </a:r>
            <a:endParaRPr lang="en-US" sz="1100" dirty="0">
              <a:latin typeface="+mn-ea"/>
            </a:endParaRPr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54ECE24D-987C-63D7-B4BB-4DE155A31C48}"/>
              </a:ext>
            </a:extLst>
          </p:cNvPr>
          <p:cNvSpPr/>
          <p:nvPr/>
        </p:nvSpPr>
        <p:spPr>
          <a:xfrm>
            <a:off x="128016" y="3687688"/>
            <a:ext cx="727117" cy="717376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E9D9CBA9-B540-A5EE-8458-2FEF6FD5E1B5}"/>
              </a:ext>
            </a:extLst>
          </p:cNvPr>
          <p:cNvSpPr/>
          <p:nvPr/>
        </p:nvSpPr>
        <p:spPr>
          <a:xfrm>
            <a:off x="128016" y="3687688"/>
            <a:ext cx="727117" cy="717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当前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进展</a:t>
            </a:r>
            <a:endParaRPr lang="en-US" sz="1100" dirty="0">
              <a:latin typeface="+mn-ea"/>
            </a:endParaRPr>
          </a:p>
        </p:txBody>
      </p:sp>
      <p:sp>
        <p:nvSpPr>
          <p:cNvPr id="15" name="Shape 24">
            <a:extLst>
              <a:ext uri="{FF2B5EF4-FFF2-40B4-BE49-F238E27FC236}">
                <a16:creationId xmlns:a16="http://schemas.microsoft.com/office/drawing/2014/main" id="{2BE73DC8-4822-3032-13DA-C9BB287C47AD}"/>
              </a:ext>
            </a:extLst>
          </p:cNvPr>
          <p:cNvSpPr/>
          <p:nvPr/>
        </p:nvSpPr>
        <p:spPr>
          <a:xfrm>
            <a:off x="128016" y="4445460"/>
            <a:ext cx="727117" cy="538033"/>
          </a:xfrm>
          <a:prstGeom prst="rect">
            <a:avLst/>
          </a:prstGeom>
          <a:solidFill>
            <a:srgbClr val="FFC300"/>
          </a:solidFill>
          <a:ln w="12700">
            <a:solidFill>
              <a:srgbClr val="FFC300"/>
            </a:solidFill>
            <a:prstDash val="solid"/>
          </a:ln>
        </p:spPr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7D826C74-C275-CF01-5884-738ACE85C497}"/>
              </a:ext>
            </a:extLst>
          </p:cNvPr>
          <p:cNvSpPr/>
          <p:nvPr/>
        </p:nvSpPr>
        <p:spPr>
          <a:xfrm>
            <a:off x="128016" y="4445460"/>
            <a:ext cx="727117" cy="5380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未来</a:t>
            </a:r>
            <a:endParaRPr lang="en-US" sz="1100" dirty="0">
              <a:latin typeface="+mn-ea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+mn-ea"/>
                <a:cs typeface="Microsoft YaHei" pitchFamily="34" charset="-120"/>
              </a:rPr>
              <a:t>计划</a:t>
            </a:r>
            <a:endParaRPr lang="en-US" sz="1100" dirty="0">
              <a:latin typeface="+mn-ea"/>
            </a:endParaRPr>
          </a:p>
        </p:txBody>
      </p:sp>
      <p:sp>
        <p:nvSpPr>
          <p:cNvPr id="17" name="Shape 26">
            <a:extLst>
              <a:ext uri="{FF2B5EF4-FFF2-40B4-BE49-F238E27FC236}">
                <a16:creationId xmlns:a16="http://schemas.microsoft.com/office/drawing/2014/main" id="{D0992391-49EB-4694-D921-C4EAE56F9C7B}"/>
              </a:ext>
            </a:extLst>
          </p:cNvPr>
          <p:cNvSpPr/>
          <p:nvPr/>
        </p:nvSpPr>
        <p:spPr>
          <a:xfrm>
            <a:off x="908994" y="566928"/>
            <a:ext cx="2632434" cy="986393"/>
          </a:xfrm>
          <a:prstGeom prst="rect">
            <a:avLst/>
          </a:prstGeom>
          <a:solidFill>
            <a:srgbClr val="FFFFFF"/>
          </a:solidFill>
          <a:ln w="6350">
            <a:solidFill>
              <a:srgbClr val="F48FB1"/>
            </a:solidFill>
            <a:prstDash val="solid"/>
          </a:ln>
        </p:spPr>
      </p:sp>
      <p:sp>
        <p:nvSpPr>
          <p:cNvPr id="18" name="Shape 27">
            <a:extLst>
              <a:ext uri="{FF2B5EF4-FFF2-40B4-BE49-F238E27FC236}">
                <a16:creationId xmlns:a16="http://schemas.microsoft.com/office/drawing/2014/main" id="{E55B11F0-7660-0483-BE26-92BF2D3E68DB}"/>
              </a:ext>
            </a:extLst>
          </p:cNvPr>
          <p:cNvSpPr/>
          <p:nvPr/>
        </p:nvSpPr>
        <p:spPr>
          <a:xfrm>
            <a:off x="908994" y="372140"/>
            <a:ext cx="2632434" cy="228451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约会榜</a:t>
            </a:r>
          </a:p>
        </p:txBody>
      </p:sp>
      <p:sp>
        <p:nvSpPr>
          <p:cNvPr id="19" name="Text 28">
            <a:extLst>
              <a:ext uri="{FF2B5EF4-FFF2-40B4-BE49-F238E27FC236}">
                <a16:creationId xmlns:a16="http://schemas.microsoft.com/office/drawing/2014/main" id="{8DE64F99-B86B-638D-C112-57F3738EA5A9}"/>
              </a:ext>
            </a:extLst>
          </p:cNvPr>
          <p:cNvSpPr/>
          <p:nvPr/>
        </p:nvSpPr>
        <p:spPr>
          <a:xfrm>
            <a:off x="989785" y="634254"/>
            <a:ext cx="2497782" cy="18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185B"/>
                </a:solidFill>
                <a:latin typeface="+mn-ea"/>
                <a:cs typeface="Microsoft YaHei" pitchFamily="34" charset="-120"/>
              </a:rPr>
              <a:t>精选全城最适合约会的品质餐厅</a:t>
            </a:r>
            <a:endParaRPr lang="en-US" sz="1000" dirty="0">
              <a:latin typeface="+mn-ea"/>
            </a:endParaRPr>
          </a:p>
        </p:txBody>
      </p:sp>
      <p:sp>
        <p:nvSpPr>
          <p:cNvPr id="20" name="Shape 29">
            <a:extLst>
              <a:ext uri="{FF2B5EF4-FFF2-40B4-BE49-F238E27FC236}">
                <a16:creationId xmlns:a16="http://schemas.microsoft.com/office/drawing/2014/main" id="{995F14EC-5BA1-726A-6B4C-93BA26AB7EDB}"/>
              </a:ext>
            </a:extLst>
          </p:cNvPr>
          <p:cNvSpPr/>
          <p:nvPr/>
        </p:nvSpPr>
        <p:spPr>
          <a:xfrm>
            <a:off x="989785" y="876626"/>
            <a:ext cx="47128" cy="471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1" name="Text 30">
            <a:extLst>
              <a:ext uri="{FF2B5EF4-FFF2-40B4-BE49-F238E27FC236}">
                <a16:creationId xmlns:a16="http://schemas.microsoft.com/office/drawing/2014/main" id="{7626B10F-34AF-906D-359B-941BFBDB5D36}"/>
              </a:ext>
            </a:extLst>
          </p:cNvPr>
          <p:cNvSpPr/>
          <p:nvPr/>
        </p:nvSpPr>
        <p:spPr>
          <a:xfrm>
            <a:off x="1077308" y="836231"/>
            <a:ext cx="2410259" cy="311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综合环境氛围、服务体验、菜品品质等多维度优化</a:t>
            </a:r>
            <a:endParaRPr lang="en-US" sz="900" dirty="0">
              <a:latin typeface="+mn-ea"/>
            </a:endParaRPr>
          </a:p>
        </p:txBody>
      </p:sp>
      <p:sp>
        <p:nvSpPr>
          <p:cNvPr id="22" name="Shape 31">
            <a:extLst>
              <a:ext uri="{FF2B5EF4-FFF2-40B4-BE49-F238E27FC236}">
                <a16:creationId xmlns:a16="http://schemas.microsoft.com/office/drawing/2014/main" id="{CE77DA3A-757D-4362-F3D5-DB58AD2984C0}"/>
              </a:ext>
            </a:extLst>
          </p:cNvPr>
          <p:cNvSpPr/>
          <p:nvPr/>
        </p:nvSpPr>
        <p:spPr>
          <a:xfrm>
            <a:off x="989785" y="1214974"/>
            <a:ext cx="47128" cy="471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3" name="Text 32">
            <a:extLst>
              <a:ext uri="{FF2B5EF4-FFF2-40B4-BE49-F238E27FC236}">
                <a16:creationId xmlns:a16="http://schemas.microsoft.com/office/drawing/2014/main" id="{3BC7E286-4FE6-3EDA-9FD0-D997A0872374}"/>
              </a:ext>
            </a:extLst>
          </p:cNvPr>
          <p:cNvSpPr/>
          <p:nvPr/>
        </p:nvSpPr>
        <p:spPr>
          <a:xfrm>
            <a:off x="1077308" y="1174578"/>
            <a:ext cx="2410259" cy="311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为这座城市的年轻情侣，注重用餐仪式感和交换体验</a:t>
            </a:r>
            <a:endParaRPr lang="en-US" sz="900" dirty="0">
              <a:latin typeface="+mn-ea"/>
            </a:endParaRPr>
          </a:p>
        </p:txBody>
      </p:sp>
      <p:sp>
        <p:nvSpPr>
          <p:cNvPr id="25" name="Shape 33">
            <a:extLst>
              <a:ext uri="{FF2B5EF4-FFF2-40B4-BE49-F238E27FC236}">
                <a16:creationId xmlns:a16="http://schemas.microsoft.com/office/drawing/2014/main" id="{249D2E7B-E0E5-9ABB-2468-C52A0E07E5F8}"/>
              </a:ext>
            </a:extLst>
          </p:cNvPr>
          <p:cNvSpPr/>
          <p:nvPr/>
        </p:nvSpPr>
        <p:spPr>
          <a:xfrm>
            <a:off x="908994" y="1593716"/>
            <a:ext cx="2632434" cy="627704"/>
          </a:xfrm>
          <a:prstGeom prst="rect">
            <a:avLst/>
          </a:prstGeom>
          <a:solidFill>
            <a:srgbClr val="FFFFFF"/>
          </a:solidFill>
          <a:ln w="6350">
            <a:solidFill>
              <a:srgbClr val="F48FB1"/>
            </a:solidFill>
            <a:prstDash val="solid"/>
          </a:ln>
        </p:spPr>
      </p:sp>
      <p:sp>
        <p:nvSpPr>
          <p:cNvPr id="26" name="Text 34">
            <a:extLst>
              <a:ext uri="{FF2B5EF4-FFF2-40B4-BE49-F238E27FC236}">
                <a16:creationId xmlns:a16="http://schemas.microsoft.com/office/drawing/2014/main" id="{089BFC86-C781-A2F7-2F94-EEE22756B174}"/>
              </a:ext>
            </a:extLst>
          </p:cNvPr>
          <p:cNvSpPr/>
          <p:nvPr/>
        </p:nvSpPr>
        <p:spPr>
          <a:xfrm>
            <a:off x="989785" y="1661042"/>
            <a:ext cx="2497782" cy="519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一线城市的年轻情侣，注重用餐仪式感和交换体验</a:t>
            </a:r>
            <a:endParaRPr lang="en-US" sz="900" dirty="0">
              <a:latin typeface="+mn-ea"/>
            </a:endParaRPr>
          </a:p>
        </p:txBody>
      </p:sp>
      <p:sp>
        <p:nvSpPr>
          <p:cNvPr id="27" name="Shape 35">
            <a:extLst>
              <a:ext uri="{FF2B5EF4-FFF2-40B4-BE49-F238E27FC236}">
                <a16:creationId xmlns:a16="http://schemas.microsoft.com/office/drawing/2014/main" id="{398F1EF3-7BE9-F414-CAD5-EF2A751564E7}"/>
              </a:ext>
            </a:extLst>
          </p:cNvPr>
          <p:cNvSpPr/>
          <p:nvPr/>
        </p:nvSpPr>
        <p:spPr>
          <a:xfrm>
            <a:off x="908994" y="2261816"/>
            <a:ext cx="2632434" cy="538033"/>
          </a:xfrm>
          <a:prstGeom prst="rect">
            <a:avLst/>
          </a:prstGeom>
          <a:solidFill>
            <a:srgbClr val="FFFFFF"/>
          </a:solidFill>
          <a:ln w="6350">
            <a:solidFill>
              <a:srgbClr val="F48FB1"/>
            </a:solidFill>
            <a:prstDash val="solid"/>
          </a:ln>
        </p:spPr>
      </p:sp>
      <p:sp>
        <p:nvSpPr>
          <p:cNvPr id="28" name="Shape 36">
            <a:extLst>
              <a:ext uri="{FF2B5EF4-FFF2-40B4-BE49-F238E27FC236}">
                <a16:creationId xmlns:a16="http://schemas.microsoft.com/office/drawing/2014/main" id="{D2D9CE55-ECD2-E5E7-7AA5-FB324F70140B}"/>
              </a:ext>
            </a:extLst>
          </p:cNvPr>
          <p:cNvSpPr/>
          <p:nvPr/>
        </p:nvSpPr>
        <p:spPr>
          <a:xfrm>
            <a:off x="989784" y="2342607"/>
            <a:ext cx="504000" cy="148116"/>
          </a:xfrm>
          <a:prstGeom prst="rect">
            <a:avLst/>
          </a:prstGeom>
          <a:solidFill>
            <a:srgbClr val="FCE4EC"/>
          </a:solidFill>
          <a:ln w="7620">
            <a:solidFill>
              <a:srgbClr val="F48FB1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800" b="1" dirty="0">
                <a:solidFill>
                  <a:srgbClr val="C2185B"/>
                </a:solidFill>
                <a:latin typeface="+mn-ea"/>
              </a:rPr>
              <a:t>情人节</a:t>
            </a:r>
          </a:p>
        </p:txBody>
      </p:sp>
      <p:sp>
        <p:nvSpPr>
          <p:cNvPr id="30" name="Shape 38">
            <a:extLst>
              <a:ext uri="{FF2B5EF4-FFF2-40B4-BE49-F238E27FC236}">
                <a16:creationId xmlns:a16="http://schemas.microsoft.com/office/drawing/2014/main" id="{D1AFF7A2-66D0-C307-FF5B-3051B048C7E5}"/>
              </a:ext>
            </a:extLst>
          </p:cNvPr>
          <p:cNvSpPr/>
          <p:nvPr/>
        </p:nvSpPr>
        <p:spPr>
          <a:xfrm>
            <a:off x="1547644" y="2342607"/>
            <a:ext cx="461181" cy="148116"/>
          </a:xfrm>
          <a:prstGeom prst="rect">
            <a:avLst/>
          </a:prstGeom>
          <a:solidFill>
            <a:srgbClr val="FCE4EC"/>
          </a:solidFill>
          <a:ln w="7620">
            <a:solidFill>
              <a:srgbClr val="F48FB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>
                <a:solidFill>
                  <a:srgbClr val="C2185B"/>
                </a:solidFill>
                <a:latin typeface="+mn-ea"/>
              </a:rPr>
              <a:t>520</a:t>
            </a:r>
            <a:endParaRPr lang="zh-CN" altLang="en-US" sz="800" b="1" dirty="0">
              <a:solidFill>
                <a:srgbClr val="C2185B"/>
              </a:solidFill>
              <a:latin typeface="+mn-ea"/>
            </a:endParaRPr>
          </a:p>
        </p:txBody>
      </p:sp>
      <p:sp>
        <p:nvSpPr>
          <p:cNvPr id="32" name="Shape 40">
            <a:extLst>
              <a:ext uri="{FF2B5EF4-FFF2-40B4-BE49-F238E27FC236}">
                <a16:creationId xmlns:a16="http://schemas.microsoft.com/office/drawing/2014/main" id="{92C17A30-CE30-7B97-BB65-5CF897A8FE28}"/>
              </a:ext>
            </a:extLst>
          </p:cNvPr>
          <p:cNvSpPr/>
          <p:nvPr/>
        </p:nvSpPr>
        <p:spPr>
          <a:xfrm>
            <a:off x="2066160" y="2342607"/>
            <a:ext cx="387174" cy="148116"/>
          </a:xfrm>
          <a:prstGeom prst="rect">
            <a:avLst/>
          </a:prstGeom>
          <a:solidFill>
            <a:srgbClr val="FCE4EC"/>
          </a:solidFill>
          <a:ln w="7620">
            <a:solidFill>
              <a:srgbClr val="F48FB1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800" b="1" dirty="0">
                <a:solidFill>
                  <a:srgbClr val="C2185B"/>
                </a:solidFill>
                <a:latin typeface="+mn-ea"/>
              </a:rPr>
              <a:t>七夕</a:t>
            </a:r>
          </a:p>
        </p:txBody>
      </p:sp>
      <p:sp>
        <p:nvSpPr>
          <p:cNvPr id="34" name="Shape 42">
            <a:extLst>
              <a:ext uri="{FF2B5EF4-FFF2-40B4-BE49-F238E27FC236}">
                <a16:creationId xmlns:a16="http://schemas.microsoft.com/office/drawing/2014/main" id="{B3C96BFF-EB60-862F-DB43-D61ACD9DB258}"/>
              </a:ext>
            </a:extLst>
          </p:cNvPr>
          <p:cNvSpPr/>
          <p:nvPr/>
        </p:nvSpPr>
        <p:spPr>
          <a:xfrm>
            <a:off x="2507194" y="2342607"/>
            <a:ext cx="720000" cy="148116"/>
          </a:xfrm>
          <a:prstGeom prst="rect">
            <a:avLst/>
          </a:prstGeom>
          <a:solidFill>
            <a:srgbClr val="FCE4EC"/>
          </a:solidFill>
          <a:ln w="7620">
            <a:solidFill>
              <a:srgbClr val="F48FB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C2185B"/>
                </a:solidFill>
                <a:latin typeface="+mn-ea"/>
                <a:cs typeface="Microsoft YaHei" pitchFamily="34" charset="-120"/>
              </a:rPr>
              <a:t>周年纪念日</a:t>
            </a:r>
            <a:endParaRPr lang="en-US" altLang="zh-CN" sz="800" dirty="0">
              <a:latin typeface="+mn-ea"/>
            </a:endParaRPr>
          </a:p>
        </p:txBody>
      </p:sp>
      <p:sp>
        <p:nvSpPr>
          <p:cNvPr id="36" name="Shape 44">
            <a:extLst>
              <a:ext uri="{FF2B5EF4-FFF2-40B4-BE49-F238E27FC236}">
                <a16:creationId xmlns:a16="http://schemas.microsoft.com/office/drawing/2014/main" id="{B97AA1BF-901A-BBE3-D5F9-F807F071C290}"/>
              </a:ext>
            </a:extLst>
          </p:cNvPr>
          <p:cNvSpPr/>
          <p:nvPr/>
        </p:nvSpPr>
        <p:spPr>
          <a:xfrm>
            <a:off x="908994" y="2840244"/>
            <a:ext cx="2632434" cy="807049"/>
          </a:xfrm>
          <a:prstGeom prst="rect">
            <a:avLst/>
          </a:prstGeom>
          <a:solidFill>
            <a:srgbClr val="FFFFFF"/>
          </a:solidFill>
          <a:ln w="6350">
            <a:solidFill>
              <a:srgbClr val="F48FB1"/>
            </a:solidFill>
            <a:prstDash val="solid"/>
          </a:ln>
        </p:spPr>
      </p:sp>
      <p:sp>
        <p:nvSpPr>
          <p:cNvPr id="37" name="Text 45">
            <a:extLst>
              <a:ext uri="{FF2B5EF4-FFF2-40B4-BE49-F238E27FC236}">
                <a16:creationId xmlns:a16="http://schemas.microsoft.com/office/drawing/2014/main" id="{1B9F1053-F031-5817-A7CA-0969211A73ED}"/>
              </a:ext>
            </a:extLst>
          </p:cNvPr>
          <p:cNvSpPr/>
          <p:nvPr/>
        </p:nvSpPr>
        <p:spPr>
          <a:xfrm>
            <a:off x="989785" y="2907569"/>
            <a:ext cx="792199" cy="18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185B"/>
                </a:solidFill>
                <a:latin typeface="+mn-ea"/>
                <a:cs typeface="Microsoft YaHei" pitchFamily="34" charset="-120"/>
              </a:rPr>
              <a:t>60-180元</a:t>
            </a:r>
            <a:endParaRPr lang="en-US" sz="1100" dirty="0">
              <a:latin typeface="+mn-ea"/>
            </a:endParaRPr>
          </a:p>
        </p:txBody>
      </p:sp>
      <p:sp>
        <p:nvSpPr>
          <p:cNvPr id="38" name="Text 46">
            <a:extLst>
              <a:ext uri="{FF2B5EF4-FFF2-40B4-BE49-F238E27FC236}">
                <a16:creationId xmlns:a16="http://schemas.microsoft.com/office/drawing/2014/main" id="{288D1035-615D-8BEF-2D9C-9B87FE8E707F}"/>
              </a:ext>
            </a:extLst>
          </p:cNvPr>
          <p:cNvSpPr/>
          <p:nvPr/>
        </p:nvSpPr>
        <p:spPr>
          <a:xfrm>
            <a:off x="989785" y="3082616"/>
            <a:ext cx="792199" cy="12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77777"/>
                </a:solidFill>
                <a:latin typeface="+mn-ea"/>
                <a:cs typeface="Microsoft YaHei" pitchFamily="34" charset="-120"/>
              </a:rPr>
              <a:t>人均价格带</a:t>
            </a:r>
            <a:endParaRPr lang="en-US" sz="800" dirty="0">
              <a:latin typeface="+mn-ea"/>
            </a:endParaRPr>
          </a:p>
        </p:txBody>
      </p:sp>
      <p:sp>
        <p:nvSpPr>
          <p:cNvPr id="39" name="Text 47">
            <a:extLst>
              <a:ext uri="{FF2B5EF4-FFF2-40B4-BE49-F238E27FC236}">
                <a16:creationId xmlns:a16="http://schemas.microsoft.com/office/drawing/2014/main" id="{81B20BA5-BF9C-ACB9-46E7-5F287EBF15A1}"/>
              </a:ext>
            </a:extLst>
          </p:cNvPr>
          <p:cNvSpPr/>
          <p:nvPr/>
        </p:nvSpPr>
        <p:spPr>
          <a:xfrm>
            <a:off x="1822379" y="2907569"/>
            <a:ext cx="792199" cy="18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185B"/>
                </a:solidFill>
                <a:latin typeface="+mn-ea"/>
                <a:cs typeface="Microsoft YaHei" pitchFamily="34" charset="-120"/>
              </a:rPr>
              <a:t>68%</a:t>
            </a:r>
            <a:endParaRPr lang="en-US" sz="1100" dirty="0">
              <a:latin typeface="+mn-ea"/>
            </a:endParaRPr>
          </a:p>
        </p:txBody>
      </p:sp>
      <p:sp>
        <p:nvSpPr>
          <p:cNvPr id="40" name="Text 48">
            <a:extLst>
              <a:ext uri="{FF2B5EF4-FFF2-40B4-BE49-F238E27FC236}">
                <a16:creationId xmlns:a16="http://schemas.microsoft.com/office/drawing/2014/main" id="{9CC8B7A5-0518-0EE9-9109-70B7A18C7C83}"/>
              </a:ext>
            </a:extLst>
          </p:cNvPr>
          <p:cNvSpPr/>
          <p:nvPr/>
        </p:nvSpPr>
        <p:spPr>
          <a:xfrm>
            <a:off x="1822379" y="3082616"/>
            <a:ext cx="832594" cy="10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77777"/>
                </a:solidFill>
                <a:latin typeface="+mn-ea"/>
                <a:cs typeface="Microsoft YaHei" pitchFamily="34" charset="-120"/>
              </a:rPr>
              <a:t>中高价位占比</a:t>
            </a:r>
            <a:endParaRPr lang="en-US" sz="800" dirty="0">
              <a:latin typeface="+mn-ea"/>
            </a:endParaRPr>
          </a:p>
        </p:txBody>
      </p:sp>
      <p:sp>
        <p:nvSpPr>
          <p:cNvPr id="41" name="Text 49">
            <a:extLst>
              <a:ext uri="{FF2B5EF4-FFF2-40B4-BE49-F238E27FC236}">
                <a16:creationId xmlns:a16="http://schemas.microsoft.com/office/drawing/2014/main" id="{1C03E2A4-ABAB-F5DE-D87F-5BAD4F8D22FE}"/>
              </a:ext>
            </a:extLst>
          </p:cNvPr>
          <p:cNvSpPr/>
          <p:nvPr/>
        </p:nvSpPr>
        <p:spPr>
          <a:xfrm>
            <a:off x="2654973" y="2907569"/>
            <a:ext cx="792199" cy="18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2185B"/>
                </a:solidFill>
                <a:latin typeface="+mn-ea"/>
                <a:cs typeface="Microsoft YaHei" pitchFamily="34" charset="-120"/>
              </a:rPr>
              <a:t>27%</a:t>
            </a:r>
            <a:endParaRPr lang="en-US" sz="1100" dirty="0">
              <a:latin typeface="+mn-ea"/>
            </a:endParaRPr>
          </a:p>
        </p:txBody>
      </p:sp>
      <p:sp>
        <p:nvSpPr>
          <p:cNvPr id="42" name="Text 50">
            <a:extLst>
              <a:ext uri="{FF2B5EF4-FFF2-40B4-BE49-F238E27FC236}">
                <a16:creationId xmlns:a16="http://schemas.microsoft.com/office/drawing/2014/main" id="{98E262AC-2F66-860B-CC4E-E386865BDBCC}"/>
              </a:ext>
            </a:extLst>
          </p:cNvPr>
          <p:cNvSpPr/>
          <p:nvPr/>
        </p:nvSpPr>
        <p:spPr>
          <a:xfrm>
            <a:off x="2654973" y="3082616"/>
            <a:ext cx="899920" cy="12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77777"/>
                </a:solidFill>
                <a:latin typeface="+mn-ea"/>
                <a:cs typeface="Microsoft YaHei" pitchFamily="34" charset="-120"/>
              </a:rPr>
              <a:t>多位子供给占比</a:t>
            </a:r>
            <a:endParaRPr lang="en-US" sz="800" dirty="0">
              <a:latin typeface="+mn-ea"/>
            </a:endParaRPr>
          </a:p>
        </p:txBody>
      </p:sp>
      <p:sp>
        <p:nvSpPr>
          <p:cNvPr id="43" name="Shape 51">
            <a:extLst>
              <a:ext uri="{FF2B5EF4-FFF2-40B4-BE49-F238E27FC236}">
                <a16:creationId xmlns:a16="http://schemas.microsoft.com/office/drawing/2014/main" id="{75EDBF3B-9775-894C-11EE-4766226841C5}"/>
              </a:ext>
            </a:extLst>
          </p:cNvPr>
          <p:cNvSpPr/>
          <p:nvPr/>
        </p:nvSpPr>
        <p:spPr>
          <a:xfrm>
            <a:off x="989785" y="3257663"/>
            <a:ext cx="2497782" cy="335769"/>
          </a:xfrm>
          <a:prstGeom prst="rect">
            <a:avLst/>
          </a:prstGeom>
          <a:solidFill>
            <a:srgbClr val="FCE4EC"/>
          </a:solidFill>
          <a:ln w="5080">
            <a:solidFill>
              <a:srgbClr val="F48FB1"/>
            </a:solidFill>
            <a:prstDash val="solid"/>
          </a:ln>
        </p:spPr>
      </p:sp>
      <p:sp>
        <p:nvSpPr>
          <p:cNvPr id="44" name="Text 52">
            <a:extLst>
              <a:ext uri="{FF2B5EF4-FFF2-40B4-BE49-F238E27FC236}">
                <a16:creationId xmlns:a16="http://schemas.microsoft.com/office/drawing/2014/main" id="{A2A049D6-F230-3018-588D-9D6678AFEE07}"/>
              </a:ext>
            </a:extLst>
          </p:cNvPr>
          <p:cNvSpPr/>
          <p:nvPr/>
        </p:nvSpPr>
        <p:spPr>
          <a:xfrm>
            <a:off x="1043645" y="3271128"/>
            <a:ext cx="2390061" cy="308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+mn-ea"/>
                <a:cs typeface="Microsoft YaHei" pitchFamily="34" charset="-120"/>
              </a:rPr>
              <a:t>多位子供给占比高，区域地标餐厅</a:t>
            </a:r>
            <a:endParaRPr lang="en-US" sz="800" dirty="0">
              <a:latin typeface="+mn-ea"/>
            </a:endParaRPr>
          </a:p>
        </p:txBody>
      </p:sp>
      <p:sp>
        <p:nvSpPr>
          <p:cNvPr id="45" name="Shape 53">
            <a:extLst>
              <a:ext uri="{FF2B5EF4-FFF2-40B4-BE49-F238E27FC236}">
                <a16:creationId xmlns:a16="http://schemas.microsoft.com/office/drawing/2014/main" id="{9DADD9AF-87B9-B381-43D8-E7CBEAC7C624}"/>
              </a:ext>
            </a:extLst>
          </p:cNvPr>
          <p:cNvSpPr/>
          <p:nvPr/>
        </p:nvSpPr>
        <p:spPr>
          <a:xfrm>
            <a:off x="908994" y="3687688"/>
            <a:ext cx="2632434" cy="717376"/>
          </a:xfrm>
          <a:prstGeom prst="rect">
            <a:avLst/>
          </a:prstGeom>
          <a:solidFill>
            <a:srgbClr val="FFF0F5"/>
          </a:solidFill>
          <a:ln w="6350">
            <a:solidFill>
              <a:srgbClr val="F48FB1"/>
            </a:solidFill>
            <a:prstDash val="solid"/>
          </a:ln>
        </p:spPr>
      </p:sp>
      <p:sp>
        <p:nvSpPr>
          <p:cNvPr id="46" name="Shape 54">
            <a:extLst>
              <a:ext uri="{FF2B5EF4-FFF2-40B4-BE49-F238E27FC236}">
                <a16:creationId xmlns:a16="http://schemas.microsoft.com/office/drawing/2014/main" id="{C130F929-C7F3-AB1A-B5CD-C9C397DB7E1D}"/>
              </a:ext>
            </a:extLst>
          </p:cNvPr>
          <p:cNvSpPr/>
          <p:nvPr/>
        </p:nvSpPr>
        <p:spPr>
          <a:xfrm>
            <a:off x="989785" y="3755014"/>
            <a:ext cx="540000" cy="134651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2E7D32"/>
                </a:solidFill>
                <a:latin typeface="+mn-ea"/>
                <a:cs typeface="Microsoft YaHei" pitchFamily="34" charset="-120"/>
              </a:rPr>
              <a:t>进行中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48" name="Shape 56">
            <a:extLst>
              <a:ext uri="{FF2B5EF4-FFF2-40B4-BE49-F238E27FC236}">
                <a16:creationId xmlns:a16="http://schemas.microsoft.com/office/drawing/2014/main" id="{4DE52D6A-8B1B-8EC5-9C9C-0D4B35C63CFF}"/>
              </a:ext>
            </a:extLst>
          </p:cNvPr>
          <p:cNvSpPr/>
          <p:nvPr/>
        </p:nvSpPr>
        <p:spPr>
          <a:xfrm>
            <a:off x="989785" y="4001060"/>
            <a:ext cx="47128" cy="471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9" name="Text 57">
            <a:extLst>
              <a:ext uri="{FF2B5EF4-FFF2-40B4-BE49-F238E27FC236}">
                <a16:creationId xmlns:a16="http://schemas.microsoft.com/office/drawing/2014/main" id="{ED4FE68A-0775-CD61-0780-131125385321}"/>
              </a:ext>
            </a:extLst>
          </p:cNvPr>
          <p:cNvSpPr/>
          <p:nvPr/>
        </p:nvSpPr>
        <p:spPr>
          <a:xfrm>
            <a:off x="1077308" y="3967397"/>
            <a:ext cx="2410259" cy="14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进度：5月18日已量产SAB榜35小城，520多个城市UV40万，变化率41.2%</a:t>
            </a:r>
            <a:endParaRPr lang="en-US" sz="800" dirty="0">
              <a:latin typeface="+mn-ea"/>
            </a:endParaRPr>
          </a:p>
        </p:txBody>
      </p:sp>
      <p:sp>
        <p:nvSpPr>
          <p:cNvPr id="50" name="Shape 58">
            <a:extLst>
              <a:ext uri="{FF2B5EF4-FFF2-40B4-BE49-F238E27FC236}">
                <a16:creationId xmlns:a16="http://schemas.microsoft.com/office/drawing/2014/main" id="{E05AB427-AD26-D102-EB0E-4D2A75D78F3D}"/>
              </a:ext>
            </a:extLst>
          </p:cNvPr>
          <p:cNvSpPr/>
          <p:nvPr/>
        </p:nvSpPr>
        <p:spPr>
          <a:xfrm>
            <a:off x="908994" y="4445460"/>
            <a:ext cx="2632434" cy="538033"/>
          </a:xfrm>
          <a:prstGeom prst="rect">
            <a:avLst/>
          </a:prstGeom>
          <a:solidFill>
            <a:srgbClr val="FFF0F5"/>
          </a:solidFill>
          <a:ln w="6350">
            <a:solidFill>
              <a:srgbClr val="F48FB1"/>
            </a:solidFill>
            <a:prstDash val="solid"/>
          </a:ln>
        </p:spPr>
      </p:sp>
      <p:sp>
        <p:nvSpPr>
          <p:cNvPr id="51" name="Shape 59">
            <a:extLst>
              <a:ext uri="{FF2B5EF4-FFF2-40B4-BE49-F238E27FC236}">
                <a16:creationId xmlns:a16="http://schemas.microsoft.com/office/drawing/2014/main" id="{9B7F4FCC-776C-179B-599A-2112B5B594B4}"/>
              </a:ext>
            </a:extLst>
          </p:cNvPr>
          <p:cNvSpPr/>
          <p:nvPr/>
        </p:nvSpPr>
        <p:spPr>
          <a:xfrm>
            <a:off x="989785" y="4512785"/>
            <a:ext cx="540000" cy="134651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1565C0"/>
                </a:solidFill>
                <a:latin typeface="+mn-ea"/>
                <a:cs typeface="Microsoft YaHei" pitchFamily="34" charset="-120"/>
              </a:rPr>
              <a:t>规划中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53" name="Shape 61">
            <a:extLst>
              <a:ext uri="{FF2B5EF4-FFF2-40B4-BE49-F238E27FC236}">
                <a16:creationId xmlns:a16="http://schemas.microsoft.com/office/drawing/2014/main" id="{C325DC59-F616-F2C1-1B8A-7DCEF7D70063}"/>
              </a:ext>
            </a:extLst>
          </p:cNvPr>
          <p:cNvSpPr/>
          <p:nvPr/>
        </p:nvSpPr>
        <p:spPr>
          <a:xfrm>
            <a:off x="989785" y="4758832"/>
            <a:ext cx="47128" cy="47128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4" name="Text 62">
            <a:extLst>
              <a:ext uri="{FF2B5EF4-FFF2-40B4-BE49-F238E27FC236}">
                <a16:creationId xmlns:a16="http://schemas.microsoft.com/office/drawing/2014/main" id="{58095328-3701-B804-A798-ECC66224683E}"/>
              </a:ext>
            </a:extLst>
          </p:cNvPr>
          <p:cNvSpPr/>
          <p:nvPr/>
        </p:nvSpPr>
        <p:spPr>
          <a:xfrm>
            <a:off x="1077308" y="4725169"/>
            <a:ext cx="2410259" cy="14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榜单策略优化、加强需求宫格&amp;营销物料的铺设</a:t>
            </a:r>
            <a:endParaRPr lang="en-US" sz="800" dirty="0">
              <a:latin typeface="+mn-ea"/>
            </a:endParaRPr>
          </a:p>
        </p:txBody>
      </p:sp>
      <p:sp>
        <p:nvSpPr>
          <p:cNvPr id="55" name="Shape 63">
            <a:extLst>
              <a:ext uri="{FF2B5EF4-FFF2-40B4-BE49-F238E27FC236}">
                <a16:creationId xmlns:a16="http://schemas.microsoft.com/office/drawing/2014/main" id="{8A11FCBC-FE1A-DE60-72C6-E00B7F65A1B9}"/>
              </a:ext>
            </a:extLst>
          </p:cNvPr>
          <p:cNvSpPr/>
          <p:nvPr/>
        </p:nvSpPr>
        <p:spPr>
          <a:xfrm>
            <a:off x="3595288" y="566928"/>
            <a:ext cx="2632434" cy="986393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56" name="Shape 64">
            <a:extLst>
              <a:ext uri="{FF2B5EF4-FFF2-40B4-BE49-F238E27FC236}">
                <a16:creationId xmlns:a16="http://schemas.microsoft.com/office/drawing/2014/main" id="{0E7D0926-CF70-E64E-8C78-B8FE1E8C597D}"/>
              </a:ext>
            </a:extLst>
          </p:cNvPr>
          <p:cNvSpPr/>
          <p:nvPr/>
        </p:nvSpPr>
        <p:spPr>
          <a:xfrm>
            <a:off x="3595288" y="372140"/>
            <a:ext cx="2632434" cy="228451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烟火榜</a:t>
            </a:r>
          </a:p>
        </p:txBody>
      </p:sp>
      <p:sp>
        <p:nvSpPr>
          <p:cNvPr id="57" name="Text 65">
            <a:extLst>
              <a:ext uri="{FF2B5EF4-FFF2-40B4-BE49-F238E27FC236}">
                <a16:creationId xmlns:a16="http://schemas.microsoft.com/office/drawing/2014/main" id="{F7E31E88-2422-EDCA-CA48-846E21C6F5BC}"/>
              </a:ext>
            </a:extLst>
          </p:cNvPr>
          <p:cNvSpPr/>
          <p:nvPr/>
        </p:nvSpPr>
        <p:spPr>
          <a:xfrm>
            <a:off x="3676079" y="634254"/>
            <a:ext cx="2497782" cy="18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  <a:latin typeface="+mn-ea"/>
                <a:cs typeface="Microsoft YaHei" pitchFamily="34" charset="-120"/>
              </a:rPr>
              <a:t>精选全城最具烟火气的特色小馆</a:t>
            </a:r>
            <a:endParaRPr lang="en-US" sz="1000" dirty="0">
              <a:latin typeface="+mn-ea"/>
            </a:endParaRPr>
          </a:p>
        </p:txBody>
      </p:sp>
      <p:sp>
        <p:nvSpPr>
          <p:cNvPr id="58" name="Shape 66">
            <a:extLst>
              <a:ext uri="{FF2B5EF4-FFF2-40B4-BE49-F238E27FC236}">
                <a16:creationId xmlns:a16="http://schemas.microsoft.com/office/drawing/2014/main" id="{6649B067-12E3-9F1D-95FB-B7E53D8932CB}"/>
              </a:ext>
            </a:extLst>
          </p:cNvPr>
          <p:cNvSpPr/>
          <p:nvPr/>
        </p:nvSpPr>
        <p:spPr>
          <a:xfrm>
            <a:off x="3676079" y="876626"/>
            <a:ext cx="47128" cy="471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9" name="Text 67">
            <a:extLst>
              <a:ext uri="{FF2B5EF4-FFF2-40B4-BE49-F238E27FC236}">
                <a16:creationId xmlns:a16="http://schemas.microsoft.com/office/drawing/2014/main" id="{42E977B4-C433-B96D-1BF2-B6F67F0A8BE7}"/>
              </a:ext>
            </a:extLst>
          </p:cNvPr>
          <p:cNvSpPr/>
          <p:nvPr/>
        </p:nvSpPr>
        <p:spPr>
          <a:xfrm>
            <a:off x="3763602" y="836231"/>
            <a:ext cx="2410259" cy="311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满足口味地道、烟火气氛围、价格合理等需求</a:t>
            </a:r>
            <a:endParaRPr lang="en-US" sz="900" dirty="0">
              <a:latin typeface="+mn-ea"/>
            </a:endParaRPr>
          </a:p>
        </p:txBody>
      </p:sp>
      <p:sp>
        <p:nvSpPr>
          <p:cNvPr id="60" name="Shape 68">
            <a:extLst>
              <a:ext uri="{FF2B5EF4-FFF2-40B4-BE49-F238E27FC236}">
                <a16:creationId xmlns:a16="http://schemas.microsoft.com/office/drawing/2014/main" id="{554197EF-B89F-3FA1-0AFC-33FD5C4C78A4}"/>
              </a:ext>
            </a:extLst>
          </p:cNvPr>
          <p:cNvSpPr/>
          <p:nvPr/>
        </p:nvSpPr>
        <p:spPr>
          <a:xfrm>
            <a:off x="3676079" y="1214974"/>
            <a:ext cx="47128" cy="471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1" name="Text 69">
            <a:extLst>
              <a:ext uri="{FF2B5EF4-FFF2-40B4-BE49-F238E27FC236}">
                <a16:creationId xmlns:a16="http://schemas.microsoft.com/office/drawing/2014/main" id="{235983A8-850F-9505-91FB-20E125FEE2F3}"/>
              </a:ext>
            </a:extLst>
          </p:cNvPr>
          <p:cNvSpPr/>
          <p:nvPr/>
        </p:nvSpPr>
        <p:spPr>
          <a:xfrm>
            <a:off x="3763602" y="1174578"/>
            <a:ext cx="2410259" cy="311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为本地的烟火气爱好者，知道这座城市比较地道比较人情味的地方用户上</a:t>
            </a:r>
            <a:endParaRPr lang="en-US" sz="900" dirty="0">
              <a:latin typeface="+mn-ea"/>
            </a:endParaRPr>
          </a:p>
        </p:txBody>
      </p:sp>
      <p:sp>
        <p:nvSpPr>
          <p:cNvPr id="62" name="Shape 70">
            <a:extLst>
              <a:ext uri="{FF2B5EF4-FFF2-40B4-BE49-F238E27FC236}">
                <a16:creationId xmlns:a16="http://schemas.microsoft.com/office/drawing/2014/main" id="{8FE1E31D-659B-F733-A592-3F854386EDF4}"/>
              </a:ext>
            </a:extLst>
          </p:cNvPr>
          <p:cNvSpPr/>
          <p:nvPr/>
        </p:nvSpPr>
        <p:spPr>
          <a:xfrm>
            <a:off x="3595288" y="1593716"/>
            <a:ext cx="2632434" cy="627704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63" name="Text 71">
            <a:extLst>
              <a:ext uri="{FF2B5EF4-FFF2-40B4-BE49-F238E27FC236}">
                <a16:creationId xmlns:a16="http://schemas.microsoft.com/office/drawing/2014/main" id="{EFACDD7D-FE09-6E2E-82C9-E93CC4B2940E}"/>
              </a:ext>
            </a:extLst>
          </p:cNvPr>
          <p:cNvSpPr/>
          <p:nvPr/>
        </p:nvSpPr>
        <p:spPr>
          <a:xfrm>
            <a:off x="3676079" y="1661042"/>
            <a:ext cx="2497782" cy="519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本地烟火气爱好者，追求地道、人情味的用餐体验</a:t>
            </a:r>
            <a:endParaRPr lang="en-US" sz="900" dirty="0">
              <a:latin typeface="+mn-ea"/>
            </a:endParaRPr>
          </a:p>
        </p:txBody>
      </p:sp>
      <p:sp>
        <p:nvSpPr>
          <p:cNvPr id="64" name="Shape 72">
            <a:extLst>
              <a:ext uri="{FF2B5EF4-FFF2-40B4-BE49-F238E27FC236}">
                <a16:creationId xmlns:a16="http://schemas.microsoft.com/office/drawing/2014/main" id="{1005DD98-2C0C-C8DB-5EC8-F25AE3C8288C}"/>
              </a:ext>
            </a:extLst>
          </p:cNvPr>
          <p:cNvSpPr/>
          <p:nvPr/>
        </p:nvSpPr>
        <p:spPr>
          <a:xfrm>
            <a:off x="3595288" y="2261816"/>
            <a:ext cx="2632434" cy="538033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65" name="Shape 73">
            <a:extLst>
              <a:ext uri="{FF2B5EF4-FFF2-40B4-BE49-F238E27FC236}">
                <a16:creationId xmlns:a16="http://schemas.microsoft.com/office/drawing/2014/main" id="{8C9DDC70-B6F0-415C-9826-F7A37599C24B}"/>
              </a:ext>
            </a:extLst>
          </p:cNvPr>
          <p:cNvSpPr/>
          <p:nvPr/>
        </p:nvSpPr>
        <p:spPr>
          <a:xfrm>
            <a:off x="3676079" y="2342607"/>
            <a:ext cx="432000" cy="148116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E65100"/>
                </a:solidFill>
                <a:latin typeface="+mn-ea"/>
                <a:cs typeface="Microsoft YaHei" pitchFamily="34" charset="-120"/>
              </a:rPr>
              <a:t>五一</a:t>
            </a:r>
            <a:endParaRPr lang="zh-CN" altLang="en-US" dirty="0"/>
          </a:p>
        </p:txBody>
      </p:sp>
      <p:sp>
        <p:nvSpPr>
          <p:cNvPr id="67" name="Shape 75">
            <a:extLst>
              <a:ext uri="{FF2B5EF4-FFF2-40B4-BE49-F238E27FC236}">
                <a16:creationId xmlns:a16="http://schemas.microsoft.com/office/drawing/2014/main" id="{6DA8B912-CCC4-0AB3-1279-F3F7A2546DD8}"/>
              </a:ext>
            </a:extLst>
          </p:cNvPr>
          <p:cNvSpPr/>
          <p:nvPr/>
        </p:nvSpPr>
        <p:spPr>
          <a:xfrm>
            <a:off x="4161939" y="2342607"/>
            <a:ext cx="432000" cy="148116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E65100"/>
                </a:solidFill>
                <a:latin typeface="+mn-ea"/>
                <a:cs typeface="Microsoft YaHei" pitchFamily="34" charset="-120"/>
              </a:rPr>
              <a:t>十一</a:t>
            </a:r>
            <a:endParaRPr lang="en-US" altLang="zh-CN" sz="800" dirty="0">
              <a:latin typeface="+mn-ea"/>
            </a:endParaRPr>
          </a:p>
        </p:txBody>
      </p:sp>
      <p:sp>
        <p:nvSpPr>
          <p:cNvPr id="69" name="Shape 77">
            <a:extLst>
              <a:ext uri="{FF2B5EF4-FFF2-40B4-BE49-F238E27FC236}">
                <a16:creationId xmlns:a16="http://schemas.microsoft.com/office/drawing/2014/main" id="{C0D10C47-5D32-D7B4-35E3-0847DEBC5ABE}"/>
              </a:ext>
            </a:extLst>
          </p:cNvPr>
          <p:cNvSpPr/>
          <p:nvPr/>
        </p:nvSpPr>
        <p:spPr>
          <a:xfrm>
            <a:off x="4651565" y="2342607"/>
            <a:ext cx="720000" cy="148116"/>
          </a:xfrm>
          <a:prstGeom prst="rect">
            <a:avLst/>
          </a:prstGeom>
          <a:solidFill>
            <a:srgbClr val="FFF3E0"/>
          </a:solidFill>
          <a:ln w="7620">
            <a:solidFill>
              <a:srgbClr val="FFCC8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E65100"/>
                </a:solidFill>
                <a:latin typeface="+mn-ea"/>
                <a:cs typeface="Microsoft YaHei" pitchFamily="34" charset="-120"/>
              </a:rPr>
              <a:t>春节节假日</a:t>
            </a:r>
            <a:endParaRPr lang="en-US" altLang="zh-CN" sz="800" dirty="0">
              <a:latin typeface="+mn-ea"/>
            </a:endParaRPr>
          </a:p>
        </p:txBody>
      </p:sp>
      <p:sp>
        <p:nvSpPr>
          <p:cNvPr id="71" name="Shape 79">
            <a:extLst>
              <a:ext uri="{FF2B5EF4-FFF2-40B4-BE49-F238E27FC236}">
                <a16:creationId xmlns:a16="http://schemas.microsoft.com/office/drawing/2014/main" id="{024F908E-E254-7FB8-E1B1-9DA909F67087}"/>
              </a:ext>
            </a:extLst>
          </p:cNvPr>
          <p:cNvSpPr/>
          <p:nvPr/>
        </p:nvSpPr>
        <p:spPr>
          <a:xfrm>
            <a:off x="3595288" y="2840244"/>
            <a:ext cx="2632434" cy="807049"/>
          </a:xfrm>
          <a:prstGeom prst="rect">
            <a:avLst/>
          </a:prstGeom>
          <a:solidFill>
            <a:srgbClr val="FFFFFF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72" name="Text 80">
            <a:extLst>
              <a:ext uri="{FF2B5EF4-FFF2-40B4-BE49-F238E27FC236}">
                <a16:creationId xmlns:a16="http://schemas.microsoft.com/office/drawing/2014/main" id="{E1CB9E3A-0823-75A2-8186-14127EE28755}"/>
              </a:ext>
            </a:extLst>
          </p:cNvPr>
          <p:cNvSpPr/>
          <p:nvPr/>
        </p:nvSpPr>
        <p:spPr>
          <a:xfrm>
            <a:off x="3676079" y="2907569"/>
            <a:ext cx="1208496" cy="18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+mn-ea"/>
                <a:cs typeface="Microsoft YaHei" pitchFamily="34" charset="-120"/>
              </a:rPr>
              <a:t>20-80元</a:t>
            </a:r>
            <a:endParaRPr lang="en-US" sz="1100" dirty="0">
              <a:latin typeface="+mn-ea"/>
            </a:endParaRPr>
          </a:p>
        </p:txBody>
      </p:sp>
      <p:sp>
        <p:nvSpPr>
          <p:cNvPr id="73" name="Text 81">
            <a:extLst>
              <a:ext uri="{FF2B5EF4-FFF2-40B4-BE49-F238E27FC236}">
                <a16:creationId xmlns:a16="http://schemas.microsoft.com/office/drawing/2014/main" id="{5056D26E-499B-2EAE-12D9-1F0F22D11559}"/>
              </a:ext>
            </a:extLst>
          </p:cNvPr>
          <p:cNvSpPr/>
          <p:nvPr/>
        </p:nvSpPr>
        <p:spPr>
          <a:xfrm>
            <a:off x="3676079" y="3082616"/>
            <a:ext cx="1208496" cy="12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77777"/>
                </a:solidFill>
                <a:latin typeface="+mn-ea"/>
                <a:cs typeface="Microsoft YaHei" pitchFamily="34" charset="-120"/>
              </a:rPr>
              <a:t>人均价格带</a:t>
            </a:r>
            <a:endParaRPr lang="en-US" sz="800" dirty="0">
              <a:latin typeface="+mn-ea"/>
            </a:endParaRPr>
          </a:p>
        </p:txBody>
      </p:sp>
      <p:sp>
        <p:nvSpPr>
          <p:cNvPr id="74" name="Text 82">
            <a:extLst>
              <a:ext uri="{FF2B5EF4-FFF2-40B4-BE49-F238E27FC236}">
                <a16:creationId xmlns:a16="http://schemas.microsoft.com/office/drawing/2014/main" id="{824B5AFA-0524-BAE0-8E37-406A0F891FA2}"/>
              </a:ext>
            </a:extLst>
          </p:cNvPr>
          <p:cNvSpPr/>
          <p:nvPr/>
        </p:nvSpPr>
        <p:spPr>
          <a:xfrm>
            <a:off x="4924970" y="2907569"/>
            <a:ext cx="1208496" cy="18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+mn-ea"/>
                <a:cs typeface="Microsoft YaHei" pitchFamily="34" charset="-120"/>
              </a:rPr>
              <a:t>67%</a:t>
            </a:r>
            <a:endParaRPr lang="en-US" sz="1100" dirty="0">
              <a:latin typeface="+mn-ea"/>
            </a:endParaRPr>
          </a:p>
        </p:txBody>
      </p:sp>
      <p:sp>
        <p:nvSpPr>
          <p:cNvPr id="75" name="Text 83">
            <a:extLst>
              <a:ext uri="{FF2B5EF4-FFF2-40B4-BE49-F238E27FC236}">
                <a16:creationId xmlns:a16="http://schemas.microsoft.com/office/drawing/2014/main" id="{C4647FA1-3FA0-2A54-C2DD-2DA555EA98DB}"/>
              </a:ext>
            </a:extLst>
          </p:cNvPr>
          <p:cNvSpPr/>
          <p:nvPr/>
        </p:nvSpPr>
        <p:spPr>
          <a:xfrm>
            <a:off x="4924970" y="3082616"/>
            <a:ext cx="1208496" cy="12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77777"/>
                </a:solidFill>
                <a:latin typeface="+mn-ea"/>
                <a:cs typeface="Microsoft YaHei" pitchFamily="34" charset="-120"/>
              </a:rPr>
              <a:t>中低价位占比</a:t>
            </a:r>
            <a:endParaRPr lang="en-US" sz="800" dirty="0">
              <a:latin typeface="+mn-ea"/>
            </a:endParaRPr>
          </a:p>
        </p:txBody>
      </p:sp>
      <p:sp>
        <p:nvSpPr>
          <p:cNvPr id="76" name="Shape 84">
            <a:extLst>
              <a:ext uri="{FF2B5EF4-FFF2-40B4-BE49-F238E27FC236}">
                <a16:creationId xmlns:a16="http://schemas.microsoft.com/office/drawing/2014/main" id="{0826EE73-748C-B8CA-FE2A-48E7BD36B9E4}"/>
              </a:ext>
            </a:extLst>
          </p:cNvPr>
          <p:cNvSpPr/>
          <p:nvPr/>
        </p:nvSpPr>
        <p:spPr>
          <a:xfrm>
            <a:off x="3676079" y="3257663"/>
            <a:ext cx="2497782" cy="335769"/>
          </a:xfrm>
          <a:prstGeom prst="rect">
            <a:avLst/>
          </a:prstGeom>
          <a:solidFill>
            <a:srgbClr val="FFF3E0"/>
          </a:solidFill>
          <a:ln w="5080">
            <a:solidFill>
              <a:srgbClr val="FFCC80"/>
            </a:solidFill>
            <a:prstDash val="solid"/>
          </a:ln>
        </p:spPr>
      </p:sp>
      <p:sp>
        <p:nvSpPr>
          <p:cNvPr id="77" name="Text 85">
            <a:extLst>
              <a:ext uri="{FF2B5EF4-FFF2-40B4-BE49-F238E27FC236}">
                <a16:creationId xmlns:a16="http://schemas.microsoft.com/office/drawing/2014/main" id="{6A9C8A21-B3D5-2C18-8747-68BA18D85946}"/>
              </a:ext>
            </a:extLst>
          </p:cNvPr>
          <p:cNvSpPr/>
          <p:nvPr/>
        </p:nvSpPr>
        <p:spPr>
          <a:xfrm>
            <a:off x="3729939" y="3271128"/>
            <a:ext cx="2390061" cy="308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+mn-ea"/>
                <a:cs typeface="Microsoft YaHei" pitchFamily="34" charset="-120"/>
              </a:rPr>
              <a:t>本地特色小馆、门店、区间、门店数量多</a:t>
            </a:r>
            <a:endParaRPr lang="en-US" sz="800" dirty="0">
              <a:latin typeface="+mn-ea"/>
            </a:endParaRPr>
          </a:p>
        </p:txBody>
      </p:sp>
      <p:sp>
        <p:nvSpPr>
          <p:cNvPr id="78" name="Shape 86">
            <a:extLst>
              <a:ext uri="{FF2B5EF4-FFF2-40B4-BE49-F238E27FC236}">
                <a16:creationId xmlns:a16="http://schemas.microsoft.com/office/drawing/2014/main" id="{A85D7979-BEB4-3260-AC3E-F368E9E0EC3F}"/>
              </a:ext>
            </a:extLst>
          </p:cNvPr>
          <p:cNvSpPr/>
          <p:nvPr/>
        </p:nvSpPr>
        <p:spPr>
          <a:xfrm>
            <a:off x="3595288" y="3687688"/>
            <a:ext cx="2632434" cy="717376"/>
          </a:xfrm>
          <a:prstGeom prst="rect">
            <a:avLst/>
          </a:prstGeom>
          <a:solidFill>
            <a:srgbClr val="FFFAF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79" name="Shape 87">
            <a:extLst>
              <a:ext uri="{FF2B5EF4-FFF2-40B4-BE49-F238E27FC236}">
                <a16:creationId xmlns:a16="http://schemas.microsoft.com/office/drawing/2014/main" id="{A059C46F-E1BC-5C0C-6D21-2A61B786EFFB}"/>
              </a:ext>
            </a:extLst>
          </p:cNvPr>
          <p:cNvSpPr/>
          <p:nvPr/>
        </p:nvSpPr>
        <p:spPr>
          <a:xfrm>
            <a:off x="3676079" y="3755014"/>
            <a:ext cx="540000" cy="134651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2E7D32"/>
                </a:solidFill>
                <a:latin typeface="+mn-ea"/>
                <a:cs typeface="Microsoft YaHei" pitchFamily="34" charset="-120"/>
              </a:rPr>
              <a:t>进行中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81" name="Shape 89">
            <a:extLst>
              <a:ext uri="{FF2B5EF4-FFF2-40B4-BE49-F238E27FC236}">
                <a16:creationId xmlns:a16="http://schemas.microsoft.com/office/drawing/2014/main" id="{9DC2E22F-A5E1-6F94-A1A2-594C4479F986}"/>
              </a:ext>
            </a:extLst>
          </p:cNvPr>
          <p:cNvSpPr/>
          <p:nvPr/>
        </p:nvSpPr>
        <p:spPr>
          <a:xfrm>
            <a:off x="3676079" y="4001060"/>
            <a:ext cx="47128" cy="471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2" name="Text 90">
            <a:extLst>
              <a:ext uri="{FF2B5EF4-FFF2-40B4-BE49-F238E27FC236}">
                <a16:creationId xmlns:a16="http://schemas.microsoft.com/office/drawing/2014/main" id="{616E4FA8-43BA-6899-2E7E-98C3B56B5DDA}"/>
              </a:ext>
            </a:extLst>
          </p:cNvPr>
          <p:cNvSpPr/>
          <p:nvPr/>
        </p:nvSpPr>
        <p:spPr>
          <a:xfrm>
            <a:off x="3763602" y="3967397"/>
            <a:ext cx="2410259" cy="14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进度：5月14日已量产10个试点城市，日均UV941</a:t>
            </a:r>
            <a:endParaRPr lang="en-US" sz="800" dirty="0">
              <a:latin typeface="+mn-ea"/>
            </a:endParaRPr>
          </a:p>
        </p:txBody>
      </p:sp>
      <p:sp>
        <p:nvSpPr>
          <p:cNvPr id="83" name="Shape 91">
            <a:extLst>
              <a:ext uri="{FF2B5EF4-FFF2-40B4-BE49-F238E27FC236}">
                <a16:creationId xmlns:a16="http://schemas.microsoft.com/office/drawing/2014/main" id="{F4BAD5FA-EB57-9795-4E8C-6546EB41A7C3}"/>
              </a:ext>
            </a:extLst>
          </p:cNvPr>
          <p:cNvSpPr/>
          <p:nvPr/>
        </p:nvSpPr>
        <p:spPr>
          <a:xfrm>
            <a:off x="3595288" y="4445460"/>
            <a:ext cx="2632434" cy="538033"/>
          </a:xfrm>
          <a:prstGeom prst="rect">
            <a:avLst/>
          </a:prstGeom>
          <a:solidFill>
            <a:srgbClr val="FFFAF0"/>
          </a:solidFill>
          <a:ln w="6350">
            <a:solidFill>
              <a:srgbClr val="FFCC80"/>
            </a:solidFill>
            <a:prstDash val="solid"/>
          </a:ln>
        </p:spPr>
      </p:sp>
      <p:sp>
        <p:nvSpPr>
          <p:cNvPr id="84" name="Shape 92">
            <a:extLst>
              <a:ext uri="{FF2B5EF4-FFF2-40B4-BE49-F238E27FC236}">
                <a16:creationId xmlns:a16="http://schemas.microsoft.com/office/drawing/2014/main" id="{1AD43448-BEA3-8B98-C314-594473E4F213}"/>
              </a:ext>
            </a:extLst>
          </p:cNvPr>
          <p:cNvSpPr/>
          <p:nvPr/>
        </p:nvSpPr>
        <p:spPr>
          <a:xfrm>
            <a:off x="3676079" y="4512785"/>
            <a:ext cx="540000" cy="134651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1565C0"/>
                </a:solidFill>
                <a:latin typeface="+mn-ea"/>
                <a:cs typeface="Microsoft YaHei" pitchFamily="34" charset="-120"/>
              </a:rPr>
              <a:t>规划中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86" name="Shape 94">
            <a:extLst>
              <a:ext uri="{FF2B5EF4-FFF2-40B4-BE49-F238E27FC236}">
                <a16:creationId xmlns:a16="http://schemas.microsoft.com/office/drawing/2014/main" id="{176AA3DB-3229-C702-9EBD-7C00B61EDBC8}"/>
              </a:ext>
            </a:extLst>
          </p:cNvPr>
          <p:cNvSpPr/>
          <p:nvPr/>
        </p:nvSpPr>
        <p:spPr>
          <a:xfrm>
            <a:off x="3676079" y="4758832"/>
            <a:ext cx="47128" cy="471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7" name="Text 95">
            <a:extLst>
              <a:ext uri="{FF2B5EF4-FFF2-40B4-BE49-F238E27FC236}">
                <a16:creationId xmlns:a16="http://schemas.microsoft.com/office/drawing/2014/main" id="{63DABAD9-B50A-8D0D-20A6-F5A40F1869D7}"/>
              </a:ext>
            </a:extLst>
          </p:cNvPr>
          <p:cNvSpPr/>
          <p:nvPr/>
        </p:nvSpPr>
        <p:spPr>
          <a:xfrm>
            <a:off x="3763602" y="4725169"/>
            <a:ext cx="2410259" cy="14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成榜策略逐渐迁移，覆盖全国</a:t>
            </a:r>
            <a:endParaRPr lang="en-US" sz="800" dirty="0">
              <a:latin typeface="+mn-ea"/>
            </a:endParaRPr>
          </a:p>
        </p:txBody>
      </p:sp>
      <p:sp>
        <p:nvSpPr>
          <p:cNvPr id="88" name="Shape 96">
            <a:extLst>
              <a:ext uri="{FF2B5EF4-FFF2-40B4-BE49-F238E27FC236}">
                <a16:creationId xmlns:a16="http://schemas.microsoft.com/office/drawing/2014/main" id="{32EE0A97-A7E2-18D1-B311-1BB6D07E43D9}"/>
              </a:ext>
            </a:extLst>
          </p:cNvPr>
          <p:cNvSpPr/>
          <p:nvPr/>
        </p:nvSpPr>
        <p:spPr>
          <a:xfrm>
            <a:off x="6281582" y="566928"/>
            <a:ext cx="2632434" cy="986393"/>
          </a:xfrm>
          <a:prstGeom prst="rect">
            <a:avLst/>
          </a:prstGeom>
          <a:solidFill>
            <a:srgbClr val="FFFFFF"/>
          </a:solidFill>
          <a:ln w="6350">
            <a:solidFill>
              <a:srgbClr val="80CBC4"/>
            </a:solidFill>
            <a:prstDash val="solid"/>
          </a:ln>
        </p:spPr>
      </p:sp>
      <p:sp>
        <p:nvSpPr>
          <p:cNvPr id="89" name="Shape 97">
            <a:extLst>
              <a:ext uri="{FF2B5EF4-FFF2-40B4-BE49-F238E27FC236}">
                <a16:creationId xmlns:a16="http://schemas.microsoft.com/office/drawing/2014/main" id="{D749C59E-3154-6347-B87D-8681FAF2E144}"/>
              </a:ext>
            </a:extLst>
          </p:cNvPr>
          <p:cNvSpPr/>
          <p:nvPr/>
        </p:nvSpPr>
        <p:spPr>
          <a:xfrm>
            <a:off x="6281582" y="372140"/>
            <a:ext cx="2632434" cy="228451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亲子榜</a:t>
            </a:r>
          </a:p>
        </p:txBody>
      </p:sp>
      <p:sp>
        <p:nvSpPr>
          <p:cNvPr id="90" name="Text 98">
            <a:extLst>
              <a:ext uri="{FF2B5EF4-FFF2-40B4-BE49-F238E27FC236}">
                <a16:creationId xmlns:a16="http://schemas.microsoft.com/office/drawing/2014/main" id="{69F5C41B-E3A6-83D0-9CEF-41474A3DE852}"/>
              </a:ext>
            </a:extLst>
          </p:cNvPr>
          <p:cNvSpPr/>
          <p:nvPr/>
        </p:nvSpPr>
        <p:spPr>
          <a:xfrm>
            <a:off x="6362373" y="634254"/>
            <a:ext cx="2497782" cy="188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95C"/>
                </a:solidFill>
                <a:latin typeface="+mn-ea"/>
                <a:cs typeface="Microsoft YaHei" pitchFamily="34" charset="-120"/>
              </a:rPr>
              <a:t>精选全城最适合亲子聚餐厅</a:t>
            </a:r>
            <a:endParaRPr lang="en-US" sz="1000" dirty="0">
              <a:latin typeface="+mn-ea"/>
            </a:endParaRPr>
          </a:p>
        </p:txBody>
      </p:sp>
      <p:sp>
        <p:nvSpPr>
          <p:cNvPr id="91" name="Shape 99">
            <a:extLst>
              <a:ext uri="{FF2B5EF4-FFF2-40B4-BE49-F238E27FC236}">
                <a16:creationId xmlns:a16="http://schemas.microsoft.com/office/drawing/2014/main" id="{B97E0D2A-B5C5-B949-D7E9-C6677559E084}"/>
              </a:ext>
            </a:extLst>
          </p:cNvPr>
          <p:cNvSpPr/>
          <p:nvPr/>
        </p:nvSpPr>
        <p:spPr>
          <a:xfrm>
            <a:off x="6362373" y="876626"/>
            <a:ext cx="47128" cy="471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2" name="Text 100">
            <a:extLst>
              <a:ext uri="{FF2B5EF4-FFF2-40B4-BE49-F238E27FC236}">
                <a16:creationId xmlns:a16="http://schemas.microsoft.com/office/drawing/2014/main" id="{4A8C0956-7E58-D6E4-027B-17E62280D1D2}"/>
              </a:ext>
            </a:extLst>
          </p:cNvPr>
          <p:cNvSpPr/>
          <p:nvPr/>
        </p:nvSpPr>
        <p:spPr>
          <a:xfrm>
            <a:off x="6449896" y="836231"/>
            <a:ext cx="2410259" cy="311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综合亲子特色、服务友好、主题场景等多维度考量</a:t>
            </a:r>
            <a:endParaRPr lang="en-US" sz="900" dirty="0">
              <a:latin typeface="+mn-ea"/>
            </a:endParaRPr>
          </a:p>
        </p:txBody>
      </p:sp>
      <p:sp>
        <p:nvSpPr>
          <p:cNvPr id="93" name="Shape 101">
            <a:extLst>
              <a:ext uri="{FF2B5EF4-FFF2-40B4-BE49-F238E27FC236}">
                <a16:creationId xmlns:a16="http://schemas.microsoft.com/office/drawing/2014/main" id="{7A69A7D0-7AD5-1FC2-01F5-97CA27DCF88A}"/>
              </a:ext>
            </a:extLst>
          </p:cNvPr>
          <p:cNvSpPr/>
          <p:nvPr/>
        </p:nvSpPr>
        <p:spPr>
          <a:xfrm>
            <a:off x="6362373" y="1214974"/>
            <a:ext cx="47128" cy="471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4" name="Text 102">
            <a:extLst>
              <a:ext uri="{FF2B5EF4-FFF2-40B4-BE49-F238E27FC236}">
                <a16:creationId xmlns:a16="http://schemas.microsoft.com/office/drawing/2014/main" id="{47CA17D9-BEE6-D51E-2A49-60ACD8CEE337}"/>
              </a:ext>
            </a:extLst>
          </p:cNvPr>
          <p:cNvSpPr/>
          <p:nvPr/>
        </p:nvSpPr>
        <p:spPr>
          <a:xfrm>
            <a:off x="6449896" y="1174578"/>
            <a:ext cx="2410259" cy="311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为一线城市25-40岁的家长为主，注重亲子互动，注重饮食安全、营养搭配，吃地一体</a:t>
            </a:r>
            <a:endParaRPr lang="en-US" sz="900" dirty="0">
              <a:latin typeface="+mn-ea"/>
            </a:endParaRPr>
          </a:p>
        </p:txBody>
      </p:sp>
      <p:sp>
        <p:nvSpPr>
          <p:cNvPr id="95" name="Shape 103">
            <a:extLst>
              <a:ext uri="{FF2B5EF4-FFF2-40B4-BE49-F238E27FC236}">
                <a16:creationId xmlns:a16="http://schemas.microsoft.com/office/drawing/2014/main" id="{C515D008-97B3-C7EA-5A25-C3F7084B5F6A}"/>
              </a:ext>
            </a:extLst>
          </p:cNvPr>
          <p:cNvSpPr/>
          <p:nvPr/>
        </p:nvSpPr>
        <p:spPr>
          <a:xfrm>
            <a:off x="6281582" y="1593716"/>
            <a:ext cx="2632434" cy="627704"/>
          </a:xfrm>
          <a:prstGeom prst="rect">
            <a:avLst/>
          </a:prstGeom>
          <a:solidFill>
            <a:srgbClr val="FFFFFF"/>
          </a:solidFill>
          <a:ln w="6350">
            <a:solidFill>
              <a:srgbClr val="80CBC4"/>
            </a:solidFill>
            <a:prstDash val="solid"/>
          </a:ln>
        </p:spPr>
      </p:sp>
      <p:sp>
        <p:nvSpPr>
          <p:cNvPr id="96" name="Text 104">
            <a:extLst>
              <a:ext uri="{FF2B5EF4-FFF2-40B4-BE49-F238E27FC236}">
                <a16:creationId xmlns:a16="http://schemas.microsoft.com/office/drawing/2014/main" id="{B8589629-DE49-952F-4002-2DA0389C0798}"/>
              </a:ext>
            </a:extLst>
          </p:cNvPr>
          <p:cNvSpPr/>
          <p:nvPr/>
        </p:nvSpPr>
        <p:spPr>
          <a:xfrm>
            <a:off x="6362373" y="1661042"/>
            <a:ext cx="2497782" cy="519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一线城市25-40岁家长，注重亲子互动、饮食安全与营养搭配</a:t>
            </a:r>
            <a:endParaRPr lang="en-US" sz="900" dirty="0">
              <a:latin typeface="+mn-ea"/>
            </a:endParaRPr>
          </a:p>
        </p:txBody>
      </p:sp>
      <p:sp>
        <p:nvSpPr>
          <p:cNvPr id="97" name="Shape 105">
            <a:extLst>
              <a:ext uri="{FF2B5EF4-FFF2-40B4-BE49-F238E27FC236}">
                <a16:creationId xmlns:a16="http://schemas.microsoft.com/office/drawing/2014/main" id="{CFC1A9AD-349D-5001-78E7-556DA61977BD}"/>
              </a:ext>
            </a:extLst>
          </p:cNvPr>
          <p:cNvSpPr/>
          <p:nvPr/>
        </p:nvSpPr>
        <p:spPr>
          <a:xfrm>
            <a:off x="6281582" y="2261816"/>
            <a:ext cx="2632434" cy="538033"/>
          </a:xfrm>
          <a:prstGeom prst="rect">
            <a:avLst/>
          </a:prstGeom>
          <a:solidFill>
            <a:srgbClr val="FFFFFF"/>
          </a:solidFill>
          <a:ln w="6350">
            <a:solidFill>
              <a:srgbClr val="80CBC4"/>
            </a:solidFill>
            <a:prstDash val="solid"/>
          </a:ln>
        </p:spPr>
      </p:sp>
      <p:sp>
        <p:nvSpPr>
          <p:cNvPr id="98" name="Shape 106">
            <a:extLst>
              <a:ext uri="{FF2B5EF4-FFF2-40B4-BE49-F238E27FC236}">
                <a16:creationId xmlns:a16="http://schemas.microsoft.com/office/drawing/2014/main" id="{F422ED9F-64CE-78D9-EA01-88B96F162826}"/>
              </a:ext>
            </a:extLst>
          </p:cNvPr>
          <p:cNvSpPr/>
          <p:nvPr/>
        </p:nvSpPr>
        <p:spPr>
          <a:xfrm>
            <a:off x="6362372" y="2342607"/>
            <a:ext cx="504000" cy="148116"/>
          </a:xfrm>
          <a:prstGeom prst="rect">
            <a:avLst/>
          </a:prstGeom>
          <a:solidFill>
            <a:srgbClr val="E0F2F1"/>
          </a:solidFill>
          <a:ln w="7620">
            <a:solidFill>
              <a:srgbClr val="80CB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00695C"/>
                </a:solidFill>
                <a:latin typeface="+mn-ea"/>
                <a:cs typeface="Microsoft YaHei" pitchFamily="34" charset="-120"/>
              </a:rPr>
              <a:t>儿童节</a:t>
            </a:r>
            <a:endParaRPr lang="en-US" altLang="zh-CN" sz="800" dirty="0">
              <a:latin typeface="+mn-ea"/>
            </a:endParaRPr>
          </a:p>
        </p:txBody>
      </p:sp>
      <p:sp>
        <p:nvSpPr>
          <p:cNvPr id="100" name="Shape 108">
            <a:extLst>
              <a:ext uri="{FF2B5EF4-FFF2-40B4-BE49-F238E27FC236}">
                <a16:creationId xmlns:a16="http://schemas.microsoft.com/office/drawing/2014/main" id="{22D7C41D-B681-15FB-F563-6EF945D7913D}"/>
              </a:ext>
            </a:extLst>
          </p:cNvPr>
          <p:cNvSpPr/>
          <p:nvPr/>
        </p:nvSpPr>
        <p:spPr>
          <a:xfrm>
            <a:off x="6931138" y="2342607"/>
            <a:ext cx="432000" cy="148116"/>
          </a:xfrm>
          <a:prstGeom prst="rect">
            <a:avLst/>
          </a:prstGeom>
          <a:solidFill>
            <a:srgbClr val="E0F2F1"/>
          </a:solidFill>
          <a:ln w="7620">
            <a:solidFill>
              <a:srgbClr val="80CB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00695C"/>
                </a:solidFill>
                <a:latin typeface="+mn-ea"/>
                <a:cs typeface="Microsoft YaHei" pitchFamily="34" charset="-120"/>
              </a:rPr>
              <a:t>暑假</a:t>
            </a:r>
            <a:endParaRPr lang="en-US" altLang="zh-CN" sz="800" dirty="0">
              <a:latin typeface="+mn-ea"/>
            </a:endParaRPr>
          </a:p>
        </p:txBody>
      </p:sp>
      <p:sp>
        <p:nvSpPr>
          <p:cNvPr id="102" name="Shape 110">
            <a:extLst>
              <a:ext uri="{FF2B5EF4-FFF2-40B4-BE49-F238E27FC236}">
                <a16:creationId xmlns:a16="http://schemas.microsoft.com/office/drawing/2014/main" id="{70203FDB-81D0-527E-44AD-75ABE9D68AC0}"/>
              </a:ext>
            </a:extLst>
          </p:cNvPr>
          <p:cNvSpPr/>
          <p:nvPr/>
        </p:nvSpPr>
        <p:spPr>
          <a:xfrm>
            <a:off x="7425698" y="2342607"/>
            <a:ext cx="432000" cy="148116"/>
          </a:xfrm>
          <a:prstGeom prst="rect">
            <a:avLst/>
          </a:prstGeom>
          <a:solidFill>
            <a:srgbClr val="E0F2F1"/>
          </a:solidFill>
          <a:ln w="7620">
            <a:solidFill>
              <a:srgbClr val="80CBC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00695C"/>
                </a:solidFill>
                <a:latin typeface="+mn-ea"/>
                <a:cs typeface="Microsoft YaHei" pitchFamily="34" charset="-120"/>
              </a:rPr>
              <a:t>生日</a:t>
            </a:r>
            <a:endParaRPr lang="en-US" altLang="zh-CN" sz="800" dirty="0">
              <a:latin typeface="+mn-ea"/>
            </a:endParaRPr>
          </a:p>
        </p:txBody>
      </p:sp>
      <p:sp>
        <p:nvSpPr>
          <p:cNvPr id="108" name="Shape 112">
            <a:extLst>
              <a:ext uri="{FF2B5EF4-FFF2-40B4-BE49-F238E27FC236}">
                <a16:creationId xmlns:a16="http://schemas.microsoft.com/office/drawing/2014/main" id="{E93D14E9-BB92-0126-014B-6430508A0225}"/>
              </a:ext>
            </a:extLst>
          </p:cNvPr>
          <p:cNvSpPr/>
          <p:nvPr/>
        </p:nvSpPr>
        <p:spPr>
          <a:xfrm>
            <a:off x="6281582" y="2840244"/>
            <a:ext cx="2632434" cy="807049"/>
          </a:xfrm>
          <a:prstGeom prst="rect">
            <a:avLst/>
          </a:prstGeom>
          <a:solidFill>
            <a:srgbClr val="FFFFFF"/>
          </a:solidFill>
          <a:ln w="6350">
            <a:solidFill>
              <a:srgbClr val="80CBC4"/>
            </a:solidFill>
            <a:prstDash val="solid"/>
          </a:ln>
        </p:spPr>
      </p:sp>
      <p:sp>
        <p:nvSpPr>
          <p:cNvPr id="110" name="Shape 113">
            <a:extLst>
              <a:ext uri="{FF2B5EF4-FFF2-40B4-BE49-F238E27FC236}">
                <a16:creationId xmlns:a16="http://schemas.microsoft.com/office/drawing/2014/main" id="{DC12694A-8B32-489A-0C96-DD091354EB40}"/>
              </a:ext>
            </a:extLst>
          </p:cNvPr>
          <p:cNvSpPr/>
          <p:nvPr/>
        </p:nvSpPr>
        <p:spPr>
          <a:xfrm>
            <a:off x="6362373" y="2921035"/>
            <a:ext cx="2497782" cy="672397"/>
          </a:xfrm>
          <a:prstGeom prst="rect">
            <a:avLst/>
          </a:prstGeom>
          <a:solidFill>
            <a:srgbClr val="E0F2F1"/>
          </a:solidFill>
          <a:ln w="5080">
            <a:solidFill>
              <a:srgbClr val="80CBC4"/>
            </a:solidFill>
            <a:prstDash val="solid"/>
          </a:ln>
        </p:spPr>
      </p:sp>
      <p:sp>
        <p:nvSpPr>
          <p:cNvPr id="111" name="Text 114">
            <a:extLst>
              <a:ext uri="{FF2B5EF4-FFF2-40B4-BE49-F238E27FC236}">
                <a16:creationId xmlns:a16="http://schemas.microsoft.com/office/drawing/2014/main" id="{EE343269-C970-508A-195B-AE98D82657CC}"/>
              </a:ext>
            </a:extLst>
          </p:cNvPr>
          <p:cNvSpPr/>
          <p:nvPr/>
        </p:nvSpPr>
        <p:spPr>
          <a:xfrm>
            <a:off x="6416234" y="2934500"/>
            <a:ext cx="2390061" cy="645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+mn-ea"/>
                <a:cs typeface="Microsoft YaHei" pitchFamily="34" charset="-120"/>
              </a:rPr>
              <a:t>一定品类的菜品中度，配套设施完善（儿童椅、游乐区等），亲子主题餐厅</a:t>
            </a:r>
            <a:endParaRPr lang="en-US" sz="800" dirty="0">
              <a:latin typeface="+mn-ea"/>
            </a:endParaRPr>
          </a:p>
        </p:txBody>
      </p:sp>
      <p:sp>
        <p:nvSpPr>
          <p:cNvPr id="112" name="Shape 115">
            <a:extLst>
              <a:ext uri="{FF2B5EF4-FFF2-40B4-BE49-F238E27FC236}">
                <a16:creationId xmlns:a16="http://schemas.microsoft.com/office/drawing/2014/main" id="{FE907A78-F809-6399-8B2C-B9E0313AA89E}"/>
              </a:ext>
            </a:extLst>
          </p:cNvPr>
          <p:cNvSpPr/>
          <p:nvPr/>
        </p:nvSpPr>
        <p:spPr>
          <a:xfrm>
            <a:off x="6281582" y="3687688"/>
            <a:ext cx="2632434" cy="717376"/>
          </a:xfrm>
          <a:prstGeom prst="rect">
            <a:avLst/>
          </a:prstGeom>
          <a:solidFill>
            <a:srgbClr val="F0FAFA"/>
          </a:solidFill>
          <a:ln w="6350">
            <a:solidFill>
              <a:srgbClr val="80CBC4"/>
            </a:solidFill>
            <a:prstDash val="solid"/>
          </a:ln>
        </p:spPr>
      </p:sp>
      <p:sp>
        <p:nvSpPr>
          <p:cNvPr id="113" name="Shape 116">
            <a:extLst>
              <a:ext uri="{FF2B5EF4-FFF2-40B4-BE49-F238E27FC236}">
                <a16:creationId xmlns:a16="http://schemas.microsoft.com/office/drawing/2014/main" id="{CDAD0FBA-E876-7D6B-C7B5-D8A29F72B1ED}"/>
              </a:ext>
            </a:extLst>
          </p:cNvPr>
          <p:cNvSpPr/>
          <p:nvPr/>
        </p:nvSpPr>
        <p:spPr>
          <a:xfrm>
            <a:off x="6362373" y="3755014"/>
            <a:ext cx="540000" cy="134651"/>
          </a:xfrm>
          <a:prstGeom prst="rect">
            <a:avLst/>
          </a:prstGeom>
          <a:solidFill>
            <a:srgbClr val="E8F5E9"/>
          </a:solidFill>
          <a:ln w="7620">
            <a:solidFill>
              <a:srgbClr val="2E7D32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2E7D32"/>
                </a:solidFill>
                <a:latin typeface="+mn-ea"/>
                <a:cs typeface="Microsoft YaHei" pitchFamily="34" charset="-120"/>
              </a:rPr>
              <a:t>进行中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117" name="Shape 118">
            <a:extLst>
              <a:ext uri="{FF2B5EF4-FFF2-40B4-BE49-F238E27FC236}">
                <a16:creationId xmlns:a16="http://schemas.microsoft.com/office/drawing/2014/main" id="{AB60E896-1AC6-7A39-DC67-610A8D610E1A}"/>
              </a:ext>
            </a:extLst>
          </p:cNvPr>
          <p:cNvSpPr/>
          <p:nvPr/>
        </p:nvSpPr>
        <p:spPr>
          <a:xfrm>
            <a:off x="6362373" y="4011220"/>
            <a:ext cx="47128" cy="471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8" name="Text 119">
            <a:extLst>
              <a:ext uri="{FF2B5EF4-FFF2-40B4-BE49-F238E27FC236}">
                <a16:creationId xmlns:a16="http://schemas.microsoft.com/office/drawing/2014/main" id="{1E4FDED3-8F35-B7D8-1129-3AEC0B1D87A7}"/>
              </a:ext>
            </a:extLst>
          </p:cNvPr>
          <p:cNvSpPr/>
          <p:nvPr/>
        </p:nvSpPr>
        <p:spPr>
          <a:xfrm>
            <a:off x="6449896" y="3977557"/>
            <a:ext cx="2410259" cy="14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已完成用需调研和供给分析</a:t>
            </a:r>
            <a:endParaRPr lang="en-US" sz="800" dirty="0">
              <a:latin typeface="+mn-ea"/>
            </a:endParaRPr>
          </a:p>
        </p:txBody>
      </p:sp>
      <p:sp>
        <p:nvSpPr>
          <p:cNvPr id="119" name="Shape 120">
            <a:extLst>
              <a:ext uri="{FF2B5EF4-FFF2-40B4-BE49-F238E27FC236}">
                <a16:creationId xmlns:a16="http://schemas.microsoft.com/office/drawing/2014/main" id="{6E62D27D-2B29-B8B5-E399-B0A307669ED0}"/>
              </a:ext>
            </a:extLst>
          </p:cNvPr>
          <p:cNvSpPr/>
          <p:nvPr/>
        </p:nvSpPr>
        <p:spPr>
          <a:xfrm>
            <a:off x="6362373" y="4172802"/>
            <a:ext cx="47128" cy="471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0" name="Text 121">
            <a:extLst>
              <a:ext uri="{FF2B5EF4-FFF2-40B4-BE49-F238E27FC236}">
                <a16:creationId xmlns:a16="http://schemas.microsoft.com/office/drawing/2014/main" id="{DC2B2488-1AB1-CB96-46E0-BF9931D34164}"/>
              </a:ext>
            </a:extLst>
          </p:cNvPr>
          <p:cNvSpPr/>
          <p:nvPr/>
        </p:nvSpPr>
        <p:spPr>
          <a:xfrm>
            <a:off x="6449896" y="4139139"/>
            <a:ext cx="2410259" cy="14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多个城市用需调研和供给分析</a:t>
            </a:r>
            <a:endParaRPr lang="en-US" sz="800" dirty="0">
              <a:latin typeface="+mn-ea"/>
            </a:endParaRPr>
          </a:p>
        </p:txBody>
      </p:sp>
      <p:sp>
        <p:nvSpPr>
          <p:cNvPr id="121" name="Shape 122">
            <a:extLst>
              <a:ext uri="{FF2B5EF4-FFF2-40B4-BE49-F238E27FC236}">
                <a16:creationId xmlns:a16="http://schemas.microsoft.com/office/drawing/2014/main" id="{64E21D4B-EC96-965D-2007-8EE7C103F547}"/>
              </a:ext>
            </a:extLst>
          </p:cNvPr>
          <p:cNvSpPr/>
          <p:nvPr/>
        </p:nvSpPr>
        <p:spPr>
          <a:xfrm>
            <a:off x="6281582" y="4445460"/>
            <a:ext cx="2632434" cy="538033"/>
          </a:xfrm>
          <a:prstGeom prst="rect">
            <a:avLst/>
          </a:prstGeom>
          <a:solidFill>
            <a:srgbClr val="F0FAFA"/>
          </a:solidFill>
          <a:ln w="6350">
            <a:solidFill>
              <a:srgbClr val="80CBC4"/>
            </a:solidFill>
            <a:prstDash val="solid"/>
          </a:ln>
        </p:spPr>
      </p:sp>
      <p:sp>
        <p:nvSpPr>
          <p:cNvPr id="122" name="Shape 123">
            <a:extLst>
              <a:ext uri="{FF2B5EF4-FFF2-40B4-BE49-F238E27FC236}">
                <a16:creationId xmlns:a16="http://schemas.microsoft.com/office/drawing/2014/main" id="{6FB37E79-7212-4C34-A690-BCDAD30434F4}"/>
              </a:ext>
            </a:extLst>
          </p:cNvPr>
          <p:cNvSpPr/>
          <p:nvPr/>
        </p:nvSpPr>
        <p:spPr>
          <a:xfrm>
            <a:off x="6362373" y="4512785"/>
            <a:ext cx="540000" cy="134651"/>
          </a:xfrm>
          <a:prstGeom prst="rect">
            <a:avLst/>
          </a:prstGeom>
          <a:solidFill>
            <a:srgbClr val="E3F2FD"/>
          </a:solidFill>
          <a:ln w="762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CN" sz="800" b="1" dirty="0" err="1">
                <a:solidFill>
                  <a:srgbClr val="1565C0"/>
                </a:solidFill>
                <a:latin typeface="+mn-ea"/>
                <a:cs typeface="Microsoft YaHei" pitchFamily="34" charset="-120"/>
              </a:rPr>
              <a:t>规划中</a:t>
            </a:r>
            <a:endParaRPr lang="en-US" altLang="zh-CN" sz="800" dirty="0">
              <a:latin typeface="+mn-ea"/>
            </a:endParaRPr>
          </a:p>
        </p:txBody>
      </p:sp>
      <p:sp>
        <p:nvSpPr>
          <p:cNvPr id="124" name="Shape 125">
            <a:extLst>
              <a:ext uri="{FF2B5EF4-FFF2-40B4-BE49-F238E27FC236}">
                <a16:creationId xmlns:a16="http://schemas.microsoft.com/office/drawing/2014/main" id="{86A22D60-9005-9C24-B026-895478284636}"/>
              </a:ext>
            </a:extLst>
          </p:cNvPr>
          <p:cNvSpPr/>
          <p:nvPr/>
        </p:nvSpPr>
        <p:spPr>
          <a:xfrm>
            <a:off x="6362373" y="4708030"/>
            <a:ext cx="47128" cy="471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5" name="Text 126">
            <a:extLst>
              <a:ext uri="{FF2B5EF4-FFF2-40B4-BE49-F238E27FC236}">
                <a16:creationId xmlns:a16="http://schemas.microsoft.com/office/drawing/2014/main" id="{EFF46793-963E-1571-9AF0-ED82F0841BBD}"/>
              </a:ext>
            </a:extLst>
          </p:cNvPr>
          <p:cNvSpPr/>
          <p:nvPr/>
        </p:nvSpPr>
        <p:spPr>
          <a:xfrm>
            <a:off x="6449896" y="4674367"/>
            <a:ext cx="2410259" cy="14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计划：预计6月下旬上线</a:t>
            </a:r>
            <a:endParaRPr lang="en-US" sz="800" dirty="0">
              <a:latin typeface="+mn-ea"/>
            </a:endParaRPr>
          </a:p>
        </p:txBody>
      </p:sp>
      <p:sp>
        <p:nvSpPr>
          <p:cNvPr id="133" name="Shape 127">
            <a:extLst>
              <a:ext uri="{FF2B5EF4-FFF2-40B4-BE49-F238E27FC236}">
                <a16:creationId xmlns:a16="http://schemas.microsoft.com/office/drawing/2014/main" id="{A9FDE132-CC21-4AEB-1219-4616E34B45A4}"/>
              </a:ext>
            </a:extLst>
          </p:cNvPr>
          <p:cNvSpPr/>
          <p:nvPr/>
        </p:nvSpPr>
        <p:spPr>
          <a:xfrm>
            <a:off x="6362373" y="4869611"/>
            <a:ext cx="47128" cy="4712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7" name="Text 128">
            <a:extLst>
              <a:ext uri="{FF2B5EF4-FFF2-40B4-BE49-F238E27FC236}">
                <a16:creationId xmlns:a16="http://schemas.microsoft.com/office/drawing/2014/main" id="{6FFF7828-2E24-C601-1A8C-659D86F16190}"/>
              </a:ext>
            </a:extLst>
          </p:cNvPr>
          <p:cNvSpPr/>
          <p:nvPr/>
        </p:nvSpPr>
        <p:spPr>
          <a:xfrm>
            <a:off x="6449896" y="4835949"/>
            <a:ext cx="2410259" cy="14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22222"/>
                </a:solidFill>
                <a:latin typeface="+mn-ea"/>
                <a:cs typeface="Microsoft YaHei" pitchFamily="34" charset="-120"/>
              </a:rPr>
              <a:t>多个城市用需调研和供给分析</a:t>
            </a:r>
            <a:endParaRPr 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34625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20246AA1-3FFF-D83E-C68E-B2B3AB0D2145}"/>
              </a:ext>
            </a:extLst>
          </p:cNvPr>
          <p:cNvSpPr/>
          <p:nvPr/>
        </p:nvSpPr>
        <p:spPr>
          <a:xfrm>
            <a:off x="133027" y="36166"/>
            <a:ext cx="42845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zh-CN" altLang="en-US" sz="2100" dirty="0">
                <a:latin typeface="+mj-ea"/>
                <a:ea typeface="+mj-ea"/>
              </a:rPr>
              <a:t>指数榜</a:t>
            </a:r>
            <a:r>
              <a:rPr lang="en-US" altLang="zh-CN" sz="2100" dirty="0">
                <a:latin typeface="+mj-ea"/>
                <a:ea typeface="+mj-ea"/>
              </a:rPr>
              <a:t>-</a:t>
            </a:r>
            <a:r>
              <a:rPr lang="zh-CN" altLang="en-US" sz="2100" dirty="0">
                <a:latin typeface="+mj-ea"/>
                <a:ea typeface="+mj-ea"/>
              </a:rPr>
              <a:t>品类扩充 </a:t>
            </a:r>
            <a:r>
              <a:rPr lang="en-US" altLang="zh-CN" sz="2100" dirty="0">
                <a:latin typeface="+mj-ea"/>
                <a:ea typeface="+mj-ea"/>
              </a:rPr>
              <a:t>@</a:t>
            </a:r>
            <a:r>
              <a:rPr lang="zh-CN" altLang="en-US" sz="2100" dirty="0">
                <a:latin typeface="+mj-ea"/>
                <a:ea typeface="+mj-ea"/>
              </a:rPr>
              <a:t>思佳</a:t>
            </a:r>
            <a:endParaRPr lang="en-US" sz="2100" dirty="0"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C8EBAC-7ED3-CA6E-DEC9-78ACB035B5AD}"/>
              </a:ext>
            </a:extLst>
          </p:cNvPr>
          <p:cNvSpPr txBox="1"/>
          <p:nvPr/>
        </p:nvSpPr>
        <p:spPr>
          <a:xfrm>
            <a:off x="50800" y="312066"/>
            <a:ext cx="8942040" cy="48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ts val="1600"/>
              </a:lnSpc>
            </a:pPr>
            <a:r>
              <a:rPr lang="zh-CN" altLang="en-US" sz="1100" dirty="0">
                <a:effectLst/>
              </a:rPr>
              <a:t>目的使美团榜单更好的满足用户找店决策需求，对榜单类目进行精细化扩充，</a:t>
            </a:r>
            <a:r>
              <a:rPr lang="zh-CN" altLang="en-US" sz="1100" b="0" i="0" dirty="0">
                <a:solidFill>
                  <a:srgbClr val="111925"/>
                </a:solidFill>
                <a:effectLst/>
                <a:latin typeface="PingFang SC"/>
              </a:rPr>
              <a:t>为商户开辟差异化赛道、提升公信力的同时，增加曝光转化渠道，</a:t>
            </a:r>
            <a:r>
              <a:rPr lang="zh-CN" altLang="en-US" sz="1100" dirty="0">
                <a:effectLst/>
              </a:rPr>
              <a:t>牵引更多优质商户丰富线上供给。</a:t>
            </a: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64B9126B-691F-7D7E-E7B7-E2C1BA275662}"/>
              </a:ext>
            </a:extLst>
          </p:cNvPr>
          <p:cNvSpPr/>
          <p:nvPr/>
        </p:nvSpPr>
        <p:spPr>
          <a:xfrm>
            <a:off x="113677" y="2440250"/>
            <a:ext cx="2880000" cy="47889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61913" tIns="0" rIns="0" bIns="0" rtlCol="0" anchor="t"/>
          <a:lstStyle/>
          <a:p>
            <a:pPr>
              <a:lnSpc>
                <a:spcPts val="1700"/>
              </a:lnSpc>
              <a:buSzPct val="100000"/>
            </a:pPr>
            <a:r>
              <a:rPr lang="zh-CN" altLang="en-US" sz="800" dirty="0">
                <a:latin typeface="+mn-ea"/>
              </a:rPr>
              <a:t> 品类扩充</a:t>
            </a:r>
            <a:r>
              <a:rPr lang="en-US" altLang="zh-CN" sz="800" dirty="0">
                <a:latin typeface="+mn-ea"/>
              </a:rPr>
              <a:t>35</a:t>
            </a:r>
            <a:r>
              <a:rPr lang="zh-CN" altLang="en-US" sz="800" dirty="0">
                <a:latin typeface="+mn-ea"/>
              </a:rPr>
              <a:t>个（</a:t>
            </a:r>
            <a:r>
              <a:rPr lang="en-US" altLang="zh-CN" sz="800" dirty="0">
                <a:latin typeface="+mn-ea"/>
              </a:rPr>
              <a:t>39</a:t>
            </a:r>
            <a:r>
              <a:rPr lang="zh-CN" altLang="en-US" sz="800" dirty="0">
                <a:latin typeface="+mn-ea"/>
              </a:rPr>
              <a:t>→</a:t>
            </a:r>
            <a:r>
              <a:rPr lang="en-US" altLang="zh-CN" sz="800" dirty="0">
                <a:latin typeface="+mn-ea"/>
              </a:rPr>
              <a:t>74</a:t>
            </a:r>
            <a:r>
              <a:rPr lang="zh-CN" altLang="en-US" sz="800" dirty="0">
                <a:latin typeface="+mn-ea"/>
              </a:rPr>
              <a:t>），其中正餐新增</a:t>
            </a:r>
            <a:r>
              <a:rPr lang="en-US" altLang="zh-CN" sz="800" dirty="0">
                <a:latin typeface="+mn-ea"/>
              </a:rPr>
              <a:t>22</a:t>
            </a:r>
            <a:r>
              <a:rPr lang="zh-CN" altLang="en-US" sz="800" dirty="0">
                <a:latin typeface="+mn-ea"/>
              </a:rPr>
              <a:t>个，轻快餐新增</a:t>
            </a:r>
            <a:r>
              <a:rPr lang="en-US" altLang="zh-CN" sz="800" dirty="0">
                <a:latin typeface="+mn-ea"/>
              </a:rPr>
              <a:t>13</a:t>
            </a:r>
            <a:r>
              <a:rPr lang="zh-CN" altLang="en-US" sz="800" dirty="0">
                <a:latin typeface="+mn-ea"/>
              </a:rPr>
              <a:t>个。后向意向率提升</a:t>
            </a:r>
            <a:r>
              <a:rPr lang="en-US" altLang="zh-CN" sz="800" dirty="0">
                <a:latin typeface="+mn-ea"/>
              </a:rPr>
              <a:t>+4.8pp</a:t>
            </a:r>
            <a:r>
              <a:rPr lang="zh-CN" altLang="en-US" sz="800" dirty="0">
                <a:latin typeface="+mn-ea"/>
              </a:rPr>
              <a:t>（</a:t>
            </a:r>
            <a:r>
              <a:rPr lang="en-US" altLang="zh-CN" sz="800" dirty="0">
                <a:latin typeface="+mn-ea"/>
              </a:rPr>
              <a:t>36%</a:t>
            </a:r>
            <a:r>
              <a:rPr lang="zh-CN" altLang="en-US" sz="800" dirty="0">
                <a:latin typeface="+mn-ea"/>
              </a:rPr>
              <a:t> → </a:t>
            </a:r>
            <a:r>
              <a:rPr lang="en-US" altLang="zh-CN" sz="800" dirty="0">
                <a:latin typeface="+mn-ea"/>
              </a:rPr>
              <a:t>40.8%</a:t>
            </a:r>
            <a:r>
              <a:rPr lang="zh-CN" altLang="en-US" sz="800" dirty="0">
                <a:latin typeface="+mn-ea"/>
              </a:rPr>
              <a:t>）</a:t>
            </a:r>
            <a:endParaRPr lang="en-US" altLang="zh-CN" sz="800" dirty="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B1E1A2F-FD23-7A51-5604-D1CA545AFB1D}"/>
              </a:ext>
            </a:extLst>
          </p:cNvPr>
          <p:cNvSpPr/>
          <p:nvPr/>
        </p:nvSpPr>
        <p:spPr>
          <a:xfrm>
            <a:off x="133078" y="1139471"/>
            <a:ext cx="612000" cy="18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bg1">
                    <a:lumMod val="50000"/>
                  </a:schemeClr>
                </a:solidFill>
              </a:rPr>
              <a:t>火锅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D936583-C0FB-619D-92A4-ACAFDE722D3D}"/>
              </a:ext>
            </a:extLst>
          </p:cNvPr>
          <p:cNvSpPr/>
          <p:nvPr/>
        </p:nvSpPr>
        <p:spPr>
          <a:xfrm>
            <a:off x="133027" y="1660527"/>
            <a:ext cx="612000" cy="18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bg1">
                    <a:lumMod val="50000"/>
                  </a:schemeClr>
                </a:solidFill>
              </a:rPr>
              <a:t>地方菜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A119EC7-5CAD-C428-1842-74171F436421}"/>
              </a:ext>
            </a:extLst>
          </p:cNvPr>
          <p:cNvSpPr/>
          <p:nvPr/>
        </p:nvSpPr>
        <p:spPr>
          <a:xfrm>
            <a:off x="126212" y="2152040"/>
            <a:ext cx="612000" cy="18000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bg1">
                    <a:lumMod val="50000"/>
                  </a:schemeClr>
                </a:solidFill>
              </a:rPr>
              <a:t>小吃快餐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5B572B5-DAEE-4F3A-9BA6-E442377A9CD2}"/>
              </a:ext>
            </a:extLst>
          </p:cNvPr>
          <p:cNvSpPr/>
          <p:nvPr/>
        </p:nvSpPr>
        <p:spPr>
          <a:xfrm>
            <a:off x="1013822" y="1079826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川渝火锅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7A1E5B8-94BF-6E70-EDCE-AFB3C3760E22}"/>
              </a:ext>
            </a:extLst>
          </p:cNvPr>
          <p:cNvSpPr/>
          <p:nvPr/>
        </p:nvSpPr>
        <p:spPr>
          <a:xfrm>
            <a:off x="1013822" y="1274512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牛羊肉火锅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3FB587E-D9BB-1852-1345-6AFDD083DD51}"/>
              </a:ext>
            </a:extLst>
          </p:cNvPr>
          <p:cNvSpPr/>
          <p:nvPr/>
        </p:nvSpPr>
        <p:spPr>
          <a:xfrm>
            <a:off x="2013439" y="1079826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潮汕牛肉火锅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86D81F25-3530-2BDF-B7F6-0CFDE244676C}"/>
              </a:ext>
            </a:extLst>
          </p:cNvPr>
          <p:cNvSpPr/>
          <p:nvPr/>
        </p:nvSpPr>
        <p:spPr>
          <a:xfrm>
            <a:off x="2013439" y="1274512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鱼火锅</a:t>
            </a:r>
            <a:r>
              <a:rPr lang="en-US" altLang="zh-CN" sz="800" dirty="0">
                <a:ln w="0"/>
                <a:solidFill>
                  <a:schemeClr val="tx1"/>
                </a:solidFill>
              </a:rPr>
              <a:t>……</a:t>
            </a:r>
            <a:endParaRPr lang="zh-CN" altLang="en-US" sz="800" dirty="0">
              <a:ln w="0"/>
              <a:solidFill>
                <a:schemeClr val="tx1"/>
              </a:solidFill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F2B8DFD5-F553-3950-231B-35826115E0A0}"/>
              </a:ext>
            </a:extLst>
          </p:cNvPr>
          <p:cNvSpPr/>
          <p:nvPr/>
        </p:nvSpPr>
        <p:spPr>
          <a:xfrm>
            <a:off x="786857" y="1141396"/>
            <a:ext cx="216000" cy="214848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>
              <a:ln w="0"/>
              <a:solidFill>
                <a:schemeClr val="tx1"/>
              </a:solidFill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4A4B1ECF-A1B4-E174-CB00-4DA82EC3C276}"/>
              </a:ext>
            </a:extLst>
          </p:cNvPr>
          <p:cNvSpPr/>
          <p:nvPr/>
        </p:nvSpPr>
        <p:spPr>
          <a:xfrm>
            <a:off x="1013822" y="1469198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川湘菜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304372C-485C-F5B6-1127-DAC9A37E6EF5}"/>
              </a:ext>
            </a:extLst>
          </p:cNvPr>
          <p:cNvSpPr/>
          <p:nvPr/>
        </p:nvSpPr>
        <p:spPr>
          <a:xfrm>
            <a:off x="1013822" y="1663884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东北菜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BCA8D96B-B03E-C245-7103-0DA9F63EE888}"/>
              </a:ext>
            </a:extLst>
          </p:cNvPr>
          <p:cNvSpPr/>
          <p:nvPr/>
        </p:nvSpPr>
        <p:spPr>
          <a:xfrm>
            <a:off x="2013439" y="1469198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粤菜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1BF67BE3-D9E8-0279-49F3-C55EFC37DCED}"/>
              </a:ext>
            </a:extLst>
          </p:cNvPr>
          <p:cNvSpPr/>
          <p:nvPr/>
        </p:nvSpPr>
        <p:spPr>
          <a:xfrm>
            <a:off x="2013439" y="1663884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西北菜</a:t>
            </a:r>
          </a:p>
        </p:txBody>
      </p:sp>
      <p:sp>
        <p:nvSpPr>
          <p:cNvPr id="70" name="箭头: 右 69">
            <a:extLst>
              <a:ext uri="{FF2B5EF4-FFF2-40B4-BE49-F238E27FC236}">
                <a16:creationId xmlns:a16="http://schemas.microsoft.com/office/drawing/2014/main" id="{6D5531BC-5381-6855-03CA-614F2EDCC260}"/>
              </a:ext>
            </a:extLst>
          </p:cNvPr>
          <p:cNvSpPr/>
          <p:nvPr/>
        </p:nvSpPr>
        <p:spPr>
          <a:xfrm>
            <a:off x="786857" y="1644170"/>
            <a:ext cx="216000" cy="214848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>
              <a:ln w="0"/>
              <a:solidFill>
                <a:schemeClr val="tx1"/>
              </a:solidFill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411A9672-C8E1-16CF-8836-320A4989EEF1}"/>
              </a:ext>
            </a:extLst>
          </p:cNvPr>
          <p:cNvSpPr/>
          <p:nvPr/>
        </p:nvSpPr>
        <p:spPr>
          <a:xfrm>
            <a:off x="1013822" y="1858570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新疆菜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D0BDA725-00DF-DDDE-671A-B25F4F835DB6}"/>
              </a:ext>
            </a:extLst>
          </p:cNvPr>
          <p:cNvSpPr/>
          <p:nvPr/>
        </p:nvSpPr>
        <p:spPr>
          <a:xfrm>
            <a:off x="2013439" y="1858570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云南菜</a:t>
            </a:r>
            <a:r>
              <a:rPr lang="en-US" altLang="zh-CN" sz="800" dirty="0">
                <a:ln w="0"/>
                <a:solidFill>
                  <a:schemeClr val="tx1"/>
                </a:solidFill>
              </a:rPr>
              <a:t>……</a:t>
            </a:r>
            <a:endParaRPr lang="zh-CN" altLang="en-US" sz="800" dirty="0">
              <a:ln w="0"/>
              <a:solidFill>
                <a:schemeClr val="tx1"/>
              </a:solidFill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3149725F-9DFA-A1CD-613B-9E48F123F0BB}"/>
              </a:ext>
            </a:extLst>
          </p:cNvPr>
          <p:cNvSpPr/>
          <p:nvPr/>
        </p:nvSpPr>
        <p:spPr>
          <a:xfrm>
            <a:off x="1013822" y="2053256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中式快餐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EC053DA-680C-865C-D82C-14B582CA83BB}"/>
              </a:ext>
            </a:extLst>
          </p:cNvPr>
          <p:cNvSpPr/>
          <p:nvPr/>
        </p:nvSpPr>
        <p:spPr>
          <a:xfrm>
            <a:off x="1013822" y="2247943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麻辣烫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73FEE3F3-8460-02A9-41F5-751B39906BDB}"/>
              </a:ext>
            </a:extLst>
          </p:cNvPr>
          <p:cNvSpPr/>
          <p:nvPr/>
        </p:nvSpPr>
        <p:spPr>
          <a:xfrm>
            <a:off x="2013439" y="2053256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西式快餐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CA23BD49-8030-28FA-657D-6453CD99682B}"/>
              </a:ext>
            </a:extLst>
          </p:cNvPr>
          <p:cNvSpPr/>
          <p:nvPr/>
        </p:nvSpPr>
        <p:spPr>
          <a:xfrm>
            <a:off x="2013439" y="2247943"/>
            <a:ext cx="900000" cy="14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ln w="0"/>
                <a:solidFill>
                  <a:schemeClr val="tx1"/>
                </a:solidFill>
              </a:rPr>
              <a:t>包子粥点</a:t>
            </a:r>
            <a:r>
              <a:rPr lang="en-US" altLang="zh-CN" sz="800" dirty="0">
                <a:ln w="0"/>
                <a:solidFill>
                  <a:schemeClr val="tx1"/>
                </a:solidFill>
              </a:rPr>
              <a:t>……</a:t>
            </a:r>
            <a:endParaRPr lang="zh-CN" altLang="en-US" sz="800" dirty="0">
              <a:ln w="0"/>
              <a:solidFill>
                <a:schemeClr val="tx1"/>
              </a:solidFill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28FAD4B-C21A-3D29-DFAE-2BDB62DB828C}"/>
              </a:ext>
            </a:extLst>
          </p:cNvPr>
          <p:cNvSpPr/>
          <p:nvPr/>
        </p:nvSpPr>
        <p:spPr>
          <a:xfrm>
            <a:off x="786857" y="2146943"/>
            <a:ext cx="216000" cy="214848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>
              <a:ln w="0"/>
              <a:solidFill>
                <a:schemeClr val="tx1"/>
              </a:solidFill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2DA58B7-D3CA-7DBA-5CC1-FD8DB64F3D58}"/>
              </a:ext>
            </a:extLst>
          </p:cNvPr>
          <p:cNvSpPr txBox="1"/>
          <p:nvPr/>
        </p:nvSpPr>
        <p:spPr>
          <a:xfrm>
            <a:off x="-64722" y="4966862"/>
            <a:ext cx="1713931" cy="194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i="1" baseline="-25000" dirty="0"/>
              <a:t>注：榜单品类分析以人气榜为主进行分析</a:t>
            </a: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2015DB77-D82D-B105-ECCB-BE7C1227DFCE}"/>
              </a:ext>
            </a:extLst>
          </p:cNvPr>
          <p:cNvSpPr txBox="1"/>
          <p:nvPr/>
        </p:nvSpPr>
        <p:spPr>
          <a:xfrm>
            <a:off x="155431" y="2268025"/>
            <a:ext cx="23080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ln w="0"/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………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米菲PPT1">
            <a:extLst>
              <a:ext uri="{FF2B5EF4-FFF2-40B4-BE49-F238E27FC236}">
                <a16:creationId xmlns:a16="http://schemas.microsoft.com/office/drawing/2014/main" id="{10AB337F-9302-E9F9-AAF5-A49CD07E952B}"/>
              </a:ext>
            </a:extLst>
          </p:cNvPr>
          <p:cNvSpPr/>
          <p:nvPr/>
        </p:nvSpPr>
        <p:spPr>
          <a:xfrm>
            <a:off x="50800" y="991198"/>
            <a:ext cx="2977031" cy="1938993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sp>
        <p:nvSpPr>
          <p:cNvPr id="14" name="米菲PPT13">
            <a:extLst>
              <a:ext uri="{FF2B5EF4-FFF2-40B4-BE49-F238E27FC236}">
                <a16:creationId xmlns:a16="http://schemas.microsoft.com/office/drawing/2014/main" id="{B3048C4F-32EE-8AAF-5D94-46ACCBE2BF2A}"/>
              </a:ext>
            </a:extLst>
          </p:cNvPr>
          <p:cNvSpPr/>
          <p:nvPr/>
        </p:nvSpPr>
        <p:spPr>
          <a:xfrm>
            <a:off x="50800" y="793383"/>
            <a:ext cx="2977031" cy="180000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+mn-ea"/>
              </a:rPr>
              <a:t>① 精细化榜单品类聚焦用户找店需求</a:t>
            </a:r>
            <a:endParaRPr lang="en-US" altLang="zh-CN" sz="1000" b="1" dirty="0">
              <a:latin typeface="+mn-ea"/>
            </a:endParaRPr>
          </a:p>
        </p:txBody>
      </p:sp>
      <p:sp>
        <p:nvSpPr>
          <p:cNvPr id="5" name="矩形: 圆角 5">
            <a:extLst>
              <a:ext uri="{FF2B5EF4-FFF2-40B4-BE49-F238E27FC236}">
                <a16:creationId xmlns:a16="http://schemas.microsoft.com/office/drawing/2014/main" id="{E891DD1F-18EF-9FE2-D986-0BB6C7897C07}"/>
              </a:ext>
            </a:extLst>
          </p:cNvPr>
          <p:cNvSpPr/>
          <p:nvPr/>
        </p:nvSpPr>
        <p:spPr>
          <a:xfrm>
            <a:off x="3136557" y="5240013"/>
            <a:ext cx="2868142" cy="4258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上榜商户覆盖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60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万→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67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万，覆盖增加约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7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万家，（正餐商户增加约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万，轻快餐增加约</a:t>
            </a:r>
            <a:r>
              <a:rPr lang="en-US" altLang="zh-CN" sz="1000" dirty="0">
                <a:solidFill>
                  <a:schemeClr val="tx1"/>
                </a:solidFill>
                <a:latin typeface="+mn-ea"/>
              </a:rPr>
              <a:t>6</a:t>
            </a:r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万）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" name="米菲PPT13">
            <a:extLst>
              <a:ext uri="{FF2B5EF4-FFF2-40B4-BE49-F238E27FC236}">
                <a16:creationId xmlns:a16="http://schemas.microsoft.com/office/drawing/2014/main" id="{D11C718D-DD8A-9C05-4339-8123B023AF36}"/>
              </a:ext>
            </a:extLst>
          </p:cNvPr>
          <p:cNvSpPr/>
          <p:nvPr/>
        </p:nvSpPr>
        <p:spPr>
          <a:xfrm>
            <a:off x="3100272" y="792502"/>
            <a:ext cx="2977031" cy="180000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+mn-ea"/>
              </a:rPr>
              <a:t>②上榜机会扩容驱动商家曝光转化</a:t>
            </a:r>
          </a:p>
        </p:txBody>
      </p:sp>
      <p:sp>
        <p:nvSpPr>
          <p:cNvPr id="9" name="米菲PPT13">
            <a:extLst>
              <a:ext uri="{FF2B5EF4-FFF2-40B4-BE49-F238E27FC236}">
                <a16:creationId xmlns:a16="http://schemas.microsoft.com/office/drawing/2014/main" id="{9EE207BA-D41C-BD3E-6B38-551C8F1266FC}"/>
              </a:ext>
            </a:extLst>
          </p:cNvPr>
          <p:cNvSpPr/>
          <p:nvPr/>
        </p:nvSpPr>
        <p:spPr>
          <a:xfrm>
            <a:off x="6131892" y="793652"/>
            <a:ext cx="2977031" cy="180000"/>
          </a:xfrm>
          <a:prstGeom prst="rect">
            <a:avLst/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+mn-ea"/>
              </a:rPr>
              <a:t>③榜单赛道拓宽有力牵引商家供给</a:t>
            </a:r>
            <a:endParaRPr lang="en-US" altLang="zh-CN" sz="1000" b="1" dirty="0">
              <a:latin typeface="+mn-ea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F1902D3-412D-427D-45AC-D18459F41FBC}"/>
              </a:ext>
            </a:extLst>
          </p:cNvPr>
          <p:cNvGrpSpPr/>
          <p:nvPr/>
        </p:nvGrpSpPr>
        <p:grpSpPr>
          <a:xfrm>
            <a:off x="10102953" y="36597"/>
            <a:ext cx="2998962" cy="3786325"/>
            <a:chOff x="6113272" y="1216313"/>
            <a:chExt cx="2998962" cy="3786325"/>
          </a:xfrm>
        </p:grpSpPr>
        <p:graphicFrame>
          <p:nvGraphicFramePr>
            <p:cNvPr id="12" name="图表 11">
              <a:extLst>
                <a:ext uri="{FF2B5EF4-FFF2-40B4-BE49-F238E27FC236}">
                  <a16:creationId xmlns:a16="http://schemas.microsoft.com/office/drawing/2014/main" id="{450D8A88-D7B3-8FFB-544B-D6F2AA45F09C}"/>
                </a:ext>
              </a:extLst>
            </p:cNvPr>
            <p:cNvGraphicFramePr/>
            <p:nvPr/>
          </p:nvGraphicFramePr>
          <p:xfrm>
            <a:off x="6181164" y="1235923"/>
            <a:ext cx="2744216" cy="254395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68065AD-8297-20F9-F152-63D158DE7D97}"/>
                </a:ext>
              </a:extLst>
            </p:cNvPr>
            <p:cNvSpPr txBox="1"/>
            <p:nvPr/>
          </p:nvSpPr>
          <p:spPr>
            <a:xfrm>
              <a:off x="6181164" y="1515359"/>
              <a:ext cx="6463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i="1" u="sng" dirty="0">
                  <a:solidFill>
                    <a:schemeClr val="bg1">
                      <a:lumMod val="65000"/>
                    </a:schemeClr>
                  </a:solidFill>
                </a:rPr>
                <a:t>单位：亿</a:t>
              </a:r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59285E64-6625-1211-5853-B47DEEA9B5E2}"/>
                </a:ext>
              </a:extLst>
            </p:cNvPr>
            <p:cNvSpPr/>
            <p:nvPr/>
          </p:nvSpPr>
          <p:spPr>
            <a:xfrm>
              <a:off x="6113272" y="3857197"/>
              <a:ext cx="2880000" cy="10730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61913" tIns="0" rIns="0" bIns="0" rtlCol="0" anchor="ctr"/>
            <a:lstStyle/>
            <a:p>
              <a:pPr marL="61913" indent="-61913">
                <a:lnSpc>
                  <a:spcPts val="1900"/>
                </a:lnSpc>
                <a:buSzPct val="100000"/>
                <a:buChar char="•"/>
              </a:pPr>
              <a:r>
                <a:rPr lang="en-US" altLang="zh-CN" sz="1100" dirty="0">
                  <a:latin typeface="+mn-ea"/>
                </a:rPr>
                <a:t> 7</a:t>
              </a:r>
              <a:r>
                <a:rPr lang="zh-CN" altLang="en-US" sz="1100" dirty="0">
                  <a:latin typeface="+mn-ea"/>
                </a:rPr>
                <a:t>日内浏览榜单引导交易在扩充类目后大幅提升，周期内实付</a:t>
              </a:r>
              <a:r>
                <a:rPr lang="en-US" altLang="zh-CN" sz="1100" dirty="0">
                  <a:latin typeface="+mn-ea"/>
                </a:rPr>
                <a:t>GTV1,59</a:t>
              </a:r>
              <a:r>
                <a:rPr lang="zh-CN" altLang="en-US" sz="1100" dirty="0">
                  <a:latin typeface="+mn-ea"/>
                </a:rPr>
                <a:t>亿，提升</a:t>
              </a:r>
              <a:r>
                <a:rPr lang="en-US" altLang="zh-CN" sz="1100" dirty="0">
                  <a:latin typeface="+mn-ea"/>
                </a:rPr>
                <a:t>5600</a:t>
              </a:r>
              <a:r>
                <a:rPr lang="zh-CN" altLang="en-US" sz="1100" dirty="0">
                  <a:latin typeface="+mn-ea"/>
                </a:rPr>
                <a:t>万</a:t>
              </a:r>
              <a:endParaRPr lang="en-US" altLang="zh-CN" sz="1100" dirty="0">
                <a:latin typeface="+mn-ea"/>
              </a:endParaRPr>
            </a:p>
            <a:p>
              <a:pPr marL="61913" indent="-61913">
                <a:lnSpc>
                  <a:spcPts val="1900"/>
                </a:lnSpc>
                <a:buSzPct val="100000"/>
                <a:buChar char="•"/>
              </a:pPr>
              <a:r>
                <a:rPr lang="en-US" altLang="zh-CN" sz="1100" dirty="0">
                  <a:latin typeface="+mn-ea"/>
                </a:rPr>
                <a:t> </a:t>
              </a:r>
              <a:r>
                <a:rPr lang="zh-CN" altLang="en-US" sz="1100" dirty="0">
                  <a:latin typeface="+mn-ea"/>
                </a:rPr>
                <a:t>占比到餐大盘</a:t>
              </a:r>
              <a:r>
                <a:rPr lang="en-US" altLang="zh-CN" sz="1100" dirty="0">
                  <a:latin typeface="+mn-ea"/>
                </a:rPr>
                <a:t>2.6%</a:t>
              </a:r>
              <a:r>
                <a:rPr lang="zh-CN" altLang="en-US" sz="1100" dirty="0">
                  <a:latin typeface="+mn-ea"/>
                </a:rPr>
                <a:t>，提升</a:t>
              </a:r>
              <a:r>
                <a:rPr lang="en-US" altLang="zh-CN" sz="1100" dirty="0">
                  <a:latin typeface="+mn-ea"/>
                </a:rPr>
                <a:t>1%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047BAAC-EDAC-CC8F-0100-62A9235CD840}"/>
                </a:ext>
              </a:extLst>
            </p:cNvPr>
            <p:cNvSpPr txBox="1"/>
            <p:nvPr/>
          </p:nvSpPr>
          <p:spPr>
            <a:xfrm>
              <a:off x="6181163" y="3369428"/>
              <a:ext cx="2788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900" i="1" dirty="0">
                  <a:solidFill>
                    <a:schemeClr val="bg1">
                      <a:lumMod val="65000"/>
                    </a:schemeClr>
                  </a:solidFill>
                </a:rPr>
                <a:t>品类扩充前周期：</a:t>
              </a:r>
              <a:r>
                <a:rPr lang="en-US" altLang="zh-CN" sz="900" i="1" dirty="0">
                  <a:solidFill>
                    <a:schemeClr val="bg1">
                      <a:lumMod val="65000"/>
                    </a:schemeClr>
                  </a:solidFill>
                </a:rPr>
                <a:t>316~329</a:t>
              </a:r>
            </a:p>
            <a:p>
              <a:pPr algn="l"/>
              <a:r>
                <a:rPr lang="zh-CN" altLang="en-US" sz="900" i="1" dirty="0">
                  <a:solidFill>
                    <a:schemeClr val="bg1">
                      <a:lumMod val="65000"/>
                    </a:schemeClr>
                  </a:solidFill>
                </a:rPr>
                <a:t>品类扩充后周期：</a:t>
              </a:r>
              <a:r>
                <a:rPr lang="en-US" altLang="zh-CN" sz="900" i="1" dirty="0">
                  <a:solidFill>
                    <a:schemeClr val="bg1">
                      <a:lumMod val="65000"/>
                    </a:schemeClr>
                  </a:solidFill>
                </a:rPr>
                <a:t>330~410</a:t>
              </a:r>
              <a:endParaRPr lang="zh-CN" altLang="en-US" sz="900" i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4" name="米菲PPT1">
              <a:extLst>
                <a:ext uri="{FF2B5EF4-FFF2-40B4-BE49-F238E27FC236}">
                  <a16:creationId xmlns:a16="http://schemas.microsoft.com/office/drawing/2014/main" id="{2970AA43-1E1F-D0B5-DD18-69C49707EE24}"/>
                </a:ext>
              </a:extLst>
            </p:cNvPr>
            <p:cNvSpPr/>
            <p:nvPr/>
          </p:nvSpPr>
          <p:spPr>
            <a:xfrm>
              <a:off x="6135203" y="1216313"/>
              <a:ext cx="2977031" cy="3786325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chemeClr val="accent2">
                  <a:lumMod val="40000"/>
                  <a:lumOff val="60000"/>
                  <a:alpha val="78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t">
              <a:noAutofit/>
            </a:bodyPr>
            <a:lstStyle/>
            <a:p>
              <a:pPr algn="ctr"/>
              <a:endParaRPr lang="en-US" altLang="zh-CN" sz="2000" i="1" u="sng" dirty="0">
                <a:solidFill>
                  <a:srgbClr val="C7723D"/>
                </a:solidFill>
                <a:latin typeface="+mn-ea"/>
              </a:endParaRPr>
            </a:p>
          </p:txBody>
        </p:sp>
      </p:grpSp>
      <p:sp>
        <p:nvSpPr>
          <p:cNvPr id="26" name="米菲PPT1">
            <a:extLst>
              <a:ext uri="{FF2B5EF4-FFF2-40B4-BE49-F238E27FC236}">
                <a16:creationId xmlns:a16="http://schemas.microsoft.com/office/drawing/2014/main" id="{3FC17C04-4BF8-AC83-3E5B-6C1918AACCC7}"/>
              </a:ext>
            </a:extLst>
          </p:cNvPr>
          <p:cNvSpPr/>
          <p:nvPr/>
        </p:nvSpPr>
        <p:spPr>
          <a:xfrm>
            <a:off x="6147190" y="991198"/>
            <a:ext cx="2961733" cy="1938994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84E65D6-8064-4DED-80D7-34A70781E7ED}"/>
              </a:ext>
            </a:extLst>
          </p:cNvPr>
          <p:cNvGrpSpPr/>
          <p:nvPr/>
        </p:nvGrpSpPr>
        <p:grpSpPr>
          <a:xfrm>
            <a:off x="3106766" y="1088252"/>
            <a:ext cx="2831288" cy="2503861"/>
            <a:chOff x="3257593" y="3733976"/>
            <a:chExt cx="2831288" cy="2503861"/>
          </a:xfrm>
        </p:grpSpPr>
        <p:graphicFrame>
          <p:nvGraphicFramePr>
            <p:cNvPr id="32" name="图表 31">
              <a:extLst>
                <a:ext uri="{FF2B5EF4-FFF2-40B4-BE49-F238E27FC236}">
                  <a16:creationId xmlns:a16="http://schemas.microsoft.com/office/drawing/2014/main" id="{03A2AA2A-D9C0-8DD1-0208-2DE17EA82BC7}"/>
                </a:ext>
              </a:extLst>
            </p:cNvPr>
            <p:cNvGraphicFramePr/>
            <p:nvPr/>
          </p:nvGraphicFramePr>
          <p:xfrm>
            <a:off x="3257593" y="3733976"/>
            <a:ext cx="2831288" cy="25038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6" name="右大括号 35">
              <a:extLst>
                <a:ext uri="{FF2B5EF4-FFF2-40B4-BE49-F238E27FC236}">
                  <a16:creationId xmlns:a16="http://schemas.microsoft.com/office/drawing/2014/main" id="{394B6A8C-3ED4-8C63-2549-BD4B727DC6FC}"/>
                </a:ext>
              </a:extLst>
            </p:cNvPr>
            <p:cNvSpPr/>
            <p:nvPr/>
          </p:nvSpPr>
          <p:spPr>
            <a:xfrm rot="5400000">
              <a:off x="4000968" y="4222262"/>
              <a:ext cx="203032" cy="1429381"/>
            </a:xfrm>
            <a:prstGeom prst="rightBrace">
              <a:avLst>
                <a:gd name="adj1" fmla="val 57222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38" name="右大括号 37">
              <a:extLst>
                <a:ext uri="{FF2B5EF4-FFF2-40B4-BE49-F238E27FC236}">
                  <a16:creationId xmlns:a16="http://schemas.microsoft.com/office/drawing/2014/main" id="{7E48D021-FB27-4A20-C45A-B6A1F3073394}"/>
                </a:ext>
              </a:extLst>
            </p:cNvPr>
            <p:cNvSpPr/>
            <p:nvPr/>
          </p:nvSpPr>
          <p:spPr>
            <a:xfrm rot="5400000">
              <a:off x="5287348" y="4382216"/>
              <a:ext cx="203032" cy="1109472"/>
            </a:xfrm>
            <a:prstGeom prst="rightBrace">
              <a:avLst>
                <a:gd name="adj1" fmla="val 57222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0403D3E-1943-E764-0628-D590CA302A86}"/>
                </a:ext>
              </a:extLst>
            </p:cNvPr>
            <p:cNvSpPr txBox="1"/>
            <p:nvPr/>
          </p:nvSpPr>
          <p:spPr>
            <a:xfrm>
              <a:off x="3652710" y="5022168"/>
              <a:ext cx="7232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dirty="0"/>
                <a:t>扩充前未上榜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04AD316-57F0-836B-D832-C2225478640C}"/>
                </a:ext>
              </a:extLst>
            </p:cNvPr>
            <p:cNvSpPr txBox="1"/>
            <p:nvPr/>
          </p:nvSpPr>
          <p:spPr>
            <a:xfrm>
              <a:off x="5055458" y="5014073"/>
              <a:ext cx="63350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dirty="0"/>
                <a:t>扩充后上榜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1069BE6-68EA-1A50-FA26-30A0A977DECA}"/>
              </a:ext>
            </a:extLst>
          </p:cNvPr>
          <p:cNvGrpSpPr/>
          <p:nvPr/>
        </p:nvGrpSpPr>
        <p:grpSpPr>
          <a:xfrm>
            <a:off x="6168280" y="1017152"/>
            <a:ext cx="2831288" cy="1461810"/>
            <a:chOff x="3196940" y="1204157"/>
            <a:chExt cx="2831288" cy="2489654"/>
          </a:xfrm>
        </p:grpSpPr>
        <p:graphicFrame>
          <p:nvGraphicFramePr>
            <p:cNvPr id="56" name="图表 55">
              <a:extLst>
                <a:ext uri="{FF2B5EF4-FFF2-40B4-BE49-F238E27FC236}">
                  <a16:creationId xmlns:a16="http://schemas.microsoft.com/office/drawing/2014/main" id="{9B6A301E-FD4A-D47F-46AD-FE23525F271F}"/>
                </a:ext>
              </a:extLst>
            </p:cNvPr>
            <p:cNvGraphicFramePr/>
            <p:nvPr/>
          </p:nvGraphicFramePr>
          <p:xfrm>
            <a:off x="3196940" y="1204157"/>
            <a:ext cx="2831288" cy="212607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65" name="右大括号 64">
              <a:extLst>
                <a:ext uri="{FF2B5EF4-FFF2-40B4-BE49-F238E27FC236}">
                  <a16:creationId xmlns:a16="http://schemas.microsoft.com/office/drawing/2014/main" id="{DD03BD90-9052-25BF-D72C-C5E15C6A1710}"/>
                </a:ext>
              </a:extLst>
            </p:cNvPr>
            <p:cNvSpPr/>
            <p:nvPr/>
          </p:nvSpPr>
          <p:spPr>
            <a:xfrm rot="5400000">
              <a:off x="3930885" y="2485503"/>
              <a:ext cx="297043" cy="1508844"/>
            </a:xfrm>
            <a:prstGeom prst="rightBrace">
              <a:avLst>
                <a:gd name="adj1" fmla="val 57222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79" name="右大括号 78">
              <a:extLst>
                <a:ext uri="{FF2B5EF4-FFF2-40B4-BE49-F238E27FC236}">
                  <a16:creationId xmlns:a16="http://schemas.microsoft.com/office/drawing/2014/main" id="{D3BD495F-404B-314F-157C-EE4408A96466}"/>
                </a:ext>
              </a:extLst>
            </p:cNvPr>
            <p:cNvSpPr/>
            <p:nvPr/>
          </p:nvSpPr>
          <p:spPr>
            <a:xfrm rot="5400000">
              <a:off x="5318226" y="2632970"/>
              <a:ext cx="203032" cy="1111634"/>
            </a:xfrm>
            <a:prstGeom prst="rightBrace">
              <a:avLst>
                <a:gd name="adj1" fmla="val 57222"/>
                <a:gd name="adj2" fmla="val 50000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71C1F9F7-72EC-4C5C-C3CE-44EB22E39DA2}"/>
                </a:ext>
              </a:extLst>
            </p:cNvPr>
            <p:cNvSpPr txBox="1"/>
            <p:nvPr/>
          </p:nvSpPr>
          <p:spPr>
            <a:xfrm>
              <a:off x="3712832" y="3330226"/>
              <a:ext cx="723275" cy="3407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dirty="0"/>
                <a:t>扩充前未上榜</a:t>
              </a: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1DD89E7-1169-4A22-526B-8CBF12A10F19}"/>
                </a:ext>
              </a:extLst>
            </p:cNvPr>
            <p:cNvSpPr txBox="1"/>
            <p:nvPr/>
          </p:nvSpPr>
          <p:spPr>
            <a:xfrm>
              <a:off x="5135314" y="3353091"/>
              <a:ext cx="633507" cy="3407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dirty="0"/>
                <a:t>扩充后上榜</a:t>
              </a:r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CF3227B8-EEEE-76B0-1D42-1224F67C879E}"/>
              </a:ext>
            </a:extLst>
          </p:cNvPr>
          <p:cNvSpPr txBox="1"/>
          <p:nvPr/>
        </p:nvSpPr>
        <p:spPr>
          <a:xfrm>
            <a:off x="6141124" y="1825985"/>
            <a:ext cx="54373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</a:rPr>
              <a:t>单位：万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F041171-B539-3044-85B0-463D588F9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0529" y="7144816"/>
            <a:ext cx="2868142" cy="1797269"/>
          </a:xfrm>
          <a:prstGeom prst="rect">
            <a:avLst/>
          </a:prstGeom>
        </p:spPr>
      </p:pic>
      <p:sp>
        <p:nvSpPr>
          <p:cNvPr id="93" name="文本框 92">
            <a:extLst>
              <a:ext uri="{FF2B5EF4-FFF2-40B4-BE49-F238E27FC236}">
                <a16:creationId xmlns:a16="http://schemas.microsoft.com/office/drawing/2014/main" id="{AC5C9E8B-004F-945C-EDF3-16D7D5D9791B}"/>
              </a:ext>
            </a:extLst>
          </p:cNvPr>
          <p:cNvSpPr txBox="1"/>
          <p:nvPr/>
        </p:nvSpPr>
        <p:spPr>
          <a:xfrm>
            <a:off x="-598924" y="6948918"/>
            <a:ext cx="327124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品类扩充自助餐数据：</a:t>
            </a:r>
          </a:p>
          <a:p>
            <a:pPr>
              <a:buNone/>
            </a:pPr>
            <a:r>
              <a:rPr lang="zh-CN" altLang="en-US" sz="1000" dirty="0">
                <a:effectLst/>
              </a:rPr>
              <a:t>品类模块点击率从</a:t>
            </a:r>
            <a:r>
              <a:rPr lang="en-US" altLang="zh-CN" sz="1000" dirty="0">
                <a:effectLst/>
              </a:rPr>
              <a:t>8.1%→11%</a:t>
            </a:r>
            <a:r>
              <a:rPr lang="zh-CN" altLang="en-US" sz="1000" dirty="0">
                <a:effectLst/>
              </a:rPr>
              <a:t>，提升</a:t>
            </a:r>
            <a:r>
              <a:rPr lang="en-US" altLang="zh-CN" sz="1000" dirty="0">
                <a:effectLst/>
              </a:rPr>
              <a:t>2.9</a:t>
            </a:r>
            <a:r>
              <a:rPr lang="en" altLang="zh-CN" sz="1000" dirty="0">
                <a:effectLst/>
              </a:rPr>
              <a:t>PP</a:t>
            </a:r>
            <a:br>
              <a:rPr lang="en" altLang="zh-CN" sz="1000" dirty="0">
                <a:effectLst/>
              </a:rPr>
            </a:br>
            <a:endParaRPr lang="en" altLang="zh-CN" sz="1000" dirty="0">
              <a:effectLst/>
            </a:endParaRPr>
          </a:p>
          <a:p>
            <a:pPr>
              <a:buNone/>
            </a:pPr>
            <a:r>
              <a:rPr lang="zh-CN" altLang="en-US" sz="1000" dirty="0">
                <a:effectLst/>
              </a:rPr>
              <a:t>自助餐新增上榜商户数</a:t>
            </a:r>
            <a:r>
              <a:rPr lang="en-US" altLang="zh-CN" sz="1000" dirty="0">
                <a:effectLst/>
              </a:rPr>
              <a:t>1619</a:t>
            </a:r>
            <a:r>
              <a:rPr lang="zh-CN" altLang="en-US" sz="1000" dirty="0">
                <a:effectLst/>
              </a:rPr>
              <a:t>家，（新上榜：扩充品类前三周未上榜，扩充后两周上榜）</a:t>
            </a:r>
            <a:br>
              <a:rPr lang="zh-CN" altLang="en-US" sz="1000" dirty="0">
                <a:effectLst/>
              </a:rPr>
            </a:br>
            <a:endParaRPr lang="en-US" altLang="zh-CN" sz="1000" dirty="0">
              <a:effectLst/>
            </a:endParaRPr>
          </a:p>
          <a:p>
            <a:pPr>
              <a:buNone/>
            </a:pPr>
            <a:r>
              <a:rPr lang="zh-CN" altLang="en-US" sz="1000" dirty="0">
                <a:effectLst/>
              </a:rPr>
              <a:t>店均实付</a:t>
            </a:r>
            <a:r>
              <a:rPr lang="en" altLang="zh-CN" sz="1000" dirty="0">
                <a:effectLst/>
              </a:rPr>
              <a:t>GTV</a:t>
            </a:r>
            <a:r>
              <a:rPr lang="zh-CN" altLang="en-US" sz="1000" dirty="0">
                <a:effectLst/>
              </a:rPr>
              <a:t>提升</a:t>
            </a:r>
            <a:r>
              <a:rPr lang="en-US" altLang="zh-CN" sz="1000" dirty="0">
                <a:effectLst/>
              </a:rPr>
              <a:t>3588</a:t>
            </a:r>
            <a:r>
              <a:rPr lang="zh-CN" altLang="en-US" sz="1000" dirty="0">
                <a:effectLst/>
              </a:rPr>
              <a:t>元（</a:t>
            </a:r>
            <a:r>
              <a:rPr lang="en-US" altLang="zh-CN" sz="1000" dirty="0">
                <a:effectLst/>
              </a:rPr>
              <a:t>3284→6872</a:t>
            </a:r>
            <a:r>
              <a:rPr lang="zh-CN" altLang="en-US" sz="1000" dirty="0">
                <a:effectLst/>
              </a:rPr>
              <a:t>）</a:t>
            </a:r>
            <a:r>
              <a:rPr lang="en-US" altLang="zh-CN" sz="1000" dirty="0">
                <a:effectLst/>
              </a:rPr>
              <a:t>,</a:t>
            </a:r>
            <a:r>
              <a:rPr lang="zh-CN" altLang="en-US" sz="1000" dirty="0">
                <a:effectLst/>
              </a:rPr>
              <a:t>环比提升</a:t>
            </a:r>
            <a:r>
              <a:rPr lang="en-US" altLang="zh-CN" sz="1000" dirty="0">
                <a:effectLst/>
              </a:rPr>
              <a:t>109%</a:t>
            </a:r>
            <a:br>
              <a:rPr lang="en-US" altLang="zh-CN" sz="1000" dirty="0">
                <a:effectLst/>
              </a:rPr>
            </a:br>
            <a:r>
              <a:rPr lang="en" altLang="zh-CN" sz="1000" dirty="0">
                <a:effectLst/>
              </a:rPr>
              <a:t>poi</a:t>
            </a:r>
            <a:r>
              <a:rPr lang="zh-CN" altLang="en-US" sz="1000" dirty="0">
                <a:effectLst/>
              </a:rPr>
              <a:t>意向</a:t>
            </a:r>
            <a:r>
              <a:rPr lang="en" altLang="zh-CN" sz="1000" dirty="0" err="1">
                <a:effectLst/>
              </a:rPr>
              <a:t>uv</a:t>
            </a:r>
            <a:r>
              <a:rPr lang="zh-CN" altLang="en-US" sz="1000" dirty="0">
                <a:effectLst/>
              </a:rPr>
              <a:t>提升</a:t>
            </a:r>
            <a:r>
              <a:rPr lang="en-US" altLang="zh-CN" sz="1000" dirty="0">
                <a:effectLst/>
              </a:rPr>
              <a:t>109</a:t>
            </a:r>
            <a:r>
              <a:rPr lang="zh-CN" altLang="en-US" sz="1000" dirty="0">
                <a:effectLst/>
              </a:rPr>
              <a:t>元（</a:t>
            </a:r>
            <a:r>
              <a:rPr lang="en-US" altLang="zh-CN" sz="1000" dirty="0">
                <a:effectLst/>
              </a:rPr>
              <a:t>1517→1625</a:t>
            </a:r>
            <a:r>
              <a:rPr lang="zh-CN" altLang="en-US" sz="1000" dirty="0">
                <a:effectLst/>
              </a:rPr>
              <a:t>），环比提升</a:t>
            </a:r>
            <a:r>
              <a:rPr lang="en-US" altLang="zh-CN" sz="1000" dirty="0">
                <a:effectLst/>
              </a:rPr>
              <a:t>7%</a:t>
            </a:r>
            <a:br>
              <a:rPr lang="en-US" altLang="zh-CN" sz="1000" dirty="0">
                <a:effectLst/>
              </a:rPr>
            </a:br>
            <a:r>
              <a:rPr lang="zh-CN" altLang="en-US" sz="1000" dirty="0">
                <a:effectLst/>
              </a:rPr>
              <a:t>在线项目数增加</a:t>
            </a:r>
            <a:r>
              <a:rPr lang="en-US" altLang="zh-CN" sz="1000" dirty="0">
                <a:effectLst/>
              </a:rPr>
              <a:t>1762</a:t>
            </a:r>
            <a:r>
              <a:rPr lang="zh-CN" altLang="en-US" sz="1000" dirty="0">
                <a:effectLst/>
              </a:rPr>
              <a:t>（</a:t>
            </a:r>
            <a:r>
              <a:rPr lang="en-US" altLang="zh-CN" sz="1000" dirty="0">
                <a:effectLst/>
              </a:rPr>
              <a:t>8932→10693</a:t>
            </a:r>
            <a:r>
              <a:rPr lang="zh-CN" altLang="en-US" sz="1000" dirty="0">
                <a:effectLst/>
              </a:rPr>
              <a:t>），环比提升</a:t>
            </a:r>
            <a:r>
              <a:rPr lang="en-US" altLang="zh-CN" sz="1000" dirty="0">
                <a:effectLst/>
              </a:rPr>
              <a:t>20%</a:t>
            </a:r>
            <a:br>
              <a:rPr lang="en-US" altLang="zh-CN" sz="1000" dirty="0">
                <a:effectLst/>
              </a:rPr>
            </a:br>
            <a:r>
              <a:rPr lang="zh-CN" altLang="en-US" sz="1000" dirty="0">
                <a:effectLst/>
              </a:rPr>
              <a:t>动销项目数增加</a:t>
            </a:r>
            <a:r>
              <a:rPr lang="en-US" altLang="zh-CN" sz="1000" dirty="0">
                <a:effectLst/>
              </a:rPr>
              <a:t>2055</a:t>
            </a:r>
            <a:r>
              <a:rPr lang="zh-CN" altLang="en-US" sz="1000" dirty="0">
                <a:effectLst/>
              </a:rPr>
              <a:t>（</a:t>
            </a:r>
            <a:r>
              <a:rPr lang="en-US" altLang="zh-CN" sz="1000" dirty="0">
                <a:effectLst/>
              </a:rPr>
              <a:t>4038→6092</a:t>
            </a:r>
            <a:r>
              <a:rPr lang="zh-CN" altLang="en-US" sz="1000" dirty="0">
                <a:effectLst/>
              </a:rPr>
              <a:t>）</a:t>
            </a:r>
            <a:r>
              <a:rPr lang="en-US" altLang="zh-CN" sz="1000" dirty="0">
                <a:effectLst/>
              </a:rPr>
              <a:t>,</a:t>
            </a:r>
            <a:r>
              <a:rPr lang="zh-CN" altLang="en-US" sz="1000" dirty="0">
                <a:effectLst/>
              </a:rPr>
              <a:t>环比提升</a:t>
            </a:r>
            <a:r>
              <a:rPr lang="en-US" altLang="zh-CN" sz="1000" dirty="0">
                <a:effectLst/>
              </a:rPr>
              <a:t>51%</a:t>
            </a:r>
            <a:br>
              <a:rPr lang="en-US" altLang="zh-CN" sz="1000" dirty="0">
                <a:effectLst/>
              </a:rPr>
            </a:br>
            <a:r>
              <a:rPr lang="zh-CN" altLang="en-US" sz="1000" dirty="0">
                <a:effectLst/>
              </a:rPr>
              <a:t>（其中低于八折项目增加</a:t>
            </a:r>
            <a:r>
              <a:rPr lang="en-US" altLang="zh-CN" sz="1000" dirty="0">
                <a:effectLst/>
              </a:rPr>
              <a:t>1710</a:t>
            </a:r>
            <a:r>
              <a:rPr lang="zh-CN" altLang="en-US" sz="1000" dirty="0">
                <a:effectLst/>
              </a:rPr>
              <a:t>，从</a:t>
            </a:r>
            <a:r>
              <a:rPr lang="en-US" altLang="zh-CN" sz="1000" dirty="0">
                <a:effectLst/>
              </a:rPr>
              <a:t>3282→4992</a:t>
            </a:r>
            <a:r>
              <a:rPr lang="zh-CN" altLang="en-US" sz="1000" dirty="0">
                <a:effectLst/>
              </a:rPr>
              <a:t>）</a:t>
            </a:r>
            <a:r>
              <a:rPr lang="en-US" altLang="zh-CN" sz="1000" dirty="0">
                <a:effectLst/>
              </a:rPr>
              <a:t>,</a:t>
            </a:r>
            <a:r>
              <a:rPr lang="zh-CN" altLang="en-US" sz="1000" dirty="0">
                <a:effectLst/>
              </a:rPr>
              <a:t>环比提升</a:t>
            </a:r>
            <a:r>
              <a:rPr lang="en-US" altLang="zh-CN" sz="1000" dirty="0">
                <a:effectLst/>
              </a:rPr>
              <a:t>52%</a:t>
            </a:r>
          </a:p>
        </p:txBody>
      </p:sp>
      <p:sp>
        <p:nvSpPr>
          <p:cNvPr id="96" name="矩形: 圆角 5">
            <a:extLst>
              <a:ext uri="{FF2B5EF4-FFF2-40B4-BE49-F238E27FC236}">
                <a16:creationId xmlns:a16="http://schemas.microsoft.com/office/drawing/2014/main" id="{8E5D8909-7A47-2FCE-49E4-384D9FF6722D}"/>
              </a:ext>
            </a:extLst>
          </p:cNvPr>
          <p:cNvSpPr/>
          <p:nvPr/>
        </p:nvSpPr>
        <p:spPr>
          <a:xfrm>
            <a:off x="6209298" y="5221317"/>
            <a:ext cx="2868142" cy="4258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ea"/>
              </a:rPr>
              <a:t>接下来会根据大搜的用户高需品类*城市继续扩充品类榜单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94DA7309-7AF2-605E-C0A4-73AF360CA2E9}"/>
              </a:ext>
            </a:extLst>
          </p:cNvPr>
          <p:cNvSpPr txBox="1"/>
          <p:nvPr/>
        </p:nvSpPr>
        <p:spPr>
          <a:xfrm>
            <a:off x="6766463" y="5665857"/>
            <a:ext cx="17926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+mn-ea"/>
              </a:rPr>
              <a:t>（其中低于</a:t>
            </a:r>
            <a:r>
              <a:rPr lang="en-US" altLang="zh-CN" sz="1100" dirty="0">
                <a:latin typeface="+mn-ea"/>
              </a:rPr>
              <a:t>8</a:t>
            </a:r>
            <a:r>
              <a:rPr lang="zh-CN" altLang="en-US" sz="1100" dirty="0">
                <a:latin typeface="+mn-ea"/>
              </a:rPr>
              <a:t>折项目</a:t>
            </a:r>
            <a:r>
              <a:rPr lang="en-US" altLang="zh-CN" sz="1100" dirty="0">
                <a:latin typeface="+mn-ea"/>
              </a:rPr>
              <a:t>3.5</a:t>
            </a:r>
            <a:r>
              <a:rPr lang="zh-CN" altLang="en-US" sz="1100" dirty="0">
                <a:latin typeface="+mn-ea"/>
              </a:rPr>
              <a:t>万）</a:t>
            </a:r>
            <a:endParaRPr lang="zh-CN" alt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F97F78-D7B6-87DF-FDC5-7F0FEC0FD116}"/>
              </a:ext>
            </a:extLst>
          </p:cNvPr>
          <p:cNvSpPr txBox="1"/>
          <p:nvPr/>
        </p:nvSpPr>
        <p:spPr>
          <a:xfrm>
            <a:off x="2938218" y="-735929"/>
            <a:ext cx="6417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C00000"/>
                </a:solidFill>
              </a:rPr>
              <a:t>基于需求机会（品类</a:t>
            </a:r>
            <a:r>
              <a:rPr lang="en" altLang="zh-CN" sz="1800" dirty="0">
                <a:solidFill>
                  <a:srgbClr val="C00000"/>
                </a:solidFill>
              </a:rPr>
              <a:t>x</a:t>
            </a:r>
            <a:r>
              <a:rPr lang="zh-CN" altLang="en-US" sz="1800" dirty="0">
                <a:solidFill>
                  <a:srgbClr val="C00000"/>
                </a:solidFill>
              </a:rPr>
              <a:t>区域），我们扩了品类</a:t>
            </a:r>
            <a:r>
              <a:rPr lang="en-US" altLang="zh-CN" sz="1800" dirty="0">
                <a:solidFill>
                  <a:srgbClr val="C00000"/>
                </a:solidFill>
              </a:rPr>
              <a:t>/</a:t>
            </a:r>
            <a:r>
              <a:rPr lang="zh-CN" altLang="en-US" sz="1800" dirty="0">
                <a:solidFill>
                  <a:srgbClr val="C00000"/>
                </a:solidFill>
              </a:rPr>
              <a:t>区域，对</a:t>
            </a:r>
            <a:r>
              <a:rPr lang="en" altLang="zh-CN" sz="1800" dirty="0">
                <a:solidFill>
                  <a:srgbClr val="C00000"/>
                </a:solidFill>
              </a:rPr>
              <a:t>BC</a:t>
            </a:r>
            <a:r>
              <a:rPr lang="zh-CN" altLang="en-US" sz="1800" dirty="0">
                <a:solidFill>
                  <a:srgbClr val="C00000"/>
                </a:solidFill>
              </a:rPr>
              <a:t>的影响，进一步计划（如「需求」品类、）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0A36686-97BA-7DD1-460D-88175E347AEC}"/>
              </a:ext>
            </a:extLst>
          </p:cNvPr>
          <p:cNvGrpSpPr/>
          <p:nvPr/>
        </p:nvGrpSpPr>
        <p:grpSpPr>
          <a:xfrm>
            <a:off x="3098433" y="997294"/>
            <a:ext cx="2977031" cy="1932898"/>
            <a:chOff x="3098433" y="1094830"/>
            <a:chExt cx="2977031" cy="1932898"/>
          </a:xfrm>
        </p:grpSpPr>
        <p:sp>
          <p:nvSpPr>
            <p:cNvPr id="8" name="米菲PPT1">
              <a:extLst>
                <a:ext uri="{FF2B5EF4-FFF2-40B4-BE49-F238E27FC236}">
                  <a16:creationId xmlns:a16="http://schemas.microsoft.com/office/drawing/2014/main" id="{49FBA7CF-68B9-B4CB-B3B9-A20A547606B4}"/>
                </a:ext>
              </a:extLst>
            </p:cNvPr>
            <p:cNvSpPr/>
            <p:nvPr/>
          </p:nvSpPr>
          <p:spPr>
            <a:xfrm>
              <a:off x="3098433" y="1094830"/>
              <a:ext cx="2977031" cy="1932898"/>
            </a:xfrm>
            <a:prstGeom prst="roundRect">
              <a:avLst>
                <a:gd name="adj" fmla="val 0"/>
              </a:avLst>
            </a:prstGeom>
            <a:noFill/>
            <a:ln w="6350">
              <a:solidFill>
                <a:schemeClr val="accent2">
                  <a:lumMod val="40000"/>
                  <a:lumOff val="60000"/>
                  <a:alpha val="78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6" tIns="49375" rIns="98756" bIns="49375" rtlCol="0" anchor="t">
              <a:noAutofit/>
            </a:bodyPr>
            <a:lstStyle/>
            <a:p>
              <a:pPr algn="ctr"/>
              <a:endParaRPr lang="en-US" altLang="zh-CN" sz="2000" i="1" u="sng" dirty="0">
                <a:solidFill>
                  <a:srgbClr val="C7723D"/>
                </a:solidFill>
                <a:latin typeface="+mn-ea"/>
              </a:endParaRPr>
            </a:p>
          </p:txBody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DFC6F727-0D81-65D3-A7B4-99F5045BBE44}"/>
                </a:ext>
              </a:extLst>
            </p:cNvPr>
            <p:cNvSpPr/>
            <p:nvPr/>
          </p:nvSpPr>
          <p:spPr>
            <a:xfrm>
              <a:off x="3124698" y="2537786"/>
              <a:ext cx="2902229" cy="4788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61913" tIns="0" rIns="0" bIns="0" rtlCol="0" anchor="ctr"/>
            <a:lstStyle/>
            <a:p>
              <a:pPr>
                <a:lnSpc>
                  <a:spcPct val="150000"/>
                </a:lnSpc>
                <a:buSzPct val="100000"/>
              </a:pPr>
              <a:r>
                <a:rPr lang="zh-CN" altLang="en-US" sz="800" dirty="0">
                  <a:latin typeface="+mn-ea"/>
                </a:rPr>
                <a:t>新上榜商户实付</a:t>
              </a:r>
              <a:r>
                <a:rPr lang="en-US" altLang="zh-CN" sz="800" dirty="0" err="1">
                  <a:latin typeface="+mn-ea"/>
                </a:rPr>
                <a:t>gtv</a:t>
              </a:r>
              <a:r>
                <a:rPr lang="zh-CN" altLang="en-US" sz="800" dirty="0">
                  <a:latin typeface="+mn-ea"/>
                </a:rPr>
                <a:t>平均一家店周度提升约</a:t>
              </a:r>
              <a:r>
                <a:rPr lang="en-US" altLang="zh-CN" sz="800" dirty="0">
                  <a:latin typeface="+mn-ea"/>
                </a:rPr>
                <a:t>370</a:t>
              </a:r>
              <a:r>
                <a:rPr lang="zh-CN" altLang="en-US" sz="800" dirty="0">
                  <a:latin typeface="+mn-ea"/>
                </a:rPr>
                <a:t>元</a:t>
              </a:r>
              <a:r>
                <a:rPr lang="zh-CN" altLang="en-US" sz="800" dirty="0"/>
                <a:t>（</a:t>
              </a:r>
              <a:r>
                <a:rPr lang="en-US" altLang="zh-CN" sz="800" dirty="0"/>
                <a:t>834</a:t>
              </a:r>
              <a:r>
                <a:rPr lang="zh-CN" altLang="en-US" sz="800" dirty="0"/>
                <a:t>元</a:t>
              </a:r>
              <a:r>
                <a:rPr lang="zh-CN" altLang="en-US" sz="800" dirty="0">
                  <a:latin typeface="+mn-ea"/>
                </a:rPr>
                <a:t>→</a:t>
              </a:r>
              <a:r>
                <a:rPr lang="en-US" altLang="zh-CN" sz="800" dirty="0"/>
                <a:t>1211</a:t>
              </a:r>
              <a:r>
                <a:rPr lang="zh-CN" altLang="en-US" sz="800" dirty="0"/>
                <a:t>元）</a:t>
              </a:r>
              <a:r>
                <a:rPr lang="zh-CN" altLang="en-US" sz="800" dirty="0">
                  <a:latin typeface="+mn-ea"/>
                </a:rPr>
                <a:t>，</a:t>
              </a:r>
              <a:r>
                <a:rPr lang="en-US" altLang="zh-CN" sz="800" dirty="0">
                  <a:latin typeface="+mn-ea"/>
                </a:rPr>
                <a:t>poi</a:t>
              </a:r>
              <a:r>
                <a:rPr lang="zh-CN" altLang="en-US" sz="800" dirty="0">
                  <a:latin typeface="+mn-ea"/>
                </a:rPr>
                <a:t>意向</a:t>
              </a:r>
              <a:r>
                <a:rPr lang="en-US" altLang="zh-CN" sz="800" dirty="0" err="1">
                  <a:latin typeface="+mn-ea"/>
                </a:rPr>
                <a:t>uv</a:t>
              </a:r>
              <a:r>
                <a:rPr lang="zh-CN" altLang="en-US" sz="800" dirty="0">
                  <a:latin typeface="+mn-ea"/>
                </a:rPr>
                <a:t>提升约</a:t>
              </a:r>
              <a:r>
                <a:rPr lang="en-US" altLang="zh-CN" sz="800" dirty="0">
                  <a:latin typeface="+mn-ea"/>
                </a:rPr>
                <a:t>20</a:t>
              </a:r>
              <a:r>
                <a:rPr lang="zh-CN" altLang="en-US" sz="800" dirty="0"/>
                <a:t>（</a:t>
              </a:r>
              <a:r>
                <a:rPr lang="en-US" altLang="zh-CN" sz="800" dirty="0"/>
                <a:t>101</a:t>
              </a:r>
              <a:r>
                <a:rPr lang="zh-CN" altLang="en-US" sz="800" dirty="0"/>
                <a:t> </a:t>
              </a:r>
              <a:r>
                <a:rPr lang="zh-CN" altLang="en-US" sz="800" dirty="0">
                  <a:latin typeface="+mn-ea"/>
                </a:rPr>
                <a:t>→</a:t>
              </a:r>
              <a:r>
                <a:rPr lang="en-US" altLang="zh-CN" sz="800" dirty="0"/>
                <a:t>121</a:t>
              </a:r>
              <a:r>
                <a:rPr lang="zh-CN" altLang="en-US" sz="800" dirty="0"/>
                <a:t> ）</a:t>
              </a:r>
            </a:p>
          </p:txBody>
        </p:sp>
      </p:grpSp>
      <p:sp>
        <p:nvSpPr>
          <p:cNvPr id="19" name="椭圆 18">
            <a:extLst>
              <a:ext uri="{FF2B5EF4-FFF2-40B4-BE49-F238E27FC236}">
                <a16:creationId xmlns:a16="http://schemas.microsoft.com/office/drawing/2014/main" id="{7A1B4D07-AF73-BF25-6A3F-E328C71DF2AC}"/>
              </a:ext>
            </a:extLst>
          </p:cNvPr>
          <p:cNvSpPr/>
          <p:nvPr/>
        </p:nvSpPr>
        <p:spPr>
          <a:xfrm>
            <a:off x="4839505" y="1408858"/>
            <a:ext cx="563481" cy="399026"/>
          </a:xfrm>
          <a:prstGeom prst="ellipse">
            <a:avLst/>
          </a:prstGeom>
          <a:noFill/>
          <a:ln w="63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676FE49-F865-CF56-3637-DCE9DDCEADE9}"/>
              </a:ext>
            </a:extLst>
          </p:cNvPr>
          <p:cNvSpPr/>
          <p:nvPr/>
        </p:nvSpPr>
        <p:spPr>
          <a:xfrm>
            <a:off x="7887138" y="1230648"/>
            <a:ext cx="563481" cy="556394"/>
          </a:xfrm>
          <a:prstGeom prst="ellipse">
            <a:avLst/>
          </a:prstGeom>
          <a:noFill/>
          <a:ln w="63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0B1B32ED-B90E-421F-EFFD-2DCFFFA9494C}"/>
              </a:ext>
            </a:extLst>
          </p:cNvPr>
          <p:cNvSpPr/>
          <p:nvPr/>
        </p:nvSpPr>
        <p:spPr>
          <a:xfrm>
            <a:off x="6179307" y="2440250"/>
            <a:ext cx="2902229" cy="47889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61913" tIns="0" rIns="0" bIns="0" rtlCol="0" anchor="ctr"/>
          <a:lstStyle/>
          <a:p>
            <a:pPr>
              <a:lnSpc>
                <a:spcPct val="150000"/>
              </a:lnSpc>
              <a:buSzPct val="100000"/>
            </a:pPr>
            <a:r>
              <a:rPr lang="zh-CN" altLang="en-US" sz="800" dirty="0">
                <a:latin typeface="+mn-ea"/>
              </a:rPr>
              <a:t>由于品类扩充新上榜的商户，对于上线套代买项目冲榜动作显著</a:t>
            </a:r>
            <a:r>
              <a:rPr lang="en-US" altLang="zh-CN" sz="800" dirty="0">
                <a:latin typeface="+mn-ea"/>
              </a:rPr>
              <a:t>,</a:t>
            </a:r>
            <a:r>
              <a:rPr lang="zh-CN" altLang="en-US" sz="800" dirty="0">
                <a:latin typeface="+mn-ea"/>
              </a:rPr>
              <a:t>对比之前，在线项目数增加约</a:t>
            </a:r>
            <a:r>
              <a:rPr lang="en-US" altLang="zh-CN" sz="800" dirty="0">
                <a:latin typeface="+mn-ea"/>
              </a:rPr>
              <a:t>4</a:t>
            </a:r>
            <a:r>
              <a:rPr lang="zh-CN" altLang="en-US" sz="800" dirty="0">
                <a:latin typeface="+mn-ea"/>
              </a:rPr>
              <a:t>万，动销项目数增加约</a:t>
            </a:r>
            <a:r>
              <a:rPr lang="en-US" altLang="zh-CN" sz="800" dirty="0">
                <a:latin typeface="+mn-ea"/>
              </a:rPr>
              <a:t>5</a:t>
            </a:r>
            <a:r>
              <a:rPr lang="zh-CN" altLang="en-US" sz="800" dirty="0">
                <a:latin typeface="+mn-ea"/>
              </a:rPr>
              <a:t>万</a:t>
            </a:r>
            <a:endParaRPr lang="zh-CN" altLang="en-US" sz="800" dirty="0"/>
          </a:p>
        </p:txBody>
      </p:sp>
      <p:sp>
        <p:nvSpPr>
          <p:cNvPr id="23" name="米菲PPT1">
            <a:extLst>
              <a:ext uri="{FF2B5EF4-FFF2-40B4-BE49-F238E27FC236}">
                <a16:creationId xmlns:a16="http://schemas.microsoft.com/office/drawing/2014/main" id="{84A3BB70-8C88-17CE-9B4E-F96826EE2EDB}"/>
              </a:ext>
            </a:extLst>
          </p:cNvPr>
          <p:cNvSpPr/>
          <p:nvPr/>
        </p:nvSpPr>
        <p:spPr>
          <a:xfrm>
            <a:off x="50799" y="2969954"/>
            <a:ext cx="9058124" cy="822969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pPr algn="ctr"/>
            <a:endParaRPr lang="en-US" altLang="zh-CN" sz="2000" i="1" u="sng" dirty="0">
              <a:solidFill>
                <a:srgbClr val="C7723D"/>
              </a:solidFill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2A16506-A886-EB7B-4F86-EAEB5DEC6AF3}"/>
              </a:ext>
            </a:extLst>
          </p:cNvPr>
          <p:cNvSpPr txBox="1"/>
          <p:nvPr/>
        </p:nvSpPr>
        <p:spPr>
          <a:xfrm>
            <a:off x="64565" y="2944637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i="1" dirty="0">
                <a:solidFill>
                  <a:srgbClr val="C00000"/>
                </a:solidFill>
              </a:rPr>
              <a:t>销售原声：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56161AB-AAC4-2583-72B7-0121B18DAA7C}"/>
              </a:ext>
            </a:extLst>
          </p:cNvPr>
          <p:cNvSpPr txBox="1"/>
          <p:nvPr/>
        </p:nvSpPr>
        <p:spPr>
          <a:xfrm>
            <a:off x="509558" y="3056154"/>
            <a:ext cx="8567882" cy="758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000" i="1" dirty="0">
                <a:solidFill>
                  <a:schemeClr val="bg1">
                    <a:lumMod val="50000"/>
                  </a:schemeClr>
                </a:solidFill>
                <a:effectLst/>
              </a:rPr>
              <a:t>“会更方便消费者更有针对性的选择自己想尝试的品类，那对于商家来说，竞争也会显得更公平一些，像之前如果品类太大了，那其实你一个类目榜单下的门店，他的实际区别其实还是差蛮多的，所以我觉得这改变挺好的”</a:t>
            </a:r>
            <a:r>
              <a:rPr lang="en-US" altLang="zh-CN" sz="1000" i="1" dirty="0">
                <a:solidFill>
                  <a:schemeClr val="bg1">
                    <a:lumMod val="50000"/>
                  </a:schemeClr>
                </a:solidFill>
                <a:effectLst/>
              </a:rPr>
              <a:t>---</a:t>
            </a:r>
            <a:r>
              <a:rPr lang="zh-CN" altLang="en-US" sz="1000" i="1" dirty="0">
                <a:solidFill>
                  <a:schemeClr val="bg1">
                    <a:lumMod val="50000"/>
                  </a:schemeClr>
                </a:solidFill>
                <a:effectLst/>
              </a:rPr>
              <a:t>区域品牌客户部</a:t>
            </a:r>
            <a:r>
              <a:rPr lang="en-US" altLang="zh-CN" sz="1000" i="1" dirty="0">
                <a:solidFill>
                  <a:schemeClr val="bg1">
                    <a:lumMod val="50000"/>
                  </a:schemeClr>
                </a:solidFill>
                <a:effectLst/>
              </a:rPr>
              <a:t>—</a:t>
            </a:r>
            <a:r>
              <a:rPr lang="zh-CN" altLang="en-US" sz="1000" i="1" dirty="0">
                <a:solidFill>
                  <a:schemeClr val="bg1">
                    <a:lumMod val="50000"/>
                  </a:schemeClr>
                </a:solidFill>
              </a:rPr>
              <a:t>福州三组</a:t>
            </a:r>
            <a:endParaRPr lang="en-US" altLang="zh-CN" sz="1000" i="1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000" i="1" dirty="0">
                <a:solidFill>
                  <a:schemeClr val="bg1">
                    <a:lumMod val="50000"/>
                  </a:schemeClr>
                </a:solidFill>
              </a:rPr>
              <a:t>“目前下来没有收到商户什么意见和投诉，整体改动还是不错的</a:t>
            </a:r>
            <a:r>
              <a:rPr lang="en-US" altLang="zh-CN" sz="1000" i="1" dirty="0">
                <a:solidFill>
                  <a:schemeClr val="bg1">
                    <a:lumMod val="50000"/>
                  </a:schemeClr>
                </a:solidFill>
              </a:rPr>
              <a:t>~</a:t>
            </a:r>
            <a:r>
              <a:rPr lang="zh-CN" altLang="en-US" sz="1000" i="1" dirty="0">
                <a:solidFill>
                  <a:schemeClr val="bg1">
                    <a:lumMod val="50000"/>
                  </a:schemeClr>
                </a:solidFill>
              </a:rPr>
              <a:t>”</a:t>
            </a:r>
            <a:r>
              <a:rPr lang="en-US" altLang="zh-CN" sz="1000" i="1" dirty="0">
                <a:solidFill>
                  <a:schemeClr val="bg1">
                    <a:lumMod val="50000"/>
                  </a:schemeClr>
                </a:solidFill>
              </a:rPr>
              <a:t>---</a:t>
            </a:r>
            <a:r>
              <a:rPr lang="zh-CN" altLang="en-US" sz="1000" i="1" dirty="0">
                <a:solidFill>
                  <a:schemeClr val="bg1">
                    <a:lumMod val="50000"/>
                  </a:schemeClr>
                </a:solidFill>
              </a:rPr>
              <a:t>蜂窝</a:t>
            </a:r>
            <a:r>
              <a:rPr lang="en-US" altLang="zh-CN" sz="1000" i="1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zh-CN" altLang="en-US" sz="1000" i="1" dirty="0">
                <a:solidFill>
                  <a:schemeClr val="bg1">
                    <a:lumMod val="50000"/>
                  </a:schemeClr>
                </a:solidFill>
              </a:rPr>
              <a:t>苏州二区</a:t>
            </a:r>
          </a:p>
        </p:txBody>
      </p:sp>
      <p:sp>
        <p:nvSpPr>
          <p:cNvPr id="53" name="米菲PPT1">
            <a:extLst>
              <a:ext uri="{FF2B5EF4-FFF2-40B4-BE49-F238E27FC236}">
                <a16:creationId xmlns:a16="http://schemas.microsoft.com/office/drawing/2014/main" id="{483E02CD-7097-FD88-76A0-A72866DE3BE0}"/>
              </a:ext>
            </a:extLst>
          </p:cNvPr>
          <p:cNvSpPr/>
          <p:nvPr/>
        </p:nvSpPr>
        <p:spPr>
          <a:xfrm>
            <a:off x="50799" y="3817325"/>
            <a:ext cx="9058124" cy="1175980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2">
                <a:lumMod val="40000"/>
                <a:lumOff val="60000"/>
                <a:alpha val="78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t">
            <a:noAutofit/>
          </a:bodyPr>
          <a:lstStyle/>
          <a:p>
            <a:r>
              <a:rPr lang="zh-CN" altLang="en-US" sz="1100" b="1" dirty="0">
                <a:solidFill>
                  <a:schemeClr val="tx1"/>
                </a:solidFill>
                <a:latin typeface="+mn-ea"/>
              </a:rPr>
              <a:t>下一步计划</a:t>
            </a:r>
            <a:endParaRPr lang="en-US" altLang="zh-CN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26A1A35-557B-2E68-79B6-E69814295BFA}"/>
              </a:ext>
            </a:extLst>
          </p:cNvPr>
          <p:cNvSpPr txBox="1"/>
          <p:nvPr/>
        </p:nvSpPr>
        <p:spPr>
          <a:xfrm>
            <a:off x="126212" y="4074775"/>
            <a:ext cx="8856912" cy="758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① 细化城市 </a:t>
            </a:r>
            <a:r>
              <a:rPr lang="en-US" altLang="zh-CN" sz="1000" b="1" i="0" dirty="0">
                <a:solidFill>
                  <a:srgbClr val="0D0D0D"/>
                </a:solidFill>
                <a:effectLst/>
                <a:latin typeface="-apple-system"/>
              </a:rPr>
              <a:t>x</a:t>
            </a: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 </a:t>
            </a:r>
            <a:r>
              <a:rPr lang="zh-CN" altLang="en-US" sz="1000" b="1" dirty="0">
                <a:solidFill>
                  <a:srgbClr val="0D0D0D"/>
                </a:solidFill>
                <a:latin typeface="-apple-system"/>
              </a:rPr>
              <a:t>特色</a:t>
            </a: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品类榜：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依托城市维度的差异化品类需求洞察，持续扩充个性化榜单品类覆盖广度，提升榜单对本地化消费场景的精准适配能力。</a:t>
            </a: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② 识别需求缺口品类：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基于用户搜索意图数据，系统性识别当前榜单尚未有效承接的品类需求缺口，以需求为导向持续迭代完善榜单品类体系。</a:t>
            </a: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③ 监测潜力赛道：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紧跟餐饮行业热点趋势动态，重点关注新兴品类的孵化与成长路径，定期盘点高增速细分赛道，前瞻性布局潜力品类。</a:t>
            </a:r>
            <a:endParaRPr lang="zh-CN" altLang="en-US" sz="1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5A35BC-73E2-9683-8244-3240E8E0145B}"/>
              </a:ext>
            </a:extLst>
          </p:cNvPr>
          <p:cNvSpPr txBox="1"/>
          <p:nvPr/>
        </p:nvSpPr>
        <p:spPr>
          <a:xfrm>
            <a:off x="-2682964" y="1825985"/>
            <a:ext cx="2650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用户需求的提升用数据提升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弱化后面的图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4325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80671-E249-AF42-5853-88E420CF0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9AFDD28-5F23-1E3E-E413-DDD11ED42E44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菜品需求的试点 </a:t>
            </a:r>
            <a:r>
              <a:rPr lang="en-US" altLang="zh-CN" sz="2100" dirty="0">
                <a:latin typeface="+mj-ea"/>
              </a:rPr>
              <a:t>@</a:t>
            </a:r>
            <a:r>
              <a:rPr lang="zh-CN" altLang="en-US" sz="2100" dirty="0">
                <a:latin typeface="+mj-ea"/>
              </a:rPr>
              <a:t>思佳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655D2B3-379B-D86A-CBB5-BE84E901902E}"/>
              </a:ext>
            </a:extLst>
          </p:cNvPr>
          <p:cNvGraphicFramePr>
            <a:graphicFrameLocks noGrp="1"/>
          </p:cNvGraphicFramePr>
          <p:nvPr/>
        </p:nvGraphicFramePr>
        <p:xfrm>
          <a:off x="1180371" y="5436740"/>
          <a:ext cx="2902847" cy="609600"/>
        </p:xfrm>
        <a:graphic>
          <a:graphicData uri="http://schemas.openxmlformats.org/drawingml/2006/table">
            <a:tbl>
              <a:tblPr/>
              <a:tblGrid>
                <a:gridCol w="1079056">
                  <a:extLst>
                    <a:ext uri="{9D8B030D-6E8A-4147-A177-3AD203B41FA5}">
                      <a16:colId xmlns:a16="http://schemas.microsoft.com/office/drawing/2014/main" val="106024292"/>
                    </a:ext>
                  </a:extLst>
                </a:gridCol>
                <a:gridCol w="722166">
                  <a:extLst>
                    <a:ext uri="{9D8B030D-6E8A-4147-A177-3AD203B41FA5}">
                      <a16:colId xmlns:a16="http://schemas.microsoft.com/office/drawing/2014/main" val="484859794"/>
                    </a:ext>
                  </a:extLst>
                </a:gridCol>
                <a:gridCol w="1101625">
                  <a:extLst>
                    <a:ext uri="{9D8B030D-6E8A-4147-A177-3AD203B41FA5}">
                      <a16:colId xmlns:a16="http://schemas.microsoft.com/office/drawing/2014/main" val="2085393242"/>
                    </a:ext>
                  </a:extLst>
                </a:gridCol>
              </a:tblGrid>
              <a:tr h="136685"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榜单页面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意向访购率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b="1" dirty="0">
                          <a:effectLst/>
                          <a:latin typeface="+mn-ea"/>
                          <a:ea typeface="+mn-ea"/>
                        </a:rPr>
                        <a:t>页面平均停留时长</a:t>
                      </a:r>
                    </a:p>
                  </a:txBody>
                  <a:tcPr marL="60960" marR="60960" marT="7620" marB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52804"/>
                  </a:ext>
                </a:extLst>
              </a:tr>
              <a:tr h="136685"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春鲜套餐榜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dirty="0">
                          <a:solidFill>
                            <a:srgbClr val="00B050"/>
                          </a:solidFill>
                          <a:effectLst/>
                          <a:latin typeface="+mn-ea"/>
                          <a:ea typeface="+mn-ea"/>
                        </a:rPr>
                        <a:t>24.3%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dirty="0">
                          <a:solidFill>
                            <a:srgbClr val="00B050"/>
                          </a:solidFill>
                          <a:effectLst/>
                          <a:latin typeface="+mn-ea"/>
                          <a:ea typeface="+mn-ea"/>
                        </a:rPr>
                        <a:t>15.38</a:t>
                      </a:r>
                    </a:p>
                  </a:txBody>
                  <a:tcPr marL="60960" marR="60960" marT="7620" marB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34799"/>
                  </a:ext>
                </a:extLst>
              </a:tr>
              <a:tr h="136685"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美团榜单聚合页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7.8%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10.60</a:t>
                      </a:r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0960" marR="60960" marT="7620" marB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550726"/>
                  </a:ext>
                </a:extLst>
              </a:tr>
              <a:tr h="136685">
                <a:tc>
                  <a:txBody>
                    <a:bodyPr/>
                    <a:lstStyle/>
                    <a:p>
                      <a:pPr marL="0" marR="0" algn="ctr"/>
                      <a:r>
                        <a:rPr lang="zh-CN" altLang="en-US" sz="900" dirty="0">
                          <a:effectLst/>
                          <a:latin typeface="+mn-ea"/>
                          <a:ea typeface="+mn-ea"/>
                        </a:rPr>
                        <a:t>夜宵页面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dirty="0">
                          <a:effectLst/>
                          <a:latin typeface="+mn-ea"/>
                          <a:ea typeface="+mn-ea"/>
                        </a:rPr>
                        <a:t>1.7%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altLang="zh-CN" sz="900" dirty="0">
                          <a:solidFill>
                            <a:srgbClr val="333333"/>
                          </a:solidFill>
                          <a:effectLst/>
                          <a:latin typeface="+mn-ea"/>
                          <a:ea typeface="+mn-ea"/>
                        </a:rPr>
                        <a:t>10.67</a:t>
                      </a:r>
                      <a:endParaRPr lang="zh-CN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0960" marR="60960" marT="7620" marB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14811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84EC417-4061-095E-3CCD-270AC7DAC4A1}"/>
              </a:ext>
            </a:extLst>
          </p:cNvPr>
          <p:cNvGraphicFramePr>
            <a:graphicFrameLocks noGrp="1"/>
          </p:cNvGraphicFramePr>
          <p:nvPr/>
        </p:nvGraphicFramePr>
        <p:xfrm>
          <a:off x="1205847" y="6101111"/>
          <a:ext cx="2877371" cy="1021080"/>
        </p:xfrm>
        <a:graphic>
          <a:graphicData uri="http://schemas.openxmlformats.org/drawingml/2006/table">
            <a:tbl>
              <a:tblPr/>
              <a:tblGrid>
                <a:gridCol w="737459">
                  <a:extLst>
                    <a:ext uri="{9D8B030D-6E8A-4147-A177-3AD203B41FA5}">
                      <a16:colId xmlns:a16="http://schemas.microsoft.com/office/drawing/2014/main" val="4237499778"/>
                    </a:ext>
                  </a:extLst>
                </a:gridCol>
                <a:gridCol w="776496">
                  <a:extLst>
                    <a:ext uri="{9D8B030D-6E8A-4147-A177-3AD203B41FA5}">
                      <a16:colId xmlns:a16="http://schemas.microsoft.com/office/drawing/2014/main" val="1732316195"/>
                    </a:ext>
                  </a:extLst>
                </a:gridCol>
                <a:gridCol w="371218">
                  <a:extLst>
                    <a:ext uri="{9D8B030D-6E8A-4147-A177-3AD203B41FA5}">
                      <a16:colId xmlns:a16="http://schemas.microsoft.com/office/drawing/2014/main" val="2101303336"/>
                    </a:ext>
                  </a:extLst>
                </a:gridCol>
                <a:gridCol w="496099">
                  <a:extLst>
                    <a:ext uri="{9D8B030D-6E8A-4147-A177-3AD203B41FA5}">
                      <a16:colId xmlns:a16="http://schemas.microsoft.com/office/drawing/2014/main" val="703550395"/>
                    </a:ext>
                  </a:extLst>
                </a:gridCol>
                <a:gridCol w="496099">
                  <a:extLst>
                    <a:ext uri="{9D8B030D-6E8A-4147-A177-3AD203B41FA5}">
                      <a16:colId xmlns:a16="http://schemas.microsoft.com/office/drawing/2014/main" val="341644536"/>
                    </a:ext>
                  </a:extLst>
                </a:gridCol>
              </a:tblGrid>
              <a:tr h="243031"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周期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春鲜</a:t>
                      </a:r>
                      <a:r>
                        <a:rPr lang="en-US" sz="900" b="1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poi×deal</a:t>
                      </a:r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数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订单量</a:t>
                      </a:r>
                      <a:endParaRPr lang="en-US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GTV</a:t>
                      </a: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zh-CN" altLang="en-US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意向</a:t>
                      </a:r>
                      <a:r>
                        <a:rPr lang="en-US" altLang="zh-CN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UV</a:t>
                      </a: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41986"/>
                  </a:ext>
                </a:extLst>
              </a:tr>
              <a:tr h="243031"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本期</a:t>
                      </a: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4.03~4.12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38533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33.0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万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8176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万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289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万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846829"/>
                  </a:ext>
                </a:extLst>
              </a:tr>
              <a:tr h="243031"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基期</a:t>
                      </a:r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3.20~3.29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29.6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万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7722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万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260</a:t>
                      </a:r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万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837401"/>
                  </a:ext>
                </a:extLst>
              </a:tr>
              <a:tr h="129114"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zh-CN" altLang="en-US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环比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 marL="60960" marR="60960" marT="7620" marB="762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rgbClr val="00B05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13%</a:t>
                      </a: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rgbClr val="00B05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685800" rtl="0" eaLnBrk="1" latinLnBrk="0" hangingPunct="1"/>
                      <a:r>
                        <a:rPr lang="en-US" altLang="zh-CN" sz="900" kern="1200" dirty="0">
                          <a:solidFill>
                            <a:srgbClr val="00B05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11%</a:t>
                      </a:r>
                    </a:p>
                  </a:txBody>
                  <a:tcPr marL="60960" marR="60960" marT="7620" marB="7620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503459"/>
                  </a:ext>
                </a:extLst>
              </a:tr>
            </a:tbl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8107D821-D083-7A3E-6B22-1F091590AD09}"/>
              </a:ext>
            </a:extLst>
          </p:cNvPr>
          <p:cNvSpPr/>
          <p:nvPr/>
        </p:nvSpPr>
        <p:spPr>
          <a:xfrm>
            <a:off x="100584" y="428937"/>
            <a:ext cx="8933687" cy="1595562"/>
          </a:xfrm>
          <a:prstGeom prst="rect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992281-22D6-1D31-3922-F5954819B3EB}"/>
              </a:ext>
            </a:extLst>
          </p:cNvPr>
          <p:cNvSpPr/>
          <p:nvPr/>
        </p:nvSpPr>
        <p:spPr>
          <a:xfrm>
            <a:off x="100584" y="2051413"/>
            <a:ext cx="8942832" cy="1776173"/>
          </a:xfrm>
          <a:prstGeom prst="rect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D927B88-768C-F6A5-B4F0-DB53A72C1069}"/>
              </a:ext>
            </a:extLst>
          </p:cNvPr>
          <p:cNvGrpSpPr/>
          <p:nvPr/>
        </p:nvGrpSpPr>
        <p:grpSpPr>
          <a:xfrm>
            <a:off x="447042" y="2093208"/>
            <a:ext cx="2289035" cy="1658471"/>
            <a:chOff x="148338" y="2102649"/>
            <a:chExt cx="2289035" cy="1658471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8716102A-4290-67E1-13A6-9C9E92D65685}"/>
                </a:ext>
              </a:extLst>
            </p:cNvPr>
            <p:cNvSpPr/>
            <p:nvPr/>
          </p:nvSpPr>
          <p:spPr>
            <a:xfrm>
              <a:off x="148338" y="2102649"/>
              <a:ext cx="2238657" cy="180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搜索型动线</a:t>
              </a:r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A326628C-BCC5-7FF3-49D4-9E45C379028A}"/>
                </a:ext>
              </a:extLst>
            </p:cNvPr>
            <p:cNvGrpSpPr/>
            <p:nvPr/>
          </p:nvGrpSpPr>
          <p:grpSpPr>
            <a:xfrm>
              <a:off x="156788" y="2253288"/>
              <a:ext cx="2280585" cy="1507832"/>
              <a:chOff x="133340" y="2253288"/>
              <a:chExt cx="2280585" cy="1507832"/>
            </a:xfrm>
          </p:grpSpPr>
          <p:pic>
            <p:nvPicPr>
              <p:cNvPr id="37" name="图片 36">
                <a:extLst>
                  <a:ext uri="{FF2B5EF4-FFF2-40B4-BE49-F238E27FC236}">
                    <a16:creationId xmlns:a16="http://schemas.microsoft.com/office/drawing/2014/main" id="{44D94A34-2841-FBFE-D322-6E0177FB1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9173" y="2429120"/>
                <a:ext cx="646167" cy="1332000"/>
              </a:xfrm>
              <a:prstGeom prst="rect">
                <a:avLst/>
              </a:prstGeom>
            </p:spPr>
          </p:pic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4289C5C9-3B11-E660-5F26-78A9D8829A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340" y="2429120"/>
                <a:ext cx="874225" cy="1332000"/>
              </a:xfrm>
              <a:prstGeom prst="rect">
                <a:avLst/>
              </a:prstGeom>
            </p:spPr>
          </p:pic>
          <p:pic>
            <p:nvPicPr>
              <p:cNvPr id="43" name="图片 42">
                <a:extLst>
                  <a:ext uri="{FF2B5EF4-FFF2-40B4-BE49-F238E27FC236}">
                    <a16:creationId xmlns:a16="http://schemas.microsoft.com/office/drawing/2014/main" id="{8D4FBC29-FBFD-0665-C5E7-EA2C1ABA18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2262" y="2429120"/>
                <a:ext cx="655424" cy="1332000"/>
              </a:xfrm>
              <a:prstGeom prst="rect">
                <a:avLst/>
              </a:prstGeom>
            </p:spPr>
          </p:pic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94247C5C-4C8B-AC6A-D590-614984E8D0E0}"/>
                  </a:ext>
                </a:extLst>
              </p:cNvPr>
              <p:cNvSpPr txBox="1"/>
              <p:nvPr/>
            </p:nvSpPr>
            <p:spPr>
              <a:xfrm>
                <a:off x="201480" y="2253288"/>
                <a:ext cx="221244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大搜</a:t>
                </a:r>
                <a:r>
                  <a:rPr lang="en-US" altLang="zh-CN" sz="800" i="1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sug</a:t>
                </a:r>
                <a:r>
                  <a:rPr lang="en-US" altLang="zh-CN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      </a:t>
                </a:r>
                <a:r>
                  <a:rPr lang="zh-CN" altLang="en-US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大搜阿拉丁    大搜热搜榜</a:t>
                </a:r>
                <a:r>
                  <a:rPr lang="en-US" altLang="zh-CN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 </a:t>
                </a:r>
                <a:endParaRPr lang="zh-CN" altLang="en-US" sz="800" i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2D13A78-954F-F342-3264-ECA360769F06}"/>
              </a:ext>
            </a:extLst>
          </p:cNvPr>
          <p:cNvGrpSpPr/>
          <p:nvPr/>
        </p:nvGrpSpPr>
        <p:grpSpPr>
          <a:xfrm>
            <a:off x="2733972" y="2093208"/>
            <a:ext cx="2241877" cy="1658471"/>
            <a:chOff x="2593764" y="2102649"/>
            <a:chExt cx="2241877" cy="1658471"/>
          </a:xfrm>
        </p:grpSpPr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151F0613-E524-1E08-2C35-9D075762453F}"/>
                </a:ext>
              </a:extLst>
            </p:cNvPr>
            <p:cNvSpPr/>
            <p:nvPr/>
          </p:nvSpPr>
          <p:spPr>
            <a:xfrm>
              <a:off x="2615184" y="2102649"/>
              <a:ext cx="2141117" cy="180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筛选型动线</a:t>
              </a:r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F57E66F0-5E8A-DBEC-650A-60D2AB746473}"/>
                </a:ext>
              </a:extLst>
            </p:cNvPr>
            <p:cNvGrpSpPr/>
            <p:nvPr/>
          </p:nvGrpSpPr>
          <p:grpSpPr>
            <a:xfrm>
              <a:off x="2593764" y="2253288"/>
              <a:ext cx="2241877" cy="1507832"/>
              <a:chOff x="2406186" y="2253288"/>
              <a:chExt cx="2241877" cy="1507832"/>
            </a:xfrm>
          </p:grpSpPr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0E14EBC0-660F-B847-355E-CE4EEA8FEE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6186" y="2429120"/>
                <a:ext cx="644789" cy="1332000"/>
              </a:xfrm>
              <a:prstGeom prst="rect">
                <a:avLst/>
              </a:prstGeom>
            </p:spPr>
          </p:pic>
          <p:pic>
            <p:nvPicPr>
              <p:cNvPr id="27" name="图片 26">
                <a:extLst>
                  <a:ext uri="{FF2B5EF4-FFF2-40B4-BE49-F238E27FC236}">
                    <a16:creationId xmlns:a16="http://schemas.microsoft.com/office/drawing/2014/main" id="{1D0651C7-FA18-BFD0-8E69-82729C88C8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76131" y="2429120"/>
                <a:ext cx="680609" cy="1332000"/>
              </a:xfrm>
              <a:prstGeom prst="rect">
                <a:avLst/>
              </a:prstGeom>
            </p:spPr>
          </p:pic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CD37D5DC-B2F4-2E84-1B9F-03F190682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2133"/>
              <a:stretch/>
            </p:blipFill>
            <p:spPr>
              <a:xfrm>
                <a:off x="3054262" y="2429120"/>
                <a:ext cx="790025" cy="1332000"/>
              </a:xfrm>
              <a:prstGeom prst="rect">
                <a:avLst/>
              </a:prstGeom>
            </p:spPr>
          </p:pic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A5AEDC5-136E-99DF-5AA1-9F9EB4D964B4}"/>
                  </a:ext>
                </a:extLst>
              </p:cNvPr>
              <p:cNvSpPr txBox="1"/>
              <p:nvPr/>
            </p:nvSpPr>
            <p:spPr>
              <a:xfrm>
                <a:off x="2435618" y="2253288"/>
                <a:ext cx="221244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美食频道快筛    金刚位</a:t>
                </a:r>
                <a:r>
                  <a:rPr lang="en-US" altLang="zh-CN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    </a:t>
                </a:r>
                <a:r>
                  <a:rPr lang="zh-CN" altLang="en-US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团购频道快筛</a:t>
                </a:r>
              </a:p>
            </p:txBody>
          </p:sp>
        </p:grp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00D98C6A-FAC0-0FB4-87DE-BEE04B461E8B}"/>
              </a:ext>
            </a:extLst>
          </p:cNvPr>
          <p:cNvGrpSpPr/>
          <p:nvPr/>
        </p:nvGrpSpPr>
        <p:grpSpPr>
          <a:xfrm>
            <a:off x="5017029" y="2093208"/>
            <a:ext cx="2093861" cy="1658472"/>
            <a:chOff x="4968261" y="2102648"/>
            <a:chExt cx="2093861" cy="1658472"/>
          </a:xfrm>
        </p:grpSpPr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67CB2ED1-15B2-AF75-1071-0FDEBA689641}"/>
                </a:ext>
              </a:extLst>
            </p:cNvPr>
            <p:cNvSpPr/>
            <p:nvPr/>
          </p:nvSpPr>
          <p:spPr>
            <a:xfrm>
              <a:off x="4984490" y="2102648"/>
              <a:ext cx="2055628" cy="180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发现型动线</a:t>
              </a:r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E1D44809-7EAE-65C9-A437-81F18248AB73}"/>
                </a:ext>
              </a:extLst>
            </p:cNvPr>
            <p:cNvGrpSpPr/>
            <p:nvPr/>
          </p:nvGrpSpPr>
          <p:grpSpPr>
            <a:xfrm>
              <a:off x="4968261" y="2253288"/>
              <a:ext cx="2093861" cy="1507832"/>
              <a:chOff x="4587263" y="2253288"/>
              <a:chExt cx="2093861" cy="1507832"/>
            </a:xfrm>
          </p:grpSpPr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F94B6F88-D11F-C5C6-4D07-A4720CB36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36115" y="2429120"/>
                <a:ext cx="660188" cy="1332000"/>
              </a:xfrm>
              <a:prstGeom prst="rect">
                <a:avLst/>
              </a:prstGeom>
            </p:spPr>
          </p:pic>
          <p:pic>
            <p:nvPicPr>
              <p:cNvPr id="59" name="图片 58">
                <a:extLst>
                  <a:ext uri="{FF2B5EF4-FFF2-40B4-BE49-F238E27FC236}">
                    <a16:creationId xmlns:a16="http://schemas.microsoft.com/office/drawing/2014/main" id="{306D1F12-09D0-F84C-34F7-2DB4F8C09E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37267" y="2429120"/>
                <a:ext cx="691616" cy="1332000"/>
              </a:xfrm>
              <a:prstGeom prst="rect">
                <a:avLst/>
              </a:prstGeom>
            </p:spPr>
          </p:pic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381A0CBE-7255-F325-A859-79BF6E5F126D}"/>
                  </a:ext>
                </a:extLst>
              </p:cNvPr>
              <p:cNvSpPr txBox="1"/>
              <p:nvPr/>
            </p:nvSpPr>
            <p:spPr>
              <a:xfrm>
                <a:off x="4587263" y="2253288"/>
                <a:ext cx="209386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美食频道猜你想搜  中通     大搜默认词 </a:t>
                </a:r>
              </a:p>
            </p:txBody>
          </p:sp>
          <p:pic>
            <p:nvPicPr>
              <p:cNvPr id="70" name="图片 69">
                <a:extLst>
                  <a:ext uri="{FF2B5EF4-FFF2-40B4-BE49-F238E27FC236}">
                    <a16:creationId xmlns:a16="http://schemas.microsoft.com/office/drawing/2014/main" id="{3E26B23D-1E97-C51F-37C8-A080184705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03535" y="2429120"/>
                <a:ext cx="677589" cy="1332000"/>
              </a:xfrm>
              <a:prstGeom prst="rect">
                <a:avLst/>
              </a:prstGeom>
            </p:spPr>
          </p:pic>
        </p:grp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26D0A494-BC36-7075-E995-36B4D397A4A3}"/>
              </a:ext>
            </a:extLst>
          </p:cNvPr>
          <p:cNvGrpSpPr/>
          <p:nvPr/>
        </p:nvGrpSpPr>
        <p:grpSpPr>
          <a:xfrm>
            <a:off x="7268308" y="2093208"/>
            <a:ext cx="1989757" cy="1658472"/>
            <a:chOff x="7268308" y="2102648"/>
            <a:chExt cx="1989757" cy="1658472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11922B51-0471-221A-6D1D-07B38CFE9C3F}"/>
                </a:ext>
              </a:extLst>
            </p:cNvPr>
            <p:cNvSpPr/>
            <p:nvPr/>
          </p:nvSpPr>
          <p:spPr>
            <a:xfrm>
              <a:off x="7268308" y="2102648"/>
              <a:ext cx="1710761" cy="18000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触发型动线</a:t>
              </a:r>
            </a:p>
          </p:txBody>
        </p: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2B020F14-B426-6CC2-80E0-5083E964BD8C}"/>
                </a:ext>
              </a:extLst>
            </p:cNvPr>
            <p:cNvGrpSpPr/>
            <p:nvPr/>
          </p:nvGrpSpPr>
          <p:grpSpPr>
            <a:xfrm>
              <a:off x="7358359" y="2253288"/>
              <a:ext cx="1899706" cy="1507832"/>
              <a:chOff x="7049229" y="2253288"/>
              <a:chExt cx="1899706" cy="1507832"/>
            </a:xfrm>
          </p:grpSpPr>
          <p:pic>
            <p:nvPicPr>
              <p:cNvPr id="45" name="图片 44">
                <a:extLst>
                  <a:ext uri="{FF2B5EF4-FFF2-40B4-BE49-F238E27FC236}">
                    <a16:creationId xmlns:a16="http://schemas.microsoft.com/office/drawing/2014/main" id="{F5BC2BD4-0379-AA48-9109-26FF946E8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12301" y="2429120"/>
                <a:ext cx="732099" cy="1332000"/>
              </a:xfrm>
              <a:prstGeom prst="rect">
                <a:avLst/>
              </a:prstGeom>
            </p:spPr>
          </p:pic>
          <p:pic>
            <p:nvPicPr>
              <p:cNvPr id="47" name="图片 46">
                <a:extLst>
                  <a:ext uri="{FF2B5EF4-FFF2-40B4-BE49-F238E27FC236}">
                    <a16:creationId xmlns:a16="http://schemas.microsoft.com/office/drawing/2014/main" id="{908C62A2-2EFA-DC1A-9916-CC102E6FBA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49229" y="2429120"/>
                <a:ext cx="668591" cy="1332000"/>
              </a:xfrm>
              <a:prstGeom prst="rect">
                <a:avLst/>
              </a:prstGeom>
            </p:spPr>
          </p:pic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2ED665B-E505-0E40-CAA8-45F8BAB0EF29}"/>
                  </a:ext>
                </a:extLst>
              </p:cNvPr>
              <p:cNvSpPr txBox="1"/>
              <p:nvPr/>
            </p:nvSpPr>
            <p:spPr>
              <a:xfrm>
                <a:off x="7049229" y="2253288"/>
                <a:ext cx="189970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首页猜喜         </a:t>
                </a:r>
                <a:r>
                  <a:rPr lang="en-US" altLang="zh-CN" sz="800" i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PUSH</a:t>
                </a:r>
                <a:endParaRPr lang="zh-CN" altLang="en-US" sz="800" i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</p:grpSp>
      </p:grpSp>
      <p:pic>
        <p:nvPicPr>
          <p:cNvPr id="81" name="图片 80">
            <a:extLst>
              <a:ext uri="{FF2B5EF4-FFF2-40B4-BE49-F238E27FC236}">
                <a16:creationId xmlns:a16="http://schemas.microsoft.com/office/drawing/2014/main" id="{DE8D8273-FD45-842C-9F4C-D1A111F7DC1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27498"/>
          <a:stretch/>
        </p:blipFill>
        <p:spPr>
          <a:xfrm>
            <a:off x="192250" y="460188"/>
            <a:ext cx="1224000" cy="15617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3" name="矩形 82">
            <a:extLst>
              <a:ext uri="{FF2B5EF4-FFF2-40B4-BE49-F238E27FC236}">
                <a16:creationId xmlns:a16="http://schemas.microsoft.com/office/drawing/2014/main" id="{CDC5B1BA-566D-D640-3FE6-444F744D70FD}"/>
              </a:ext>
            </a:extLst>
          </p:cNvPr>
          <p:cNvSpPr/>
          <p:nvPr/>
        </p:nvSpPr>
        <p:spPr>
          <a:xfrm>
            <a:off x="100583" y="3879544"/>
            <a:ext cx="8933687" cy="1096902"/>
          </a:xfrm>
          <a:prstGeom prst="rect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zh-CN" altLang="en-US" sz="1000" b="1" i="1" dirty="0">
                <a:solidFill>
                  <a:schemeClr val="tx1"/>
                </a:solidFill>
              </a:rPr>
              <a:t>下一步计划</a:t>
            </a:r>
            <a:endParaRPr lang="en-US" altLang="zh-CN" sz="1000" b="1" i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① </a:t>
            </a:r>
            <a:r>
              <a:rPr lang="en-US" altLang="zh-CN" sz="1000" b="1" i="0" dirty="0">
                <a:solidFill>
                  <a:srgbClr val="0D0D0D"/>
                </a:solidFill>
                <a:effectLst/>
                <a:latin typeface="-apple-system"/>
              </a:rPr>
              <a:t>AI </a:t>
            </a: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赋能供给沉淀：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借助 </a:t>
            </a:r>
            <a:r>
              <a:rPr lang="en-US" altLang="zh-CN" sz="1000" b="0" i="0" dirty="0">
                <a:solidFill>
                  <a:srgbClr val="0D0D0D"/>
                </a:solidFill>
                <a:effectLst/>
                <a:latin typeface="-apple-system"/>
              </a:rPr>
              <a:t>AI 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能力深度挖掘时令供给，智能输出榜单规则并完成供给映射，同步沉淀</a:t>
            </a:r>
            <a:r>
              <a:rPr lang="en-US" altLang="zh-CN" sz="1000" b="0" i="0" dirty="0">
                <a:solidFill>
                  <a:srgbClr val="0D0D0D"/>
                </a:solidFill>
                <a:effectLst/>
                <a:latin typeface="-apple-system"/>
              </a:rPr>
              <a:t>SOP,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提炼可复用的 </a:t>
            </a:r>
            <a:r>
              <a:rPr lang="en-US" altLang="zh-CN" sz="1000" b="0" i="0" dirty="0">
                <a:solidFill>
                  <a:srgbClr val="0D0D0D"/>
                </a:solidFill>
                <a:effectLst/>
                <a:latin typeface="-apple-system"/>
              </a:rPr>
              <a:t>Skill 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能力</a:t>
            </a:r>
            <a:r>
              <a:rPr lang="zh-CN" altLang="en-US" sz="1000" dirty="0">
                <a:solidFill>
                  <a:srgbClr val="0D0D0D"/>
                </a:solidFill>
                <a:latin typeface="-apple-system"/>
              </a:rPr>
              <a:t>。</a:t>
            </a:r>
            <a:endParaRPr lang="zh-CN" altLang="en-US" sz="1000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② 时令热点菜品需求洞察：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融合用户行为数据与餐饮市场热度信号，系统性洞察具有时令特征与高市场热度的菜品需求，为供给策略制定提供决策依据。</a:t>
            </a:r>
          </a:p>
          <a:p>
            <a:pPr algn="l">
              <a:lnSpc>
                <a:spcPct val="150000"/>
              </a:lnSpc>
            </a:pPr>
            <a:r>
              <a:rPr lang="zh-CN" altLang="en-US" sz="1000" b="1" i="0" dirty="0">
                <a:solidFill>
                  <a:srgbClr val="0D0D0D"/>
                </a:solidFill>
                <a:effectLst/>
                <a:latin typeface="-apple-system"/>
              </a:rPr>
              <a:t>③ 供给承接能力优化：</a:t>
            </a:r>
            <a:r>
              <a:rPr lang="zh-CN" altLang="en-US" sz="1000" b="0" i="0" dirty="0">
                <a:solidFill>
                  <a:srgbClr val="0D0D0D"/>
                </a:solidFill>
                <a:effectLst/>
                <a:latin typeface="-apple-system"/>
              </a:rPr>
              <a:t>从供给侧承接视角出发，针对时令场景下的用户需求匹配效率进行专项优化，完善供给展示逻辑与流量分发机制。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D2A8E2D-C83B-6140-EA16-61C2A87C7EBB}"/>
              </a:ext>
            </a:extLst>
          </p:cNvPr>
          <p:cNvSpPr/>
          <p:nvPr/>
        </p:nvSpPr>
        <p:spPr>
          <a:xfrm>
            <a:off x="144568" y="2093208"/>
            <a:ext cx="246923" cy="173437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用户动线建设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D39DE5-E799-98A6-88D7-6AAFF934DD95}"/>
              </a:ext>
            </a:extLst>
          </p:cNvPr>
          <p:cNvSpPr txBox="1"/>
          <p:nvPr/>
        </p:nvSpPr>
        <p:spPr>
          <a:xfrm>
            <a:off x="1437315" y="429095"/>
            <a:ext cx="7635546" cy="1595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ts val="1700"/>
              </a:lnSpc>
              <a:buFont typeface="Wingdings" panose="05000000000000000000" pitchFamily="2" charset="2"/>
              <a:buChar char="Ø"/>
            </a:pPr>
            <a:r>
              <a:rPr lang="zh-CN" altLang="en-US" sz="1000" b="1" dirty="0"/>
              <a:t>项目背景：</a:t>
            </a:r>
            <a:r>
              <a:rPr lang="zh-CN" altLang="en-US" sz="1000" dirty="0"/>
              <a:t>在用户对于春鲜食材的高爆发需求下，我们想试点时令菜品榜单，“以品找店”的形式验证对用户菜品需求的满足。</a:t>
            </a:r>
            <a:endParaRPr lang="zh-CN" altLang="en-US" sz="1000" dirty="0">
              <a:effectLst/>
            </a:endParaRPr>
          </a:p>
          <a:p>
            <a:pPr marL="171450" indent="-171450">
              <a:lnSpc>
                <a:spcPts val="1700"/>
              </a:lnSpc>
              <a:buFont typeface="Wingdings" panose="05000000000000000000" pitchFamily="2" charset="2"/>
              <a:buChar char="Ø"/>
            </a:pPr>
            <a:r>
              <a:rPr lang="zh-CN" altLang="en-US" sz="1000" b="1" dirty="0"/>
              <a:t>数据达成：</a:t>
            </a:r>
            <a:r>
              <a:rPr lang="zh-CN" altLang="en-US" sz="1000" dirty="0"/>
              <a:t>清明节期间榜单决策</a:t>
            </a:r>
            <a:r>
              <a:rPr lang="en" altLang="zh-CN" sz="1000" dirty="0" err="1"/>
              <a:t>UVxx</a:t>
            </a:r>
            <a:r>
              <a:rPr lang="zh-CN" altLang="en" sz="1000" dirty="0"/>
              <a:t>，</a:t>
            </a:r>
            <a:r>
              <a:rPr lang="zh-CN" altLang="en-US" sz="1000" dirty="0"/>
              <a:t>较基期</a:t>
            </a:r>
            <a:r>
              <a:rPr lang="en-US" altLang="zh-CN" sz="1000" dirty="0"/>
              <a:t>+</a:t>
            </a:r>
            <a:r>
              <a:rPr lang="en" altLang="zh-CN" sz="1000" dirty="0"/>
              <a:t>xx%</a:t>
            </a:r>
            <a:r>
              <a:rPr lang="zh-CN" altLang="en" sz="1000" dirty="0"/>
              <a:t>，</a:t>
            </a:r>
            <a:r>
              <a:rPr lang="en" altLang="zh-CN" sz="1000" dirty="0" err="1"/>
              <a:t>YoY+xx</a:t>
            </a:r>
            <a:r>
              <a:rPr lang="en" altLang="zh-CN" sz="1000" dirty="0"/>
              <a:t>%</a:t>
            </a:r>
            <a:r>
              <a:rPr lang="zh-CN" altLang="en" sz="1000" dirty="0"/>
              <a:t>；</a:t>
            </a:r>
            <a:r>
              <a:rPr lang="zh-CN" altLang="en-US" sz="1000" dirty="0"/>
              <a:t>试点城市下春鲜套餐</a:t>
            </a:r>
            <a:r>
              <a:rPr lang="en-US" altLang="zh-CN" sz="1000" dirty="0"/>
              <a:t>7</a:t>
            </a:r>
            <a:r>
              <a:rPr lang="zh-CN" altLang="en-US" sz="1000" dirty="0"/>
              <a:t>日</a:t>
            </a:r>
            <a:r>
              <a:rPr lang="en" altLang="zh-CN" sz="1000" dirty="0" err="1"/>
              <a:t>gtv</a:t>
            </a:r>
            <a:r>
              <a:rPr lang="zh-CN" altLang="en-US" sz="1000" dirty="0"/>
              <a:t>占比</a:t>
            </a:r>
            <a:r>
              <a:rPr lang="en" altLang="zh-CN" sz="1000" dirty="0"/>
              <a:t>xx%</a:t>
            </a:r>
            <a:r>
              <a:rPr lang="zh-CN" altLang="en" sz="1000" dirty="0"/>
              <a:t>，</a:t>
            </a:r>
            <a:r>
              <a:rPr lang="zh-CN" altLang="en-US" sz="1000" dirty="0"/>
              <a:t>其中榜单落地页</a:t>
            </a:r>
            <a:r>
              <a:rPr lang="en" altLang="zh-CN" sz="1000" dirty="0" err="1"/>
              <a:t>gtvxx</a:t>
            </a:r>
            <a:r>
              <a:rPr lang="zh-CN" altLang="en" sz="1000" dirty="0"/>
              <a:t>（</a:t>
            </a:r>
            <a:r>
              <a:rPr lang="zh-CN" altLang="en-US" sz="1000" dirty="0"/>
              <a:t>占比</a:t>
            </a:r>
            <a:r>
              <a:rPr lang="en-US" altLang="zh-CN" sz="1000" dirty="0"/>
              <a:t>7</a:t>
            </a:r>
            <a:r>
              <a:rPr lang="zh-CN" altLang="en-US" sz="1000" dirty="0"/>
              <a:t>日</a:t>
            </a:r>
            <a:r>
              <a:rPr lang="en" altLang="zh-CN" sz="1000" dirty="0" err="1"/>
              <a:t>gtvxx</a:t>
            </a:r>
            <a:r>
              <a:rPr lang="en" altLang="zh-CN" sz="1000" dirty="0"/>
              <a:t>%</a:t>
            </a:r>
            <a:r>
              <a:rPr lang="zh-CN" altLang="en" sz="1000" dirty="0"/>
              <a:t>）</a:t>
            </a:r>
            <a:endParaRPr lang="en-US" altLang="zh-CN" sz="1000" dirty="0"/>
          </a:p>
          <a:p>
            <a:pPr marL="171450" indent="-171450">
              <a:lnSpc>
                <a:spcPts val="1700"/>
              </a:lnSpc>
              <a:buFont typeface="Wingdings" panose="05000000000000000000" pitchFamily="2" charset="2"/>
              <a:buChar char="Ø"/>
            </a:pPr>
            <a:r>
              <a:rPr lang="zh-CN" altLang="en-US" sz="1000" b="1" dirty="0"/>
              <a:t>核心策略：</a:t>
            </a:r>
            <a:endParaRPr lang="en-US" altLang="zh-CN" sz="1000" b="1" dirty="0"/>
          </a:p>
          <a:p>
            <a:pPr>
              <a:lnSpc>
                <a:spcPts val="1700"/>
              </a:lnSpc>
            </a:pPr>
            <a:r>
              <a:rPr lang="zh-CN" altLang="en-US" sz="1000" b="1" dirty="0"/>
              <a:t>      ① 供给理解及定义：</a:t>
            </a:r>
            <a:r>
              <a:rPr lang="zh-CN" altLang="en-US" sz="1000" dirty="0"/>
              <a:t>参照往年春季高爆发菜品及高转化套餐作为基准池，借助</a:t>
            </a:r>
            <a:r>
              <a:rPr lang="en-US" altLang="zh-CN" sz="1000" dirty="0"/>
              <a:t>AI</a:t>
            </a:r>
            <a:r>
              <a:rPr lang="zh-CN" altLang="en-US" sz="1000" dirty="0"/>
              <a:t> 对于菜品进行查缺补漏，得出最终供给标准；</a:t>
            </a:r>
            <a:endParaRPr lang="en-US" altLang="zh-CN" sz="1000" dirty="0"/>
          </a:p>
          <a:p>
            <a:pPr>
              <a:lnSpc>
                <a:spcPts val="1700"/>
              </a:lnSpc>
            </a:pPr>
            <a:r>
              <a:rPr lang="zh-CN" altLang="en-US" sz="1000" b="1" dirty="0"/>
              <a:t>      </a:t>
            </a:r>
            <a:r>
              <a:rPr lang="en-US" altLang="zh-CN" sz="1000" b="1" dirty="0"/>
              <a:t>②</a:t>
            </a:r>
            <a:r>
              <a:rPr lang="zh-CN" altLang="en-US" sz="1000" b="1" dirty="0"/>
              <a:t>供给质量和数量：</a:t>
            </a:r>
            <a:r>
              <a:rPr lang="en-US" altLang="zh-CN" sz="1000" dirty="0"/>
              <a:t>①</a:t>
            </a:r>
            <a:r>
              <a:rPr lang="zh-CN" altLang="en-US" sz="1000" dirty="0"/>
              <a:t>联动销售做榜单宣导，包括标准及扶持策略；</a:t>
            </a:r>
            <a:r>
              <a:rPr lang="en-US" altLang="zh-CN" sz="1000" dirty="0"/>
              <a:t>②</a:t>
            </a:r>
            <a:r>
              <a:rPr lang="zh-CN" altLang="en-US" sz="1000" dirty="0"/>
              <a:t>联动销运做节日期间的保供，确保履约服务；</a:t>
            </a:r>
            <a:endParaRPr lang="en-US" altLang="zh-CN" sz="1000" dirty="0"/>
          </a:p>
          <a:p>
            <a:pPr>
              <a:lnSpc>
                <a:spcPts val="1700"/>
              </a:lnSpc>
            </a:pPr>
            <a:r>
              <a:rPr lang="zh-CN" altLang="en-US" sz="1000" b="1" dirty="0"/>
              <a:t>      </a:t>
            </a:r>
            <a:r>
              <a:rPr lang="en-US" altLang="zh-CN" sz="1000" b="1" dirty="0"/>
              <a:t>③</a:t>
            </a:r>
            <a:r>
              <a:rPr lang="zh-CN" altLang="en-US" sz="1000" b="1" dirty="0"/>
              <a:t>用户动线强化：</a:t>
            </a:r>
            <a:r>
              <a:rPr lang="zh-CN" altLang="en-US" sz="1000" dirty="0"/>
              <a:t>建设大搜</a:t>
            </a:r>
            <a:r>
              <a:rPr lang="en-US" altLang="zh-CN" sz="1000" dirty="0" err="1"/>
              <a:t>sug</a:t>
            </a:r>
            <a:r>
              <a:rPr lang="zh-CN" altLang="en-US" sz="1000" dirty="0"/>
              <a:t>，美食频道金刚，团购等套餐场景流量，承接用户选品需求，页面强化时令推荐理由辅助用户决策。</a:t>
            </a:r>
            <a:endParaRPr lang="zh-CN" altLang="en-US" sz="1000" b="0" i="0" dirty="0">
              <a:solidFill>
                <a:srgbClr val="0D0D0D"/>
              </a:solidFill>
              <a:effectLst/>
              <a:latin typeface="-apple-system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9B7527-F1F2-1A98-D855-32D9E1CB3A77}"/>
              </a:ext>
            </a:extLst>
          </p:cNvPr>
          <p:cNvSpPr txBox="1"/>
          <p:nvPr/>
        </p:nvSpPr>
        <p:spPr>
          <a:xfrm>
            <a:off x="-2654781" y="1812960"/>
            <a:ext cx="26503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补充原子菜的情况规模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增加特色菜的需求承接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从</a:t>
            </a:r>
            <a:r>
              <a:rPr lang="en-US" altLang="zh-CN" dirty="0">
                <a:solidFill>
                  <a:srgbClr val="C00000"/>
                </a:solidFill>
              </a:rPr>
              <a:t>query</a:t>
            </a:r>
            <a:r>
              <a:rPr lang="zh-CN" altLang="en-US" dirty="0">
                <a:solidFill>
                  <a:srgbClr val="C00000"/>
                </a:solidFill>
              </a:rPr>
              <a:t>看菜品需求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城市特色菜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时令菜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春鲜榜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原子菜的卡点和计划在某些城市覆盖度高的城市先行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355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DEA89-52C4-5084-8331-AA535458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>
            <a:extLst>
              <a:ext uri="{FF2B5EF4-FFF2-40B4-BE49-F238E27FC236}">
                <a16:creationId xmlns:a16="http://schemas.microsoft.com/office/drawing/2014/main" id="{26B73B74-BD58-E7C1-5D4D-49C4BE96B86E}"/>
              </a:ext>
            </a:extLst>
          </p:cNvPr>
          <p:cNvSpPr txBox="1"/>
          <p:nvPr/>
        </p:nvSpPr>
        <p:spPr>
          <a:xfrm>
            <a:off x="232229" y="453216"/>
            <a:ext cx="86795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美食寻味榜作为开放性榜单，将汇聚各方“值得吃”的共识，为用户提供兼具公信力与故事感的就餐决策参考，同时赋能优质商户，构建更加开放、多元、共赢的本地生活内容生态；预计</a:t>
            </a:r>
            <a:r>
              <a:rPr lang="en-US" altLang="zh-CN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5</a:t>
            </a:r>
            <a:r>
              <a:rPr lang="zh-CN" altLang="en-US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月底实现建设开放榜挖掘</a:t>
            </a:r>
            <a:r>
              <a:rPr lang="en-US" altLang="zh-CN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→</a:t>
            </a:r>
            <a:r>
              <a:rPr lang="zh-CN" altLang="en-US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映射</a:t>
            </a:r>
            <a:r>
              <a:rPr lang="en-US" altLang="zh-CN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→</a:t>
            </a:r>
            <a:r>
              <a:rPr lang="zh-CN" altLang="en-US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规则排序</a:t>
            </a:r>
            <a:r>
              <a:rPr lang="en-US" altLang="zh-CN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→</a:t>
            </a:r>
            <a:r>
              <a:rPr lang="zh-CN" altLang="en-US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上线一体化</a:t>
            </a:r>
            <a:r>
              <a:rPr lang="en-US" altLang="zh-CN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AI</a:t>
            </a:r>
            <a:r>
              <a:rPr lang="zh-CN" altLang="en-US" sz="11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链路。</a:t>
            </a:r>
            <a:endParaRPr lang="en-US" altLang="zh-CN" sz="1100" dirty="0">
              <a:latin typeface="+mn-ea"/>
            </a:endParaRPr>
          </a:p>
        </p:txBody>
      </p:sp>
      <p:graphicFrame>
        <p:nvGraphicFramePr>
          <p:cNvPr id="12" name="图示 11">
            <a:extLst>
              <a:ext uri="{FF2B5EF4-FFF2-40B4-BE49-F238E27FC236}">
                <a16:creationId xmlns:a16="http://schemas.microsoft.com/office/drawing/2014/main" id="{A17B387D-792E-4329-AD14-7DC013E6D209}"/>
              </a:ext>
            </a:extLst>
          </p:cNvPr>
          <p:cNvGraphicFramePr/>
          <p:nvPr/>
        </p:nvGraphicFramePr>
        <p:xfrm>
          <a:off x="711194" y="3193143"/>
          <a:ext cx="8178800" cy="1626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88CB6C09-A4C5-47C9-8515-43FEF0F59D62}"/>
              </a:ext>
            </a:extLst>
          </p:cNvPr>
          <p:cNvSpPr txBox="1"/>
          <p:nvPr/>
        </p:nvSpPr>
        <p:spPr>
          <a:xfrm>
            <a:off x="769251" y="3447137"/>
            <a:ext cx="8178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如“象往美食”</a:t>
            </a:r>
            <a:r>
              <a:rPr lang="en-US" altLang="zh-CN" sz="1000" dirty="0"/>
              <a:t>2025</a:t>
            </a:r>
            <a:r>
              <a:rPr lang="zh-CN" altLang="en-US" sz="1000" dirty="0"/>
              <a:t>年西双版纳餐饮名店、</a:t>
            </a:r>
            <a:r>
              <a:rPr lang="en-US" altLang="zh-CN" sz="1000" dirty="0"/>
              <a:t>2024</a:t>
            </a:r>
            <a:r>
              <a:rPr lang="zh-CN" altLang="en-US" sz="1000" dirty="0"/>
              <a:t>年深圳餐饮名店、锦州烧烤十大名店等地方名店评选，收录至美食寻味榜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DAAD332-52CF-4A8A-8F5C-63B5717DFF5D}"/>
              </a:ext>
            </a:extLst>
          </p:cNvPr>
          <p:cNvSpPr txBox="1"/>
          <p:nvPr/>
        </p:nvSpPr>
        <p:spPr>
          <a:xfrm>
            <a:off x="769251" y="3991262"/>
            <a:ext cx="8178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“政府</a:t>
            </a:r>
            <a:r>
              <a:rPr lang="en-US" altLang="zh-CN" sz="1000" dirty="0"/>
              <a:t>+</a:t>
            </a:r>
            <a:r>
              <a:rPr lang="zh-CN" altLang="en-US" sz="1000" dirty="0"/>
              <a:t>榜单</a:t>
            </a:r>
            <a:r>
              <a:rPr lang="en-US" altLang="zh-CN" sz="1000" dirty="0"/>
              <a:t>+</a:t>
            </a:r>
            <a:r>
              <a:rPr lang="zh-CN" altLang="en-US" sz="1000" dirty="0"/>
              <a:t>直播”三方共建，如联合打造云南省“寻味山珍” 、黑龙江省“龙江味道” 、北京市“京华食韵”等美食榜单</a:t>
            </a:r>
            <a:r>
              <a:rPr lang="en-US" altLang="zh-CN" sz="1000" dirty="0"/>
              <a:t>IP</a:t>
            </a:r>
            <a:endParaRPr lang="zh-CN" altLang="en-US" sz="10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C7F28D-02C6-47F6-82F0-03C9D41BC94D}"/>
              </a:ext>
            </a:extLst>
          </p:cNvPr>
          <p:cNvSpPr txBox="1"/>
          <p:nvPr/>
        </p:nvSpPr>
        <p:spPr>
          <a:xfrm>
            <a:off x="780137" y="4551781"/>
            <a:ext cx="8178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altLang="zh-CN" sz="1000" dirty="0">
                <a:solidFill>
                  <a:srgbClr val="000000"/>
                </a:solidFill>
                <a:effectLst/>
              </a:rPr>
              <a:t>2025</a:t>
            </a:r>
            <a:r>
              <a:rPr lang="zh-CN" altLang="en-US" sz="1000" dirty="0">
                <a:solidFill>
                  <a:srgbClr val="000000"/>
                </a:solidFill>
                <a:effectLst/>
              </a:rPr>
              <a:t>华侨华人博览会暨世界潮汕菜大会发布了年度潮汕菜名店潮店榜单，尝试联动现象级电影</a:t>
            </a:r>
            <a:r>
              <a:rPr lang="en-US" altLang="zh-CN" sz="1000" dirty="0">
                <a:solidFill>
                  <a:srgbClr val="000000"/>
                </a:solidFill>
                <a:effectLst/>
              </a:rPr>
              <a:t>《</a:t>
            </a:r>
            <a:r>
              <a:rPr lang="zh-CN" altLang="en-US" sz="1000" dirty="0">
                <a:solidFill>
                  <a:srgbClr val="000000"/>
                </a:solidFill>
                <a:effectLst/>
              </a:rPr>
              <a:t>给阿嬷的情书</a:t>
            </a:r>
            <a:r>
              <a:rPr lang="en-US" altLang="zh-CN" sz="1000" dirty="0">
                <a:solidFill>
                  <a:srgbClr val="000000"/>
                </a:solidFill>
                <a:effectLst/>
              </a:rPr>
              <a:t>》</a:t>
            </a:r>
            <a:r>
              <a:rPr lang="zh-CN" altLang="en-US" sz="1000" dirty="0">
                <a:solidFill>
                  <a:srgbClr val="000000"/>
                </a:solidFill>
                <a:effectLst/>
              </a:rPr>
              <a:t>推广“</a:t>
            </a:r>
            <a:r>
              <a:rPr lang="zh-CN" altLang="en-US" sz="1000" dirty="0">
                <a:effectLst/>
              </a:rPr>
              <a:t>电影</a:t>
            </a:r>
            <a:r>
              <a:rPr lang="en-US" altLang="zh-CN" sz="1000" dirty="0">
                <a:effectLst/>
              </a:rPr>
              <a:t>+</a:t>
            </a:r>
            <a:r>
              <a:rPr lang="zh-CN" altLang="en-US" sz="1000" dirty="0">
                <a:effectLst/>
              </a:rPr>
              <a:t>美食</a:t>
            </a:r>
            <a:r>
              <a:rPr lang="en-US" altLang="zh-CN" sz="1000" dirty="0">
                <a:effectLst/>
              </a:rPr>
              <a:t>+</a:t>
            </a:r>
            <a:r>
              <a:rPr lang="zh-CN" altLang="en-US" sz="1000" dirty="0">
                <a:effectLst/>
              </a:rPr>
              <a:t>潮汕文化</a:t>
            </a:r>
            <a:r>
              <a:rPr lang="zh-CN" altLang="en-US" sz="1000" dirty="0">
                <a:solidFill>
                  <a:srgbClr val="000000"/>
                </a:solidFill>
                <a:effectLst/>
              </a:rPr>
              <a:t>”</a:t>
            </a:r>
            <a:endParaRPr lang="zh-CN" altLang="en-US" sz="1000" dirty="0">
              <a:effectLst/>
            </a:endParaRPr>
          </a:p>
        </p:txBody>
      </p:sp>
      <p:graphicFrame>
        <p:nvGraphicFramePr>
          <p:cNvPr id="22" name="表格 10">
            <a:extLst>
              <a:ext uri="{FF2B5EF4-FFF2-40B4-BE49-F238E27FC236}">
                <a16:creationId xmlns:a16="http://schemas.microsoft.com/office/drawing/2014/main" id="{1B2E4A25-5801-4F27-B979-A0115FD5C287}"/>
              </a:ext>
            </a:extLst>
          </p:cNvPr>
          <p:cNvGraphicFramePr>
            <a:graphicFrameLocks noGrp="1"/>
          </p:cNvGraphicFramePr>
          <p:nvPr/>
        </p:nvGraphicFramePr>
        <p:xfrm>
          <a:off x="319320" y="974873"/>
          <a:ext cx="8505360" cy="20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09">
                  <a:extLst>
                    <a:ext uri="{9D8B030D-6E8A-4147-A177-3AD203B41FA5}">
                      <a16:colId xmlns:a16="http://schemas.microsoft.com/office/drawing/2014/main" val="2940181633"/>
                    </a:ext>
                  </a:extLst>
                </a:gridCol>
                <a:gridCol w="6763651">
                  <a:extLst>
                    <a:ext uri="{9D8B030D-6E8A-4147-A177-3AD203B41FA5}">
                      <a16:colId xmlns:a16="http://schemas.microsoft.com/office/drawing/2014/main" val="283784598"/>
                    </a:ext>
                  </a:extLst>
                </a:gridCol>
              </a:tblGrid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主题类型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内容示例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9722010"/>
                  </a:ext>
                </a:extLst>
              </a:tr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权威标杆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入选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LA LISTE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全球美食榜、亚洲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佳餐厅、金梧桐等国内外权威榜单的门店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7467508"/>
                  </a:ext>
                </a:extLst>
              </a:tr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明星打卡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陈赫、谢霆锋、李诞、陈晓卿、董克平等明星大咖打卡门店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55196116"/>
                  </a:ext>
                </a:extLst>
              </a:tr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达人探店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乌啦啦、刘雨鑫、密子君、盗月社、林大厨等达人探店门店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46061844"/>
                  </a:ext>
                </a:extLst>
              </a:tr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美食影综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《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一饭封神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》《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人生一串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》《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风味人间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》《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舌尖上的中国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》《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百厨大战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》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等热门影综出镜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关联门店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6647612"/>
                  </a:ext>
                </a:extLst>
              </a:tr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驻京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沪办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安徽驻京办、福建驻京办、甘肃驻京办、湖南驻京办、山东驻京办等驻京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沪办门店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74536766"/>
                  </a:ext>
                </a:extLst>
              </a:tr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经典老店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中华老字号认证、美团收录年限≥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年的门店等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4719359"/>
                  </a:ext>
                </a:extLst>
              </a:tr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美食节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面包节、咖啡节、汉堡节、啤酒节等美食节的参展门店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81411527"/>
                  </a:ext>
                </a:extLst>
              </a:tr>
              <a:tr h="22873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城市首店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品牌在城市的首家门店，如北京首店、上海首店、广州首店、西安首店、重庆首店等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50394395"/>
                  </a:ext>
                </a:extLst>
              </a:tr>
            </a:tbl>
          </a:graphicData>
        </a:graphic>
      </p:graphicFrame>
      <p:sp>
        <p:nvSpPr>
          <p:cNvPr id="16" name="流程图: 可选过程 15">
            <a:extLst>
              <a:ext uri="{FF2B5EF4-FFF2-40B4-BE49-F238E27FC236}">
                <a16:creationId xmlns:a16="http://schemas.microsoft.com/office/drawing/2014/main" id="{8FE0251E-FFE3-4265-9DA7-9536F63D2A77}"/>
              </a:ext>
            </a:extLst>
          </p:cNvPr>
          <p:cNvSpPr/>
          <p:nvPr/>
        </p:nvSpPr>
        <p:spPr>
          <a:xfrm>
            <a:off x="326577" y="3418108"/>
            <a:ext cx="326566" cy="1177833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30D601-9DA0-4867-AD74-DC5BE5DFD7E8}"/>
              </a:ext>
            </a:extLst>
          </p:cNvPr>
          <p:cNvSpPr txBox="1"/>
          <p:nvPr/>
        </p:nvSpPr>
        <p:spPr>
          <a:xfrm>
            <a:off x="307390" y="3635672"/>
            <a:ext cx="369332" cy="9161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200" dirty="0"/>
              <a:t>地方风味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551666BE-5D1C-0416-9658-FB90EFDBFA1A}"/>
              </a:ext>
            </a:extLst>
          </p:cNvPr>
          <p:cNvSpPr txBox="1">
            <a:spLocks/>
          </p:cNvSpPr>
          <p:nvPr/>
        </p:nvSpPr>
        <p:spPr>
          <a:xfrm>
            <a:off x="171185" y="62188"/>
            <a:ext cx="4320001" cy="42731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100" dirty="0">
                <a:latin typeface="+mj-ea"/>
              </a:rPr>
              <a:t>开放联名榜的试点 </a:t>
            </a:r>
            <a:r>
              <a:rPr lang="en-US" altLang="zh-CN" sz="2100" dirty="0">
                <a:latin typeface="+mj-ea"/>
              </a:rPr>
              <a:t>@</a:t>
            </a:r>
            <a:r>
              <a:rPr lang="zh-CN" altLang="en-US" sz="2100" dirty="0">
                <a:latin typeface="+mj-ea"/>
              </a:rPr>
              <a:t>永洁</a:t>
            </a:r>
          </a:p>
        </p:txBody>
      </p:sp>
    </p:spTree>
    <p:extLst>
      <p:ext uri="{BB962C8B-B14F-4D97-AF65-F5344CB8AC3E}">
        <p14:creationId xmlns:p14="http://schemas.microsoft.com/office/powerpoint/2010/main" val="289380275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3">
            <a:extLst>
              <a:ext uri="{FF2B5EF4-FFF2-40B4-BE49-F238E27FC236}">
                <a16:creationId xmlns:a16="http://schemas.microsoft.com/office/drawing/2014/main" id="{6EEA65FF-3986-7069-3D65-7B1E68954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2" y="15438"/>
            <a:ext cx="3642978" cy="427313"/>
          </a:xfrm>
        </p:spPr>
        <p:txBody>
          <a:bodyPr>
            <a:normAutofit fontScale="90000"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榜单全链路智能运营架构 </a:t>
            </a:r>
            <a:r>
              <a:rPr lang="en-US" altLang="zh-CN" sz="2100" dirty="0">
                <a:latin typeface="+mn-ea"/>
                <a:ea typeface="+mn-ea"/>
              </a:rPr>
              <a:t>@</a:t>
            </a:r>
            <a:r>
              <a:rPr lang="zh-CN" altLang="en-US" sz="2100" dirty="0">
                <a:latin typeface="+mn-ea"/>
                <a:ea typeface="+mn-ea"/>
              </a:rPr>
              <a:t>辰辰</a:t>
            </a: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8328DBAB-C2A7-E377-06DA-AC09CE042198}"/>
              </a:ext>
            </a:extLst>
          </p:cNvPr>
          <p:cNvSpPr/>
          <p:nvPr/>
        </p:nvSpPr>
        <p:spPr>
          <a:xfrm>
            <a:off x="1951669" y="4802063"/>
            <a:ext cx="383826" cy="12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248577AE-B8B4-30C9-8AAD-77BC09C9AB7C}"/>
              </a:ext>
            </a:extLst>
          </p:cNvPr>
          <p:cNvSpPr/>
          <p:nvPr/>
        </p:nvSpPr>
        <p:spPr>
          <a:xfrm>
            <a:off x="3997078" y="4811039"/>
            <a:ext cx="383826" cy="12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54D4F286-897F-2C17-88AA-5CB82E91B726}"/>
              </a:ext>
            </a:extLst>
          </p:cNvPr>
          <p:cNvSpPr txBox="1"/>
          <p:nvPr/>
        </p:nvSpPr>
        <p:spPr>
          <a:xfrm>
            <a:off x="1951669" y="4750717"/>
            <a:ext cx="22238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榜单项目组建设（</a:t>
            </a:r>
            <a:r>
              <a:rPr lang="zh-CN" altLang="en-US" sz="900" dirty="0">
                <a:solidFill>
                  <a:schemeClr val="accent3"/>
                </a:solidFill>
                <a:latin typeface="+mn-ea"/>
              </a:rPr>
              <a:t>●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建设中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)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4C3A4BE6-8A0A-859B-907F-9314AB75B773}"/>
              </a:ext>
            </a:extLst>
          </p:cNvPr>
          <p:cNvSpPr txBox="1"/>
          <p:nvPr/>
        </p:nvSpPr>
        <p:spPr>
          <a:xfrm>
            <a:off x="4261337" y="4767857"/>
            <a:ext cx="12000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latin typeface="+mn-ea"/>
              </a:rPr>
              <a:t>协同方提供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570C8533-C667-7BFE-0E33-20861D31C97D}"/>
              </a:ext>
            </a:extLst>
          </p:cNvPr>
          <p:cNvSpPr/>
          <p:nvPr/>
        </p:nvSpPr>
        <p:spPr>
          <a:xfrm>
            <a:off x="9711090" y="1314577"/>
            <a:ext cx="1263408" cy="3668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效果分析</a:t>
            </a:r>
            <a:r>
              <a:rPr lang="en-US" altLang="zh-CN" sz="1200" dirty="0">
                <a:solidFill>
                  <a:schemeClr val="tx1"/>
                </a:solidFill>
                <a:latin typeface="+mn-ea"/>
              </a:rPr>
              <a:t>Skill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740ED388-6BE5-B44D-2489-8057B627B436}"/>
              </a:ext>
            </a:extLst>
          </p:cNvPr>
          <p:cNvSpPr/>
          <p:nvPr/>
        </p:nvSpPr>
        <p:spPr>
          <a:xfrm>
            <a:off x="9765200" y="1674723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目标监测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BBF7C345-44D6-01DE-4FEC-3489C46CE77B}"/>
              </a:ext>
            </a:extLst>
          </p:cNvPr>
          <p:cNvSpPr/>
          <p:nvPr/>
        </p:nvSpPr>
        <p:spPr>
          <a:xfrm>
            <a:off x="10673216" y="1668458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归因分析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77017FA5-1786-498D-E85D-869FC573A79F}"/>
              </a:ext>
            </a:extLst>
          </p:cNvPr>
          <p:cNvSpPr/>
          <p:nvPr/>
        </p:nvSpPr>
        <p:spPr>
          <a:xfrm>
            <a:off x="9772852" y="2028936"/>
            <a:ext cx="853906" cy="3010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建议生成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F5828D0E-805C-130B-186D-D9A533E6F16C}"/>
              </a:ext>
            </a:extLst>
          </p:cNvPr>
          <p:cNvSpPr/>
          <p:nvPr/>
        </p:nvSpPr>
        <p:spPr>
          <a:xfrm>
            <a:off x="9652811" y="854448"/>
            <a:ext cx="1738800" cy="36689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+mn-ea"/>
              </a:rPr>
              <a:t>效果复盘</a:t>
            </a: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D33DDADB-C3CB-C15B-144D-724B4BD84697}"/>
              </a:ext>
            </a:extLst>
          </p:cNvPr>
          <p:cNvSpPr txBox="1"/>
          <p:nvPr/>
        </p:nvSpPr>
        <p:spPr>
          <a:xfrm>
            <a:off x="159401" y="392783"/>
            <a:ext cx="77749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effectLst/>
              </a:rPr>
              <a:t>完善榜单运营</a:t>
            </a:r>
            <a:r>
              <a:rPr lang="en-US" altLang="zh-CN" sz="1200" dirty="0">
                <a:effectLst/>
              </a:rPr>
              <a:t>skill</a:t>
            </a:r>
            <a:r>
              <a:rPr lang="zh-CN" altLang="en-US" sz="1200" dirty="0">
                <a:effectLst/>
              </a:rPr>
              <a:t>全景图，探索从原子化</a:t>
            </a:r>
            <a:r>
              <a:rPr lang="en-US" altLang="zh-CN" sz="1200" dirty="0">
                <a:effectLst/>
              </a:rPr>
              <a:t>Skill</a:t>
            </a:r>
            <a:r>
              <a:rPr lang="zh-CN" altLang="en-US" sz="1200" dirty="0">
                <a:effectLst/>
              </a:rPr>
              <a:t>到全流程</a:t>
            </a:r>
            <a:r>
              <a:rPr lang="en-US" altLang="zh-CN" sz="1200" dirty="0">
                <a:effectLst/>
              </a:rPr>
              <a:t>AI</a:t>
            </a:r>
            <a:r>
              <a:rPr lang="zh-CN" altLang="en-US" sz="1200" dirty="0">
                <a:effectLst/>
              </a:rPr>
              <a:t>贯通。组建</a:t>
            </a:r>
            <a:r>
              <a:rPr lang="en-US" altLang="zh-CN" sz="1200" dirty="0">
                <a:effectLst/>
              </a:rPr>
              <a:t>AI at work</a:t>
            </a:r>
            <a:r>
              <a:rPr lang="zh-CN" altLang="en-US" sz="1200" dirty="0">
                <a:effectLst/>
              </a:rPr>
              <a:t>专项攻坚小队，提升运营效率</a:t>
            </a:r>
            <a:endParaRPr lang="en-US" altLang="zh-CN" sz="1200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/>
              <a:t>验证是否可以体系化、可复制、强稳定地跑通</a:t>
            </a:r>
            <a:endParaRPr lang="zh-CN" altLang="en-US" sz="1200" dirty="0">
              <a:effectLst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4A8B082-0510-FF29-8FC8-A6DCCD0B29E4}"/>
              </a:ext>
            </a:extLst>
          </p:cNvPr>
          <p:cNvGrpSpPr/>
          <p:nvPr/>
        </p:nvGrpSpPr>
        <p:grpSpPr>
          <a:xfrm>
            <a:off x="1880230" y="854448"/>
            <a:ext cx="7219957" cy="4119052"/>
            <a:chOff x="211024" y="1052761"/>
            <a:chExt cx="8768176" cy="5002324"/>
          </a:xfrm>
        </p:grpSpPr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2A2EE7A6-1358-7D1B-726A-50E7C7E56D67}"/>
                </a:ext>
              </a:extLst>
            </p:cNvPr>
            <p:cNvCxnSpPr>
              <a:cxnSpLocks/>
              <a:stCxn id="2" idx="3"/>
              <a:endCxn id="152" idx="1"/>
            </p:cNvCxnSpPr>
            <p:nvPr/>
          </p:nvCxnSpPr>
          <p:spPr>
            <a:xfrm>
              <a:off x="1949052" y="1236210"/>
              <a:ext cx="52524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E817324-0C4E-750B-F7F0-B03CAAFC1610}"/>
                </a:ext>
              </a:extLst>
            </p:cNvPr>
            <p:cNvSpPr/>
            <p:nvPr/>
          </p:nvSpPr>
          <p:spPr>
            <a:xfrm>
              <a:off x="2543488" y="2649787"/>
              <a:ext cx="1735854" cy="704675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99AC15C-0B6E-61BA-A90F-A423B09446B0}"/>
                </a:ext>
              </a:extLst>
            </p:cNvPr>
            <p:cNvSpPr/>
            <p:nvPr/>
          </p:nvSpPr>
          <p:spPr>
            <a:xfrm>
              <a:off x="2536604" y="1510140"/>
              <a:ext cx="1738029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数据分析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1C8E0F8-060D-B815-135C-F9F92779C6F9}"/>
                </a:ext>
              </a:extLst>
            </p:cNvPr>
            <p:cNvSpPr/>
            <p:nvPr/>
          </p:nvSpPr>
          <p:spPr>
            <a:xfrm>
              <a:off x="4864769" y="4560524"/>
              <a:ext cx="1744678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榜单生成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905D0DB-917D-727E-6D12-15F082ECE223}"/>
                </a:ext>
              </a:extLst>
            </p:cNvPr>
            <p:cNvSpPr/>
            <p:nvPr/>
          </p:nvSpPr>
          <p:spPr>
            <a:xfrm>
              <a:off x="4871363" y="1510982"/>
              <a:ext cx="1738799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榜单生产排序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C8334DB5-BCE4-3416-D510-3428552CE9C9}"/>
                </a:ext>
              </a:extLst>
            </p:cNvPr>
            <p:cNvSpPr/>
            <p:nvPr/>
          </p:nvSpPr>
          <p:spPr>
            <a:xfrm>
              <a:off x="3431770" y="2877528"/>
              <a:ext cx="797023" cy="366897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评论</a:t>
              </a:r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UGC Skill</a:t>
              </a:r>
              <a:endParaRPr lang="zh-CN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119B7AE-0C0B-8817-18DA-A02DFDC15A41}"/>
                </a:ext>
              </a:extLst>
            </p:cNvPr>
            <p:cNvSpPr/>
            <p:nvPr/>
          </p:nvSpPr>
          <p:spPr>
            <a:xfrm>
              <a:off x="211806" y="1503718"/>
              <a:ext cx="1738029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趋势探测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ECDAB24-D031-297E-2EDE-0D1770F822AC}"/>
                </a:ext>
              </a:extLst>
            </p:cNvPr>
            <p:cNvSpPr/>
            <p:nvPr/>
          </p:nvSpPr>
          <p:spPr>
            <a:xfrm>
              <a:off x="245144" y="4117677"/>
              <a:ext cx="1737397" cy="3668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供给关联映射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44E68BE-546A-D95E-78FB-110AD4D436FB}"/>
                </a:ext>
              </a:extLst>
            </p:cNvPr>
            <p:cNvSpPr/>
            <p:nvPr/>
          </p:nvSpPr>
          <p:spPr>
            <a:xfrm>
              <a:off x="2600371" y="2879534"/>
              <a:ext cx="797023" cy="36689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B(D)GC</a:t>
              </a:r>
            </a:p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Skill</a:t>
              </a:r>
              <a:endParaRPr lang="zh-CN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393137A-708A-15B7-01B1-DFD21863339F}"/>
                </a:ext>
              </a:extLst>
            </p:cNvPr>
            <p:cNvSpPr/>
            <p:nvPr/>
          </p:nvSpPr>
          <p:spPr>
            <a:xfrm>
              <a:off x="2543488" y="3394536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关键词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042CF0F-8E0E-4BB0-8674-9393F939B159}"/>
                </a:ext>
              </a:extLst>
            </p:cNvPr>
            <p:cNvSpPr/>
            <p:nvPr/>
          </p:nvSpPr>
          <p:spPr>
            <a:xfrm>
              <a:off x="3432035" y="3388872"/>
              <a:ext cx="853906" cy="30668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标签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55EC564-B945-D7C7-734E-6549C4F4DFAC}"/>
                </a:ext>
              </a:extLst>
            </p:cNvPr>
            <p:cNvSpPr/>
            <p:nvPr/>
          </p:nvSpPr>
          <p:spPr>
            <a:xfrm>
              <a:off x="2543488" y="3725477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LLM</a:t>
              </a:r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语义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F7AD90F-FAA4-7AE3-9A1F-842A70C06522}"/>
                </a:ext>
              </a:extLst>
            </p:cNvPr>
            <p:cNvSpPr/>
            <p:nvPr/>
          </p:nvSpPr>
          <p:spPr>
            <a:xfrm>
              <a:off x="3432035" y="3725476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多模态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A204969-8D14-DA82-B407-5D6C0CD3B9DD}"/>
                </a:ext>
              </a:extLst>
            </p:cNvPr>
            <p:cNvSpPr/>
            <p:nvPr/>
          </p:nvSpPr>
          <p:spPr>
            <a:xfrm>
              <a:off x="5755541" y="4965093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页面模板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015FADC-7CA4-AC99-2D87-40D8155AAB3D}"/>
                </a:ext>
              </a:extLst>
            </p:cNvPr>
            <p:cNvSpPr/>
            <p:nvPr/>
          </p:nvSpPr>
          <p:spPr>
            <a:xfrm>
              <a:off x="2536604" y="1922445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TG</a:t>
              </a:r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核心指标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365F88D-F029-ADDB-9200-970B6B450589}"/>
                </a:ext>
              </a:extLst>
            </p:cNvPr>
            <p:cNvSpPr/>
            <p:nvPr/>
          </p:nvSpPr>
          <p:spPr>
            <a:xfrm>
              <a:off x="7233748" y="3871247"/>
              <a:ext cx="1743052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商家服务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E2BCCB2-FB2E-21D4-1F13-23041B57535B}"/>
                </a:ext>
              </a:extLst>
            </p:cNvPr>
            <p:cNvSpPr/>
            <p:nvPr/>
          </p:nvSpPr>
          <p:spPr>
            <a:xfrm>
              <a:off x="7233748" y="4597958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反馈沟通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870D4AF-03C8-FB94-4298-A0F2F85E8604}"/>
                </a:ext>
              </a:extLst>
            </p:cNvPr>
            <p:cNvSpPr/>
            <p:nvPr/>
          </p:nvSpPr>
          <p:spPr>
            <a:xfrm>
              <a:off x="7237828" y="4270138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商家圈选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02FD630-F4AA-4260-2638-9C1744A474A6}"/>
                </a:ext>
              </a:extLst>
            </p:cNvPr>
            <p:cNvSpPr/>
            <p:nvPr/>
          </p:nvSpPr>
          <p:spPr>
            <a:xfrm>
              <a:off x="8122894" y="4266473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物料制作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66DF3F1-932D-BB4E-2B60-D502BFDB8D44}"/>
                </a:ext>
              </a:extLst>
            </p:cNvPr>
            <p:cNvSpPr/>
            <p:nvPr/>
          </p:nvSpPr>
          <p:spPr>
            <a:xfrm>
              <a:off x="8122580" y="4603390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分析报告</a:t>
              </a: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FBC73008-C67A-680B-1106-CD60EDA1D20D}"/>
                </a:ext>
              </a:extLst>
            </p:cNvPr>
            <p:cNvSpPr/>
            <p:nvPr/>
          </p:nvSpPr>
          <p:spPr>
            <a:xfrm>
              <a:off x="217421" y="1926862"/>
              <a:ext cx="853200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站内异动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DB321C0-EEDB-31DA-1197-2F14D74779CA}"/>
                </a:ext>
              </a:extLst>
            </p:cNvPr>
            <p:cNvSpPr/>
            <p:nvPr/>
          </p:nvSpPr>
          <p:spPr>
            <a:xfrm>
              <a:off x="1096635" y="1926861"/>
              <a:ext cx="853200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站外趋势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6E18518-8809-CBED-8D27-473F26C1FDD7}"/>
                </a:ext>
              </a:extLst>
            </p:cNvPr>
            <p:cNvSpPr/>
            <p:nvPr/>
          </p:nvSpPr>
          <p:spPr>
            <a:xfrm>
              <a:off x="7237557" y="5046936"/>
              <a:ext cx="1738029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异动监测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A7E3669-E064-60AA-BEDC-E26E6222B455}"/>
                </a:ext>
              </a:extLst>
            </p:cNvPr>
            <p:cNvSpPr/>
            <p:nvPr/>
          </p:nvSpPr>
          <p:spPr>
            <a:xfrm>
              <a:off x="7202315" y="1510593"/>
              <a:ext cx="1738029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动线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资源对接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0D25A42A-870A-2FA2-EADD-2F5D84CAFD07}"/>
                </a:ext>
              </a:extLst>
            </p:cNvPr>
            <p:cNvSpPr/>
            <p:nvPr/>
          </p:nvSpPr>
          <p:spPr>
            <a:xfrm>
              <a:off x="4870762" y="2272098"/>
              <a:ext cx="856139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规则试算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81FB9A1-6285-4E7B-7DE8-B4304660E9D4}"/>
                </a:ext>
              </a:extLst>
            </p:cNvPr>
            <p:cNvSpPr/>
            <p:nvPr/>
          </p:nvSpPr>
          <p:spPr>
            <a:xfrm>
              <a:off x="5753915" y="1922445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规则建议</a:t>
              </a: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08F0142B-D68F-836B-0A1C-A714F14C84EA}"/>
                </a:ext>
              </a:extLst>
            </p:cNvPr>
            <p:cNvSpPr/>
            <p:nvPr/>
          </p:nvSpPr>
          <p:spPr>
            <a:xfrm>
              <a:off x="4871363" y="2615010"/>
              <a:ext cx="8460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报告生成</a:t>
              </a: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98D6F19E-8D6F-A71F-1A59-EB1E025E69CB}"/>
                </a:ext>
              </a:extLst>
            </p:cNvPr>
            <p:cNvSpPr/>
            <p:nvPr/>
          </p:nvSpPr>
          <p:spPr>
            <a:xfrm>
              <a:off x="5765013" y="5309360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配置生成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1DE4A80-E7CC-9E79-4ADB-726B58350A9B}"/>
                </a:ext>
              </a:extLst>
            </p:cNvPr>
            <p:cNvSpPr/>
            <p:nvPr/>
          </p:nvSpPr>
          <p:spPr>
            <a:xfrm>
              <a:off x="5753915" y="2611686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标注反馈</a:t>
              </a: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A303865F-AF2A-6680-27C0-F93E095734DA}"/>
                </a:ext>
              </a:extLst>
            </p:cNvPr>
            <p:cNvSpPr/>
            <p:nvPr/>
          </p:nvSpPr>
          <p:spPr>
            <a:xfrm>
              <a:off x="2541976" y="2272064"/>
              <a:ext cx="848534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分析报告</a:t>
              </a: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1F2BDDD2-94F9-CC6D-51B3-9A17D4F7E4A4}"/>
                </a:ext>
              </a:extLst>
            </p:cNvPr>
            <p:cNvSpPr/>
            <p:nvPr/>
          </p:nvSpPr>
          <p:spPr>
            <a:xfrm>
              <a:off x="4871363" y="1922445"/>
              <a:ext cx="855538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价值判断</a:t>
              </a: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3B6D687-5CC8-7EC1-D267-8EA65FC41CD4}"/>
                </a:ext>
              </a:extLst>
            </p:cNvPr>
            <p:cNvSpPr/>
            <p:nvPr/>
          </p:nvSpPr>
          <p:spPr>
            <a:xfrm>
              <a:off x="211024" y="1052761"/>
              <a:ext cx="1738028" cy="366897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需求洞察</a:t>
              </a:r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13AB11D-AE14-30C0-3407-60FAC714B53D}"/>
                </a:ext>
              </a:extLst>
            </p:cNvPr>
            <p:cNvSpPr/>
            <p:nvPr/>
          </p:nvSpPr>
          <p:spPr>
            <a:xfrm>
              <a:off x="2541193" y="1052761"/>
              <a:ext cx="1738800" cy="366897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分析决策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C2F1CB4-007E-86C1-9A87-02377631D152}"/>
                </a:ext>
              </a:extLst>
            </p:cNvPr>
            <p:cNvSpPr txBox="1"/>
            <p:nvPr/>
          </p:nvSpPr>
          <p:spPr>
            <a:xfrm>
              <a:off x="2522335" y="2606717"/>
              <a:ext cx="1908939" cy="308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供给理解挖掘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D1315A9C-DFE7-6723-B1A6-5010F0360210}"/>
                </a:ext>
              </a:extLst>
            </p:cNvPr>
            <p:cNvSpPr/>
            <p:nvPr/>
          </p:nvSpPr>
          <p:spPr>
            <a:xfrm>
              <a:off x="7202586" y="1924132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动线配置</a:t>
              </a: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5FD781A-0E7E-C125-A84A-5ACA8D64CFE2}"/>
                </a:ext>
              </a:extLst>
            </p:cNvPr>
            <p:cNvSpPr/>
            <p:nvPr/>
          </p:nvSpPr>
          <p:spPr>
            <a:xfrm>
              <a:off x="8090150" y="1922445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资源投放</a:t>
              </a:r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F0C326CD-335E-8F5E-BED4-4B1DD5B192F6}"/>
                </a:ext>
              </a:extLst>
            </p:cNvPr>
            <p:cNvSpPr/>
            <p:nvPr/>
          </p:nvSpPr>
          <p:spPr>
            <a:xfrm>
              <a:off x="4871362" y="1052761"/>
              <a:ext cx="1738800" cy="366897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榜单建设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EAE2ADE-4BEA-98D0-F48A-3BC629744ADA}"/>
                </a:ext>
              </a:extLst>
            </p:cNvPr>
            <p:cNvSpPr/>
            <p:nvPr/>
          </p:nvSpPr>
          <p:spPr>
            <a:xfrm>
              <a:off x="7237829" y="5427029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新快爬榜</a:t>
              </a: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307D1555-869C-5DBF-5CE0-7D6436F9684F}"/>
                </a:ext>
              </a:extLst>
            </p:cNvPr>
            <p:cNvSpPr/>
            <p:nvPr/>
          </p:nvSpPr>
          <p:spPr>
            <a:xfrm>
              <a:off x="8118961" y="5429792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负面信号操作</a:t>
              </a: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21DAB1B-5464-64FE-8AA1-CEB1951009D3}"/>
                </a:ext>
              </a:extLst>
            </p:cNvPr>
            <p:cNvSpPr/>
            <p:nvPr/>
          </p:nvSpPr>
          <p:spPr>
            <a:xfrm>
              <a:off x="250407" y="4520914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门店</a:t>
              </a: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A7C785C0-F4DD-7B78-6AE0-5E432EBA8B70}"/>
                </a:ext>
              </a:extLst>
            </p:cNvPr>
            <p:cNvSpPr/>
            <p:nvPr/>
          </p:nvSpPr>
          <p:spPr>
            <a:xfrm>
              <a:off x="1120951" y="4520828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菜品</a:t>
              </a: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A3BDCCFB-88ED-9B8C-198C-13214C6C601B}"/>
                </a:ext>
              </a:extLst>
            </p:cNvPr>
            <p:cNvSpPr/>
            <p:nvPr/>
          </p:nvSpPr>
          <p:spPr>
            <a:xfrm>
              <a:off x="250054" y="4850150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Deal</a:t>
              </a:r>
              <a:endParaRPr lang="zh-CN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B7894ACC-B08D-A1DA-99CA-65A4AB259696}"/>
                </a:ext>
              </a:extLst>
            </p:cNvPr>
            <p:cNvSpPr/>
            <p:nvPr/>
          </p:nvSpPr>
          <p:spPr>
            <a:xfrm>
              <a:off x="4864769" y="3039621"/>
              <a:ext cx="1744678" cy="3668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产研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设计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测试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185004CB-56C8-D533-3644-6D6F08865183}"/>
                </a:ext>
              </a:extLst>
            </p:cNvPr>
            <p:cNvSpPr/>
            <p:nvPr/>
          </p:nvSpPr>
          <p:spPr>
            <a:xfrm>
              <a:off x="2536604" y="4118404"/>
              <a:ext cx="1763093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用户分析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924637E0-DEB4-B310-69CB-C2234BD2A0E6}"/>
                </a:ext>
              </a:extLst>
            </p:cNvPr>
            <p:cNvSpPr/>
            <p:nvPr/>
          </p:nvSpPr>
          <p:spPr>
            <a:xfrm>
              <a:off x="2536604" y="4865777"/>
              <a:ext cx="1763092" cy="3668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竞对分析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5986D27A-CBC8-CFE9-D37D-D20F207B8D55}"/>
                </a:ext>
              </a:extLst>
            </p:cNvPr>
            <p:cNvSpPr/>
            <p:nvPr/>
          </p:nvSpPr>
          <p:spPr>
            <a:xfrm>
              <a:off x="7201532" y="1052761"/>
              <a:ext cx="1738800" cy="366897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运营工具</a:t>
              </a: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B09B4DFB-5B67-A845-65C8-490D99FB4D96}"/>
                </a:ext>
              </a:extLst>
            </p:cNvPr>
            <p:cNvSpPr/>
            <p:nvPr/>
          </p:nvSpPr>
          <p:spPr>
            <a:xfrm>
              <a:off x="3425436" y="1924041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生态指标</a:t>
              </a: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02403D66-E879-AA99-CFE6-B49876F12347}"/>
                </a:ext>
              </a:extLst>
            </p:cNvPr>
            <p:cNvSpPr/>
            <p:nvPr/>
          </p:nvSpPr>
          <p:spPr>
            <a:xfrm>
              <a:off x="2543488" y="4516029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用户画像</a:t>
              </a:r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09F1A67A-C384-7A69-B8CD-0E758A7EFC6A}"/>
                </a:ext>
              </a:extLst>
            </p:cNvPr>
            <p:cNvSpPr/>
            <p:nvPr/>
          </p:nvSpPr>
          <p:spPr>
            <a:xfrm>
              <a:off x="3425436" y="4516159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行为序列</a:t>
              </a:r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FD9C785D-D8F8-1CA5-8AEC-EBECF10565DD}"/>
                </a:ext>
              </a:extLst>
            </p:cNvPr>
            <p:cNvSpPr/>
            <p:nvPr/>
          </p:nvSpPr>
          <p:spPr>
            <a:xfrm>
              <a:off x="7217026" y="2272064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ROI</a:t>
              </a:r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预估</a:t>
              </a:r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C3856A4B-5DD5-AE9B-E1CB-83D19A99DB5A}"/>
                </a:ext>
              </a:extLst>
            </p:cNvPr>
            <p:cNvSpPr/>
            <p:nvPr/>
          </p:nvSpPr>
          <p:spPr>
            <a:xfrm>
              <a:off x="7237829" y="5754066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问题定位</a:t>
              </a:r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8EDC4E90-3BDF-E8C5-AD82-3626B378C316}"/>
                </a:ext>
              </a:extLst>
            </p:cNvPr>
            <p:cNvSpPr/>
            <p:nvPr/>
          </p:nvSpPr>
          <p:spPr>
            <a:xfrm>
              <a:off x="8118961" y="5748295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策略建议</a:t>
              </a:r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263067E4-61EF-CF75-CC92-B6A957D011E0}"/>
                </a:ext>
              </a:extLst>
            </p:cNvPr>
            <p:cNvSpPr/>
            <p:nvPr/>
          </p:nvSpPr>
          <p:spPr>
            <a:xfrm>
              <a:off x="5759594" y="2265436"/>
              <a:ext cx="842548" cy="31458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供给挖掘</a:t>
              </a:r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034B115F-F50F-794F-8409-DFA440FB49B3}"/>
                </a:ext>
              </a:extLst>
            </p:cNvPr>
            <p:cNvSpPr/>
            <p:nvPr/>
          </p:nvSpPr>
          <p:spPr>
            <a:xfrm>
              <a:off x="4871362" y="3796279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UE/UI</a:t>
              </a:r>
              <a:endParaRPr lang="zh-CN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141C00AE-24C6-C2E1-FE70-05FBA762D620}"/>
                </a:ext>
              </a:extLst>
            </p:cNvPr>
            <p:cNvSpPr/>
            <p:nvPr/>
          </p:nvSpPr>
          <p:spPr>
            <a:xfrm>
              <a:off x="5765013" y="3791362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技术架构</a:t>
              </a:r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396D6087-BA46-1F16-25F1-E729B78090AB}"/>
                </a:ext>
              </a:extLst>
            </p:cNvPr>
            <p:cNvSpPr/>
            <p:nvPr/>
          </p:nvSpPr>
          <p:spPr>
            <a:xfrm>
              <a:off x="5768773" y="3455628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产品</a:t>
              </a:r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PRD</a:t>
              </a:r>
              <a:endParaRPr lang="zh-CN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5453E648-8AFF-8B13-BF0A-E1079C950926}"/>
                </a:ext>
              </a:extLst>
            </p:cNvPr>
            <p:cNvSpPr/>
            <p:nvPr/>
          </p:nvSpPr>
          <p:spPr>
            <a:xfrm>
              <a:off x="5765327" y="4139484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评审验收</a:t>
              </a:r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B07254F0-FE84-5BBF-A15A-F5245175BBA7}"/>
                </a:ext>
              </a:extLst>
            </p:cNvPr>
            <p:cNvSpPr/>
            <p:nvPr/>
          </p:nvSpPr>
          <p:spPr>
            <a:xfrm>
              <a:off x="4881027" y="3453034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整体调度</a:t>
              </a:r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75175C57-5E3E-1131-BE59-7CBAFE2E29CB}"/>
                </a:ext>
              </a:extLst>
            </p:cNvPr>
            <p:cNvSpPr/>
            <p:nvPr/>
          </p:nvSpPr>
          <p:spPr>
            <a:xfrm>
              <a:off x="4881027" y="4140890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代码用例</a:t>
              </a:r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D055FD88-0117-D30A-DC82-6F210F3AC0A6}"/>
                </a:ext>
              </a:extLst>
            </p:cNvPr>
            <p:cNvSpPr/>
            <p:nvPr/>
          </p:nvSpPr>
          <p:spPr>
            <a:xfrm>
              <a:off x="7236148" y="2687887"/>
              <a:ext cx="1743052" cy="3668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>
                  <a:solidFill>
                    <a:schemeClr val="tx1"/>
                  </a:solidFill>
                  <a:latin typeface="+mn-ea"/>
                </a:rPr>
                <a:t>用户运营</a:t>
              </a:r>
              <a:r>
                <a:rPr lang="en-US" altLang="zh-CN" sz="1050" dirty="0">
                  <a:solidFill>
                    <a:schemeClr val="tx1"/>
                  </a:solidFill>
                  <a:latin typeface="+mn-ea"/>
                </a:rPr>
                <a:t>Skills</a:t>
              </a:r>
              <a:endParaRPr lang="zh-CN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B0D2ACE9-AA48-5183-7906-0F8EAD3D845C}"/>
                </a:ext>
              </a:extLst>
            </p:cNvPr>
            <p:cNvSpPr/>
            <p:nvPr/>
          </p:nvSpPr>
          <p:spPr>
            <a:xfrm>
              <a:off x="7236148" y="3414598"/>
              <a:ext cx="853906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体验收集</a:t>
              </a: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2305DFED-DE8B-F133-F391-2B9E49D5173E}"/>
                </a:ext>
              </a:extLst>
            </p:cNvPr>
            <p:cNvSpPr/>
            <p:nvPr/>
          </p:nvSpPr>
          <p:spPr>
            <a:xfrm>
              <a:off x="7240228" y="3086778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用户圈选</a:t>
              </a: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A6C18295-F861-BA2A-EE31-6D683BB43B77}"/>
                </a:ext>
              </a:extLst>
            </p:cNvPr>
            <p:cNvSpPr/>
            <p:nvPr/>
          </p:nvSpPr>
          <p:spPr>
            <a:xfrm>
              <a:off x="8125294" y="3083113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活动策略</a:t>
              </a: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E0E5EE0C-7459-7855-FD4E-DF0F12E923DD}"/>
                </a:ext>
              </a:extLst>
            </p:cNvPr>
            <p:cNvSpPr/>
            <p:nvPr/>
          </p:nvSpPr>
          <p:spPr>
            <a:xfrm>
              <a:off x="8125294" y="3412461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用户触达</a:t>
              </a: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74CC4E49-664A-C67F-6246-2D8F31FE1CA5}"/>
                </a:ext>
              </a:extLst>
            </p:cNvPr>
            <p:cNvSpPr/>
            <p:nvPr/>
          </p:nvSpPr>
          <p:spPr>
            <a:xfrm>
              <a:off x="217421" y="2276738"/>
              <a:ext cx="853200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需求挖掘</a:t>
              </a: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06CBCD27-8207-56B2-8C19-191BB7904578}"/>
                </a:ext>
              </a:extLst>
            </p:cNvPr>
            <p:cNvSpPr/>
            <p:nvPr/>
          </p:nvSpPr>
          <p:spPr>
            <a:xfrm>
              <a:off x="4865440" y="5310773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试点圈选</a:t>
              </a: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49E51B62-122A-9628-1DE8-359524BCF0D0}"/>
                </a:ext>
              </a:extLst>
            </p:cNvPr>
            <p:cNvSpPr/>
            <p:nvPr/>
          </p:nvSpPr>
          <p:spPr>
            <a:xfrm>
              <a:off x="3425436" y="2265435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信息查询</a:t>
              </a:r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661869CA-9A93-095B-1CF2-C4E4F13E9C62}"/>
                </a:ext>
              </a:extLst>
            </p:cNvPr>
            <p:cNvSpPr/>
            <p:nvPr/>
          </p:nvSpPr>
          <p:spPr>
            <a:xfrm>
              <a:off x="1103359" y="2269806"/>
              <a:ext cx="853200" cy="3010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6A08A602-461A-15C4-57B4-130BD828E4B0}"/>
                </a:ext>
              </a:extLst>
            </p:cNvPr>
            <p:cNvCxnSpPr>
              <a:cxnSpLocks/>
              <a:stCxn id="176" idx="2"/>
            </p:cNvCxnSpPr>
            <p:nvPr/>
          </p:nvCxnSpPr>
          <p:spPr>
            <a:xfrm>
              <a:off x="1529959" y="2570825"/>
              <a:ext cx="0" cy="14924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623772B7-9127-2110-35D5-3F2045D06EA0}"/>
                </a:ext>
              </a:extLst>
            </p:cNvPr>
            <p:cNvSpPr txBox="1"/>
            <p:nvPr/>
          </p:nvSpPr>
          <p:spPr>
            <a:xfrm>
              <a:off x="1040191" y="2306849"/>
              <a:ext cx="966088" cy="2429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供给关联映射</a:t>
              </a:r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D2C23625-6009-0818-678E-EE97BD4BBABC}"/>
                </a:ext>
              </a:extLst>
            </p:cNvPr>
            <p:cNvSpPr/>
            <p:nvPr/>
          </p:nvSpPr>
          <p:spPr>
            <a:xfrm>
              <a:off x="1126383" y="4850150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体验</a:t>
              </a:r>
              <a:r>
                <a:rPr lang="en-US" altLang="zh-CN" sz="70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服务</a:t>
              </a:r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4E98596B-A05D-4666-ABC2-09B953D6D79B}"/>
                </a:ext>
              </a:extLst>
            </p:cNvPr>
            <p:cNvSpPr/>
            <p:nvPr/>
          </p:nvSpPr>
          <p:spPr>
            <a:xfrm>
              <a:off x="4865440" y="4969485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数据生成</a:t>
              </a:r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206C2F3E-E2F8-7541-C312-6593773DDC91}"/>
                </a:ext>
              </a:extLst>
            </p:cNvPr>
            <p:cNvSpPr/>
            <p:nvPr/>
          </p:nvSpPr>
          <p:spPr>
            <a:xfrm>
              <a:off x="8094336" y="2265434"/>
              <a:ext cx="853906" cy="30101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dirty="0">
                  <a:solidFill>
                    <a:schemeClr val="tx1"/>
                  </a:solidFill>
                  <a:latin typeface="+mn-ea"/>
                </a:rPr>
                <a:t>效果复盘</a:t>
              </a: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A18189AA-C361-26AE-AD75-125827126087}"/>
                </a:ext>
              </a:extLst>
            </p:cNvPr>
            <p:cNvSpPr txBox="1"/>
            <p:nvPr/>
          </p:nvSpPr>
          <p:spPr>
            <a:xfrm>
              <a:off x="3397394" y="2891485"/>
              <a:ext cx="404986" cy="2429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chemeClr val="accent3"/>
                  </a:solidFill>
                  <a:latin typeface="+mn-ea"/>
                </a:rPr>
                <a:t>●</a:t>
              </a:r>
              <a:endParaRPr lang="zh-CN" altLang="en-US" sz="700" dirty="0">
                <a:solidFill>
                  <a:schemeClr val="accent3"/>
                </a:solidFill>
              </a:endParaRPr>
            </a:p>
          </p:txBody>
        </p: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CB7E7A8C-2ACA-4FE8-DA1D-7C7723F7A1A2}"/>
                </a:ext>
              </a:extLst>
            </p:cNvPr>
            <p:cNvSpPr txBox="1"/>
            <p:nvPr/>
          </p:nvSpPr>
          <p:spPr>
            <a:xfrm>
              <a:off x="2632186" y="1603107"/>
              <a:ext cx="404986" cy="2429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chemeClr val="accent3"/>
                  </a:solidFill>
                  <a:latin typeface="+mn-ea"/>
                </a:rPr>
                <a:t>●</a:t>
              </a:r>
              <a:endParaRPr lang="zh-CN" altLang="en-US" sz="700" dirty="0">
                <a:solidFill>
                  <a:schemeClr val="accent3"/>
                </a:solidFill>
              </a:endParaRPr>
            </a:p>
          </p:txBody>
        </p:sp>
        <p:sp>
          <p:nvSpPr>
            <p:cNvPr id="254" name="文本框 253">
              <a:extLst>
                <a:ext uri="{FF2B5EF4-FFF2-40B4-BE49-F238E27FC236}">
                  <a16:creationId xmlns:a16="http://schemas.microsoft.com/office/drawing/2014/main" id="{ACC9423F-C1F8-9B10-6B8B-13613F9DE239}"/>
                </a:ext>
              </a:extLst>
            </p:cNvPr>
            <p:cNvSpPr txBox="1"/>
            <p:nvPr/>
          </p:nvSpPr>
          <p:spPr>
            <a:xfrm>
              <a:off x="4823301" y="1599204"/>
              <a:ext cx="404986" cy="2429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chemeClr val="accent3"/>
                  </a:solidFill>
                  <a:latin typeface="+mn-ea"/>
                </a:rPr>
                <a:t>●</a:t>
              </a:r>
              <a:endParaRPr lang="zh-CN" altLang="en-US" sz="700" dirty="0">
                <a:solidFill>
                  <a:schemeClr val="accent3"/>
                </a:solidFill>
              </a:endParaRPr>
            </a:p>
          </p:txBody>
        </p: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4A804492-6E8C-58DA-9642-CC96944E2854}"/>
                </a:ext>
              </a:extLst>
            </p:cNvPr>
            <p:cNvSpPr txBox="1"/>
            <p:nvPr/>
          </p:nvSpPr>
          <p:spPr>
            <a:xfrm>
              <a:off x="4897414" y="4628556"/>
              <a:ext cx="404986" cy="2429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chemeClr val="accent3"/>
                  </a:solidFill>
                  <a:latin typeface="+mn-ea"/>
                </a:rPr>
                <a:t>●</a:t>
              </a:r>
              <a:endParaRPr lang="zh-CN" altLang="en-US" sz="700" dirty="0">
                <a:solidFill>
                  <a:schemeClr val="accent3"/>
                </a:solidFill>
              </a:endParaRPr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77855BBB-8536-7FE7-CADC-744ACAB8EC98}"/>
                </a:ext>
              </a:extLst>
            </p:cNvPr>
            <p:cNvSpPr txBox="1"/>
            <p:nvPr/>
          </p:nvSpPr>
          <p:spPr>
            <a:xfrm>
              <a:off x="7136909" y="1603737"/>
              <a:ext cx="404986" cy="2429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700" dirty="0">
                  <a:solidFill>
                    <a:schemeClr val="accent3"/>
                  </a:solidFill>
                  <a:latin typeface="+mn-ea"/>
                </a:rPr>
                <a:t>●</a:t>
              </a:r>
              <a:endParaRPr lang="zh-CN" altLang="en-US" sz="700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054AF9DE-6316-7CBD-B54F-0D1E232E9B1D}"/>
              </a:ext>
            </a:extLst>
          </p:cNvPr>
          <p:cNvSpPr txBox="1"/>
          <p:nvPr/>
        </p:nvSpPr>
        <p:spPr>
          <a:xfrm>
            <a:off x="319097" y="924032"/>
            <a:ext cx="10361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计划进度</a:t>
            </a:r>
          </a:p>
        </p:txBody>
      </p:sp>
      <p:cxnSp>
        <p:nvCxnSpPr>
          <p:cNvPr id="52" name="米菲PPT101">
            <a:extLst>
              <a:ext uri="{FF2B5EF4-FFF2-40B4-BE49-F238E27FC236}">
                <a16:creationId xmlns:a16="http://schemas.microsoft.com/office/drawing/2014/main" id="{1DF95DFA-173A-7230-A8F7-0BEEF7118340}"/>
              </a:ext>
            </a:extLst>
          </p:cNvPr>
          <p:cNvCxnSpPr/>
          <p:nvPr/>
        </p:nvCxnSpPr>
        <p:spPr>
          <a:xfrm>
            <a:off x="144908" y="1142863"/>
            <a:ext cx="0" cy="3835897"/>
          </a:xfrm>
          <a:prstGeom prst="straightConnector1">
            <a:avLst/>
          </a:prstGeom>
          <a:ln w="12700">
            <a:gradFill flip="none" rotWithShape="1">
              <a:gsLst>
                <a:gs pos="24000">
                  <a:schemeClr val="accent1">
                    <a:lumMod val="59000"/>
                    <a:lumOff val="41000"/>
                  </a:schemeClr>
                </a:gs>
                <a:gs pos="100000">
                  <a:schemeClr val="accent1">
                    <a:lumMod val="9000"/>
                    <a:lumOff val="91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米菲PPT102">
            <a:extLst>
              <a:ext uri="{FF2B5EF4-FFF2-40B4-BE49-F238E27FC236}">
                <a16:creationId xmlns:a16="http://schemas.microsoft.com/office/drawing/2014/main" id="{106182A5-B161-5192-E227-BF30CF746C8C}"/>
              </a:ext>
            </a:extLst>
          </p:cNvPr>
          <p:cNvSpPr txBox="1"/>
          <p:nvPr/>
        </p:nvSpPr>
        <p:spPr>
          <a:xfrm>
            <a:off x="251113" y="1380197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榜单运营功能拆解</a:t>
            </a:r>
          </a:p>
        </p:txBody>
      </p:sp>
      <p:sp>
        <p:nvSpPr>
          <p:cNvPr id="55" name="米菲PPT103">
            <a:extLst>
              <a:ext uri="{FF2B5EF4-FFF2-40B4-BE49-F238E27FC236}">
                <a16:creationId xmlns:a16="http://schemas.microsoft.com/office/drawing/2014/main" id="{48645020-55D4-00A2-6ACF-888D2A961FD0}"/>
              </a:ext>
            </a:extLst>
          </p:cNvPr>
          <p:cNvSpPr txBox="1"/>
          <p:nvPr/>
        </p:nvSpPr>
        <p:spPr>
          <a:xfrm>
            <a:off x="257461" y="1566634"/>
            <a:ext cx="15581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MiSans Medium" panose="00000600000000000000" pitchFamily="2" charset="-122"/>
              </a:rPr>
              <a:t>4</a:t>
            </a:r>
            <a:r>
              <a:rPr lang="zh-CN" altLang="en-US" sz="100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MiSans Medium" panose="00000600000000000000" pitchFamily="2" charset="-122"/>
              </a:rPr>
              <a:t>月</a:t>
            </a:r>
            <a:r>
              <a:rPr lang="en-US" altLang="zh-CN" sz="100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MiSans Medium" panose="00000600000000000000" pitchFamily="2" charset="-122"/>
              </a:rPr>
              <a:t>20</a:t>
            </a:r>
            <a:r>
              <a:rPr lang="zh-CN" altLang="en-US" sz="100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MiSans Medium" panose="00000600000000000000" pitchFamily="2" charset="-122"/>
              </a:rPr>
              <a:t>日 完成</a:t>
            </a:r>
          </a:p>
        </p:txBody>
      </p:sp>
      <p:sp>
        <p:nvSpPr>
          <p:cNvPr id="56" name="米菲PPT104">
            <a:extLst>
              <a:ext uri="{FF2B5EF4-FFF2-40B4-BE49-F238E27FC236}">
                <a16:creationId xmlns:a16="http://schemas.microsoft.com/office/drawing/2014/main" id="{CE8146D1-D8FF-449A-D74F-99F0177069B2}"/>
              </a:ext>
            </a:extLst>
          </p:cNvPr>
          <p:cNvSpPr txBox="1"/>
          <p:nvPr/>
        </p:nvSpPr>
        <p:spPr>
          <a:xfrm>
            <a:off x="251113" y="1961223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榜单建设 </a:t>
            </a: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skill</a:t>
            </a:r>
            <a:endParaRPr lang="zh-CN" altLang="en-US" sz="11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57" name="米菲PPT105">
            <a:extLst>
              <a:ext uri="{FF2B5EF4-FFF2-40B4-BE49-F238E27FC236}">
                <a16:creationId xmlns:a16="http://schemas.microsoft.com/office/drawing/2014/main" id="{2F892B60-E37F-3B00-B381-E2C5916E9F37}"/>
              </a:ext>
            </a:extLst>
          </p:cNvPr>
          <p:cNvSpPr txBox="1"/>
          <p:nvPr/>
        </p:nvSpPr>
        <p:spPr>
          <a:xfrm>
            <a:off x="257461" y="2168257"/>
            <a:ext cx="16532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pPr marL="171450" indent="-171450">
              <a:buFont typeface="Wingdings" pitchFamily="2" charset="2"/>
              <a:buChar char="ü"/>
            </a:pPr>
            <a:r>
              <a:rPr lang="en-US" altLang="zh-CN" sz="1000" dirty="0">
                <a:latin typeface="+mn-ea"/>
                <a:ea typeface="+mn-ea"/>
                <a:cs typeface="MiSans Medium" panose="00000600000000000000" pitchFamily="2" charset="-122"/>
              </a:rPr>
              <a:t>3</a:t>
            </a:r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月底 主题榜单建设</a:t>
            </a:r>
            <a:endParaRPr lang="en-US" altLang="zh-CN" sz="1000" dirty="0">
              <a:latin typeface="+mn-ea"/>
              <a:ea typeface="+mn-ea"/>
              <a:cs typeface="MiSans Medium" panose="00000600000000000000" pitchFamily="2" charset="-122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altLang="zh-CN" sz="1000" dirty="0">
                <a:latin typeface="+mn-ea"/>
                <a:ea typeface="+mn-ea"/>
                <a:cs typeface="MiSans Medium" panose="00000600000000000000" pitchFamily="2" charset="-122"/>
              </a:rPr>
              <a:t>4</a:t>
            </a:r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月</a:t>
            </a:r>
            <a:r>
              <a:rPr lang="en-US" altLang="zh-CN" sz="1000" dirty="0">
                <a:latin typeface="+mn-ea"/>
                <a:ea typeface="+mn-ea"/>
                <a:cs typeface="MiSans Medium" panose="00000600000000000000" pitchFamily="2" charset="-122"/>
              </a:rPr>
              <a:t>9</a:t>
            </a:r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日 主题标签挖掘</a:t>
            </a:r>
            <a:endParaRPr lang="en-US" altLang="zh-CN" sz="1000" dirty="0">
              <a:latin typeface="+mn-ea"/>
              <a:ea typeface="+mn-ea"/>
              <a:cs typeface="MiSans Medium" panose="00000600000000000000" pitchFamily="2" charset="-122"/>
            </a:endParaRPr>
          </a:p>
          <a:p>
            <a:r>
              <a:rPr lang="en-US" altLang="zh-CN" sz="1000" dirty="0">
                <a:latin typeface="+mn-ea"/>
                <a:ea typeface="+mn-ea"/>
                <a:cs typeface="MiSans Medium" panose="00000600000000000000" pitchFamily="2" charset="-122"/>
              </a:rPr>
              <a:t>5</a:t>
            </a:r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月中 指数榜单建设</a:t>
            </a:r>
          </a:p>
        </p:txBody>
      </p:sp>
      <p:sp>
        <p:nvSpPr>
          <p:cNvPr id="58" name="米菲PPT106">
            <a:extLst>
              <a:ext uri="{FF2B5EF4-FFF2-40B4-BE49-F238E27FC236}">
                <a16:creationId xmlns:a16="http://schemas.microsoft.com/office/drawing/2014/main" id="{501FE846-3403-4B0A-4755-53E841A3F01F}"/>
              </a:ext>
            </a:extLst>
          </p:cNvPr>
          <p:cNvSpPr txBox="1"/>
          <p:nvPr/>
        </p:nvSpPr>
        <p:spPr>
          <a:xfrm>
            <a:off x="251113" y="283645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运营工具 </a:t>
            </a:r>
            <a:r>
              <a:rPr lang="en-US" altLang="zh-CN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MiSans Medium" panose="00000600000000000000" pitchFamily="2" charset="-122"/>
              </a:rPr>
              <a:t>skill</a:t>
            </a:r>
            <a:endParaRPr lang="zh-CN" altLang="en-US" sz="11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59" name="米菲PPT107">
            <a:extLst>
              <a:ext uri="{FF2B5EF4-FFF2-40B4-BE49-F238E27FC236}">
                <a16:creationId xmlns:a16="http://schemas.microsoft.com/office/drawing/2014/main" id="{41636306-7EF6-C6CB-6649-AD7AAEDA7AB6}"/>
              </a:ext>
            </a:extLst>
          </p:cNvPr>
          <p:cNvSpPr txBox="1"/>
          <p:nvPr/>
        </p:nvSpPr>
        <p:spPr>
          <a:xfrm>
            <a:off x="257461" y="3055797"/>
            <a:ext cx="15581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MiSans Medium" panose="00000600000000000000" pitchFamily="2" charset="-122"/>
              </a:rPr>
              <a:t>6</a:t>
            </a:r>
            <a:r>
              <a:rPr lang="zh-CN" altLang="en-US" sz="100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MiSans Medium" panose="00000600000000000000" pitchFamily="2" charset="-122"/>
              </a:rPr>
              <a:t>月初上线</a:t>
            </a:r>
            <a:endParaRPr lang="en-US" altLang="zh-CN" sz="1000" dirty="0">
              <a:solidFill>
                <a:srgbClr val="000000">
                  <a:lumMod val="65000"/>
                  <a:lumOff val="35000"/>
                </a:srgbClr>
              </a:solidFill>
              <a:latin typeface="+mn-ea"/>
              <a:cs typeface="MiSans Medium" panose="00000600000000000000" pitchFamily="2" charset="-122"/>
            </a:endParaRPr>
          </a:p>
          <a:p>
            <a:r>
              <a:rPr lang="zh-CN" altLang="en-US" sz="1000" dirty="0">
                <a:solidFill>
                  <a:srgbClr val="000000">
                    <a:lumMod val="65000"/>
                    <a:lumOff val="35000"/>
                  </a:srgbClr>
                </a:solidFill>
                <a:latin typeface="+mn-ea"/>
                <a:cs typeface="MiSans Medium" panose="00000600000000000000" pitchFamily="2" charset="-122"/>
              </a:rPr>
              <a:t>一体化榜单通用配置</a:t>
            </a:r>
            <a:endParaRPr lang="en-US" altLang="zh-CN" sz="1000" dirty="0">
              <a:solidFill>
                <a:srgbClr val="000000">
                  <a:lumMod val="65000"/>
                  <a:lumOff val="35000"/>
                </a:srgbClr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60" name="米菲PPT108">
            <a:extLst>
              <a:ext uri="{FF2B5EF4-FFF2-40B4-BE49-F238E27FC236}">
                <a16:creationId xmlns:a16="http://schemas.microsoft.com/office/drawing/2014/main" id="{BD563194-D619-F172-1A2B-40D16CEDC459}"/>
              </a:ext>
            </a:extLst>
          </p:cNvPr>
          <p:cNvSpPr txBox="1"/>
          <p:nvPr/>
        </p:nvSpPr>
        <p:spPr>
          <a:xfrm>
            <a:off x="251113" y="3567122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>
                <a:gradFill flip="none" rotWithShape="1">
                  <a:gsLst>
                    <a:gs pos="23000">
                      <a:schemeClr val="accent1"/>
                    </a:gs>
                    <a:gs pos="100000">
                      <a:schemeClr val="accent1">
                        <a:lumMod val="85000"/>
                        <a:lumOff val="15000"/>
                      </a:schemeClr>
                    </a:gs>
                  </a:gsLst>
                  <a:lin ang="5400000" scaled="1"/>
                  <a:tileRect/>
                </a:gradFill>
                <a:latin typeface="+mn-ea"/>
              </a:defRPr>
            </a:lvl1pPr>
          </a:lstStyle>
          <a:p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MiSans Medium" panose="00000600000000000000" pitchFamily="2" charset="-122"/>
              </a:rPr>
              <a:t>分析决策 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MiSans Medium" panose="00000600000000000000" pitchFamily="2" charset="-122"/>
              </a:rPr>
              <a:t>skill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61" name="米菲PPT109">
            <a:extLst>
              <a:ext uri="{FF2B5EF4-FFF2-40B4-BE49-F238E27FC236}">
                <a16:creationId xmlns:a16="http://schemas.microsoft.com/office/drawing/2014/main" id="{3084BF80-ECC9-609A-739A-9F0200825DDE}"/>
              </a:ext>
            </a:extLst>
          </p:cNvPr>
          <p:cNvSpPr txBox="1"/>
          <p:nvPr/>
        </p:nvSpPr>
        <p:spPr>
          <a:xfrm>
            <a:off x="257461" y="3816836"/>
            <a:ext cx="15581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r>
              <a:rPr lang="en-US" altLang="zh-CN" sz="1000" dirty="0">
                <a:latin typeface="+mn-ea"/>
                <a:ea typeface="+mn-ea"/>
                <a:cs typeface="MiSans Medium" panose="00000600000000000000" pitchFamily="2" charset="-122"/>
              </a:rPr>
              <a:t>6</a:t>
            </a:r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月中上线</a:t>
            </a:r>
          </a:p>
        </p:txBody>
      </p:sp>
      <p:sp>
        <p:nvSpPr>
          <p:cNvPr id="62" name="米菲PPT110">
            <a:extLst>
              <a:ext uri="{FF2B5EF4-FFF2-40B4-BE49-F238E27FC236}">
                <a16:creationId xmlns:a16="http://schemas.microsoft.com/office/drawing/2014/main" id="{6702FCF2-D3D4-A142-D431-FC1FB4D3F812}"/>
              </a:ext>
            </a:extLst>
          </p:cNvPr>
          <p:cNvSpPr/>
          <p:nvPr/>
        </p:nvSpPr>
        <p:spPr>
          <a:xfrm>
            <a:off x="76780" y="1444528"/>
            <a:ext cx="136256" cy="15388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>
              <a:solidFill>
                <a:srgbClr val="FFFFFF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64" name="米菲PPT111">
            <a:extLst>
              <a:ext uri="{FF2B5EF4-FFF2-40B4-BE49-F238E27FC236}">
                <a16:creationId xmlns:a16="http://schemas.microsoft.com/office/drawing/2014/main" id="{C3E7A7BB-21D3-83DC-0650-77A0B42EB53E}"/>
              </a:ext>
            </a:extLst>
          </p:cNvPr>
          <p:cNvSpPr/>
          <p:nvPr/>
        </p:nvSpPr>
        <p:spPr>
          <a:xfrm>
            <a:off x="76780" y="2038166"/>
            <a:ext cx="136256" cy="15388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>
              <a:solidFill>
                <a:srgbClr val="FFFFFF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65" name="米菲PPT112">
            <a:extLst>
              <a:ext uri="{FF2B5EF4-FFF2-40B4-BE49-F238E27FC236}">
                <a16:creationId xmlns:a16="http://schemas.microsoft.com/office/drawing/2014/main" id="{2644A3F4-8DE5-FF2D-908D-2640A3B59F86}"/>
              </a:ext>
            </a:extLst>
          </p:cNvPr>
          <p:cNvSpPr/>
          <p:nvPr/>
        </p:nvSpPr>
        <p:spPr>
          <a:xfrm>
            <a:off x="76780" y="2904960"/>
            <a:ext cx="136256" cy="15388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>
              <a:solidFill>
                <a:srgbClr val="FFFFFF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66" name="米菲PPT113">
            <a:extLst>
              <a:ext uri="{FF2B5EF4-FFF2-40B4-BE49-F238E27FC236}">
                <a16:creationId xmlns:a16="http://schemas.microsoft.com/office/drawing/2014/main" id="{1E2CB020-C976-8C55-32F9-91618A3F9C14}"/>
              </a:ext>
            </a:extLst>
          </p:cNvPr>
          <p:cNvSpPr/>
          <p:nvPr/>
        </p:nvSpPr>
        <p:spPr>
          <a:xfrm>
            <a:off x="76780" y="3642679"/>
            <a:ext cx="136256" cy="15388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>
              <a:solidFill>
                <a:srgbClr val="FFFFFF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69" name="米菲PPT108">
            <a:extLst>
              <a:ext uri="{FF2B5EF4-FFF2-40B4-BE49-F238E27FC236}">
                <a16:creationId xmlns:a16="http://schemas.microsoft.com/office/drawing/2014/main" id="{04FDAF84-7129-3389-97A5-AAA339957574}"/>
              </a:ext>
            </a:extLst>
          </p:cNvPr>
          <p:cNvSpPr txBox="1"/>
          <p:nvPr/>
        </p:nvSpPr>
        <p:spPr>
          <a:xfrm>
            <a:off x="260961" y="4166985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>
                <a:gradFill flip="none" rotWithShape="1">
                  <a:gsLst>
                    <a:gs pos="23000">
                      <a:schemeClr val="accent1"/>
                    </a:gs>
                    <a:gs pos="100000">
                      <a:schemeClr val="accent1">
                        <a:lumMod val="85000"/>
                        <a:lumOff val="15000"/>
                      </a:schemeClr>
                    </a:gs>
                  </a:gsLst>
                  <a:lin ang="5400000" scaled="1"/>
                  <a:tileRect/>
                </a:gradFill>
                <a:latin typeface="+mn-ea"/>
              </a:defRPr>
            </a:lvl1pPr>
          </a:lstStyle>
          <a:p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MiSans Medium" panose="00000600000000000000" pitchFamily="2" charset="-122"/>
              </a:rPr>
              <a:t>需求洞察 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MiSans Medium" panose="00000600000000000000" pitchFamily="2" charset="-122"/>
              </a:rPr>
              <a:t>skill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cs typeface="MiSans Medium" panose="00000600000000000000" pitchFamily="2" charset="-122"/>
            </a:endParaRPr>
          </a:p>
        </p:txBody>
      </p:sp>
      <p:sp>
        <p:nvSpPr>
          <p:cNvPr id="72" name="米菲PPT113">
            <a:extLst>
              <a:ext uri="{FF2B5EF4-FFF2-40B4-BE49-F238E27FC236}">
                <a16:creationId xmlns:a16="http://schemas.microsoft.com/office/drawing/2014/main" id="{D24DF01C-AD9D-8DC9-232F-623F491CC328}"/>
              </a:ext>
            </a:extLst>
          </p:cNvPr>
          <p:cNvSpPr/>
          <p:nvPr/>
        </p:nvSpPr>
        <p:spPr>
          <a:xfrm>
            <a:off x="86628" y="4242542"/>
            <a:ext cx="136256" cy="153889"/>
          </a:xfrm>
          <a:prstGeom prst="homePlate">
            <a:avLst/>
          </a:prstGeom>
          <a:solidFill>
            <a:schemeClr val="accent1"/>
          </a:solidFill>
          <a:ln w="38100">
            <a:noFill/>
          </a:ln>
          <a:effectLst>
            <a:outerShdw blurRad="469900" dist="123444" dir="5400000" sx="99000" sy="99000" algn="ctr" rotWithShape="0">
              <a:schemeClr val="accent1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>
              <a:solidFill>
                <a:srgbClr val="FFFFFF"/>
              </a:solidFill>
              <a:latin typeface="+mn-ea"/>
              <a:cs typeface="MiSans Medium" panose="00000600000000000000" pitchFamily="2" charset="-122"/>
            </a:endParaRPr>
          </a:p>
        </p:txBody>
      </p:sp>
      <p:sp>
        <p:nvSpPr>
          <p:cNvPr id="81" name="米菲PPT109">
            <a:extLst>
              <a:ext uri="{FF2B5EF4-FFF2-40B4-BE49-F238E27FC236}">
                <a16:creationId xmlns:a16="http://schemas.microsoft.com/office/drawing/2014/main" id="{57859689-D6DD-A47A-979B-FB51887AEF1B}"/>
              </a:ext>
            </a:extLst>
          </p:cNvPr>
          <p:cNvSpPr txBox="1"/>
          <p:nvPr/>
        </p:nvSpPr>
        <p:spPr>
          <a:xfrm>
            <a:off x="257460" y="4420572"/>
            <a:ext cx="15581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000000">
                    <a:lumMod val="65000"/>
                    <a:lumOff val="35000"/>
                  </a:srgbClr>
                </a:solidFill>
                <a:latin typeface="MiSans Medium" panose="00000600000000000000" pitchFamily="2" charset="-122"/>
                <a:ea typeface="MiSans Medium" panose="00000600000000000000" pitchFamily="2" charset="-122"/>
              </a:defRPr>
            </a:lvl1pPr>
          </a:lstStyle>
          <a:p>
            <a:r>
              <a:rPr lang="en-US" altLang="zh-CN" sz="1000" dirty="0">
                <a:latin typeface="+mn-ea"/>
                <a:ea typeface="+mn-ea"/>
                <a:cs typeface="MiSans Medium" panose="00000600000000000000" pitchFamily="2" charset="-122"/>
              </a:rPr>
              <a:t>6</a:t>
            </a:r>
            <a:r>
              <a:rPr lang="zh-CN" altLang="en-US" sz="1000" dirty="0">
                <a:latin typeface="+mn-ea"/>
                <a:ea typeface="+mn-ea"/>
                <a:cs typeface="MiSans Medium" panose="00000600000000000000" pitchFamily="2" charset="-122"/>
              </a:rPr>
              <a:t>月启动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DFBE2D8-FC54-11CE-3F14-8F345BA0E12F}"/>
              </a:ext>
            </a:extLst>
          </p:cNvPr>
          <p:cNvSpPr txBox="1"/>
          <p:nvPr/>
        </p:nvSpPr>
        <p:spPr>
          <a:xfrm>
            <a:off x="1842575" y="2169581"/>
            <a:ext cx="1475975" cy="61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8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难点</a:t>
            </a: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：站外自动扒数据成本较高，风险较大；人工梳理成本同样较高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105A20E6-A77A-C9BB-8973-26821A078F9B}"/>
              </a:ext>
            </a:extLst>
          </p:cNvPr>
          <p:cNvSpPr txBox="1"/>
          <p:nvPr/>
        </p:nvSpPr>
        <p:spPr>
          <a:xfrm>
            <a:off x="1842574" y="4242542"/>
            <a:ext cx="1475975" cy="432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难点</a:t>
            </a: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 AI</a:t>
            </a:r>
            <a:r>
              <a:rPr lang="zh-CN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</a:rPr>
              <a:t>映射存在幻觉错误，需要人工审核</a:t>
            </a:r>
            <a:endParaRPr lang="en-US" altLang="zh-CN" sz="8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E9F4B6-2B40-FFE6-C257-D75195915FB6}"/>
              </a:ext>
            </a:extLst>
          </p:cNvPr>
          <p:cNvSpPr txBox="1"/>
          <p:nvPr/>
        </p:nvSpPr>
        <p:spPr>
          <a:xfrm>
            <a:off x="3690923" y="-843628"/>
            <a:ext cx="59618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800" dirty="0">
                <a:solidFill>
                  <a:srgbClr val="C00000"/>
                </a:solidFill>
              </a:rPr>
              <a:t>AI</a:t>
            </a:r>
            <a:r>
              <a:rPr lang="zh-CN" altLang="en-US" sz="1800" dirty="0">
                <a:solidFill>
                  <a:srgbClr val="C00000"/>
                </a:solidFill>
              </a:rPr>
              <a:t>工作流全景及当前位置展示，靠谱</a:t>
            </a:r>
            <a:r>
              <a:rPr lang="en" altLang="zh-CN" sz="1800" dirty="0">
                <a:solidFill>
                  <a:srgbClr val="C00000"/>
                </a:solidFill>
              </a:rPr>
              <a:t>AI </a:t>
            </a:r>
            <a:r>
              <a:rPr lang="en" altLang="zh-CN" sz="1800" dirty="0" err="1">
                <a:solidFill>
                  <a:srgbClr val="C00000"/>
                </a:solidFill>
              </a:rPr>
              <a:t>skiils</a:t>
            </a:r>
            <a:r>
              <a:rPr lang="zh-CN" altLang="en-US" sz="1800" dirty="0">
                <a:solidFill>
                  <a:srgbClr val="C00000"/>
                </a:solidFill>
              </a:rPr>
              <a:t>效果图展示。评估量化效率提升 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53359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60F21-24F9-A52E-1B55-9A981E90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米菲PPT1">
            <a:extLst>
              <a:ext uri="{FF2B5EF4-FFF2-40B4-BE49-F238E27FC236}">
                <a16:creationId xmlns:a16="http://schemas.microsoft.com/office/drawing/2014/main" id="{72D27BBB-BF2E-40A6-BC29-A2896A1D41B8}"/>
              </a:ext>
            </a:extLst>
          </p:cNvPr>
          <p:cNvSpPr/>
          <p:nvPr/>
        </p:nvSpPr>
        <p:spPr>
          <a:xfrm rot="5400000" flipV="1">
            <a:off x="4393867" y="4001792"/>
            <a:ext cx="586432" cy="1313668"/>
          </a:xfrm>
          <a:prstGeom prst="roundRect">
            <a:avLst>
              <a:gd name="adj" fmla="val 1461"/>
            </a:avLst>
          </a:prstGeom>
          <a:solidFill>
            <a:schemeClr val="accent1">
              <a:alpha val="6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9384DBA0-6F66-28DF-21A2-1BA8DB7E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32009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  <a:ea typeface="+mn-ea"/>
              </a:rPr>
              <a:t>主题榜进展及后续计划</a:t>
            </a: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683D3AF2-59CC-4708-BA80-5A1697DE1934}"/>
              </a:ext>
            </a:extLst>
          </p:cNvPr>
          <p:cNvSpPr/>
          <p:nvPr/>
        </p:nvSpPr>
        <p:spPr>
          <a:xfrm>
            <a:off x="352487" y="534232"/>
            <a:ext cx="8530255" cy="41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zh-CN" altLang="en-US" sz="1000" dirty="0">
                <a:latin typeface="+mj-ea"/>
                <a:ea typeface="+mj-ea"/>
              </a:rPr>
              <a:t>背景：为满足用户在不同场景下的找店需求，结合用户需求规模及潜在用户需求分析，</a:t>
            </a:r>
            <a:r>
              <a:rPr lang="en-US" altLang="zh-CN" sz="1000" dirty="0">
                <a:latin typeface="+mj-ea"/>
                <a:ea typeface="+mj-ea"/>
              </a:rPr>
              <a:t>26</a:t>
            </a:r>
            <a:r>
              <a:rPr lang="zh-CN" altLang="en-US" sz="1000" dirty="0">
                <a:latin typeface="+mj-ea"/>
                <a:ea typeface="+mj-ea"/>
              </a:rPr>
              <a:t>年将进行场景主题榜建设。作为榜单矩阵之一，主题榜将包含</a:t>
            </a:r>
            <a:r>
              <a:rPr lang="zh-CN" altLang="en-US" sz="1000" b="1" dirty="0">
                <a:latin typeface="+mj-ea"/>
                <a:ea typeface="+mj-ea"/>
              </a:rPr>
              <a:t>旅游场景</a:t>
            </a:r>
            <a:r>
              <a:rPr lang="zh-CN" altLang="en-US" sz="1000" dirty="0">
                <a:latin typeface="+mj-ea"/>
                <a:ea typeface="+mj-ea"/>
              </a:rPr>
              <a:t>（</a:t>
            </a:r>
            <a:r>
              <a:rPr lang="zh-CN" altLang="en-US" sz="1000" b="1" dirty="0">
                <a:latin typeface="+mj-ea"/>
                <a:ea typeface="+mj-ea"/>
              </a:rPr>
              <a:t>当地人推荐、特色菜榜）约会场景等</a:t>
            </a:r>
            <a:r>
              <a:rPr lang="zh-CN" altLang="en-US" sz="1000" dirty="0">
                <a:latin typeface="+mj-ea"/>
                <a:ea typeface="+mj-ea"/>
              </a:rPr>
              <a:t>。当前已完成约会榜试点上线，当地人推荐</a:t>
            </a:r>
            <a:r>
              <a:rPr lang="en-US" altLang="zh-CN" sz="1000" dirty="0">
                <a:latin typeface="+mj-ea"/>
                <a:ea typeface="+mj-ea"/>
              </a:rPr>
              <a:t>&amp;</a:t>
            </a:r>
            <a:r>
              <a:rPr lang="zh-CN" altLang="en-US" sz="1000" dirty="0">
                <a:latin typeface="+mj-ea"/>
                <a:ea typeface="+mj-ea"/>
              </a:rPr>
              <a:t>特色菜榜单的全面扩城。</a:t>
            </a:r>
            <a:endParaRPr lang="en-US" altLang="zh-CN" sz="1000" dirty="0">
              <a:latin typeface="+mj-ea"/>
              <a:ea typeface="+mj-ea"/>
            </a:endParaRPr>
          </a:p>
        </p:txBody>
      </p:sp>
      <p:sp>
        <p:nvSpPr>
          <p:cNvPr id="150" name="米菲PPT1">
            <a:extLst>
              <a:ext uri="{FF2B5EF4-FFF2-40B4-BE49-F238E27FC236}">
                <a16:creationId xmlns:a16="http://schemas.microsoft.com/office/drawing/2014/main" id="{50305FFA-3DE2-4929-AA8C-53F829B5E11A}"/>
              </a:ext>
            </a:extLst>
          </p:cNvPr>
          <p:cNvSpPr/>
          <p:nvPr/>
        </p:nvSpPr>
        <p:spPr>
          <a:xfrm rot="5400000" flipV="1">
            <a:off x="973441" y="391432"/>
            <a:ext cx="3247872" cy="4489778"/>
          </a:xfrm>
          <a:prstGeom prst="roundRect">
            <a:avLst>
              <a:gd name="adj" fmla="val 1461"/>
            </a:avLst>
          </a:prstGeom>
          <a:solidFill>
            <a:schemeClr val="accent1">
              <a:alpha val="6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51" name="Text 8">
            <a:extLst>
              <a:ext uri="{FF2B5EF4-FFF2-40B4-BE49-F238E27FC236}">
                <a16:creationId xmlns:a16="http://schemas.microsoft.com/office/drawing/2014/main" id="{CB6A3A22-FC99-4D9E-A755-4D5FB8D50B50}"/>
              </a:ext>
            </a:extLst>
          </p:cNvPr>
          <p:cNvSpPr/>
          <p:nvPr/>
        </p:nvSpPr>
        <p:spPr>
          <a:xfrm>
            <a:off x="423549" y="1076514"/>
            <a:ext cx="4252050" cy="356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📌 </a:t>
            </a:r>
            <a:r>
              <a:rPr lang="zh-CN" altLang="en-US" sz="1000" b="1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主题榜</a:t>
            </a:r>
            <a:r>
              <a:rPr lang="en-US" altLang="zh-CN" sz="1000" b="1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-</a:t>
            </a:r>
            <a:r>
              <a:rPr lang="zh-CN" altLang="en-US" sz="1000" b="1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约会榜：</a:t>
            </a:r>
            <a:r>
              <a:rPr lang="en-US" altLang="zh-CN" sz="10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4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月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23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日已完成试点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9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城上线。后续计划①完成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BD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及用户榜单满意度收集 ②站内“约会榜上榜门店”资源投放 ③榜单满足率监控</a:t>
            </a:r>
            <a:endParaRPr lang="en-US" altLang="zh-CN" sz="900" dirty="0">
              <a:solidFill>
                <a:srgbClr val="444444"/>
              </a:solidFill>
              <a:latin typeface="+mj-ea"/>
              <a:ea typeface="+mj-ea"/>
              <a:cs typeface="Arial" pitchFamily="34" charset="-120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CF279D1-D8C4-40BF-B3EB-35CC20A9C0C1}"/>
              </a:ext>
            </a:extLst>
          </p:cNvPr>
          <p:cNvSpPr txBox="1"/>
          <p:nvPr/>
        </p:nvSpPr>
        <p:spPr>
          <a:xfrm>
            <a:off x="653005" y="3948253"/>
            <a:ext cx="807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约会榜落地页</a:t>
            </a:r>
            <a:endParaRPr lang="zh-CN" altLang="en-US" sz="700" dirty="0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98F90C20-C089-4FC0-B7C6-D3360D4EBDD8}"/>
              </a:ext>
            </a:extLst>
          </p:cNvPr>
          <p:cNvSpPr/>
          <p:nvPr/>
        </p:nvSpPr>
        <p:spPr>
          <a:xfrm>
            <a:off x="2698902" y="1454468"/>
            <a:ext cx="1985705" cy="2737938"/>
          </a:xfrm>
          <a:prstGeom prst="rect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Text 9">
            <a:extLst>
              <a:ext uri="{FF2B5EF4-FFF2-40B4-BE49-F238E27FC236}">
                <a16:creationId xmlns:a16="http://schemas.microsoft.com/office/drawing/2014/main" id="{AC0DFBE3-F65A-4C79-B652-2A94EEE84DB7}"/>
              </a:ext>
            </a:extLst>
          </p:cNvPr>
          <p:cNvSpPr/>
          <p:nvPr/>
        </p:nvSpPr>
        <p:spPr>
          <a:xfrm>
            <a:off x="2754066" y="1448269"/>
            <a:ext cx="1921533" cy="114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zh-CN" altLang="en-US" sz="1000" b="1" dirty="0">
                <a:latin typeface="+mj-ea"/>
                <a:ea typeface="+mj-ea"/>
                <a:cs typeface="Arial" pitchFamily="34" charset="-120"/>
              </a:rPr>
              <a:t>召排逻辑：</a:t>
            </a:r>
            <a:endParaRPr lang="en-US" altLang="zh-CN" sz="1000" b="1" dirty="0">
              <a:latin typeface="+mj-ea"/>
              <a:ea typeface="+mj-ea"/>
              <a:cs typeface="Arial" pitchFamily="34" charset="-120"/>
            </a:endParaRPr>
          </a:p>
          <a:p>
            <a:pPr>
              <a:lnSpc>
                <a:spcPts val="1530"/>
              </a:lnSpc>
            </a:pPr>
            <a:r>
              <a:rPr lang="zh-CN" altLang="en-US" sz="800" dirty="0"/>
              <a:t>门槛：正餐、评分（高线</a:t>
            </a:r>
            <a:r>
              <a:rPr lang="en-US" altLang="zh-CN" sz="800" dirty="0"/>
              <a:t>4.4</a:t>
            </a:r>
            <a:r>
              <a:rPr lang="zh-CN" altLang="en-US" sz="800" dirty="0"/>
              <a:t>，低线</a:t>
            </a:r>
            <a:r>
              <a:rPr lang="en-US" altLang="zh-CN" sz="800" dirty="0"/>
              <a:t>4.0</a:t>
            </a:r>
            <a:r>
              <a:rPr lang="zh-CN" altLang="en-US" sz="800" dirty="0"/>
              <a:t>）、主题契合的评论数量及客单价</a:t>
            </a:r>
            <a:endParaRPr lang="en-US" altLang="zh-CN" sz="800" dirty="0"/>
          </a:p>
          <a:p>
            <a:pPr>
              <a:lnSpc>
                <a:spcPts val="1530"/>
              </a:lnSpc>
            </a:pPr>
            <a:r>
              <a:rPr lang="zh-CN" altLang="en-US" sz="800" b="1" i="1" dirty="0">
                <a:solidFill>
                  <a:srgbClr val="C00000"/>
                </a:solidFill>
              </a:rPr>
              <a:t>综合评分 </a:t>
            </a:r>
            <a:r>
              <a:rPr lang="en-US" altLang="zh-CN" sz="800" b="1" i="1" dirty="0">
                <a:solidFill>
                  <a:srgbClr val="C00000"/>
                </a:solidFill>
              </a:rPr>
              <a:t>= </a:t>
            </a:r>
            <a:r>
              <a:rPr lang="zh-CN" altLang="en-US" sz="800" b="1" i="1" dirty="0">
                <a:solidFill>
                  <a:srgbClr val="C00000"/>
                </a:solidFill>
              </a:rPr>
              <a:t>主题契合度</a:t>
            </a:r>
            <a:r>
              <a:rPr lang="en-US" altLang="zh-CN" sz="800" b="1" i="1" dirty="0">
                <a:solidFill>
                  <a:srgbClr val="C00000"/>
                </a:solidFill>
              </a:rPr>
              <a:t>+ </a:t>
            </a:r>
            <a:r>
              <a:rPr lang="zh-CN" altLang="en-US" sz="800" b="1" i="1" dirty="0">
                <a:solidFill>
                  <a:srgbClr val="C00000"/>
                </a:solidFill>
              </a:rPr>
              <a:t>用户认可度</a:t>
            </a:r>
            <a:r>
              <a:rPr lang="en-US" altLang="zh-CN" sz="800" b="1" i="1" dirty="0">
                <a:solidFill>
                  <a:srgbClr val="C00000"/>
                </a:solidFill>
              </a:rPr>
              <a:t>+ </a:t>
            </a:r>
            <a:r>
              <a:rPr lang="zh-CN" altLang="en-US" sz="800" b="1" i="1" dirty="0">
                <a:solidFill>
                  <a:srgbClr val="C00000"/>
                </a:solidFill>
              </a:rPr>
              <a:t>经营指标</a:t>
            </a:r>
            <a:r>
              <a:rPr lang="en-US" altLang="zh-CN" sz="800" b="1" i="1" dirty="0">
                <a:solidFill>
                  <a:srgbClr val="C00000"/>
                </a:solidFill>
              </a:rPr>
              <a:t>+</a:t>
            </a:r>
            <a:r>
              <a:rPr lang="zh-CN" altLang="en-US" sz="800" b="1" i="1" dirty="0">
                <a:solidFill>
                  <a:srgbClr val="C00000"/>
                </a:solidFill>
              </a:rPr>
              <a:t>门店</a:t>
            </a:r>
            <a:r>
              <a:rPr lang="zh-CN" altLang="en-US" sz="800" b="1" dirty="0">
                <a:solidFill>
                  <a:srgbClr val="C00000"/>
                </a:solidFill>
              </a:rPr>
              <a:t>热度</a:t>
            </a:r>
            <a:endParaRPr lang="en-US" altLang="zh-CN" sz="800" dirty="0">
              <a:solidFill>
                <a:srgbClr val="444444"/>
              </a:solidFill>
              <a:latin typeface="+mj-ea"/>
              <a:ea typeface="+mj-ea"/>
              <a:cs typeface="Arial" pitchFamily="34" charset="-12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C92D9F7D-1761-44C7-8725-F0F118F9D65A}"/>
              </a:ext>
            </a:extLst>
          </p:cNvPr>
          <p:cNvSpPr txBox="1"/>
          <p:nvPr/>
        </p:nvSpPr>
        <p:spPr>
          <a:xfrm>
            <a:off x="1600456" y="3940115"/>
            <a:ext cx="112992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/>
              <a:t>“情侣说”评论聚合</a:t>
            </a:r>
          </a:p>
        </p:txBody>
      </p:sp>
      <p:sp>
        <p:nvSpPr>
          <p:cNvPr id="162" name="Text 9">
            <a:extLst>
              <a:ext uri="{FF2B5EF4-FFF2-40B4-BE49-F238E27FC236}">
                <a16:creationId xmlns:a16="http://schemas.microsoft.com/office/drawing/2014/main" id="{7E432717-8962-4484-A5BF-CF28D3FF1AD6}"/>
              </a:ext>
            </a:extLst>
          </p:cNvPr>
          <p:cNvSpPr/>
          <p:nvPr/>
        </p:nvSpPr>
        <p:spPr>
          <a:xfrm>
            <a:off x="2790692" y="2447118"/>
            <a:ext cx="1870340" cy="748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0"/>
              </a:lnSpc>
            </a:pPr>
            <a:r>
              <a:rPr lang="zh-CN" altLang="en-US" sz="1000" b="1" dirty="0">
                <a:latin typeface="+mj-ea"/>
                <a:ea typeface="+mj-ea"/>
              </a:rPr>
              <a:t>沉淀主题门店特色标签：</a:t>
            </a:r>
            <a:endParaRPr lang="en-US" altLang="zh-CN" sz="1000" b="1" dirty="0">
              <a:latin typeface="+mj-ea"/>
              <a:ea typeface="+mj-ea"/>
            </a:endParaRPr>
          </a:p>
          <a:p>
            <a:pPr>
              <a:lnSpc>
                <a:spcPts val="1530"/>
              </a:lnSpc>
            </a:pPr>
            <a:r>
              <a:rPr lang="zh-CN" altLang="en-US" sz="800" dirty="0">
                <a:latin typeface="+mj-ea"/>
                <a:ea typeface="+mj-ea"/>
              </a:rPr>
              <a:t>利用</a:t>
            </a:r>
            <a:r>
              <a:rPr lang="en-US" altLang="zh-CN" sz="800" dirty="0">
                <a:latin typeface="+mj-ea"/>
                <a:ea typeface="+mj-ea"/>
              </a:rPr>
              <a:t>AI</a:t>
            </a:r>
            <a:r>
              <a:rPr lang="zh-CN" altLang="en-US" sz="800" dirty="0">
                <a:latin typeface="+mj-ea"/>
                <a:ea typeface="+mj-ea"/>
              </a:rPr>
              <a:t>聚合主题</a:t>
            </a:r>
            <a:r>
              <a:rPr lang="en-US" altLang="zh-CN" sz="800" dirty="0">
                <a:latin typeface="+mj-ea"/>
                <a:ea typeface="+mj-ea"/>
              </a:rPr>
              <a:t>*</a:t>
            </a:r>
            <a:r>
              <a:rPr lang="zh-CN" altLang="en-US" sz="800" dirty="0">
                <a:latin typeface="+mj-ea"/>
                <a:ea typeface="+mj-ea"/>
              </a:rPr>
              <a:t>门店亮点</a:t>
            </a:r>
            <a:r>
              <a:rPr lang="zh-CN" altLang="en-US" sz="800" dirty="0">
                <a:effectLst/>
              </a:rPr>
              <a:t>标签（如环境风格、氛围、节目、菜单、服务等），帮助用户选店决策。</a:t>
            </a:r>
            <a:endParaRPr lang="en-US" altLang="zh-CN" sz="800" dirty="0">
              <a:latin typeface="+mj-ea"/>
              <a:ea typeface="+mj-ea"/>
            </a:endParaRPr>
          </a:p>
        </p:txBody>
      </p:sp>
      <p:sp>
        <p:nvSpPr>
          <p:cNvPr id="163" name="米菲PPT1">
            <a:extLst>
              <a:ext uri="{FF2B5EF4-FFF2-40B4-BE49-F238E27FC236}">
                <a16:creationId xmlns:a16="http://schemas.microsoft.com/office/drawing/2014/main" id="{2E1A0CB4-CF00-4522-868B-5FC6737D5761}"/>
              </a:ext>
            </a:extLst>
          </p:cNvPr>
          <p:cNvSpPr/>
          <p:nvPr/>
        </p:nvSpPr>
        <p:spPr>
          <a:xfrm rot="5400000" flipV="1">
            <a:off x="5261949" y="639473"/>
            <a:ext cx="3247874" cy="3993708"/>
          </a:xfrm>
          <a:prstGeom prst="roundRect">
            <a:avLst>
              <a:gd name="adj" fmla="val 1461"/>
            </a:avLst>
          </a:prstGeom>
          <a:solidFill>
            <a:schemeClr val="accent2">
              <a:lumMod val="60000"/>
              <a:lumOff val="40000"/>
              <a:alpha val="6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4" name="Text 8">
            <a:extLst>
              <a:ext uri="{FF2B5EF4-FFF2-40B4-BE49-F238E27FC236}">
                <a16:creationId xmlns:a16="http://schemas.microsoft.com/office/drawing/2014/main" id="{943AEEB6-CA60-4385-9B35-6E3FF51A928D}"/>
              </a:ext>
            </a:extLst>
          </p:cNvPr>
          <p:cNvSpPr/>
          <p:nvPr/>
        </p:nvSpPr>
        <p:spPr>
          <a:xfrm>
            <a:off x="4913327" y="1196557"/>
            <a:ext cx="3910854" cy="21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5"/>
              </a:lnSpc>
              <a:spcAft>
                <a:spcPts val="450"/>
              </a:spcAft>
            </a:pPr>
            <a:r>
              <a:rPr lang="en-US" sz="1000" b="1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📌 </a:t>
            </a:r>
            <a:r>
              <a:rPr lang="zh-CN" altLang="en-US" sz="1000" b="1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主题榜</a:t>
            </a:r>
            <a:r>
              <a:rPr lang="en-US" altLang="zh-CN" sz="1000" b="1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-</a:t>
            </a:r>
            <a:r>
              <a:rPr lang="zh-CN" altLang="en-US" sz="1000" b="1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特色菜：</a:t>
            </a:r>
            <a:r>
              <a:rPr lang="en-US" altLang="zh-CN" sz="10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五一前完成全国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448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（现状</a:t>
            </a:r>
            <a:r>
              <a:rPr lang="en-US" altLang="zh-CN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362</a:t>
            </a:r>
            <a:r>
              <a:rPr lang="zh-CN" altLang="en-US" sz="900" dirty="0">
                <a:solidFill>
                  <a:srgbClr val="444444"/>
                </a:solidFill>
                <a:latin typeface="+mj-ea"/>
                <a:ea typeface="+mj-ea"/>
                <a:cs typeface="Arial" pitchFamily="34" charset="-120"/>
              </a:rPr>
              <a:t>）城扩城覆盖。</a:t>
            </a:r>
          </a:p>
        </p:txBody>
      </p:sp>
      <p:sp>
        <p:nvSpPr>
          <p:cNvPr id="165" name="米菲PPT18">
            <a:extLst>
              <a:ext uri="{FF2B5EF4-FFF2-40B4-BE49-F238E27FC236}">
                <a16:creationId xmlns:a16="http://schemas.microsoft.com/office/drawing/2014/main" id="{B0E7C65D-AB03-42D8-98E2-B4B69AA6E219}"/>
              </a:ext>
            </a:extLst>
          </p:cNvPr>
          <p:cNvSpPr/>
          <p:nvPr/>
        </p:nvSpPr>
        <p:spPr>
          <a:xfrm rot="5400000" flipV="1">
            <a:off x="6735970" y="-43278"/>
            <a:ext cx="190455" cy="3421059"/>
          </a:xfrm>
          <a:prstGeom prst="roundRect">
            <a:avLst>
              <a:gd name="adj" fmla="val 24383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noFill/>
          </a:ln>
          <a:effectLst>
            <a:outerShdw blurRad="469900" dist="123444" dir="5400000" sx="99000" sy="99000" algn="ctr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67" name="米菲PPT20">
            <a:extLst>
              <a:ext uri="{FF2B5EF4-FFF2-40B4-BE49-F238E27FC236}">
                <a16:creationId xmlns:a16="http://schemas.microsoft.com/office/drawing/2014/main" id="{F6FB9DEB-F46E-467F-9662-475E313526DA}"/>
              </a:ext>
            </a:extLst>
          </p:cNvPr>
          <p:cNvSpPr txBox="1"/>
          <p:nvPr/>
        </p:nvSpPr>
        <p:spPr>
          <a:xfrm>
            <a:off x="5062727" y="1779609"/>
            <a:ext cx="3567911" cy="23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0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小长假旅游高爆发城市全量覆盖，如宜宾、佳木斯等。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168" name="米菲PPT21">
            <a:extLst>
              <a:ext uri="{FF2B5EF4-FFF2-40B4-BE49-F238E27FC236}">
                <a16:creationId xmlns:a16="http://schemas.microsoft.com/office/drawing/2014/main" id="{2CA692F3-2D5F-4ECC-A67C-DBD078BF4B5E}"/>
              </a:ext>
            </a:extLst>
          </p:cNvPr>
          <p:cNvSpPr/>
          <p:nvPr/>
        </p:nvSpPr>
        <p:spPr>
          <a:xfrm>
            <a:off x="5067913" y="1554316"/>
            <a:ext cx="473989" cy="208163"/>
          </a:xfrm>
          <a:custGeom>
            <a:avLst/>
            <a:gdLst>
              <a:gd name="connsiteX0" fmla="*/ 2186 w 473989"/>
              <a:gd name="connsiteY0" fmla="*/ 363064 h 452527"/>
              <a:gd name="connsiteX1" fmla="*/ 79318 w 473989"/>
              <a:gd name="connsiteY1" fmla="*/ 54537 h 452527"/>
              <a:gd name="connsiteX2" fmla="*/ 149168 w 473989"/>
              <a:gd name="connsiteY2" fmla="*/ 0 h 452527"/>
              <a:gd name="connsiteX3" fmla="*/ 401954 w 473989"/>
              <a:gd name="connsiteY3" fmla="*/ 0 h 452527"/>
              <a:gd name="connsiteX4" fmla="*/ 471804 w 473989"/>
              <a:gd name="connsiteY4" fmla="*/ 89463 h 452527"/>
              <a:gd name="connsiteX5" fmla="*/ 394672 w 473989"/>
              <a:gd name="connsiteY5" fmla="*/ 397990 h 452527"/>
              <a:gd name="connsiteX6" fmla="*/ 324822 w 473989"/>
              <a:gd name="connsiteY6" fmla="*/ 452527 h 452527"/>
              <a:gd name="connsiteX7" fmla="*/ 72036 w 473989"/>
              <a:gd name="connsiteY7" fmla="*/ 452527 h 452527"/>
              <a:gd name="connsiteX8" fmla="*/ 2186 w 473989"/>
              <a:gd name="connsiteY8" fmla="*/ 363064 h 45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3989" h="452527">
                <a:moveTo>
                  <a:pt x="2186" y="363064"/>
                </a:moveTo>
                <a:lnTo>
                  <a:pt x="79318" y="54537"/>
                </a:lnTo>
                <a:cubicBezTo>
                  <a:pt x="87335" y="22469"/>
                  <a:pt x="116113" y="0"/>
                  <a:pt x="149168" y="0"/>
                </a:cubicBezTo>
                <a:lnTo>
                  <a:pt x="401954" y="0"/>
                </a:lnTo>
                <a:cubicBezTo>
                  <a:pt x="448800" y="0"/>
                  <a:pt x="483166" y="44016"/>
                  <a:pt x="471804" y="89463"/>
                </a:cubicBezTo>
                <a:lnTo>
                  <a:pt x="394672" y="397990"/>
                </a:lnTo>
                <a:cubicBezTo>
                  <a:pt x="386655" y="430058"/>
                  <a:pt x="357877" y="452527"/>
                  <a:pt x="324822" y="452527"/>
                </a:cubicBezTo>
                <a:lnTo>
                  <a:pt x="72036" y="452527"/>
                </a:lnTo>
                <a:cubicBezTo>
                  <a:pt x="25190" y="452527"/>
                  <a:pt x="-9176" y="408511"/>
                  <a:pt x="2186" y="363064"/>
                </a:cubicBezTo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en-US" altLang="zh-CN" sz="9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01</a:t>
            </a:r>
            <a:endParaRPr lang="zh-CN" altLang="en-US" sz="90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A9AC84F-CA93-4757-BA10-FA9B3008A7B3}"/>
              </a:ext>
            </a:extLst>
          </p:cNvPr>
          <p:cNvSpPr txBox="1"/>
          <p:nvPr/>
        </p:nvSpPr>
        <p:spPr>
          <a:xfrm>
            <a:off x="5541902" y="1543390"/>
            <a:ext cx="2920866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1000" b="1" dirty="0">
                <a:latin typeface="+mj-ea"/>
                <a:ea typeface="+mj-ea"/>
                <a:cs typeface="Arial" pitchFamily="34" charset="-120"/>
              </a:rPr>
              <a:t>持续扩充城市覆盖</a:t>
            </a:r>
            <a:endParaRPr lang="zh-CN" altLang="en-US" sz="1000" dirty="0"/>
          </a:p>
        </p:txBody>
      </p:sp>
      <p:sp>
        <p:nvSpPr>
          <p:cNvPr id="179" name="米菲PPT18">
            <a:extLst>
              <a:ext uri="{FF2B5EF4-FFF2-40B4-BE49-F238E27FC236}">
                <a16:creationId xmlns:a16="http://schemas.microsoft.com/office/drawing/2014/main" id="{22A938E1-1879-414F-93C0-A29E1F385D34}"/>
              </a:ext>
            </a:extLst>
          </p:cNvPr>
          <p:cNvSpPr/>
          <p:nvPr/>
        </p:nvSpPr>
        <p:spPr>
          <a:xfrm rot="5400000" flipV="1">
            <a:off x="6735970" y="502805"/>
            <a:ext cx="190455" cy="3421059"/>
          </a:xfrm>
          <a:prstGeom prst="roundRect">
            <a:avLst>
              <a:gd name="adj" fmla="val 24383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noFill/>
          </a:ln>
          <a:effectLst>
            <a:outerShdw blurRad="469900" dist="123444" dir="5400000" sx="99000" sy="99000" algn="ctr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0" name="米菲PPT20">
            <a:extLst>
              <a:ext uri="{FF2B5EF4-FFF2-40B4-BE49-F238E27FC236}">
                <a16:creationId xmlns:a16="http://schemas.microsoft.com/office/drawing/2014/main" id="{1EF9F163-3AA8-482B-A560-85B0AF6CB9DB}"/>
              </a:ext>
            </a:extLst>
          </p:cNvPr>
          <p:cNvSpPr txBox="1"/>
          <p:nvPr/>
        </p:nvSpPr>
        <p:spPr>
          <a:xfrm>
            <a:off x="5062727" y="2327404"/>
            <a:ext cx="3567911" cy="40267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defTabSz="457200" eaLnBrk="0">
              <a:lnSpc>
                <a:spcPct val="120000"/>
              </a:lnSpc>
              <a:defRPr/>
            </a:pPr>
            <a:r>
              <a:rPr lang="en-US" altLang="zh-CN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AI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定义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+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运营识别城市*特色菜</a:t>
            </a: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</a:rPr>
              <a:t>（</a:t>
            </a:r>
            <a:r>
              <a:rPr lang="en-US" altLang="zh-CN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</a:rPr>
              <a:t>2557</a:t>
            </a: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</a:rPr>
              <a:t>道）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并输出菜品介绍，结合当地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BDGC</a:t>
            </a: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采集校验，后续作为推荐理由</a:t>
            </a:r>
            <a:r>
              <a:rPr lang="en-US" altLang="zh-CN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C</a:t>
            </a: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端呈现。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181" name="米菲PPT21">
            <a:extLst>
              <a:ext uri="{FF2B5EF4-FFF2-40B4-BE49-F238E27FC236}">
                <a16:creationId xmlns:a16="http://schemas.microsoft.com/office/drawing/2014/main" id="{531B36CB-8529-4C19-B8EB-6736FCDA5F69}"/>
              </a:ext>
            </a:extLst>
          </p:cNvPr>
          <p:cNvSpPr/>
          <p:nvPr/>
        </p:nvSpPr>
        <p:spPr>
          <a:xfrm>
            <a:off x="5067913" y="2100399"/>
            <a:ext cx="473989" cy="208163"/>
          </a:xfrm>
          <a:custGeom>
            <a:avLst/>
            <a:gdLst>
              <a:gd name="connsiteX0" fmla="*/ 2186 w 473989"/>
              <a:gd name="connsiteY0" fmla="*/ 363064 h 452527"/>
              <a:gd name="connsiteX1" fmla="*/ 79318 w 473989"/>
              <a:gd name="connsiteY1" fmla="*/ 54537 h 452527"/>
              <a:gd name="connsiteX2" fmla="*/ 149168 w 473989"/>
              <a:gd name="connsiteY2" fmla="*/ 0 h 452527"/>
              <a:gd name="connsiteX3" fmla="*/ 401954 w 473989"/>
              <a:gd name="connsiteY3" fmla="*/ 0 h 452527"/>
              <a:gd name="connsiteX4" fmla="*/ 471804 w 473989"/>
              <a:gd name="connsiteY4" fmla="*/ 89463 h 452527"/>
              <a:gd name="connsiteX5" fmla="*/ 394672 w 473989"/>
              <a:gd name="connsiteY5" fmla="*/ 397990 h 452527"/>
              <a:gd name="connsiteX6" fmla="*/ 324822 w 473989"/>
              <a:gd name="connsiteY6" fmla="*/ 452527 h 452527"/>
              <a:gd name="connsiteX7" fmla="*/ 72036 w 473989"/>
              <a:gd name="connsiteY7" fmla="*/ 452527 h 452527"/>
              <a:gd name="connsiteX8" fmla="*/ 2186 w 473989"/>
              <a:gd name="connsiteY8" fmla="*/ 363064 h 45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3989" h="452527">
                <a:moveTo>
                  <a:pt x="2186" y="363064"/>
                </a:moveTo>
                <a:lnTo>
                  <a:pt x="79318" y="54537"/>
                </a:lnTo>
                <a:cubicBezTo>
                  <a:pt x="87335" y="22469"/>
                  <a:pt x="116113" y="0"/>
                  <a:pt x="149168" y="0"/>
                </a:cubicBezTo>
                <a:lnTo>
                  <a:pt x="401954" y="0"/>
                </a:lnTo>
                <a:cubicBezTo>
                  <a:pt x="448800" y="0"/>
                  <a:pt x="483166" y="44016"/>
                  <a:pt x="471804" y="89463"/>
                </a:cubicBezTo>
                <a:lnTo>
                  <a:pt x="394672" y="397990"/>
                </a:lnTo>
                <a:cubicBezTo>
                  <a:pt x="386655" y="430058"/>
                  <a:pt x="357877" y="452527"/>
                  <a:pt x="324822" y="452527"/>
                </a:cubicBezTo>
                <a:lnTo>
                  <a:pt x="72036" y="452527"/>
                </a:lnTo>
                <a:cubicBezTo>
                  <a:pt x="25190" y="452527"/>
                  <a:pt x="-9176" y="408511"/>
                  <a:pt x="2186" y="363064"/>
                </a:cubicBezTo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en-US" altLang="zh-CN" sz="9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02</a:t>
            </a:r>
            <a:endParaRPr lang="zh-CN" altLang="en-US" sz="90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C8C642B7-A146-4FE5-8DEA-932E78B29C54}"/>
              </a:ext>
            </a:extLst>
          </p:cNvPr>
          <p:cNvSpPr txBox="1"/>
          <p:nvPr/>
        </p:nvSpPr>
        <p:spPr>
          <a:xfrm>
            <a:off x="5541902" y="2087655"/>
            <a:ext cx="2920866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1000" b="1" dirty="0">
                <a:latin typeface="+mj-ea"/>
                <a:ea typeface="+mj-ea"/>
                <a:cs typeface="Arial" pitchFamily="34" charset="-120"/>
              </a:rPr>
              <a:t>建设特色菜百科数据库</a:t>
            </a:r>
            <a:endParaRPr lang="zh-CN" altLang="en-US" sz="1000" dirty="0"/>
          </a:p>
        </p:txBody>
      </p:sp>
      <p:sp>
        <p:nvSpPr>
          <p:cNvPr id="183" name="米菲PPT18">
            <a:extLst>
              <a:ext uri="{FF2B5EF4-FFF2-40B4-BE49-F238E27FC236}">
                <a16:creationId xmlns:a16="http://schemas.microsoft.com/office/drawing/2014/main" id="{24DEB035-528A-46E7-A1A8-037B4C154519}"/>
              </a:ext>
            </a:extLst>
          </p:cNvPr>
          <p:cNvSpPr/>
          <p:nvPr/>
        </p:nvSpPr>
        <p:spPr>
          <a:xfrm rot="5400000" flipV="1">
            <a:off x="6735970" y="1197664"/>
            <a:ext cx="190455" cy="3421059"/>
          </a:xfrm>
          <a:prstGeom prst="roundRect">
            <a:avLst>
              <a:gd name="adj" fmla="val 24383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noFill/>
          </a:ln>
          <a:effectLst>
            <a:outerShdw blurRad="469900" dist="123444" dir="5400000" sx="99000" sy="99000" algn="ctr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4" name="米菲PPT20">
            <a:extLst>
              <a:ext uri="{FF2B5EF4-FFF2-40B4-BE49-F238E27FC236}">
                <a16:creationId xmlns:a16="http://schemas.microsoft.com/office/drawing/2014/main" id="{8FC3E9C2-DF27-441D-AE9D-8C89C88D632D}"/>
              </a:ext>
            </a:extLst>
          </p:cNvPr>
          <p:cNvSpPr txBox="1"/>
          <p:nvPr/>
        </p:nvSpPr>
        <p:spPr>
          <a:xfrm>
            <a:off x="5062727" y="3052080"/>
            <a:ext cx="3567911" cy="402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 eaLnBrk="0">
              <a:lnSpc>
                <a:spcPct val="120000"/>
              </a:lnSpc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上榜门店规则城市差异化：如小城</a:t>
            </a: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铜陵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,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上榜门店量低于原有规则，基于该类型门店</a:t>
            </a: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调整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+mj-ea"/>
                <a:ea typeface="+mj-ea"/>
                <a:cs typeface="MiSans Medium" panose="00000600000000000000" pitchFamily="2" charset="-122"/>
              </a:rPr>
              <a:t>成榜门槛要求。</a:t>
            </a:r>
          </a:p>
        </p:txBody>
      </p:sp>
      <p:sp>
        <p:nvSpPr>
          <p:cNvPr id="185" name="米菲PPT21">
            <a:extLst>
              <a:ext uri="{FF2B5EF4-FFF2-40B4-BE49-F238E27FC236}">
                <a16:creationId xmlns:a16="http://schemas.microsoft.com/office/drawing/2014/main" id="{A9BDABDC-210B-4050-905C-5310ABD30094}"/>
              </a:ext>
            </a:extLst>
          </p:cNvPr>
          <p:cNvSpPr/>
          <p:nvPr/>
        </p:nvSpPr>
        <p:spPr>
          <a:xfrm>
            <a:off x="5067913" y="2795258"/>
            <a:ext cx="473989" cy="208163"/>
          </a:xfrm>
          <a:custGeom>
            <a:avLst/>
            <a:gdLst>
              <a:gd name="connsiteX0" fmla="*/ 2186 w 473989"/>
              <a:gd name="connsiteY0" fmla="*/ 363064 h 452527"/>
              <a:gd name="connsiteX1" fmla="*/ 79318 w 473989"/>
              <a:gd name="connsiteY1" fmla="*/ 54537 h 452527"/>
              <a:gd name="connsiteX2" fmla="*/ 149168 w 473989"/>
              <a:gd name="connsiteY2" fmla="*/ 0 h 452527"/>
              <a:gd name="connsiteX3" fmla="*/ 401954 w 473989"/>
              <a:gd name="connsiteY3" fmla="*/ 0 h 452527"/>
              <a:gd name="connsiteX4" fmla="*/ 471804 w 473989"/>
              <a:gd name="connsiteY4" fmla="*/ 89463 h 452527"/>
              <a:gd name="connsiteX5" fmla="*/ 394672 w 473989"/>
              <a:gd name="connsiteY5" fmla="*/ 397990 h 452527"/>
              <a:gd name="connsiteX6" fmla="*/ 324822 w 473989"/>
              <a:gd name="connsiteY6" fmla="*/ 452527 h 452527"/>
              <a:gd name="connsiteX7" fmla="*/ 72036 w 473989"/>
              <a:gd name="connsiteY7" fmla="*/ 452527 h 452527"/>
              <a:gd name="connsiteX8" fmla="*/ 2186 w 473989"/>
              <a:gd name="connsiteY8" fmla="*/ 363064 h 45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3989" h="452527">
                <a:moveTo>
                  <a:pt x="2186" y="363064"/>
                </a:moveTo>
                <a:lnTo>
                  <a:pt x="79318" y="54537"/>
                </a:lnTo>
                <a:cubicBezTo>
                  <a:pt x="87335" y="22469"/>
                  <a:pt x="116113" y="0"/>
                  <a:pt x="149168" y="0"/>
                </a:cubicBezTo>
                <a:lnTo>
                  <a:pt x="401954" y="0"/>
                </a:lnTo>
                <a:cubicBezTo>
                  <a:pt x="448800" y="0"/>
                  <a:pt x="483166" y="44016"/>
                  <a:pt x="471804" y="89463"/>
                </a:cubicBezTo>
                <a:lnTo>
                  <a:pt x="394672" y="397990"/>
                </a:lnTo>
                <a:cubicBezTo>
                  <a:pt x="386655" y="430058"/>
                  <a:pt x="357877" y="452527"/>
                  <a:pt x="324822" y="452527"/>
                </a:cubicBezTo>
                <a:lnTo>
                  <a:pt x="72036" y="452527"/>
                </a:lnTo>
                <a:cubicBezTo>
                  <a:pt x="25190" y="452527"/>
                  <a:pt x="-9176" y="408511"/>
                  <a:pt x="2186" y="363064"/>
                </a:cubicBezTo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en-US" altLang="zh-CN" sz="9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03</a:t>
            </a:r>
            <a:endParaRPr lang="zh-CN" altLang="en-US" sz="90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81717832-C14F-40FC-A9AA-9C90EDE4AC14}"/>
              </a:ext>
            </a:extLst>
          </p:cNvPr>
          <p:cNvSpPr txBox="1"/>
          <p:nvPr/>
        </p:nvSpPr>
        <p:spPr>
          <a:xfrm>
            <a:off x="5570009" y="2769164"/>
            <a:ext cx="2920866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1000" b="1" dirty="0">
                <a:latin typeface="+mj-ea"/>
                <a:ea typeface="+mj-ea"/>
                <a:cs typeface="Arial" pitchFamily="34" charset="-120"/>
              </a:rPr>
              <a:t>城市差异化召回逻辑</a:t>
            </a:r>
            <a:endParaRPr lang="zh-CN" altLang="en-US" sz="1000" dirty="0"/>
          </a:p>
        </p:txBody>
      </p:sp>
      <p:sp>
        <p:nvSpPr>
          <p:cNvPr id="187" name="米菲PPT18">
            <a:extLst>
              <a:ext uri="{FF2B5EF4-FFF2-40B4-BE49-F238E27FC236}">
                <a16:creationId xmlns:a16="http://schemas.microsoft.com/office/drawing/2014/main" id="{6775D062-53E2-417F-B961-AA023E37C5C1}"/>
              </a:ext>
            </a:extLst>
          </p:cNvPr>
          <p:cNvSpPr/>
          <p:nvPr/>
        </p:nvSpPr>
        <p:spPr>
          <a:xfrm rot="5400000" flipV="1">
            <a:off x="6707101" y="1955392"/>
            <a:ext cx="190455" cy="3421059"/>
          </a:xfrm>
          <a:prstGeom prst="roundRect">
            <a:avLst>
              <a:gd name="adj" fmla="val 24383"/>
            </a:avLst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1000">
                <a:schemeClr val="bg1"/>
              </a:gs>
            </a:gsLst>
            <a:lin ang="19800000" scaled="0"/>
          </a:gradFill>
          <a:ln w="6350">
            <a:noFill/>
          </a:ln>
          <a:effectLst>
            <a:outerShdw blurRad="469900" dist="123444" dir="5400000" sx="99000" sy="99000" algn="ctr" rotWithShape="0">
              <a:schemeClr val="accent2"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endParaRPr lang="zh-CN" altLang="en-US" sz="1100" dirty="0"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88" name="米菲PPT20">
            <a:extLst>
              <a:ext uri="{FF2B5EF4-FFF2-40B4-BE49-F238E27FC236}">
                <a16:creationId xmlns:a16="http://schemas.microsoft.com/office/drawing/2014/main" id="{FBCF356A-3494-4BDD-9416-8A7D338F5A61}"/>
              </a:ext>
            </a:extLst>
          </p:cNvPr>
          <p:cNvSpPr txBox="1"/>
          <p:nvPr/>
        </p:nvSpPr>
        <p:spPr>
          <a:xfrm>
            <a:off x="5033858" y="3792026"/>
            <a:ext cx="3679534" cy="23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0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增加本地人可见“特色菜”标签能力，及大搜</a:t>
            </a:r>
            <a:r>
              <a:rPr lang="en-US" altLang="zh-CN" sz="900" kern="0" dirty="0" err="1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sug</a:t>
            </a:r>
            <a:r>
              <a:rPr lang="zh-CN" altLang="en-US" sz="9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+mj-ea"/>
                <a:ea typeface="+mj-ea"/>
                <a:cs typeface="MiSans Medium" panose="00000600000000000000" pitchFamily="2" charset="-122"/>
              </a:rPr>
              <a:t> 菜品词的承接。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+mj-ea"/>
              <a:ea typeface="+mj-ea"/>
              <a:cs typeface="MiSans Medium" panose="00000600000000000000" pitchFamily="2" charset="-122"/>
            </a:endParaRPr>
          </a:p>
        </p:txBody>
      </p:sp>
      <p:sp>
        <p:nvSpPr>
          <p:cNvPr id="189" name="米菲PPT21">
            <a:extLst>
              <a:ext uri="{FF2B5EF4-FFF2-40B4-BE49-F238E27FC236}">
                <a16:creationId xmlns:a16="http://schemas.microsoft.com/office/drawing/2014/main" id="{034698AC-12CE-4BC8-8DF3-C3A2875E855B}"/>
              </a:ext>
            </a:extLst>
          </p:cNvPr>
          <p:cNvSpPr/>
          <p:nvPr/>
        </p:nvSpPr>
        <p:spPr>
          <a:xfrm>
            <a:off x="5039044" y="3552986"/>
            <a:ext cx="473989" cy="208163"/>
          </a:xfrm>
          <a:custGeom>
            <a:avLst/>
            <a:gdLst>
              <a:gd name="connsiteX0" fmla="*/ 2186 w 473989"/>
              <a:gd name="connsiteY0" fmla="*/ 363064 h 452527"/>
              <a:gd name="connsiteX1" fmla="*/ 79318 w 473989"/>
              <a:gd name="connsiteY1" fmla="*/ 54537 h 452527"/>
              <a:gd name="connsiteX2" fmla="*/ 149168 w 473989"/>
              <a:gd name="connsiteY2" fmla="*/ 0 h 452527"/>
              <a:gd name="connsiteX3" fmla="*/ 401954 w 473989"/>
              <a:gd name="connsiteY3" fmla="*/ 0 h 452527"/>
              <a:gd name="connsiteX4" fmla="*/ 471804 w 473989"/>
              <a:gd name="connsiteY4" fmla="*/ 89463 h 452527"/>
              <a:gd name="connsiteX5" fmla="*/ 394672 w 473989"/>
              <a:gd name="connsiteY5" fmla="*/ 397990 h 452527"/>
              <a:gd name="connsiteX6" fmla="*/ 324822 w 473989"/>
              <a:gd name="connsiteY6" fmla="*/ 452527 h 452527"/>
              <a:gd name="connsiteX7" fmla="*/ 72036 w 473989"/>
              <a:gd name="connsiteY7" fmla="*/ 452527 h 452527"/>
              <a:gd name="connsiteX8" fmla="*/ 2186 w 473989"/>
              <a:gd name="connsiteY8" fmla="*/ 363064 h 45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3989" h="452527">
                <a:moveTo>
                  <a:pt x="2186" y="363064"/>
                </a:moveTo>
                <a:lnTo>
                  <a:pt x="79318" y="54537"/>
                </a:lnTo>
                <a:cubicBezTo>
                  <a:pt x="87335" y="22469"/>
                  <a:pt x="116113" y="0"/>
                  <a:pt x="149168" y="0"/>
                </a:cubicBezTo>
                <a:lnTo>
                  <a:pt x="401954" y="0"/>
                </a:lnTo>
                <a:cubicBezTo>
                  <a:pt x="448800" y="0"/>
                  <a:pt x="483166" y="44016"/>
                  <a:pt x="471804" y="89463"/>
                </a:cubicBezTo>
                <a:lnTo>
                  <a:pt x="394672" y="397990"/>
                </a:lnTo>
                <a:cubicBezTo>
                  <a:pt x="386655" y="430058"/>
                  <a:pt x="357877" y="452527"/>
                  <a:pt x="324822" y="452527"/>
                </a:cubicBezTo>
                <a:lnTo>
                  <a:pt x="72036" y="452527"/>
                </a:lnTo>
                <a:cubicBezTo>
                  <a:pt x="25190" y="452527"/>
                  <a:pt x="-9176" y="408511"/>
                  <a:pt x="2186" y="363064"/>
                </a:cubicBezTo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6" tIns="49375" rIns="98756" bIns="49375" rtlCol="0" anchor="ctr">
            <a:noAutofit/>
          </a:bodyPr>
          <a:lstStyle/>
          <a:p>
            <a:pPr algn="ctr" defTabSz="914400"/>
            <a:r>
              <a:rPr lang="en-US" altLang="zh-CN" sz="900" dirty="0">
                <a:solidFill>
                  <a:srgbClr val="FFFFFF"/>
                </a:solidFill>
                <a:latin typeface="MiSans Bold" panose="00000800000000000000" pitchFamily="2" charset="-122"/>
                <a:ea typeface="MiSans Bold" panose="00000800000000000000" pitchFamily="2" charset="-122"/>
                <a:cs typeface="MiSans Medium" panose="00000600000000000000" pitchFamily="2" charset="-122"/>
              </a:rPr>
              <a:t>04</a:t>
            </a:r>
            <a:endParaRPr lang="zh-CN" altLang="en-US" sz="900" dirty="0">
              <a:solidFill>
                <a:srgbClr val="FFFFFF"/>
              </a:solidFill>
              <a:latin typeface="MiSans Bold" panose="00000800000000000000" pitchFamily="2" charset="-122"/>
              <a:ea typeface="MiSans Bold" panose="000008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5F819787-0949-41C9-8CAA-9F35D4786935}"/>
              </a:ext>
            </a:extLst>
          </p:cNvPr>
          <p:cNvSpPr txBox="1"/>
          <p:nvPr/>
        </p:nvSpPr>
        <p:spPr>
          <a:xfrm>
            <a:off x="5536716" y="3533956"/>
            <a:ext cx="2920866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1000" b="1" dirty="0">
                <a:latin typeface="+mj-ea"/>
                <a:ea typeface="+mj-ea"/>
                <a:cs typeface="Arial" pitchFamily="34" charset="-120"/>
              </a:rPr>
              <a:t>用户侧动线优化</a:t>
            </a:r>
            <a:endParaRPr lang="zh-CN" altLang="en-US" sz="1000" dirty="0"/>
          </a:p>
        </p:txBody>
      </p:sp>
      <p:sp>
        <p:nvSpPr>
          <p:cNvPr id="195" name="米菲PPT25">
            <a:extLst>
              <a:ext uri="{FF2B5EF4-FFF2-40B4-BE49-F238E27FC236}">
                <a16:creationId xmlns:a16="http://schemas.microsoft.com/office/drawing/2014/main" id="{A3CC49DB-BC0C-4677-8597-E784443C191C}"/>
              </a:ext>
            </a:extLst>
          </p:cNvPr>
          <p:cNvSpPr txBox="1"/>
          <p:nvPr/>
        </p:nvSpPr>
        <p:spPr>
          <a:xfrm>
            <a:off x="202384" y="4408796"/>
            <a:ext cx="949005" cy="252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Bold" panose="00000800000000000000" pitchFamily="2" charset="-122"/>
              </a:defRPr>
            </a:lvl1pPr>
          </a:lstStyle>
          <a:p>
            <a:pPr marL="0" marR="0" lvl="0" indent="0" algn="ctr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kern="0" dirty="0">
                <a:latin typeface="+mj-ea"/>
                <a:ea typeface="+mj-ea"/>
              </a:rPr>
              <a:t>榜单计划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96" name="米菲PPT26">
            <a:extLst>
              <a:ext uri="{FF2B5EF4-FFF2-40B4-BE49-F238E27FC236}">
                <a16:creationId xmlns:a16="http://schemas.microsoft.com/office/drawing/2014/main" id="{4C5F33B4-4B20-448D-B69F-062D3F95F816}"/>
              </a:ext>
            </a:extLst>
          </p:cNvPr>
          <p:cNvSpPr txBox="1"/>
          <p:nvPr/>
        </p:nvSpPr>
        <p:spPr>
          <a:xfrm>
            <a:off x="217050" y="4712795"/>
            <a:ext cx="949005" cy="252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iSans Medium" panose="00000600000000000000" pitchFamily="2" charset="-122"/>
                <a:ea typeface="MiSans Medium" panose="00000600000000000000" pitchFamily="2" charset="-122"/>
                <a:cs typeface="MiSans Bold" panose="00000800000000000000" pitchFamily="2" charset="-122"/>
              </a:defRPr>
            </a:lvl1pPr>
          </a:lstStyle>
          <a:p>
            <a:pPr marL="0" marR="0" lvl="0" indent="0" algn="ctr" defTabSz="4572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b="1" kern="0" dirty="0">
                <a:latin typeface="+mj-ea"/>
                <a:ea typeface="+mj-ea"/>
              </a:rPr>
              <a:t>预计上线时间</a:t>
            </a: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cxnSp>
        <p:nvCxnSpPr>
          <p:cNvPr id="204" name="米菲PPT63">
            <a:extLst>
              <a:ext uri="{FF2B5EF4-FFF2-40B4-BE49-F238E27FC236}">
                <a16:creationId xmlns:a16="http://schemas.microsoft.com/office/drawing/2014/main" id="{BFC30505-555A-4D2B-AF64-3DA68E21FD4F}"/>
              </a:ext>
            </a:extLst>
          </p:cNvPr>
          <p:cNvCxnSpPr>
            <a:cxnSpLocks/>
          </p:cNvCxnSpPr>
          <p:nvPr/>
        </p:nvCxnSpPr>
        <p:spPr>
          <a:xfrm>
            <a:off x="410472" y="4711884"/>
            <a:ext cx="8530253" cy="0"/>
          </a:xfrm>
          <a:prstGeom prst="line">
            <a:avLst/>
          </a:prstGeom>
          <a:noFill/>
          <a:ln w="317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  <a:tailEnd type="oval"/>
          </a:ln>
          <a:effectLst/>
        </p:spPr>
      </p:cxnSp>
      <p:cxnSp>
        <p:nvCxnSpPr>
          <p:cNvPr id="218" name="米菲PPT93">
            <a:extLst>
              <a:ext uri="{FF2B5EF4-FFF2-40B4-BE49-F238E27FC236}">
                <a16:creationId xmlns:a16="http://schemas.microsoft.com/office/drawing/2014/main" id="{F99786DF-937B-420F-A4D2-07AEC936EDEB}"/>
              </a:ext>
            </a:extLst>
          </p:cNvPr>
          <p:cNvCxnSpPr>
            <a:cxnSpLocks/>
          </p:cNvCxnSpPr>
          <p:nvPr/>
        </p:nvCxnSpPr>
        <p:spPr>
          <a:xfrm>
            <a:off x="683237" y="4613059"/>
            <a:ext cx="0" cy="98641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70000"/>
              </a:sysClr>
            </a:solidFill>
            <a:prstDash val="solid"/>
            <a:miter lim="800000"/>
          </a:ln>
          <a:effectLst/>
        </p:spPr>
      </p:cxnSp>
      <p:cxnSp>
        <p:nvCxnSpPr>
          <p:cNvPr id="219" name="米菲PPT96">
            <a:extLst>
              <a:ext uri="{FF2B5EF4-FFF2-40B4-BE49-F238E27FC236}">
                <a16:creationId xmlns:a16="http://schemas.microsoft.com/office/drawing/2014/main" id="{6F7E41E1-245B-440D-981C-764F15920C97}"/>
              </a:ext>
            </a:extLst>
          </p:cNvPr>
          <p:cNvCxnSpPr>
            <a:cxnSpLocks/>
          </p:cNvCxnSpPr>
          <p:nvPr/>
        </p:nvCxnSpPr>
        <p:spPr>
          <a:xfrm flipH="1">
            <a:off x="430606" y="4356284"/>
            <a:ext cx="547294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  <a:alpha val="34000"/>
              </a:sysClr>
            </a:solidFill>
            <a:prstDash val="solid"/>
            <a:miter lim="800000"/>
          </a:ln>
          <a:effectLst/>
        </p:spPr>
      </p:cxnSp>
      <p:cxnSp>
        <p:nvCxnSpPr>
          <p:cNvPr id="223" name="米菲PPT93">
            <a:extLst>
              <a:ext uri="{FF2B5EF4-FFF2-40B4-BE49-F238E27FC236}">
                <a16:creationId xmlns:a16="http://schemas.microsoft.com/office/drawing/2014/main" id="{BFBB6056-2F1F-400F-9D2B-CF00BC7E6732}"/>
              </a:ext>
            </a:extLst>
          </p:cNvPr>
          <p:cNvCxnSpPr>
            <a:cxnSpLocks/>
          </p:cNvCxnSpPr>
          <p:nvPr/>
        </p:nvCxnSpPr>
        <p:spPr>
          <a:xfrm>
            <a:off x="676887" y="4365409"/>
            <a:ext cx="0" cy="98641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70000"/>
              </a:sysClr>
            </a:solidFill>
            <a:prstDash val="solid"/>
            <a:miter lim="800000"/>
          </a:ln>
          <a:effectLst/>
        </p:spPr>
      </p:cxnSp>
      <p:cxnSp>
        <p:nvCxnSpPr>
          <p:cNvPr id="224" name="米菲PPT96">
            <a:extLst>
              <a:ext uri="{FF2B5EF4-FFF2-40B4-BE49-F238E27FC236}">
                <a16:creationId xmlns:a16="http://schemas.microsoft.com/office/drawing/2014/main" id="{B0C6CA5A-D357-4E83-B0B2-592A9610390A}"/>
              </a:ext>
            </a:extLst>
          </p:cNvPr>
          <p:cNvCxnSpPr>
            <a:cxnSpLocks/>
          </p:cNvCxnSpPr>
          <p:nvPr/>
        </p:nvCxnSpPr>
        <p:spPr>
          <a:xfrm flipH="1">
            <a:off x="423549" y="4711700"/>
            <a:ext cx="547294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  <a:alpha val="34000"/>
              </a:sysClr>
            </a:solidFill>
            <a:prstDash val="solid"/>
            <a:miter lim="800000"/>
          </a:ln>
          <a:effectLst/>
        </p:spPr>
      </p:cxnSp>
      <p:cxnSp>
        <p:nvCxnSpPr>
          <p:cNvPr id="225" name="米菲PPT96">
            <a:extLst>
              <a:ext uri="{FF2B5EF4-FFF2-40B4-BE49-F238E27FC236}">
                <a16:creationId xmlns:a16="http://schemas.microsoft.com/office/drawing/2014/main" id="{6CA5B837-6B0E-41E3-B3CB-07F90D949B12}"/>
              </a:ext>
            </a:extLst>
          </p:cNvPr>
          <p:cNvCxnSpPr>
            <a:cxnSpLocks/>
          </p:cNvCxnSpPr>
          <p:nvPr/>
        </p:nvCxnSpPr>
        <p:spPr>
          <a:xfrm flipH="1">
            <a:off x="403239" y="4981266"/>
            <a:ext cx="547294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  <a:alpha val="34000"/>
              </a:sysClr>
            </a:solidFill>
            <a:prstDash val="solid"/>
            <a:miter lim="800000"/>
          </a:ln>
          <a:effectLst/>
        </p:spPr>
      </p:cxnSp>
      <p:sp>
        <p:nvSpPr>
          <p:cNvPr id="227" name="文本框 226">
            <a:extLst>
              <a:ext uri="{FF2B5EF4-FFF2-40B4-BE49-F238E27FC236}">
                <a16:creationId xmlns:a16="http://schemas.microsoft.com/office/drawing/2014/main" id="{013BD140-571E-4482-AFFB-81B4DD19ABFD}"/>
              </a:ext>
            </a:extLst>
          </p:cNvPr>
          <p:cNvSpPr txBox="1"/>
          <p:nvPr/>
        </p:nvSpPr>
        <p:spPr>
          <a:xfrm>
            <a:off x="4261817" y="4404710"/>
            <a:ext cx="130301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rgbClr val="000000"/>
                </a:solidFill>
                <a:latin typeface="+mj-ea"/>
                <a:ea typeface="+mj-ea"/>
                <a:cs typeface="Arial" pitchFamily="34" charset="-120"/>
              </a:rPr>
              <a:t>烟火榜试点</a:t>
            </a:r>
            <a:endParaRPr lang="zh-CN" altLang="en-US" sz="1050" dirty="0">
              <a:solidFill>
                <a:srgbClr val="000000"/>
              </a:solidFill>
            </a:endParaRPr>
          </a:p>
        </p:txBody>
      </p:sp>
      <p:sp>
        <p:nvSpPr>
          <p:cNvPr id="228" name="米菲PPT78">
            <a:extLst>
              <a:ext uri="{FF2B5EF4-FFF2-40B4-BE49-F238E27FC236}">
                <a16:creationId xmlns:a16="http://schemas.microsoft.com/office/drawing/2014/main" id="{073C73DF-36BD-434B-A333-ED6041EA1657}"/>
              </a:ext>
            </a:extLst>
          </p:cNvPr>
          <p:cNvSpPr/>
          <p:nvPr/>
        </p:nvSpPr>
        <p:spPr>
          <a:xfrm>
            <a:off x="4269680" y="4734193"/>
            <a:ext cx="816485" cy="200353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5</a:t>
            </a:r>
            <a:r>
              <a:rPr lang="zh-CN" altLang="en-US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月中旬</a:t>
            </a:r>
          </a:p>
        </p:txBody>
      </p:sp>
      <p:sp>
        <p:nvSpPr>
          <p:cNvPr id="230" name="米菲PPT1">
            <a:extLst>
              <a:ext uri="{FF2B5EF4-FFF2-40B4-BE49-F238E27FC236}">
                <a16:creationId xmlns:a16="http://schemas.microsoft.com/office/drawing/2014/main" id="{DC8F51B0-E69E-4D8D-8AC2-A301F46E952A}"/>
              </a:ext>
            </a:extLst>
          </p:cNvPr>
          <p:cNvSpPr/>
          <p:nvPr/>
        </p:nvSpPr>
        <p:spPr>
          <a:xfrm rot="5400000" flipV="1">
            <a:off x="5892017" y="4001702"/>
            <a:ext cx="551290" cy="1303024"/>
          </a:xfrm>
          <a:prstGeom prst="roundRect">
            <a:avLst>
              <a:gd name="adj" fmla="val 1461"/>
            </a:avLst>
          </a:prstGeom>
          <a:solidFill>
            <a:schemeClr val="accent2">
              <a:lumMod val="60000"/>
              <a:lumOff val="40000"/>
              <a:alpha val="6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31" name="米菲PPT1">
            <a:extLst>
              <a:ext uri="{FF2B5EF4-FFF2-40B4-BE49-F238E27FC236}">
                <a16:creationId xmlns:a16="http://schemas.microsoft.com/office/drawing/2014/main" id="{8A7AE7DC-0AF9-4A9D-BE20-1C16C675AFAD}"/>
              </a:ext>
            </a:extLst>
          </p:cNvPr>
          <p:cNvSpPr/>
          <p:nvPr/>
        </p:nvSpPr>
        <p:spPr>
          <a:xfrm rot="5400000" flipV="1">
            <a:off x="7383991" y="4006805"/>
            <a:ext cx="586432" cy="1313668"/>
          </a:xfrm>
          <a:prstGeom prst="roundRect">
            <a:avLst>
              <a:gd name="adj" fmla="val 1461"/>
            </a:avLst>
          </a:prstGeom>
          <a:solidFill>
            <a:schemeClr val="accent1">
              <a:alpha val="6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234" name="文本框 233">
            <a:extLst>
              <a:ext uri="{FF2B5EF4-FFF2-40B4-BE49-F238E27FC236}">
                <a16:creationId xmlns:a16="http://schemas.microsoft.com/office/drawing/2014/main" id="{554C3D4D-5898-4EA7-BF66-B50033037BC5}"/>
              </a:ext>
            </a:extLst>
          </p:cNvPr>
          <p:cNvSpPr txBox="1"/>
          <p:nvPr/>
        </p:nvSpPr>
        <p:spPr>
          <a:xfrm>
            <a:off x="5775207" y="4409379"/>
            <a:ext cx="130301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rgbClr val="000000"/>
                </a:solidFill>
                <a:latin typeface="+mj-ea"/>
                <a:ea typeface="+mj-ea"/>
                <a:cs typeface="Arial" pitchFamily="34" charset="-120"/>
              </a:rPr>
              <a:t>约会榜扩城</a:t>
            </a:r>
            <a:endParaRPr lang="zh-CN" altLang="en-US" sz="1050" dirty="0">
              <a:solidFill>
                <a:srgbClr val="000000"/>
              </a:solidFill>
            </a:endParaRPr>
          </a:p>
        </p:txBody>
      </p:sp>
      <p:sp>
        <p:nvSpPr>
          <p:cNvPr id="235" name="米菲PPT78">
            <a:extLst>
              <a:ext uri="{FF2B5EF4-FFF2-40B4-BE49-F238E27FC236}">
                <a16:creationId xmlns:a16="http://schemas.microsoft.com/office/drawing/2014/main" id="{5A040858-3355-4098-8F33-24FED8FAEF9E}"/>
              </a:ext>
            </a:extLst>
          </p:cNvPr>
          <p:cNvSpPr/>
          <p:nvPr/>
        </p:nvSpPr>
        <p:spPr>
          <a:xfrm>
            <a:off x="5767935" y="4738279"/>
            <a:ext cx="816485" cy="200353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6</a:t>
            </a:r>
            <a:r>
              <a:rPr lang="zh-CN" altLang="en-US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月中旬前</a:t>
            </a: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32547AE4-98A4-422B-A586-6F9227A995F9}"/>
              </a:ext>
            </a:extLst>
          </p:cNvPr>
          <p:cNvSpPr txBox="1"/>
          <p:nvPr/>
        </p:nvSpPr>
        <p:spPr>
          <a:xfrm>
            <a:off x="7283036" y="4410854"/>
            <a:ext cx="130301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rgbClr val="000000"/>
                </a:solidFill>
                <a:latin typeface="+mj-ea"/>
                <a:ea typeface="+mj-ea"/>
                <a:cs typeface="Arial" pitchFamily="34" charset="-120"/>
              </a:rPr>
              <a:t>烟火榜扩城</a:t>
            </a:r>
            <a:endParaRPr lang="zh-CN" altLang="en-US" sz="1050" dirty="0">
              <a:solidFill>
                <a:srgbClr val="000000"/>
              </a:solidFill>
            </a:endParaRPr>
          </a:p>
        </p:txBody>
      </p:sp>
      <p:sp>
        <p:nvSpPr>
          <p:cNvPr id="237" name="米菲PPT78">
            <a:extLst>
              <a:ext uri="{FF2B5EF4-FFF2-40B4-BE49-F238E27FC236}">
                <a16:creationId xmlns:a16="http://schemas.microsoft.com/office/drawing/2014/main" id="{9751AA12-62D5-4DD5-A19E-A6F0F2EF6747}"/>
              </a:ext>
            </a:extLst>
          </p:cNvPr>
          <p:cNvSpPr/>
          <p:nvPr/>
        </p:nvSpPr>
        <p:spPr>
          <a:xfrm>
            <a:off x="7290899" y="4740337"/>
            <a:ext cx="816485" cy="200353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6</a:t>
            </a:r>
            <a:r>
              <a:rPr lang="zh-CN" altLang="en-US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月底前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128D1E-3665-1FB4-CBC4-E4CD61764CAF}"/>
              </a:ext>
            </a:extLst>
          </p:cNvPr>
          <p:cNvSpPr txBox="1"/>
          <p:nvPr/>
        </p:nvSpPr>
        <p:spPr>
          <a:xfrm>
            <a:off x="2704492" y="3266413"/>
            <a:ext cx="1947546" cy="838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0"/>
              </a:lnSpc>
            </a:pPr>
            <a:r>
              <a:rPr lang="zh-CN" altLang="en-US" sz="800" dirty="0">
                <a:latin typeface="+mj-ea"/>
                <a:ea typeface="+mj-ea"/>
                <a:cs typeface="Arial" pitchFamily="34" charset="-120"/>
              </a:rPr>
              <a:t>试点</a:t>
            </a:r>
            <a:r>
              <a:rPr lang="en-US" altLang="zh-CN" sz="800" dirty="0">
                <a:latin typeface="+mj-ea"/>
                <a:ea typeface="+mj-ea"/>
                <a:cs typeface="Arial" pitchFamily="34" charset="-120"/>
              </a:rPr>
              <a:t>9</a:t>
            </a:r>
            <a:r>
              <a:rPr lang="zh-CN" altLang="en-US" sz="800" dirty="0">
                <a:latin typeface="+mj-ea"/>
                <a:ea typeface="+mj-ea"/>
                <a:cs typeface="Arial" pitchFamily="34" charset="-120"/>
              </a:rPr>
              <a:t>城：</a:t>
            </a:r>
            <a:r>
              <a:rPr lang="zh-CN" altLang="en-US" sz="800" dirty="0">
                <a:effectLst/>
              </a:rPr>
              <a:t>北京、上海、成都、杭州、武汉、厦门、哈尔滨、合肥、海口</a:t>
            </a:r>
            <a:endParaRPr lang="en-US" altLang="zh-CN" sz="800" dirty="0">
              <a:effectLst/>
            </a:endParaRPr>
          </a:p>
          <a:p>
            <a:pPr>
              <a:lnSpc>
                <a:spcPts val="1530"/>
              </a:lnSpc>
            </a:pPr>
            <a:r>
              <a:rPr lang="zh-CN" altLang="en-US" sz="800" dirty="0"/>
              <a:t>总计上榜门店数：</a:t>
            </a:r>
            <a:r>
              <a:rPr lang="en-US" altLang="zh-CN" sz="800" dirty="0"/>
              <a:t>1,904</a:t>
            </a:r>
            <a:r>
              <a:rPr lang="zh-CN" altLang="en-US" sz="800" dirty="0"/>
              <a:t>，集中在地方菜、异域料理，蜂窝占比</a:t>
            </a:r>
            <a:r>
              <a:rPr lang="en-US" altLang="zh-CN" sz="800" dirty="0"/>
              <a:t>60%</a:t>
            </a:r>
            <a:endParaRPr lang="zh-CN" altLang="en-US" sz="800" dirty="0"/>
          </a:p>
        </p:txBody>
      </p:sp>
      <p:sp>
        <p:nvSpPr>
          <p:cNvPr id="12" name="米菲PPT1">
            <a:extLst>
              <a:ext uri="{FF2B5EF4-FFF2-40B4-BE49-F238E27FC236}">
                <a16:creationId xmlns:a16="http://schemas.microsoft.com/office/drawing/2014/main" id="{323E7C5F-3CCC-49DF-B5C7-1DA0026B266C}"/>
              </a:ext>
            </a:extLst>
          </p:cNvPr>
          <p:cNvSpPr/>
          <p:nvPr/>
        </p:nvSpPr>
        <p:spPr>
          <a:xfrm rot="5400000" flipV="1">
            <a:off x="1446505" y="4005138"/>
            <a:ext cx="586432" cy="1313668"/>
          </a:xfrm>
          <a:prstGeom prst="roundRect">
            <a:avLst>
              <a:gd name="adj" fmla="val 1461"/>
            </a:avLst>
          </a:prstGeom>
          <a:solidFill>
            <a:schemeClr val="accent1">
              <a:alpha val="6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AC182C7-6335-CADA-CA5B-C78993B1B509}"/>
              </a:ext>
            </a:extLst>
          </p:cNvPr>
          <p:cNvSpPr txBox="1"/>
          <p:nvPr/>
        </p:nvSpPr>
        <p:spPr>
          <a:xfrm>
            <a:off x="1314455" y="4408056"/>
            <a:ext cx="130301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rgbClr val="000000"/>
                </a:solidFill>
                <a:latin typeface="+mj-ea"/>
                <a:ea typeface="+mj-ea"/>
                <a:cs typeface="Arial" pitchFamily="34" charset="-120"/>
              </a:rPr>
              <a:t>约会榜试点</a:t>
            </a:r>
            <a:endParaRPr lang="zh-CN" altLang="en-US" sz="1050" dirty="0">
              <a:solidFill>
                <a:srgbClr val="000000"/>
              </a:solidFill>
            </a:endParaRPr>
          </a:p>
        </p:txBody>
      </p:sp>
      <p:sp>
        <p:nvSpPr>
          <p:cNvPr id="14" name="米菲PPT78">
            <a:extLst>
              <a:ext uri="{FF2B5EF4-FFF2-40B4-BE49-F238E27FC236}">
                <a16:creationId xmlns:a16="http://schemas.microsoft.com/office/drawing/2014/main" id="{5F146A72-51F8-7562-FEF1-24DCC3EE4274}"/>
              </a:ext>
            </a:extLst>
          </p:cNvPr>
          <p:cNvSpPr/>
          <p:nvPr/>
        </p:nvSpPr>
        <p:spPr>
          <a:xfrm>
            <a:off x="1322318" y="4737539"/>
            <a:ext cx="816485" cy="200353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4</a:t>
            </a:r>
            <a:r>
              <a:rPr lang="zh-CN" altLang="en-US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月</a:t>
            </a:r>
            <a:r>
              <a:rPr lang="en-US" altLang="zh-CN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23</a:t>
            </a:r>
            <a:r>
              <a:rPr lang="zh-CN" altLang="en-US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日</a:t>
            </a:r>
          </a:p>
        </p:txBody>
      </p:sp>
      <p:sp>
        <p:nvSpPr>
          <p:cNvPr id="16" name="米菲PPT1">
            <a:extLst>
              <a:ext uri="{FF2B5EF4-FFF2-40B4-BE49-F238E27FC236}">
                <a16:creationId xmlns:a16="http://schemas.microsoft.com/office/drawing/2014/main" id="{242AED97-E165-0A69-BD38-AA9C509885B5}"/>
              </a:ext>
            </a:extLst>
          </p:cNvPr>
          <p:cNvSpPr/>
          <p:nvPr/>
        </p:nvSpPr>
        <p:spPr>
          <a:xfrm rot="5400000" flipV="1">
            <a:off x="2944655" y="4005048"/>
            <a:ext cx="551290" cy="1303024"/>
          </a:xfrm>
          <a:prstGeom prst="roundRect">
            <a:avLst>
              <a:gd name="adj" fmla="val 1461"/>
            </a:avLst>
          </a:prstGeom>
          <a:solidFill>
            <a:schemeClr val="accent2">
              <a:lumMod val="60000"/>
              <a:lumOff val="40000"/>
              <a:alpha val="6000"/>
            </a:schemeClr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Sans Medium" panose="00000600000000000000" pitchFamily="2" charset="-122"/>
              <a:ea typeface="MiSans Medium" panose="00000600000000000000" pitchFamily="2" charset="-122"/>
              <a:cs typeface="MiSans Medium" panose="000006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AF4A72-95D1-7FBA-DDDF-908D357C721D}"/>
              </a:ext>
            </a:extLst>
          </p:cNvPr>
          <p:cNvSpPr txBox="1"/>
          <p:nvPr/>
        </p:nvSpPr>
        <p:spPr>
          <a:xfrm>
            <a:off x="2780540" y="4412725"/>
            <a:ext cx="8854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rgbClr val="000000"/>
                </a:solidFill>
                <a:latin typeface="+mj-ea"/>
                <a:ea typeface="+mj-ea"/>
                <a:cs typeface="Arial" pitchFamily="34" charset="-120"/>
              </a:rPr>
              <a:t>特色菜扩城</a:t>
            </a:r>
            <a:endParaRPr lang="zh-CN" altLang="en-US" sz="1050" dirty="0">
              <a:solidFill>
                <a:srgbClr val="000000"/>
              </a:solidFill>
            </a:endParaRPr>
          </a:p>
        </p:txBody>
      </p:sp>
      <p:sp>
        <p:nvSpPr>
          <p:cNvPr id="18" name="米菲PPT78">
            <a:extLst>
              <a:ext uri="{FF2B5EF4-FFF2-40B4-BE49-F238E27FC236}">
                <a16:creationId xmlns:a16="http://schemas.microsoft.com/office/drawing/2014/main" id="{12E9E3A1-6EDC-3548-351C-212C8774D30F}"/>
              </a:ext>
            </a:extLst>
          </p:cNvPr>
          <p:cNvSpPr/>
          <p:nvPr/>
        </p:nvSpPr>
        <p:spPr>
          <a:xfrm>
            <a:off x="2820573" y="4741625"/>
            <a:ext cx="816485" cy="200353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4</a:t>
            </a:r>
            <a:r>
              <a:rPr lang="zh-CN" altLang="en-US" sz="700" b="1" dirty="0">
                <a:solidFill>
                  <a:schemeClr val="accent2"/>
                </a:solidFill>
                <a:latin typeface="+mj-ea"/>
                <a:ea typeface="+mj-ea"/>
                <a:cs typeface="MiSans Medium" panose="00000600000000000000" pitchFamily="2" charset="-122"/>
              </a:rPr>
              <a:t>月底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6A741B6-D7A4-78BB-3C06-F239AE5E4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12164"/>
            <a:ext cx="7772400" cy="203995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F4960270-8250-40B3-D923-B483C570A609}"/>
              </a:ext>
            </a:extLst>
          </p:cNvPr>
          <p:cNvSpPr txBox="1"/>
          <p:nvPr/>
        </p:nvSpPr>
        <p:spPr>
          <a:xfrm>
            <a:off x="0" y="528615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召回门店池</a:t>
            </a:r>
            <a:r>
              <a:rPr lang="en-US" altLang="zh-CN" sz="1000" dirty="0"/>
              <a:t>44,885</a:t>
            </a:r>
            <a:r>
              <a:rPr lang="zh-CN" altLang="en-US" sz="1000" dirty="0"/>
              <a:t>，</a:t>
            </a:r>
          </a:p>
        </p:txBody>
      </p:sp>
      <p:pic>
        <p:nvPicPr>
          <p:cNvPr id="23" name="图片 22" descr="表格&#10;&#10;AI 生成的内容可能不正确。">
            <a:extLst>
              <a:ext uri="{FF2B5EF4-FFF2-40B4-BE49-F238E27FC236}">
                <a16:creationId xmlns:a16="http://schemas.microsoft.com/office/drawing/2014/main" id="{98143D43-DE58-3BFE-E0A9-BEDEC496E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93088" y="-1565"/>
            <a:ext cx="3644900" cy="2489200"/>
          </a:xfrm>
          <a:prstGeom prst="rect">
            <a:avLst/>
          </a:prstGeom>
        </p:spPr>
      </p:pic>
      <p:pic>
        <p:nvPicPr>
          <p:cNvPr id="25" name="图片 24" descr="表格&#10;&#10;AI 生成的内容可能不正确。">
            <a:extLst>
              <a:ext uri="{FF2B5EF4-FFF2-40B4-BE49-F238E27FC236}">
                <a16:creationId xmlns:a16="http://schemas.microsoft.com/office/drawing/2014/main" id="{FDE1A55B-7145-0471-E2CC-F290DD723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850954" y="2701736"/>
            <a:ext cx="2476500" cy="1930400"/>
          </a:xfrm>
          <a:prstGeom prst="rect">
            <a:avLst/>
          </a:prstGeom>
        </p:spPr>
      </p:pic>
      <p:pic>
        <p:nvPicPr>
          <p:cNvPr id="27" name="图片 2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7F13CF8-80F0-978C-318E-E60D90FE82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967" y="1521277"/>
            <a:ext cx="1037852" cy="2250000"/>
          </a:xfrm>
          <a:prstGeom prst="rect">
            <a:avLst/>
          </a:prstGeom>
        </p:spPr>
      </p:pic>
      <p:pic>
        <p:nvPicPr>
          <p:cNvPr id="29" name="图片 2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6C0C7BC9-9DD7-6C4D-EF58-9CC1622FE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0585" y="1524631"/>
            <a:ext cx="1037852" cy="2250000"/>
          </a:xfrm>
          <a:prstGeom prst="rect">
            <a:avLst/>
          </a:prstGeom>
        </p:spPr>
      </p:pic>
      <p:pic>
        <p:nvPicPr>
          <p:cNvPr id="32" name="图片 31" descr="QR 代码&#10;&#10;AI 生成的内容可能不正确。">
            <a:extLst>
              <a:ext uri="{FF2B5EF4-FFF2-40B4-BE49-F238E27FC236}">
                <a16:creationId xmlns:a16="http://schemas.microsoft.com/office/drawing/2014/main" id="{69AA65AB-3A39-128F-F1D7-2833654541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9135" y="1962613"/>
            <a:ext cx="16256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974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6D0AC-018C-5520-75FD-7788AD01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3">
            <a:extLst>
              <a:ext uri="{FF2B5EF4-FFF2-40B4-BE49-F238E27FC236}">
                <a16:creationId xmlns:a16="http://schemas.microsoft.com/office/drawing/2014/main" id="{868DAF9A-E537-65D2-70BC-436CAA51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2" y="15438"/>
            <a:ext cx="3642978" cy="427313"/>
          </a:xfrm>
        </p:spPr>
        <p:txBody>
          <a:bodyPr>
            <a:normAutofit/>
          </a:bodyPr>
          <a:lstStyle/>
          <a:p>
            <a:r>
              <a:rPr lang="en-US" altLang="zh-CN" sz="2100" dirty="0">
                <a:latin typeface="+mn-ea"/>
                <a:ea typeface="+mn-ea"/>
              </a:rPr>
              <a:t>AI</a:t>
            </a:r>
            <a:r>
              <a:rPr lang="zh-CN" altLang="en-US" sz="2100" dirty="0">
                <a:latin typeface="+mn-ea"/>
                <a:ea typeface="+mn-ea"/>
              </a:rPr>
              <a:t> </a:t>
            </a:r>
            <a:r>
              <a:rPr lang="en-US" altLang="zh-CN" sz="2100" dirty="0">
                <a:latin typeface="+mn-ea"/>
                <a:ea typeface="+mn-ea"/>
              </a:rPr>
              <a:t>skill</a:t>
            </a:r>
            <a:r>
              <a:rPr lang="zh-CN" altLang="en-US" sz="2100" dirty="0">
                <a:latin typeface="+mn-ea"/>
                <a:ea typeface="+mn-ea"/>
              </a:rPr>
              <a:t>的运营应用</a:t>
            </a:r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88840206-5356-2398-4CC7-3D995C966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090292"/>
              </p:ext>
            </p:extLst>
          </p:nvPr>
        </p:nvGraphicFramePr>
        <p:xfrm>
          <a:off x="4346606" y="1083619"/>
          <a:ext cx="4622459" cy="3627120"/>
        </p:xfrm>
        <a:graphic>
          <a:graphicData uri="http://schemas.openxmlformats.org/drawingml/2006/table">
            <a:tbl>
              <a:tblPr/>
              <a:tblGrid>
                <a:gridCol w="589309">
                  <a:extLst>
                    <a:ext uri="{9D8B030D-6E8A-4147-A177-3AD203B41FA5}">
                      <a16:colId xmlns:a16="http://schemas.microsoft.com/office/drawing/2014/main" val="2783740018"/>
                    </a:ext>
                  </a:extLst>
                </a:gridCol>
                <a:gridCol w="92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2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52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分类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主题类型</a:t>
                      </a:r>
                      <a:endParaRPr 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核心内容</a:t>
                      </a:r>
                      <a:endParaRPr 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内容示例</a:t>
                      </a:r>
                      <a:endParaRPr lang="en-US" sz="10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latin typeface="+mn-ea"/>
                          <a:ea typeface="+mn-ea"/>
                        </a:rPr>
                        <a:t>机构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latin typeface="+mn-ea"/>
                          <a:ea typeface="+mn-ea"/>
                        </a:rPr>
                        <a:t>认证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B85C00"/>
                          </a:solidFill>
                          <a:latin typeface="+mj-ea"/>
                          <a:ea typeface="+mj-ea"/>
                        </a:rPr>
                        <a:t>权威标杆榜</a:t>
                      </a:r>
                      <a:endParaRPr lang="en-US" sz="9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国际权威与专业标杆，米其林、世界50佳等国际榜单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米其林指南、The</a:t>
                      </a: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 World's 50 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Best、LA</a:t>
                      </a: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LISTE全球美食榜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8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latin typeface="+mn-ea"/>
                          <a:ea typeface="+mn-ea"/>
                        </a:rPr>
                        <a:t>政府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latin typeface="+mn-ea"/>
                          <a:ea typeface="+mn-ea"/>
                        </a:rPr>
                        <a:t>认定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B85C00"/>
                          </a:solidFill>
                          <a:latin typeface="+mj-ea"/>
                          <a:ea typeface="+mj-ea"/>
                        </a:rPr>
                        <a:t>百年老字号榜</a:t>
                      </a:r>
                      <a:endParaRPr lang="en-US" sz="9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中华老字号、地方老字号认定门店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全聚德、狗不理、广州酒家、陶陶居、小梅坊等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408900"/>
                  </a:ext>
                </a:extLst>
              </a:tr>
              <a:tr h="52660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 err="1">
                          <a:latin typeface="+mn-ea"/>
                          <a:ea typeface="+mn-ea"/>
                        </a:rPr>
                        <a:t>个人</a:t>
                      </a:r>
                      <a:r>
                        <a:rPr lang="en-US" altLang="zh-CN" sz="900" dirty="0" err="1">
                          <a:latin typeface="+mn-ea"/>
                          <a:ea typeface="+mn-ea"/>
                        </a:rPr>
                        <a:t>IP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B85C00"/>
                          </a:solidFill>
                          <a:latin typeface="+mj-ea"/>
                          <a:ea typeface="+mj-ea"/>
                        </a:rPr>
                        <a:t>明星同款榜</a:t>
                      </a:r>
                      <a:endParaRPr lang="en-US" sz="9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名人/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明星IP，明星开设或打卡餐厅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明星开的餐厅（如陈赫贤合庄、薛之谦上上谦）</a:t>
                      </a:r>
                    </a:p>
                    <a:p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明星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/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名人打卡过的店（如周杰伦麦吉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machi </a:t>
                      </a:r>
                      <a:r>
                        <a:rPr lang="en-US" altLang="zh-CN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machi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、杨幂大董烤鸭、贝克汉姆南门涮肉）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814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5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B85C00"/>
                          </a:solidFill>
                          <a:latin typeface="+mj-ea"/>
                          <a:ea typeface="+mj-ea"/>
                        </a:rPr>
                        <a:t>达人私藏榜</a:t>
                      </a:r>
                      <a:endParaRPr lang="en-US" sz="9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美食KOL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本地博主深度推荐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乌啦啦、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好奇说、监月社、乌鸡鸡、黑翻鸡、蛋子仔等头部博主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270893"/>
                  </a:ext>
                </a:extLst>
              </a:tr>
              <a:tr h="247814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9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媒体IP</a:t>
                      </a:r>
                      <a:endParaRPr lang="en-US" altLang="zh-CN" sz="9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B85C00"/>
                          </a:solidFill>
                          <a:latin typeface="+mj-ea"/>
                          <a:ea typeface="+mj-ea"/>
                        </a:rPr>
                        <a:t>综艺同款榜</a:t>
                      </a:r>
                      <a:endParaRPr lang="en-US" sz="9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热门美食综艺节目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《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一饭封神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》《</a:t>
                      </a:r>
                      <a:r>
                        <a:rPr lang="en-US" altLang="zh-CN" sz="90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十二道锋味</a:t>
                      </a:r>
                      <a:r>
                        <a:rPr lang="en-US" altLang="zh-CN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》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相关餐厅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814">
                <a:tc v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5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B85C00"/>
                          </a:solidFill>
                          <a:latin typeface="+mj-ea"/>
                          <a:ea typeface="+mj-ea"/>
                        </a:rPr>
                        <a:t>纪录片风味榜</a:t>
                      </a:r>
                      <a:endParaRPr lang="en-US" sz="9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美食纪录片出镜门店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《舌尖上的中国》《人生一串》《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风味人间</a:t>
                      </a:r>
                      <a:r>
                        <a:rPr 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》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《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早餐中国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》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44">
                <a:tc v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5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B85C00"/>
                          </a:solidFill>
                          <a:latin typeface="+mj-ea"/>
                          <a:ea typeface="+mj-ea"/>
                        </a:rPr>
                        <a:t>地方风味榜</a:t>
                      </a:r>
                      <a:endParaRPr lang="en-US" sz="9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地方媒体评选的特色美食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名菜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名小吃名录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各地餐饮协会、文旅局认定的地方美食名单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重庆</a:t>
                      </a:r>
                      <a:r>
                        <a:rPr lang="en-US" altLang="zh-CN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50</a:t>
                      </a:r>
                      <a:r>
                        <a:rPr lang="zh-CN" altLang="en-US" sz="9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面</a:t>
                      </a:r>
                      <a:endParaRPr lang="en-US" sz="9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B2EE35A1-5549-DA8A-10A3-EA3565AB064A}"/>
              </a:ext>
            </a:extLst>
          </p:cNvPr>
          <p:cNvSpPr txBox="1"/>
          <p:nvPr/>
        </p:nvSpPr>
        <p:spPr>
          <a:xfrm>
            <a:off x="159402" y="510940"/>
            <a:ext cx="36123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n-ea"/>
              </a:rPr>
              <a:t>1.</a:t>
            </a:r>
            <a:r>
              <a:rPr lang="zh-CN" altLang="en-US" sz="1400" b="1" dirty="0">
                <a:latin typeface="+mn-ea"/>
              </a:rPr>
              <a:t>主题榜单建设后台</a:t>
            </a:r>
            <a:r>
              <a:rPr lang="en-US" altLang="zh-CN" sz="1400" b="1" dirty="0">
                <a:latin typeface="+mn-ea"/>
              </a:rPr>
              <a:t>-</a:t>
            </a:r>
            <a:r>
              <a:rPr lang="zh-CN" altLang="en-US" sz="1400" dirty="0">
                <a:latin typeface="+mn-ea"/>
              </a:rPr>
              <a:t>生产排序</a:t>
            </a:r>
            <a:r>
              <a:rPr lang="en-US" altLang="zh-CN" sz="1400" dirty="0">
                <a:latin typeface="+mn-ea"/>
              </a:rPr>
              <a:t>Skill</a:t>
            </a:r>
            <a:endParaRPr lang="zh-CN" altLang="en-US" sz="1400" dirty="0"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A7E9CA1-B5E2-16A7-515F-0F7147052F0D}"/>
              </a:ext>
            </a:extLst>
          </p:cNvPr>
          <p:cNvSpPr txBox="1"/>
          <p:nvPr/>
        </p:nvSpPr>
        <p:spPr>
          <a:xfrm>
            <a:off x="159402" y="2948103"/>
            <a:ext cx="3612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n-ea"/>
              </a:rPr>
              <a:t>2.</a:t>
            </a:r>
            <a:r>
              <a:rPr lang="zh-CN" altLang="en-US" sz="1400" b="1" dirty="0">
                <a:latin typeface="+mn-ea"/>
              </a:rPr>
              <a:t>动线建设合作</a:t>
            </a:r>
            <a:r>
              <a:rPr lang="en-US" altLang="zh-CN" sz="1400" b="1" dirty="0">
                <a:latin typeface="+mn-ea"/>
              </a:rPr>
              <a:t>-</a:t>
            </a:r>
            <a:r>
              <a:rPr lang="zh-CN" altLang="en-US" sz="1400" dirty="0">
                <a:latin typeface="+mn-ea"/>
              </a:rPr>
              <a:t>动线</a:t>
            </a:r>
            <a:r>
              <a:rPr lang="en-US" altLang="zh-CN" sz="1400" dirty="0">
                <a:latin typeface="+mn-ea"/>
              </a:rPr>
              <a:t>/</a:t>
            </a:r>
            <a:r>
              <a:rPr lang="zh-CN" altLang="en-US" sz="1400" dirty="0">
                <a:latin typeface="+mn-ea"/>
              </a:rPr>
              <a:t>资源对接</a:t>
            </a:r>
            <a:r>
              <a:rPr lang="en-US" altLang="zh-CN" sz="1400" dirty="0">
                <a:latin typeface="+mn-ea"/>
              </a:rPr>
              <a:t>Skill</a:t>
            </a:r>
            <a:endParaRPr lang="zh-CN" altLang="en-US" sz="14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87DD727-9276-CEDA-25CC-2A685E315CB9}"/>
              </a:ext>
            </a:extLst>
          </p:cNvPr>
          <p:cNvSpPr txBox="1"/>
          <p:nvPr/>
        </p:nvSpPr>
        <p:spPr>
          <a:xfrm>
            <a:off x="4253429" y="442751"/>
            <a:ext cx="34856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n-ea"/>
              </a:rPr>
              <a:t>3.</a:t>
            </a:r>
            <a:r>
              <a:rPr lang="zh-CN" altLang="en-US" sz="1400" b="1" dirty="0">
                <a:latin typeface="+mn-ea"/>
              </a:rPr>
              <a:t>开放榜建设</a:t>
            </a:r>
            <a:r>
              <a:rPr lang="en-US" altLang="zh-CN" sz="1400" b="1" dirty="0">
                <a:latin typeface="+mn-ea"/>
              </a:rPr>
              <a:t>-</a:t>
            </a:r>
            <a:r>
              <a:rPr lang="zh-CN" altLang="en-US" sz="1400" dirty="0">
                <a:latin typeface="+mn-ea"/>
              </a:rPr>
              <a:t>需求洞察</a:t>
            </a:r>
            <a:r>
              <a:rPr lang="en-US" altLang="zh-CN" sz="1400" dirty="0">
                <a:latin typeface="+mn-ea"/>
              </a:rPr>
              <a:t>&amp;</a:t>
            </a:r>
            <a:r>
              <a:rPr lang="zh-CN" altLang="en-US" sz="1400" dirty="0">
                <a:latin typeface="+mn-ea"/>
              </a:rPr>
              <a:t>映射</a:t>
            </a:r>
            <a:r>
              <a:rPr lang="en-US" altLang="zh-CN" sz="1400" dirty="0">
                <a:latin typeface="+mn-ea"/>
              </a:rPr>
              <a:t>Skill</a:t>
            </a:r>
            <a:endParaRPr lang="zh-CN" altLang="en-US" sz="1400" dirty="0"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A748F02-DA45-C3EF-643C-CA23E021D2D3}"/>
              </a:ext>
            </a:extLst>
          </p:cNvPr>
          <p:cNvSpPr txBox="1"/>
          <p:nvPr/>
        </p:nvSpPr>
        <p:spPr>
          <a:xfrm>
            <a:off x="385959" y="3193760"/>
            <a:ext cx="3867470" cy="28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>
                <a:latin typeface="+mn-ea"/>
              </a:rPr>
              <a:t>4</a:t>
            </a:r>
            <a:r>
              <a:rPr lang="zh-CN" altLang="en-US" sz="1000" dirty="0">
                <a:latin typeface="+mn-ea"/>
              </a:rPr>
              <a:t>月</a:t>
            </a:r>
            <a:r>
              <a:rPr lang="en-US" altLang="zh-CN" sz="1000" dirty="0">
                <a:latin typeface="+mn-ea"/>
              </a:rPr>
              <a:t>20</a:t>
            </a:r>
            <a:r>
              <a:rPr lang="zh-CN" altLang="en-US" sz="1000" dirty="0">
                <a:latin typeface="+mn-ea"/>
              </a:rPr>
              <a:t>日，联合大搜团队已经开展通过</a:t>
            </a:r>
            <a:r>
              <a:rPr lang="en-US" altLang="zh-CN" sz="1000" dirty="0">
                <a:latin typeface="+mn-ea"/>
              </a:rPr>
              <a:t>skill</a:t>
            </a:r>
            <a:r>
              <a:rPr lang="zh-CN" altLang="en-US" sz="1000" dirty="0">
                <a:latin typeface="+mn-ea"/>
              </a:rPr>
              <a:t>配置投放</a:t>
            </a:r>
            <a:r>
              <a:rPr lang="en-US" altLang="zh-CN" sz="1000" dirty="0" err="1">
                <a:latin typeface="+mn-ea"/>
              </a:rPr>
              <a:t>sug</a:t>
            </a:r>
            <a:endParaRPr lang="en-US" altLang="zh-CN" sz="1000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CB35564-C812-DD20-2617-3168B72ED71A}"/>
              </a:ext>
            </a:extLst>
          </p:cNvPr>
          <p:cNvSpPr txBox="1"/>
          <p:nvPr/>
        </p:nvSpPr>
        <p:spPr>
          <a:xfrm>
            <a:off x="4346605" y="721937"/>
            <a:ext cx="46455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预计</a:t>
            </a:r>
            <a:r>
              <a:rPr lang="en-US" altLang="zh-CN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5</a:t>
            </a:r>
            <a:r>
              <a:rPr lang="zh-CN" altLang="en-US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月底实现建设开放榜挖掘</a:t>
            </a:r>
            <a:r>
              <a:rPr lang="en-US" altLang="zh-CN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→</a:t>
            </a:r>
            <a:r>
              <a:rPr lang="zh-CN" altLang="en-US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映射</a:t>
            </a:r>
            <a:r>
              <a:rPr lang="en-US" altLang="zh-CN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→</a:t>
            </a:r>
            <a:r>
              <a:rPr lang="zh-CN" altLang="en-US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规则排序</a:t>
            </a:r>
            <a:r>
              <a:rPr lang="en-US" altLang="zh-CN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→</a:t>
            </a:r>
            <a:r>
              <a:rPr lang="zh-CN" altLang="en-US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上线一体化</a:t>
            </a:r>
            <a:r>
              <a:rPr lang="en-US" altLang="zh-CN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AI</a:t>
            </a:r>
            <a:r>
              <a:rPr lang="zh-CN" altLang="en-US" sz="1000" dirty="0">
                <a:solidFill>
                  <a:srgbClr val="1A1A1A"/>
                </a:solidFill>
                <a:latin typeface="+mj-ea"/>
                <a:cs typeface="Arial" pitchFamily="34" charset="-120"/>
              </a:rPr>
              <a:t>链路</a:t>
            </a:r>
            <a:endParaRPr lang="en-US" altLang="zh-CN" sz="10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900F65-5739-FE5E-05BA-CB415FDD7D21}"/>
              </a:ext>
            </a:extLst>
          </p:cNvPr>
          <p:cNvSpPr txBox="1"/>
          <p:nvPr/>
        </p:nvSpPr>
        <p:spPr>
          <a:xfrm>
            <a:off x="385959" y="795750"/>
            <a:ext cx="3612322" cy="51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>
                <a:latin typeface="+mn-ea"/>
              </a:rPr>
              <a:t>4</a:t>
            </a:r>
            <a:r>
              <a:rPr lang="zh-CN" altLang="en-US" sz="1000" dirty="0">
                <a:latin typeface="+mn-ea"/>
              </a:rPr>
              <a:t>月</a:t>
            </a:r>
            <a:r>
              <a:rPr lang="en-US" altLang="zh-CN" sz="1000" dirty="0">
                <a:latin typeface="+mn-ea"/>
              </a:rPr>
              <a:t>9</a:t>
            </a:r>
            <a:r>
              <a:rPr lang="zh-CN" altLang="en-US" sz="1000" dirty="0">
                <a:latin typeface="+mn-ea"/>
              </a:rPr>
              <a:t>日主题榜单的召排规则调优，及主题榜单标签挖掘能力建设，并且可复用到后续烟火榜等主题建设中。</a:t>
            </a:r>
            <a:endParaRPr lang="en-US" altLang="zh-CN" sz="1000" dirty="0"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9FAAE4-1D54-3DAD-2221-E93CE7462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59" y="3480826"/>
            <a:ext cx="3223910" cy="149265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5EED6AA-6FB2-C6B1-3C10-7DC1D1E13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59" y="1397106"/>
            <a:ext cx="3244104" cy="14469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5125701-C577-65DF-E796-4962F43BF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5813" y="2120600"/>
            <a:ext cx="1326763" cy="287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800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FE91-BD63-66BF-2F4D-AD574F5F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: 圆角 21">
            <a:extLst>
              <a:ext uri="{FF2B5EF4-FFF2-40B4-BE49-F238E27FC236}">
                <a16:creationId xmlns:a16="http://schemas.microsoft.com/office/drawing/2014/main" id="{F6466A6D-3F62-C95F-4089-7B93F26E4E4F}"/>
              </a:ext>
            </a:extLst>
          </p:cNvPr>
          <p:cNvSpPr/>
          <p:nvPr/>
        </p:nvSpPr>
        <p:spPr>
          <a:xfrm>
            <a:off x="1786364" y="3204197"/>
            <a:ext cx="6055756" cy="147995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1" name="矩形: 圆角 21">
            <a:extLst>
              <a:ext uri="{FF2B5EF4-FFF2-40B4-BE49-F238E27FC236}">
                <a16:creationId xmlns:a16="http://schemas.microsoft.com/office/drawing/2014/main" id="{A44418F6-FA97-DD12-8F3E-F389292EB839}"/>
              </a:ext>
            </a:extLst>
          </p:cNvPr>
          <p:cNvSpPr/>
          <p:nvPr/>
        </p:nvSpPr>
        <p:spPr>
          <a:xfrm>
            <a:off x="1786364" y="2478179"/>
            <a:ext cx="6055756" cy="67448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45" name="矩形: 圆角 21">
            <a:extLst>
              <a:ext uri="{FF2B5EF4-FFF2-40B4-BE49-F238E27FC236}">
                <a16:creationId xmlns:a16="http://schemas.microsoft.com/office/drawing/2014/main" id="{702901E4-04E4-AE7A-9AAC-6786F54A6BB8}"/>
              </a:ext>
            </a:extLst>
          </p:cNvPr>
          <p:cNvSpPr/>
          <p:nvPr/>
        </p:nvSpPr>
        <p:spPr>
          <a:xfrm>
            <a:off x="1786364" y="1637389"/>
            <a:ext cx="6055756" cy="84603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A187DF81-E258-67DE-70C7-630C64BD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00" y="32009"/>
            <a:ext cx="7664380" cy="427313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latin typeface="+mn-ea"/>
              </a:rPr>
              <a:t>榜单用户需求满足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D39A05-2F39-3D9D-9AF0-5D3BCD2EE168}"/>
              </a:ext>
            </a:extLst>
          </p:cNvPr>
          <p:cNvSpPr/>
          <p:nvPr/>
        </p:nvSpPr>
        <p:spPr>
          <a:xfrm>
            <a:off x="1076955" y="1576918"/>
            <a:ext cx="6839425" cy="342094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0F4010-0465-CAD3-6609-EBEB903758CD}"/>
              </a:ext>
            </a:extLst>
          </p:cNvPr>
          <p:cNvSpPr txBox="1"/>
          <p:nvPr/>
        </p:nvSpPr>
        <p:spPr>
          <a:xfrm>
            <a:off x="1295334" y="3257545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尊重、审美、认知（如尝鲜）需求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98184E-CA29-BA40-E3C8-EABC8F21DFFA}"/>
              </a:ext>
            </a:extLst>
          </p:cNvPr>
          <p:cNvSpPr txBox="1"/>
          <p:nvPr/>
        </p:nvSpPr>
        <p:spPr>
          <a:xfrm>
            <a:off x="4117565" y="3252784"/>
            <a:ext cx="18259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社交、情感与归属需求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DB24E3-9990-75BA-B544-830E9F15585B}"/>
              </a:ext>
            </a:extLst>
          </p:cNvPr>
          <p:cNvSpPr txBox="1"/>
          <p:nvPr/>
        </p:nvSpPr>
        <p:spPr>
          <a:xfrm>
            <a:off x="6229514" y="3247229"/>
            <a:ext cx="136300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功能需求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09DE7B-9554-ED9F-5DCA-0654073F3D58}"/>
              </a:ext>
            </a:extLst>
          </p:cNvPr>
          <p:cNvSpPr txBox="1"/>
          <p:nvPr/>
        </p:nvSpPr>
        <p:spPr>
          <a:xfrm>
            <a:off x="3663441" y="3461630"/>
            <a:ext cx="2948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情侣约会、亲朋聚会、工作宴请、亲子等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7B6808-46AF-EC3D-B1E1-3A985F1C26B0}"/>
              </a:ext>
            </a:extLst>
          </p:cNvPr>
          <p:cNvSpPr txBox="1"/>
          <p:nvPr/>
        </p:nvSpPr>
        <p:spPr>
          <a:xfrm>
            <a:off x="1435617" y="3447680"/>
            <a:ext cx="2667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旅游、漂亮饭等氛围餐厅、时令等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87005BE-C6EB-BCFB-CBF4-B647BCE45349}"/>
              </a:ext>
            </a:extLst>
          </p:cNvPr>
          <p:cNvSpPr txBox="1"/>
          <p:nvPr/>
        </p:nvSpPr>
        <p:spPr>
          <a:xfrm>
            <a:off x="5936876" y="3442247"/>
            <a:ext cx="19482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+mn-ea"/>
              </a:rPr>
              <a:t>品类、口味等</a:t>
            </a:r>
          </a:p>
        </p:txBody>
      </p:sp>
      <p:sp>
        <p:nvSpPr>
          <p:cNvPr id="50" name="矩形: 圆角 21">
            <a:extLst>
              <a:ext uri="{FF2B5EF4-FFF2-40B4-BE49-F238E27FC236}">
                <a16:creationId xmlns:a16="http://schemas.microsoft.com/office/drawing/2014/main" id="{537EA026-27E4-5E50-5F7D-6A040F841640}"/>
              </a:ext>
            </a:extLst>
          </p:cNvPr>
          <p:cNvSpPr/>
          <p:nvPr/>
        </p:nvSpPr>
        <p:spPr>
          <a:xfrm>
            <a:off x="5670595" y="3750621"/>
            <a:ext cx="1127093" cy="872653"/>
          </a:xfrm>
          <a:prstGeom prst="roundRect">
            <a:avLst>
              <a:gd name="adj" fmla="val 24241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人气榜、好评榜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58" name="矩形: 圆角 21">
            <a:extLst>
              <a:ext uri="{FF2B5EF4-FFF2-40B4-BE49-F238E27FC236}">
                <a16:creationId xmlns:a16="http://schemas.microsoft.com/office/drawing/2014/main" id="{3FB46306-640F-DAB5-471D-34592AE5021D}"/>
              </a:ext>
            </a:extLst>
          </p:cNvPr>
          <p:cNvSpPr/>
          <p:nvPr/>
        </p:nvSpPr>
        <p:spPr>
          <a:xfrm>
            <a:off x="1921143" y="4184863"/>
            <a:ext cx="872329" cy="42747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当地人推荐</a:t>
            </a:r>
            <a:endParaRPr lang="en-US" altLang="zh-CN" sz="900" dirty="0">
              <a:solidFill>
                <a:schemeClr val="accent5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7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7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3A34AA70-28EB-2CD9-A768-ED377EE3D674}"/>
              </a:ext>
            </a:extLst>
          </p:cNvPr>
          <p:cNvSpPr txBox="1"/>
          <p:nvPr/>
        </p:nvSpPr>
        <p:spPr>
          <a:xfrm>
            <a:off x="5579376" y="4767026"/>
            <a:ext cx="20131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用户行为指数入围排序</a:t>
            </a:r>
          </a:p>
        </p:txBody>
      </p:sp>
      <p:sp>
        <p:nvSpPr>
          <p:cNvPr id="211" name="文本框 210">
            <a:extLst>
              <a:ext uri="{FF2B5EF4-FFF2-40B4-BE49-F238E27FC236}">
                <a16:creationId xmlns:a16="http://schemas.microsoft.com/office/drawing/2014/main" id="{FDB072CD-99F7-DA82-BADA-ACE105F4FABA}"/>
              </a:ext>
            </a:extLst>
          </p:cNvPr>
          <p:cNvSpPr txBox="1"/>
          <p:nvPr/>
        </p:nvSpPr>
        <p:spPr>
          <a:xfrm>
            <a:off x="1993669" y="4775536"/>
            <a:ext cx="314393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主题场景相关性</a:t>
            </a:r>
            <a:r>
              <a:rPr lang="en-US" altLang="zh-CN" sz="900" dirty="0">
                <a:solidFill>
                  <a:schemeClr val="accent5"/>
                </a:solidFill>
                <a:latin typeface="+mn-ea"/>
              </a:rPr>
              <a:t>+</a:t>
            </a:r>
            <a:r>
              <a:rPr lang="zh-CN" altLang="en-US" sz="900" dirty="0">
                <a:solidFill>
                  <a:schemeClr val="accent5"/>
                </a:solidFill>
                <a:latin typeface="+mn-ea"/>
              </a:rPr>
              <a:t>用户行为综合入围排序</a:t>
            </a:r>
          </a:p>
        </p:txBody>
      </p:sp>
      <p:sp>
        <p:nvSpPr>
          <p:cNvPr id="224" name="矩形: 圆角 21">
            <a:extLst>
              <a:ext uri="{FF2B5EF4-FFF2-40B4-BE49-F238E27FC236}">
                <a16:creationId xmlns:a16="http://schemas.microsoft.com/office/drawing/2014/main" id="{E73C804F-B1A2-6F4A-6C90-02887C0549C7}"/>
              </a:ext>
            </a:extLst>
          </p:cNvPr>
          <p:cNvSpPr/>
          <p:nvPr/>
        </p:nvSpPr>
        <p:spPr>
          <a:xfrm>
            <a:off x="3654605" y="3786233"/>
            <a:ext cx="1696954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约会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聚会</a:t>
            </a:r>
            <a:r>
              <a:rPr lang="en-US" altLang="zh-CN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亲子榜等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8" name="矩形: 圆角 10">
            <a:extLst>
              <a:ext uri="{FF2B5EF4-FFF2-40B4-BE49-F238E27FC236}">
                <a16:creationId xmlns:a16="http://schemas.microsoft.com/office/drawing/2014/main" id="{8D5337B8-8086-B058-FA1A-D0D5BD2BBF0D}"/>
              </a:ext>
            </a:extLst>
          </p:cNvPr>
          <p:cNvSpPr/>
          <p:nvPr/>
        </p:nvSpPr>
        <p:spPr>
          <a:xfrm>
            <a:off x="1175708" y="3550696"/>
            <a:ext cx="429581" cy="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榜单矩阵</a:t>
            </a:r>
          </a:p>
        </p:txBody>
      </p:sp>
      <p:sp>
        <p:nvSpPr>
          <p:cNvPr id="30" name="矩形: 圆角 21">
            <a:extLst>
              <a:ext uri="{FF2B5EF4-FFF2-40B4-BE49-F238E27FC236}">
                <a16:creationId xmlns:a16="http://schemas.microsoft.com/office/drawing/2014/main" id="{EFD36EFC-AE48-E024-AF83-28FD9D1177D6}"/>
              </a:ext>
            </a:extLst>
          </p:cNvPr>
          <p:cNvSpPr/>
          <p:nvPr/>
        </p:nvSpPr>
        <p:spPr>
          <a:xfrm>
            <a:off x="1921144" y="3786233"/>
            <a:ext cx="1675660" cy="3728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特色菜</a:t>
            </a:r>
            <a:endParaRPr lang="en-US" altLang="zh-CN" sz="900" dirty="0">
              <a:solidFill>
                <a:schemeClr val="tx1"/>
              </a:solidFill>
              <a:latin typeface="+mn-ea"/>
              <a:sym typeface="MiSans Bold" panose="00000800000000000000" pitchFamily="2" charset="-122"/>
            </a:endParaRPr>
          </a:p>
          <a:p>
            <a:pPr algn="ctr"/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（高线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/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sym typeface="MiSans Bold" panose="00000800000000000000" pitchFamily="2" charset="-122"/>
              </a:rPr>
              <a:t>中低线）</a:t>
            </a:r>
            <a:endParaRPr lang="en-US" altLang="zh-CN" sz="800" dirty="0">
              <a:solidFill>
                <a:schemeClr val="bg1">
                  <a:lumMod val="50000"/>
                </a:schemeClr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1" name="矩形: 圆角 21">
            <a:extLst>
              <a:ext uri="{FF2B5EF4-FFF2-40B4-BE49-F238E27FC236}">
                <a16:creationId xmlns:a16="http://schemas.microsoft.com/office/drawing/2014/main" id="{24C13260-1858-7E13-2B48-CC82E9E7F109}"/>
              </a:ext>
            </a:extLst>
          </p:cNvPr>
          <p:cNvSpPr/>
          <p:nvPr/>
        </p:nvSpPr>
        <p:spPr>
          <a:xfrm>
            <a:off x="2843417" y="4191093"/>
            <a:ext cx="740823" cy="43597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烟火榜等</a:t>
            </a:r>
            <a:endParaRPr lang="en-US" altLang="zh-CN" sz="900" dirty="0">
              <a:solidFill>
                <a:srgbClr val="C00000"/>
              </a:solidFill>
              <a:latin typeface="+mn-ea"/>
              <a:sym typeface="MiSans Bold" panose="00000800000000000000" pitchFamily="2" charset="-122"/>
            </a:endParaRPr>
          </a:p>
        </p:txBody>
      </p:sp>
      <p:sp>
        <p:nvSpPr>
          <p:cNvPr id="35" name="矩形: 圆角 21">
            <a:extLst>
              <a:ext uri="{FF2B5EF4-FFF2-40B4-BE49-F238E27FC236}">
                <a16:creationId xmlns:a16="http://schemas.microsoft.com/office/drawing/2014/main" id="{BA5DF595-EA94-0F7A-BE1B-523A38BFB0AA}"/>
              </a:ext>
            </a:extLst>
          </p:cNvPr>
          <p:cNvSpPr/>
          <p:nvPr/>
        </p:nvSpPr>
        <p:spPr>
          <a:xfrm>
            <a:off x="6857388" y="3756880"/>
            <a:ext cx="838157" cy="840839"/>
          </a:xfrm>
          <a:prstGeom prst="roundRect">
            <a:avLst/>
          </a:prstGeom>
          <a:noFill/>
          <a:ln w="9525">
            <a:solidFill>
              <a:srgbClr val="FFE36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rgbClr val="C00000"/>
                </a:solidFill>
                <a:latin typeface="+mn-ea"/>
                <a:sym typeface="MiSans Bold" panose="00000800000000000000" pitchFamily="2" charset="-122"/>
              </a:rPr>
              <a:t>回头客榜等</a:t>
            </a:r>
            <a:endParaRPr lang="en-US" altLang="zh-CN" sz="900" dirty="0">
              <a:solidFill>
                <a:srgbClr val="C00000"/>
              </a:solidFill>
              <a:sym typeface="MiSans Bold" panose="000008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9415EB-2584-805D-8A59-5075E13EA08A}"/>
              </a:ext>
            </a:extLst>
          </p:cNvPr>
          <p:cNvSpPr txBox="1"/>
          <p:nvPr/>
        </p:nvSpPr>
        <p:spPr>
          <a:xfrm>
            <a:off x="245889" y="459343"/>
            <a:ext cx="8652222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1200" b="1" dirty="0">
                <a:effectLst/>
              </a:rPr>
              <a:t>当前</a:t>
            </a:r>
            <a:r>
              <a:rPr lang="zh-CN" altLang="en-US" sz="1200" b="1" dirty="0">
                <a:effectLst/>
                <a:cs typeface="Arial" panose="020B0604020202020204" pitchFamily="34" charset="0"/>
              </a:rPr>
              <a:t>举措</a:t>
            </a:r>
            <a:r>
              <a:rPr lang="zh-CN" altLang="en-US" sz="1200" b="1" dirty="0">
                <a:effectLst/>
              </a:rPr>
              <a:t>：</a:t>
            </a:r>
            <a:r>
              <a:rPr lang="zh-CN" altLang="en-US" sz="1200" dirty="0">
                <a:effectLst/>
              </a:rPr>
              <a:t>动线上，运营方式为主配置动线资源验证有效性。</a:t>
            </a:r>
            <a:r>
              <a:rPr lang="zh-CN" altLang="en-US" sz="1200" dirty="0">
                <a:effectLst/>
                <a:cs typeface="Arial" panose="020B0604020202020204" pitchFamily="34" charset="0"/>
              </a:rPr>
              <a:t>资产上，扩充高搜品类和旅游高流量</a:t>
            </a:r>
            <a:r>
              <a:rPr lang="zh-CN" altLang="en-US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区域，试点</a:t>
            </a:r>
            <a:r>
              <a:rPr lang="en-US" altLang="zh-CN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effectLst/>
                <a:cs typeface="Arial" panose="020B0604020202020204" pitchFamily="34" charset="0"/>
              </a:rPr>
              <a:t>扩充约会、旅游场景榜及菜品榜</a:t>
            </a:r>
            <a:r>
              <a:rPr lang="zh-CN" altLang="en-US" sz="1200" dirty="0">
                <a:effectLst/>
              </a:rPr>
              <a:t>；</a:t>
            </a:r>
            <a:endParaRPr lang="en-US" altLang="zh-CN" sz="1200" dirty="0">
              <a:effectLst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200" b="1" dirty="0">
                <a:effectLst/>
              </a:rPr>
              <a:t>进一步举措：</a:t>
            </a:r>
            <a:r>
              <a:rPr lang="zh-CN" altLang="en-US" sz="1200" dirty="0">
                <a:effectLst/>
              </a:rPr>
              <a:t>动线上，结合资产映射及建设进展，联合产品提升覆盖。资产上，完善品类、地点、场景榜单需求，尝试建设菜品榜单；</a:t>
            </a:r>
          </a:p>
        </p:txBody>
      </p:sp>
      <p:sp>
        <p:nvSpPr>
          <p:cNvPr id="3" name="矩形: 圆角 10">
            <a:extLst>
              <a:ext uri="{FF2B5EF4-FFF2-40B4-BE49-F238E27FC236}">
                <a16:creationId xmlns:a16="http://schemas.microsoft.com/office/drawing/2014/main" id="{EBCD4CD3-E2E7-D355-2CF5-8C0603875B28}"/>
              </a:ext>
            </a:extLst>
          </p:cNvPr>
          <p:cNvSpPr/>
          <p:nvPr/>
        </p:nvSpPr>
        <p:spPr>
          <a:xfrm>
            <a:off x="1175707" y="1848358"/>
            <a:ext cx="429581" cy="90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+mn-ea"/>
                <a:sym typeface="MiSans Bold" panose="00000800000000000000" pitchFamily="2" charset="-122"/>
              </a:rPr>
              <a:t>动线建设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41BC628E-153E-95C8-4019-13071F461531}"/>
              </a:ext>
            </a:extLst>
          </p:cNvPr>
          <p:cNvSpPr txBox="1"/>
          <p:nvPr/>
        </p:nvSpPr>
        <p:spPr>
          <a:xfrm>
            <a:off x="1786364" y="1680796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1100" dirty="0"/>
              <a:t>搜索型动线</a:t>
            </a:r>
            <a:endParaRPr sz="1100" dirty="0"/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71DB2AB6-C345-A8E3-56A4-B2518E97CE8F}"/>
              </a:ext>
            </a:extLst>
          </p:cNvPr>
          <p:cNvSpPr/>
          <p:nvPr/>
        </p:nvSpPr>
        <p:spPr>
          <a:xfrm>
            <a:off x="1840073" y="1959121"/>
            <a:ext cx="1371600" cy="468000"/>
          </a:xfrm>
          <a:prstGeom prst="roundRect">
            <a:avLst>
              <a:gd name="adj" fmla="val 2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050" dirty="0">
                <a:solidFill>
                  <a:schemeClr val="tx1"/>
                </a:solidFill>
                <a:latin typeface="+mn-ea"/>
              </a:rPr>
              <a:t>搜筛结合</a:t>
            </a:r>
            <a:endParaRPr lang="en-US" altLang="zh-CN" sz="1050" dirty="0">
              <a:solidFill>
                <a:schemeClr val="tx1"/>
              </a:solidFill>
              <a:latin typeface="+mn-ea"/>
            </a:endParaRPr>
          </a:p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050" dirty="0">
                <a:solidFill>
                  <a:schemeClr val="tx1"/>
                </a:solidFill>
                <a:latin typeface="+mn-ea"/>
              </a:rPr>
              <a:t>承接高意图流量</a:t>
            </a: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DB46E841-023C-1D7A-23E8-7381EEB7A7A0}"/>
              </a:ext>
            </a:extLst>
          </p:cNvPr>
          <p:cNvSpPr txBox="1"/>
          <p:nvPr/>
        </p:nvSpPr>
        <p:spPr>
          <a:xfrm>
            <a:off x="3276815" y="1677522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1100" dirty="0"/>
              <a:t>筛选型动线</a:t>
            </a:r>
            <a:endParaRPr sz="1100" dirty="0"/>
          </a:p>
        </p:txBody>
      </p:sp>
      <p:sp>
        <p:nvSpPr>
          <p:cNvPr id="10" name="Rounded Rectangle 29">
            <a:extLst>
              <a:ext uri="{FF2B5EF4-FFF2-40B4-BE49-F238E27FC236}">
                <a16:creationId xmlns:a16="http://schemas.microsoft.com/office/drawing/2014/main" id="{95779DA5-9CB4-1F9B-B386-BDB2DBBBE52F}"/>
              </a:ext>
            </a:extLst>
          </p:cNvPr>
          <p:cNvSpPr/>
          <p:nvPr/>
        </p:nvSpPr>
        <p:spPr>
          <a:xfrm>
            <a:off x="3356461" y="1959121"/>
            <a:ext cx="1371600" cy="468000"/>
          </a:xfrm>
          <a:prstGeom prst="roundRect">
            <a:avLst>
              <a:gd name="adj" fmla="val 2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050" dirty="0">
                <a:solidFill>
                  <a:schemeClr val="tx1"/>
                </a:solidFill>
                <a:latin typeface="+mn-ea"/>
              </a:rPr>
              <a:t>强化入口</a:t>
            </a:r>
            <a:endParaRPr lang="en-US" altLang="zh-CN" sz="1050" dirty="0">
              <a:solidFill>
                <a:schemeClr val="tx1"/>
              </a:solidFill>
              <a:latin typeface="+mn-ea"/>
            </a:endParaRPr>
          </a:p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050" dirty="0">
                <a:solidFill>
                  <a:schemeClr val="tx1"/>
                </a:solidFill>
                <a:latin typeface="+mn-ea"/>
              </a:rPr>
              <a:t>建设榜单心智</a:t>
            </a:r>
          </a:p>
        </p:txBody>
      </p:sp>
      <p:sp>
        <p:nvSpPr>
          <p:cNvPr id="12" name="TextBox 37">
            <a:extLst>
              <a:ext uri="{FF2B5EF4-FFF2-40B4-BE49-F238E27FC236}">
                <a16:creationId xmlns:a16="http://schemas.microsoft.com/office/drawing/2014/main" id="{DB364337-2FB9-E0E3-B439-FC53BFA66856}"/>
              </a:ext>
            </a:extLst>
          </p:cNvPr>
          <p:cNvSpPr txBox="1"/>
          <p:nvPr/>
        </p:nvSpPr>
        <p:spPr>
          <a:xfrm>
            <a:off x="4868403" y="1691472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1100" dirty="0"/>
              <a:t>发现型动线</a:t>
            </a:r>
            <a:endParaRPr sz="1100" dirty="0"/>
          </a:p>
        </p:txBody>
      </p:sp>
      <p:sp>
        <p:nvSpPr>
          <p:cNvPr id="16" name="Rounded Rectangle 40">
            <a:extLst>
              <a:ext uri="{FF2B5EF4-FFF2-40B4-BE49-F238E27FC236}">
                <a16:creationId xmlns:a16="http://schemas.microsoft.com/office/drawing/2014/main" id="{49E48A63-4CC3-5A1F-387A-65B66FD1E786}"/>
              </a:ext>
            </a:extLst>
          </p:cNvPr>
          <p:cNvSpPr/>
          <p:nvPr/>
        </p:nvSpPr>
        <p:spPr>
          <a:xfrm>
            <a:off x="4876298" y="1970635"/>
            <a:ext cx="1371600" cy="468000"/>
          </a:xfrm>
          <a:prstGeom prst="roundRect">
            <a:avLst>
              <a:gd name="adj" fmla="val 2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050" dirty="0">
                <a:solidFill>
                  <a:schemeClr val="tx1"/>
                </a:solidFill>
                <a:latin typeface="+mn-ea"/>
              </a:rPr>
              <a:t>推荐理由</a:t>
            </a:r>
            <a:endParaRPr lang="en-US" altLang="zh-CN" sz="1050" dirty="0">
              <a:solidFill>
                <a:schemeClr val="tx1"/>
              </a:solidFill>
              <a:latin typeface="+mn-ea"/>
            </a:endParaRPr>
          </a:p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050" dirty="0">
                <a:solidFill>
                  <a:schemeClr val="tx1"/>
                </a:solidFill>
                <a:latin typeface="+mn-ea"/>
              </a:rPr>
              <a:t>透出榜单背书</a:t>
            </a:r>
          </a:p>
        </p:txBody>
      </p:sp>
      <p:sp>
        <p:nvSpPr>
          <p:cNvPr id="17" name="TextBox 48">
            <a:extLst>
              <a:ext uri="{FF2B5EF4-FFF2-40B4-BE49-F238E27FC236}">
                <a16:creationId xmlns:a16="http://schemas.microsoft.com/office/drawing/2014/main" id="{A71BF1DD-5F66-CEFF-5F53-8E7AFA288931}"/>
              </a:ext>
            </a:extLst>
          </p:cNvPr>
          <p:cNvSpPr txBox="1"/>
          <p:nvPr/>
        </p:nvSpPr>
        <p:spPr>
          <a:xfrm>
            <a:off x="6411618" y="1691472"/>
            <a:ext cx="891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  <a:latin typeface="Microsoft YaHei"/>
              </a:defRPr>
            </a:pPr>
            <a:r>
              <a:rPr lang="zh-CN" altLang="en-US" sz="1100" dirty="0"/>
              <a:t>触发型动线</a:t>
            </a:r>
            <a:endParaRPr sz="1100" dirty="0"/>
          </a:p>
        </p:txBody>
      </p:sp>
      <p:sp>
        <p:nvSpPr>
          <p:cNvPr id="21" name="Rounded Rectangle 51">
            <a:extLst>
              <a:ext uri="{FF2B5EF4-FFF2-40B4-BE49-F238E27FC236}">
                <a16:creationId xmlns:a16="http://schemas.microsoft.com/office/drawing/2014/main" id="{EB9821DA-988B-8465-C133-0EC427CFD087}"/>
              </a:ext>
            </a:extLst>
          </p:cNvPr>
          <p:cNvSpPr/>
          <p:nvPr/>
        </p:nvSpPr>
        <p:spPr>
          <a:xfrm>
            <a:off x="6405972" y="1957061"/>
            <a:ext cx="1371600" cy="468000"/>
          </a:xfrm>
          <a:prstGeom prst="roundRect">
            <a:avLst>
              <a:gd name="adj" fmla="val 2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050" dirty="0">
                <a:solidFill>
                  <a:schemeClr val="tx1"/>
                </a:solidFill>
                <a:latin typeface="+mn-ea"/>
              </a:rPr>
              <a:t>主动触达</a:t>
            </a:r>
            <a:endParaRPr lang="en-US" altLang="zh-CN" sz="1050" dirty="0">
              <a:solidFill>
                <a:schemeClr val="tx1"/>
              </a:solidFill>
              <a:latin typeface="+mn-ea"/>
            </a:endParaRPr>
          </a:p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050" dirty="0">
                <a:solidFill>
                  <a:schemeClr val="tx1"/>
                </a:solidFill>
                <a:latin typeface="+mn-ea"/>
              </a:rPr>
              <a:t>召回意向用户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A25C363-73BB-729D-479F-65643B23559B}"/>
              </a:ext>
            </a:extLst>
          </p:cNvPr>
          <p:cNvSpPr txBox="1"/>
          <p:nvPr/>
        </p:nvSpPr>
        <p:spPr>
          <a:xfrm>
            <a:off x="1840073" y="2552288"/>
            <a:ext cx="1363001" cy="551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900" dirty="0"/>
              <a:t>搜索</a:t>
            </a:r>
            <a:r>
              <a:rPr lang="en-US" altLang="zh-CN" sz="900" dirty="0" err="1"/>
              <a:t>sug</a:t>
            </a:r>
            <a:r>
              <a:rPr lang="zh-CN" altLang="en" sz="900" dirty="0"/>
              <a:t>：</a:t>
            </a:r>
            <a:r>
              <a:rPr lang="zh-CN" altLang="en-US" sz="900" dirty="0"/>
              <a:t>增加榜单直达入口</a:t>
            </a:r>
            <a:endParaRPr lang="en-US" altLang="zh-CN" sz="900" dirty="0"/>
          </a:p>
          <a:p>
            <a:pPr>
              <a:lnSpc>
                <a:spcPct val="150000"/>
              </a:lnSpc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900" dirty="0"/>
              <a:t>结果页：增加榜单快筛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EA0D9A3-4184-BCDB-CBF5-829E473C6BD6}"/>
              </a:ext>
            </a:extLst>
          </p:cNvPr>
          <p:cNvSpPr txBox="1"/>
          <p:nvPr/>
        </p:nvSpPr>
        <p:spPr>
          <a:xfrm>
            <a:off x="3360760" y="2542203"/>
            <a:ext cx="13630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900" dirty="0"/>
              <a:t>频道页：强化榜单金刚瓷片区</a:t>
            </a:r>
            <a:endParaRPr lang="en-US" altLang="zh-CN" sz="900" dirty="0"/>
          </a:p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900" dirty="0"/>
              <a:t>落地页：增加景点筛选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4F9FA65-3D8D-3CAE-54C7-03D5836C6F01}"/>
              </a:ext>
            </a:extLst>
          </p:cNvPr>
          <p:cNvSpPr txBox="1"/>
          <p:nvPr/>
        </p:nvSpPr>
        <p:spPr>
          <a:xfrm>
            <a:off x="4880597" y="2523013"/>
            <a:ext cx="1363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900" dirty="0"/>
              <a:t>猜喜：上榜门店个性化推荐</a:t>
            </a:r>
          </a:p>
          <a:p>
            <a:pPr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900" dirty="0"/>
              <a:t>频道</a:t>
            </a:r>
            <a:r>
              <a:rPr lang="en-US" altLang="zh-CN" sz="900" dirty="0"/>
              <a:t>/</a:t>
            </a:r>
            <a:r>
              <a:rPr lang="zh-CN" altLang="en-US" sz="900" dirty="0"/>
              <a:t>列表：榜单推荐理由强化</a:t>
            </a:r>
            <a:r>
              <a:rPr lang="en-US" altLang="zh-CN" sz="900" dirty="0"/>
              <a:t>/</a:t>
            </a:r>
            <a:r>
              <a:rPr lang="zh-CN" altLang="en-US" sz="900" dirty="0"/>
              <a:t>露出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D67A696-417C-5816-92EF-E5FCACBEED0C}"/>
              </a:ext>
            </a:extLst>
          </p:cNvPr>
          <p:cNvSpPr txBox="1"/>
          <p:nvPr/>
        </p:nvSpPr>
        <p:spPr>
          <a:xfrm>
            <a:off x="6398488" y="2514675"/>
            <a:ext cx="1363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900" dirty="0"/>
              <a:t>异地</a:t>
            </a:r>
            <a:r>
              <a:rPr lang="en" altLang="zh-CN" sz="900" dirty="0"/>
              <a:t>Push</a:t>
            </a:r>
            <a:r>
              <a:rPr lang="zh-CN" altLang="en" sz="900" dirty="0"/>
              <a:t>：</a:t>
            </a:r>
            <a:r>
              <a:rPr lang="zh-CN" altLang="en-US" sz="900" dirty="0"/>
              <a:t>推送城市榜单落地页</a:t>
            </a:r>
          </a:p>
        </p:txBody>
      </p:sp>
    </p:spTree>
    <p:extLst>
      <p:ext uri="{BB962C8B-B14F-4D97-AF65-F5344CB8AC3E}">
        <p14:creationId xmlns:p14="http://schemas.microsoft.com/office/powerpoint/2010/main" val="2058004545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0&quot;&gt;&lt;elem m_fUsage=&quot;2.30605181889226695802E+00&quot;&gt;&lt;m_msothmcolidx val=&quot;0&quot;/&gt;&lt;m_rgb r=&quot;FF&quot; g=&quot;DD&quot; b=&quot;3C&quot;/&gt;&lt;/elem&gt;&lt;elem m_fUsage=&quot;1.66791628982774908785E+00&quot;&gt;&lt;m_msothmcolidx val=&quot;0&quot;/&gt;&lt;m_rgb r=&quot;59&quot; g=&quot;8A&quot; b=&quot;39&quot;/&gt;&lt;/elem&gt;&lt;elem m_fUsage=&quot;1.31949000000000005173E+00&quot;&gt;&lt;m_msothmcolidx val=&quot;0&quot;/&gt;&lt;m_rgb r=&quot;81&quot; g=&quot;E1&quot; b=&quot;6B&quot;/&gt;&lt;/elem&gt;&lt;elem m_fUsage=&quot;1.20589113209464904308E+00&quot;&gt;&lt;m_msothmcolidx val=&quot;0&quot;/&gt;&lt;m_rgb r=&quot;F4&quot; g=&quot;80&quot; b=&quot;32&quot;/&gt;&lt;/elem&gt;&lt;elem m_fUsage=&quot;9.58879313086665852062E-01&quot;&gt;&lt;m_msothmcolidx val=&quot;0&quot;/&gt;&lt;m_rgb r=&quot;8D&quot; g=&quot;BA&quot; b=&quot;E2&quot;/&gt;&lt;/elem&gt;&lt;elem m_fUsage=&quot;9.03573802785075042010E-01&quot;&gt;&lt;m_msothmcolidx val=&quot;0&quot;/&gt;&lt;m_rgb r=&quot;FF&quot; g=&quot;E9&quot; b=&quot;7D&quot;/&gt;&lt;/elem&gt;&lt;elem m_fUsage=&quot;8.17887699000000023553E-01&quot;&gt;&lt;m_msothmcolidx val=&quot;0&quot;/&gt;&lt;m_rgb r=&quot;5F&quot; g=&quot;D5&quot; b=&quot;DE&quot;/&gt;&lt;/elem&gt;&lt;elem m_fUsage=&quot;2.54186582832900132001E-01&quot;&gt;&lt;m_msothmcolidx val=&quot;0&quot;/&gt;&lt;m_rgb r=&quot;FF&quot; g=&quot;B6&quot; b=&quot;5B&quot;/&gt;&lt;/elem&gt;&lt;elem m_fUsage=&quot;1.85302018885184188735E-01&quot;&gt;&lt;m_msothmcolidx val=&quot;0&quot;/&gt;&lt;m_rgb r=&quot;94&quot; g=&quot;E2&quot; b=&quot;E9&quot;/&gt;&lt;/elem&gt;&lt;elem m_fUsage=&quot;7.17897987691853145531E-02&quot;&gt;&lt;m_msothmcolidx val=&quot;0&quot;/&gt;&lt;m_rgb r=&quot;FF&quot; g=&quot;EF&quot; b=&quot;A2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美团点评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D100"/>
      </a:accent1>
      <a:accent2>
        <a:srgbClr val="FE8C00"/>
      </a:accent2>
      <a:accent3>
        <a:srgbClr val="FF4949"/>
      </a:accent3>
      <a:accent4>
        <a:srgbClr val="FF6600"/>
      </a:accent4>
      <a:accent5>
        <a:srgbClr val="0079FF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134868</TotalTime>
  <Words>17862</Words>
  <Application>Microsoft Office PowerPoint</Application>
  <PresentationFormat>全屏显示(16:9)</PresentationFormat>
  <Paragraphs>2404</Paragraphs>
  <Slides>35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-apple-system</vt:lpstr>
      <vt:lpstr>MiSans Bold</vt:lpstr>
      <vt:lpstr>MiSans Medium</vt:lpstr>
      <vt:lpstr>PingFang SC</vt:lpstr>
      <vt:lpstr>等线</vt:lpstr>
      <vt:lpstr>楷体</vt:lpstr>
      <vt:lpstr>宋体</vt:lpstr>
      <vt:lpstr>Microsoft YaHei</vt:lpstr>
      <vt:lpstr>Microsoft YaHei</vt:lpstr>
      <vt:lpstr>Arial</vt:lpstr>
      <vt:lpstr>Calibri</vt:lpstr>
      <vt:lpstr>Wingdings</vt:lpstr>
      <vt:lpstr>Office 主题​​</vt:lpstr>
      <vt:lpstr>think-cell 幻灯片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美团指数榜-回头客榜（先pend，等前面chuachua合并后一起看）     </vt:lpstr>
      <vt:lpstr>承接用户地址决策：指数榜-地址扩充。缺一个地址维度，要不要提</vt:lpstr>
      <vt:lpstr>PowerPoint 演示文稿</vt:lpstr>
      <vt:lpstr>PowerPoint 演示文稿</vt:lpstr>
      <vt:lpstr>缺一个开放联名的部分——以地方政务非遗榜单为例  如果问到明星/达人，答案是1：谢霆锋精致餐饮在做。2.地方政务非遗可以请到明星站台。3.单独请网红，不具备分发优势+意愿低+成本高——输入一些可量化的know-how</vt:lpstr>
      <vt:lpstr>榜单全链路智能运营架构</vt:lpstr>
      <vt:lpstr>视频/后台演示，talk is cheap</vt:lpstr>
      <vt:lpstr>PowerPoint 演示文稿</vt:lpstr>
      <vt:lpstr>AI skill演示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榜单全链路智能运营架构 @辰辰</vt:lpstr>
      <vt:lpstr>主题榜进展及后续计划</vt:lpstr>
      <vt:lpstr>AI skill的运营应用</vt:lpstr>
      <vt:lpstr>榜单用户需求满足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到餐商户供给的分析框架</dc:title>
  <dc:creator>陈婧佳</dc:creator>
  <cp:lastModifiedBy>Han Su</cp:lastModifiedBy>
  <cp:revision>1894</cp:revision>
  <cp:lastPrinted>2026-03-16T07:19:48Z</cp:lastPrinted>
  <dcterms:created xsi:type="dcterms:W3CDTF">2026-01-26T07:38:34Z</dcterms:created>
  <dcterms:modified xsi:type="dcterms:W3CDTF">2026-06-16T06:22:55Z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榜单汇报-双周会 6月-20260605.pptx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d1b079b9c2c6c07a90578378f99f17f6e109390a</vt:lpwstr>
  </property>
  <property fmtid="{D5CDD505-2E9C-101B-9397-08002B2CF9AE}" pid="7" name="ICV">
    <vt:lpwstr/>
  </property>
  <property fmtid="{D5CDD505-2E9C-101B-9397-08002B2CF9AE}" pid="8" name="KSOProductBuildVer">
    <vt:lpwstr>2052-0.0.0.0</vt:lpwstr>
  </property>
</Properties>
</file>