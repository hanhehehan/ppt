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4999085" r:id="rId2"/>
    <p:sldId id="14999105" r:id="rId3"/>
  </p:sldIdLst>
  <p:sldSz cx="9144000" cy="5143500" type="screen16x9"/>
  <p:notesSz cx="6807200" cy="9939338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FA066D7-7028-4AA9-B5D1-706DEFEE314A}">
          <p14:sldIdLst>
            <p14:sldId id="14999085"/>
            <p14:sldId id="14999105"/>
          </p14:sldIdLst>
        </p14:section>
      </p14:sectionLst>
    </p:ext>
    <p:ext uri="{EFAFB233-063F-42B5-8137-9DF3F51BA10A}">
      <p15:sldGuideLst xmlns:p15="http://schemas.microsoft.com/office/powerpoint/2012/main">
        <p15:guide id="1" pos="181" userDrawn="1">
          <p15:clr>
            <a:srgbClr val="A4A3A4"/>
          </p15:clr>
        </p15:guide>
        <p15:guide id="2" orient="horz" pos="2641" userDrawn="1">
          <p15:clr>
            <a:srgbClr val="A4A3A4"/>
          </p15:clr>
        </p15:guide>
        <p15:guide id="3" orient="horz" pos="282" userDrawn="1">
          <p15:clr>
            <a:srgbClr val="A4A3A4"/>
          </p15:clr>
        </p15:guide>
        <p15:guide id="5" orient="horz" pos="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作者" initials="A" lastIdx="0" clrIdx="1"/>
  <p:cmAuthor id="3" name="童童😀" initials="童童😀" lastIdx="1" clrIdx="2"/>
  <p:cmAuthor id="4" name="xushuyu" initials="x" lastIdx="2" clrIdx="3"/>
  <p:cmAuthor id="5" name="黄丁雪" initials="黄丁雪" lastIdx="2" clrIdx="4">
    <p:extLst>
      <p:ext uri="{19B8F6BF-5375-455C-9EA6-DF929625EA0E}">
        <p15:presenceInfo xmlns:p15="http://schemas.microsoft.com/office/powerpoint/2012/main" userId="黄丁雪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DEBF7"/>
    <a:srgbClr val="FFD100"/>
    <a:srgbClr val="FFF9DD"/>
    <a:srgbClr val="FFF7E7"/>
    <a:srgbClr val="000000"/>
    <a:srgbClr val="FFF6CC"/>
    <a:srgbClr val="FFEECB"/>
    <a:srgbClr val="FFD5D5"/>
    <a:srgbClr val="FFE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 autoAdjust="0"/>
    <p:restoredTop sz="89286" autoAdjust="0"/>
  </p:normalViewPr>
  <p:slideViewPr>
    <p:cSldViewPr snapToGrid="0" showGuides="1">
      <p:cViewPr varScale="1">
        <p:scale>
          <a:sx n="144" d="100"/>
          <a:sy n="144" d="100"/>
        </p:scale>
        <p:origin x="840" y="184"/>
      </p:cViewPr>
      <p:guideLst>
        <p:guide pos="181"/>
        <p:guide orient="horz" pos="2641"/>
        <p:guide orient="horz" pos="282"/>
        <p:guide orient="horz" pos="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tags" Target="tags/tag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7FA91-985F-BE46-A5F7-D9B515998756}" type="datetime1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F64C93FC-8EB2-0B45-AA5A-1287772659CC}" type="datetime1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F07A-2816-ABDA-799A-99DBA00D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730806-7BC2-4B54-6197-0F4BF249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4CB876-D56D-8897-31F7-7520DDC5A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015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F07A-2816-ABDA-799A-99DBA00D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730806-7BC2-4B54-6197-0F4BF249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4CB876-D56D-8897-31F7-7520DDC5A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83595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715" imgH="5715" progId="TCLayout.ActiveDocument.1">
                  <p:embed/>
                </p:oleObj>
              </mc:Choice>
              <mc:Fallback>
                <p:oleObj name="think-cell 幻灯片" r:id="rId3" imgW="5715" imgH="5715" progId="TCLayout.ActiveDocument.1">
                  <p:embed/>
                  <p:pic>
                    <p:nvPicPr>
                      <p:cNvPr id="0" name="图片 45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715" imgH="5715" progId="TCLayout.ActiveDocument.1">
                  <p:embed/>
                </p:oleObj>
              </mc:Choice>
              <mc:Fallback>
                <p:oleObj name="think-cell 幻灯片" r:id="rId4" imgW="5715" imgH="5715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 userDrawn="1">
            <p:custDataLst>
              <p:tags r:id="rId2"/>
            </p:custDataLst>
          </p:nvPr>
        </p:nvSpPr>
        <p:spPr>
          <a:xfrm>
            <a:off x="232410" y="123825"/>
            <a:ext cx="76200" cy="863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38000"/>
                </a:schemeClr>
              </a:gs>
              <a:gs pos="100000">
                <a:schemeClr val="accent1">
                  <a:alpha val="3000"/>
                </a:schemeClr>
              </a:gs>
            </a:gsLst>
            <a:lin ang="5400000" scaled="0"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715" imgH="5715" progId="TCLayout.ActiveDocument.1">
                  <p:embed/>
                </p:oleObj>
              </mc:Choice>
              <mc:Fallback>
                <p:oleObj name="think-cell 幻灯片" r:id="rId4" imgW="5715" imgH="5715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200" b="1" i="0" kern="1200" baseline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  <p:sp>
        <p:nvSpPr>
          <p:cNvPr id="4" name="圆角矩形 3"/>
          <p:cNvSpPr/>
          <p:nvPr userDrawn="1">
            <p:custDataLst>
              <p:tags r:id="rId2"/>
            </p:custDataLst>
          </p:nvPr>
        </p:nvSpPr>
        <p:spPr>
          <a:xfrm>
            <a:off x="232410" y="123825"/>
            <a:ext cx="76200" cy="863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38000"/>
                </a:schemeClr>
              </a:gs>
              <a:gs pos="100000">
                <a:schemeClr val="accent1">
                  <a:alpha val="3000"/>
                </a:schemeClr>
              </a:gs>
            </a:gsLst>
            <a:lin ang="5400000" scaled="0"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251999" y="298633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4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5" y="123825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715" imgH="5715" progId="TCLayout.ActiveDocument.1">
                  <p:embed/>
                </p:oleObj>
              </mc:Choice>
              <mc:Fallback>
                <p:oleObj name="think-cell 幻灯片" r:id="rId3" imgW="5715" imgH="5715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250825" y="123825"/>
            <a:ext cx="57881" cy="8635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单标题_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715" imgH="5715" progId="TCLayout.ActiveDocument.1">
                  <p:embed/>
                </p:oleObj>
              </mc:Choice>
              <mc:Fallback>
                <p:oleObj name="think-cell 幻灯片" r:id="rId3" imgW="5715" imgH="5715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252000" y="288000"/>
            <a:ext cx="7664380" cy="42731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6" y="871728"/>
            <a:ext cx="8639588" cy="37764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07794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5715" imgH="5715" progId="TCLayout.ActiveDocument.1">
                  <p:embed/>
                </p:oleObj>
              </mc:Choice>
              <mc:Fallback>
                <p:oleObj name="think-cell 幻灯片" r:id="rId12" imgW="5715" imgH="5715" progId="TCLayout.ActiveDocument.1">
                  <p:embed/>
                  <p:pic>
                    <p:nvPicPr>
                      <p:cNvPr id="0" name="图片 354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19" y="4739964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Relationship Id="rId6" Type="http://schemas.openxmlformats.org/officeDocument/2006/relationships/image" Target="../media/image3.jpeg"/><Relationship Id="rId7" Type="http://schemas.openxmlformats.org/officeDocument/2006/relationships/image" Target="../media/image4.jpeg"/><Relationship Id="rId8" Type="http://schemas.openxmlformats.org/officeDocument/2006/relationships/image" Target="../media/image5.jpeg"/><Relationship Id="rId9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2.emf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jpeg"/><Relationship Id="rId12" Type="http://schemas.openxmlformats.org/officeDocument/2006/relationships/image" Target="../media/image13.jpeg"/><Relationship Id="rId13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1EA8-E8E9-AA33-385E-D93E2E3F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>
            <a:extLst>
              <a:ext uri="{FF2B5EF4-FFF2-40B4-BE49-F238E27FC236}">
                <a16:creationId xmlns:a16="http://schemas.microsoft.com/office/drawing/2014/main" id="{2F9E871A-4FE9-459E-933D-270F7EF75B04}"/>
              </a:ext>
            </a:extLst>
          </p:cNvPr>
          <p:cNvSpPr txBox="1"/>
          <p:nvPr/>
        </p:nvSpPr>
        <p:spPr>
          <a:xfrm>
            <a:off x="285471" y="3526664"/>
            <a:ext cx="4471498" cy="1372943"/>
          </a:xfrm>
          <a:prstGeom prst="roundRect">
            <a:avLst/>
          </a:prstGeom>
          <a:noFill/>
          <a:ln>
            <a:solidFill>
              <a:schemeClr val="accent1"/>
            </a:solidFill>
            <a:prstDash val="dashDot"/>
          </a:ln>
        </p:spPr>
        <p:txBody>
          <a:bodyPr wrap="none" rtlCol="0">
            <a:noAutofit/>
          </a:bodyPr>
          <a:lstStyle/>
          <a:p>
            <a:pPr algn="ctr">
              <a:spcBef>
                <a:spcPts val="1800"/>
              </a:spcBef>
            </a:pPr>
            <a:endParaRPr lang="en-US" altLang="zh-CN" sz="400" b="0" dirty="0"/>
          </a:p>
        </p:txBody>
      </p:sp>
      <p:graphicFrame>
        <p:nvGraphicFramePr>
          <p:cNvPr id="67" name="think-cell data - do not delete" hidden="1">
            <a:extLst>
              <a:ext uri="{FF2B5EF4-FFF2-40B4-BE49-F238E27FC236}">
                <a16:creationId xmlns:a16="http://schemas.microsoft.com/office/drawing/2014/main" id="{FC8937F5-3BE4-CCF6-8845-C2DC98B5A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2611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03" imgH="503" progId="TCLayout.ActiveDocument.1">
                  <p:embed/>
                </p:oleObj>
              </mc:Choice>
              <mc:Fallback>
                <p:oleObj name="think-cell 幻灯片" r:id="rId4" imgW="503" imgH="503" progId="TCLayout.ActiveDocument.1">
                  <p:embed/>
                  <p:pic>
                    <p:nvPicPr>
                      <p:cNvPr id="6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602B07-83B1-41DB-A26E-A9745D2835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324F58-C08C-9F34-97B7-34869BEA5A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三、 </a:t>
            </a:r>
            <a:r>
              <a:rPr lang="en-US" altLang="zh-CN" dirty="0"/>
              <a:t>D+</a:t>
            </a:r>
            <a:r>
              <a:rPr lang="zh-CN" altLang="en-US" dirty="0"/>
              <a:t>烟火榜调研分析</a:t>
            </a:r>
            <a:r>
              <a:rPr lang="en-US" altLang="zh-CN" dirty="0"/>
              <a:t>—</a:t>
            </a:r>
            <a:r>
              <a:rPr lang="zh-CN" altLang="en-US" dirty="0"/>
              <a:t>策略调研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2CCD82B-21E2-467F-BD23-B3DC35ED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en-US" altLang="zh-CN" b="0" dirty="0"/>
              <a:t>11</a:t>
            </a:r>
            <a:r>
              <a:rPr lang="zh-CN" altLang="en-US" b="0" dirty="0"/>
              <a:t>月</a:t>
            </a:r>
            <a:r>
              <a:rPr lang="en-US" altLang="zh-CN" b="0" dirty="0"/>
              <a:t>21</a:t>
            </a:r>
            <a:r>
              <a:rPr lang="zh-CN" altLang="en-US" b="0" dirty="0"/>
              <a:t>日首次发布</a:t>
            </a:r>
            <a:r>
              <a:rPr lang="zh-CN" altLang="en-US" b="0" dirty="0">
                <a:solidFill>
                  <a:schemeClr val="accent5"/>
                </a:solidFill>
              </a:rPr>
              <a:t>烟火榜运营榜单</a:t>
            </a:r>
            <a:r>
              <a:rPr lang="zh-CN" altLang="en-US" b="0" dirty="0"/>
              <a:t>，</a:t>
            </a:r>
            <a:r>
              <a:rPr lang="zh-CN" altLang="en-US" b="0" dirty="0">
                <a:effectLst/>
              </a:rPr>
              <a:t>发掘和扶持线下中小餐饮商家</a:t>
            </a:r>
            <a:r>
              <a:rPr lang="zh-CN" altLang="en-US" b="0" dirty="0"/>
              <a:t>，</a:t>
            </a:r>
            <a:r>
              <a:rPr lang="zh-CN" altLang="en-US" b="0" dirty="0">
                <a:solidFill>
                  <a:schemeClr val="accent5"/>
                </a:solidFill>
              </a:rPr>
              <a:t>主打明火现制、绝活好味，能让用户闭眼吃的烟火小店榜单</a:t>
            </a:r>
            <a:r>
              <a:rPr lang="zh-CN" altLang="en-US" b="0" dirty="0"/>
              <a:t>；</a:t>
            </a:r>
            <a:r>
              <a:rPr lang="zh-CN" altLang="en-US" b="0" dirty="0">
                <a:effectLst/>
              </a:rPr>
              <a:t>数据报告显示，</a:t>
            </a:r>
            <a:r>
              <a:rPr lang="en-US" altLang="zh-CN" b="0" dirty="0">
                <a:effectLst/>
              </a:rPr>
              <a:t>25</a:t>
            </a:r>
            <a:r>
              <a:rPr lang="zh-CN" altLang="en-US" b="0" dirty="0">
                <a:effectLst/>
              </a:rPr>
              <a:t>年</a:t>
            </a:r>
            <a:r>
              <a:rPr lang="zh-CN" altLang="en-US" sz="1200" b="0" dirty="0">
                <a:solidFill>
                  <a:schemeClr val="tx1"/>
                </a:solidFill>
              </a:rPr>
              <a:t>有动销烟火小店数量超过</a:t>
            </a:r>
            <a:r>
              <a:rPr lang="en-US" altLang="zh-CN" sz="1200" b="0" dirty="0">
                <a:solidFill>
                  <a:schemeClr val="tx1"/>
                </a:solidFill>
              </a:rPr>
              <a:t>458</a:t>
            </a:r>
            <a:r>
              <a:rPr lang="zh-CN" altLang="en-US" sz="1200" b="0" dirty="0">
                <a:solidFill>
                  <a:schemeClr val="tx1"/>
                </a:solidFill>
              </a:rPr>
              <a:t>万，交易额同比增长</a:t>
            </a:r>
            <a:r>
              <a:rPr lang="en-US" altLang="zh-CN" sz="1200" b="0" dirty="0">
                <a:solidFill>
                  <a:schemeClr val="tx1"/>
                </a:solidFill>
              </a:rPr>
              <a:t>34%</a:t>
            </a:r>
            <a:r>
              <a:rPr lang="zh-CN" altLang="en-US" sz="1200" b="0" dirty="0">
                <a:solidFill>
                  <a:schemeClr val="tx1"/>
                </a:solidFill>
              </a:rPr>
              <a:t>，</a:t>
            </a:r>
            <a:r>
              <a:rPr lang="zh-CN" altLang="en-US" sz="1200" b="0" u="sng" dirty="0">
                <a:solidFill>
                  <a:schemeClr val="accent5"/>
                </a:solidFill>
              </a:rPr>
              <a:t>超</a:t>
            </a:r>
            <a:r>
              <a:rPr lang="en-US" altLang="zh-CN" sz="1200" b="0" u="sng" dirty="0">
                <a:solidFill>
                  <a:schemeClr val="accent5"/>
                </a:solidFill>
              </a:rPr>
              <a:t>2.2</a:t>
            </a:r>
            <a:r>
              <a:rPr lang="zh-CN" altLang="en-US" sz="1200" b="0" u="sng" dirty="0">
                <a:solidFill>
                  <a:schemeClr val="accent5"/>
                </a:solidFill>
              </a:rPr>
              <a:t>万个烟火小店</a:t>
            </a:r>
            <a:r>
              <a:rPr lang="en-US" altLang="zh-CN" sz="1200" b="0" u="sng" dirty="0">
                <a:solidFill>
                  <a:schemeClr val="accent5"/>
                </a:solidFill>
              </a:rPr>
              <a:t>D+</a:t>
            </a:r>
            <a:r>
              <a:rPr lang="zh-CN" altLang="en-US" sz="1200" b="0" u="sng" dirty="0">
                <a:solidFill>
                  <a:schemeClr val="accent5"/>
                </a:solidFill>
              </a:rPr>
              <a:t>年销售额超百万</a:t>
            </a:r>
            <a:r>
              <a:rPr lang="en-US" altLang="zh-CN" sz="1200" b="0" u="sng" dirty="0">
                <a:solidFill>
                  <a:schemeClr val="accent5"/>
                </a:solidFill>
              </a:rPr>
              <a:t>,</a:t>
            </a:r>
            <a:r>
              <a:rPr lang="zh-CN" altLang="en-US" sz="1200" b="0" u="sng" dirty="0">
                <a:solidFill>
                  <a:schemeClr val="accent5"/>
                </a:solidFill>
              </a:rPr>
              <a:t> </a:t>
            </a:r>
            <a:r>
              <a:rPr lang="en-US" altLang="zh-CN" b="0" dirty="0"/>
              <a:t>2025</a:t>
            </a:r>
            <a:r>
              <a:rPr lang="zh-CN" altLang="en-US" b="0" dirty="0"/>
              <a:t>年烟火小店入驻增长</a:t>
            </a:r>
            <a:r>
              <a:rPr lang="en-US" altLang="zh-CN" b="0" dirty="0"/>
              <a:t>66%</a:t>
            </a:r>
            <a:r>
              <a:rPr lang="zh-CN" altLang="en-US" b="0" dirty="0"/>
              <a:t>，</a:t>
            </a:r>
            <a:r>
              <a:rPr lang="en-US" altLang="zh-CN" b="0" dirty="0"/>
              <a:t>D+</a:t>
            </a:r>
            <a:r>
              <a:rPr lang="zh-CN" altLang="en-US" b="0" dirty="0"/>
              <a:t>将在明年陆续扩城开榜，持续推动烟火经济；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93077C-6BCD-4625-A6B2-12694F6B4083}"/>
              </a:ext>
            </a:extLst>
          </p:cNvPr>
          <p:cNvSpPr/>
          <p:nvPr/>
        </p:nvSpPr>
        <p:spPr>
          <a:xfrm>
            <a:off x="383049" y="4262874"/>
            <a:ext cx="1763756" cy="504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3</a:t>
            </a:r>
            <a:r>
              <a:rPr lang="zh-CN" altLang="en-US" sz="1100" b="1" dirty="0">
                <a:solidFill>
                  <a:schemeClr val="tx1"/>
                </a:solidFill>
              </a:rPr>
              <a:t>、</a:t>
            </a:r>
            <a:r>
              <a:rPr lang="en-US" altLang="zh-CN" sz="1100" b="1" dirty="0">
                <a:solidFill>
                  <a:schemeClr val="tx1"/>
                </a:solidFill>
              </a:rPr>
              <a:t>D+</a:t>
            </a:r>
            <a:r>
              <a:rPr lang="zh-CN" altLang="en-US" sz="1100" b="1" dirty="0">
                <a:solidFill>
                  <a:schemeClr val="tx1"/>
                </a:solidFill>
              </a:rPr>
              <a:t>商家扶持策略</a:t>
            </a:r>
            <a:endParaRPr lang="en-US" altLang="zh-CN" sz="1100" b="1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zh-CN" altLang="en-US" sz="1100" dirty="0">
                <a:solidFill>
                  <a:schemeClr val="tx1"/>
                </a:solidFill>
              </a:rPr>
              <a:t>降入驻成本、供安全保障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32D7B5-F767-4B66-9E8E-18A25CD8B8B8}"/>
              </a:ext>
            </a:extLst>
          </p:cNvPr>
          <p:cNvSpPr/>
          <p:nvPr/>
        </p:nvSpPr>
        <p:spPr>
          <a:xfrm>
            <a:off x="2302276" y="3681722"/>
            <a:ext cx="2354333" cy="650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2</a:t>
            </a:r>
            <a:r>
              <a:rPr lang="zh-CN" altLang="en-US" sz="1100" b="1" dirty="0">
                <a:solidFill>
                  <a:schemeClr val="tx1"/>
                </a:solidFill>
              </a:rPr>
              <a:t>、</a:t>
            </a:r>
            <a:r>
              <a:rPr lang="en-US" altLang="zh-CN" sz="1100" b="1" dirty="0">
                <a:solidFill>
                  <a:schemeClr val="tx1"/>
                </a:solidFill>
              </a:rPr>
              <a:t>D+</a:t>
            </a:r>
            <a:r>
              <a:rPr lang="zh-CN" altLang="en-US" sz="1100" b="1" dirty="0">
                <a:solidFill>
                  <a:schemeClr val="tx1"/>
                </a:solidFill>
              </a:rPr>
              <a:t>流量矩阵</a:t>
            </a:r>
            <a:endParaRPr lang="en-US" altLang="zh-CN" sz="1100" b="1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zh-CN" altLang="en-US" sz="1100" dirty="0">
                <a:solidFill>
                  <a:schemeClr val="tx1"/>
                </a:solidFill>
              </a:rPr>
              <a:t>日常到超头全链路打造流量矩阵</a:t>
            </a:r>
            <a:endParaRPr lang="en-US" altLang="zh-CN" sz="11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9CF72B-98ED-478C-BA99-356E2ED7427E}"/>
              </a:ext>
            </a:extLst>
          </p:cNvPr>
          <p:cNvSpPr/>
          <p:nvPr/>
        </p:nvSpPr>
        <p:spPr>
          <a:xfrm>
            <a:off x="345700" y="3754734"/>
            <a:ext cx="1838454" cy="504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1</a:t>
            </a:r>
            <a:r>
              <a:rPr lang="zh-CN" altLang="en-US" sz="1100" b="1" dirty="0">
                <a:solidFill>
                  <a:schemeClr val="tx1"/>
                </a:solidFill>
              </a:rPr>
              <a:t>、身份感打造</a:t>
            </a:r>
            <a:endParaRPr lang="en-US" altLang="zh-CN" sz="1100" b="1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zh-CN" altLang="en-US" sz="1100" dirty="0">
                <a:solidFill>
                  <a:schemeClr val="tx1"/>
                </a:solidFill>
              </a:rPr>
              <a:t>老板中心产品工具、老板</a:t>
            </a:r>
            <a:r>
              <a:rPr lang="en-US" altLang="zh-CN" sz="1100" dirty="0">
                <a:solidFill>
                  <a:schemeClr val="tx1"/>
                </a:solidFill>
              </a:rPr>
              <a:t>IP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075765-4D28-458D-A619-ED9D8254525E}"/>
              </a:ext>
            </a:extLst>
          </p:cNvPr>
          <p:cNvSpPr/>
          <p:nvPr/>
        </p:nvSpPr>
        <p:spPr>
          <a:xfrm>
            <a:off x="2323284" y="4270225"/>
            <a:ext cx="2445828" cy="49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4</a:t>
            </a:r>
            <a:r>
              <a:rPr lang="zh-CN" altLang="en-US" sz="1100" b="1" dirty="0">
                <a:solidFill>
                  <a:schemeClr val="tx1"/>
                </a:solidFill>
              </a:rPr>
              <a:t>、联动四川省商务厅</a:t>
            </a:r>
            <a:endParaRPr lang="en-US" altLang="zh-CN" sz="1100" b="1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zh-CN" altLang="en-US" sz="1100" dirty="0">
                <a:solidFill>
                  <a:schemeClr val="tx1"/>
                </a:solidFill>
              </a:rPr>
              <a:t>打造四川省标杆小店并加以资源扶持</a:t>
            </a:r>
            <a:endParaRPr lang="en-US" altLang="zh-CN" sz="1100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92C1B9-7FA0-47E7-B397-1A06327E769E}"/>
              </a:ext>
            </a:extLst>
          </p:cNvPr>
          <p:cNvSpPr txBox="1"/>
          <p:nvPr/>
        </p:nvSpPr>
        <p:spPr>
          <a:xfrm>
            <a:off x="285471" y="2473359"/>
            <a:ext cx="4399780" cy="899257"/>
          </a:xfrm>
          <a:prstGeom prst="roundRect">
            <a:avLst/>
          </a:prstGeom>
          <a:noFill/>
          <a:ln>
            <a:solidFill>
              <a:schemeClr val="accent1"/>
            </a:solidFill>
            <a:prstDash val="dashDot"/>
          </a:ln>
        </p:spPr>
        <p:txBody>
          <a:bodyPr wrap="none" rtlCol="0">
            <a:noAutofit/>
          </a:bodyPr>
          <a:lstStyle/>
          <a:p>
            <a:pPr algn="ctr">
              <a:spcBef>
                <a:spcPts val="1800"/>
              </a:spcBef>
            </a:pPr>
            <a:endParaRPr lang="en-US" altLang="zh-CN" sz="4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8C2826-6C23-4B08-A723-A5DC88278AF4}"/>
              </a:ext>
            </a:extLst>
          </p:cNvPr>
          <p:cNvSpPr txBox="1"/>
          <p:nvPr/>
        </p:nvSpPr>
        <p:spPr>
          <a:xfrm>
            <a:off x="1613084" y="2342625"/>
            <a:ext cx="1358904" cy="2417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pPr algn="ctr"/>
            <a:r>
              <a:rPr lang="zh-CN" altLang="en-US" b="1" dirty="0"/>
              <a:t>首期榜单覆盖情况</a:t>
            </a:r>
            <a:endParaRPr lang="en-US" altLang="zh-CN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829713-185D-4527-B9EE-DDF9A52865CE}"/>
              </a:ext>
            </a:extLst>
          </p:cNvPr>
          <p:cNvSpPr txBox="1"/>
          <p:nvPr/>
        </p:nvSpPr>
        <p:spPr>
          <a:xfrm>
            <a:off x="874182" y="2561493"/>
            <a:ext cx="9154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/>
              <a:t>10</a:t>
            </a:r>
            <a:r>
              <a:rPr lang="zh-CN" altLang="en-US" sz="1200" b="1" dirty="0"/>
              <a:t>个城市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ED4BA3-7EA2-4B98-9C09-8AF863DF5610}"/>
              </a:ext>
            </a:extLst>
          </p:cNvPr>
          <p:cNvSpPr txBox="1"/>
          <p:nvPr/>
        </p:nvSpPr>
        <p:spPr>
          <a:xfrm>
            <a:off x="2508491" y="2750222"/>
            <a:ext cx="19658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0" dirty="0"/>
              <a:t>61%</a:t>
            </a:r>
            <a:r>
              <a:rPr lang="zh-CN" altLang="en-US" sz="1000" b="0" dirty="0"/>
              <a:t>十年老店、</a:t>
            </a:r>
            <a:r>
              <a:rPr lang="en-US" altLang="zh-CN" sz="1000" b="0" dirty="0"/>
              <a:t>95%</a:t>
            </a:r>
            <a:r>
              <a:rPr lang="zh-CN" altLang="en-US" sz="1000" b="0" dirty="0"/>
              <a:t>仅一家单店、</a:t>
            </a:r>
            <a:r>
              <a:rPr lang="en-US" altLang="zh-CN" sz="1000" b="0" dirty="0"/>
              <a:t>58%</a:t>
            </a:r>
            <a:r>
              <a:rPr lang="zh-CN" altLang="en-US" sz="1000" b="0" dirty="0"/>
              <a:t>本地特色菜小店；其中，</a:t>
            </a:r>
            <a:r>
              <a:rPr lang="zh-CN" altLang="en-US" sz="1000" dirty="0"/>
              <a:t>轻快类标</a:t>
            </a:r>
            <a:r>
              <a:rPr lang="en-US" altLang="zh-CN" sz="1000" dirty="0"/>
              <a:t>-</a:t>
            </a:r>
            <a:r>
              <a:rPr lang="zh-CN" altLang="en-US" sz="1000" dirty="0"/>
              <a:t>中式快餐门店数最多；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74DE33D-FA39-4F13-9808-199BE6B2A55B}"/>
              </a:ext>
            </a:extLst>
          </p:cNvPr>
          <p:cNvSpPr txBox="1"/>
          <p:nvPr/>
        </p:nvSpPr>
        <p:spPr>
          <a:xfrm>
            <a:off x="2661997" y="2523186"/>
            <a:ext cx="1658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/>
              <a:t>360</a:t>
            </a:r>
            <a:r>
              <a:rPr lang="zh-CN" altLang="en-US" sz="1200" b="1" dirty="0"/>
              <a:t>家烟火特色小店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57D59A-9090-4BFE-9119-5DB2131063CC}"/>
              </a:ext>
            </a:extLst>
          </p:cNvPr>
          <p:cNvSpPr txBox="1"/>
          <p:nvPr/>
        </p:nvSpPr>
        <p:spPr>
          <a:xfrm>
            <a:off x="478567" y="2785379"/>
            <a:ext cx="15936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 i="0" dirty="0">
                <a:solidFill>
                  <a:srgbClr val="000000"/>
                </a:solidFill>
                <a:effectLst/>
                <a:latin typeface="PingFang SC"/>
              </a:rPr>
              <a:t>北京、上海、广州、成都、西安、南京、沈阳、长沙、武汉、重庆</a:t>
            </a:r>
            <a:endParaRPr lang="zh-CN" altLang="en-US" sz="1000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E653106-9F0F-4213-B438-8A366BBDBC12}"/>
              </a:ext>
            </a:extLst>
          </p:cNvPr>
          <p:cNvCxnSpPr/>
          <p:nvPr/>
        </p:nvCxnSpPr>
        <p:spPr>
          <a:xfrm>
            <a:off x="2271611" y="2679255"/>
            <a:ext cx="0" cy="611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F015849-2385-49AD-B045-8B567DB80AB8}"/>
              </a:ext>
            </a:extLst>
          </p:cNvPr>
          <p:cNvSpPr txBox="1"/>
          <p:nvPr/>
        </p:nvSpPr>
        <p:spPr>
          <a:xfrm>
            <a:off x="285471" y="1181924"/>
            <a:ext cx="4399780" cy="1096491"/>
          </a:xfrm>
          <a:prstGeom prst="roundRect">
            <a:avLst/>
          </a:prstGeom>
          <a:noFill/>
          <a:ln>
            <a:solidFill>
              <a:schemeClr val="accent1"/>
            </a:solidFill>
            <a:prstDash val="dashDot"/>
          </a:ln>
        </p:spPr>
        <p:txBody>
          <a:bodyPr wrap="none" rtlCol="0">
            <a:noAutofit/>
          </a:bodyPr>
          <a:lstStyle/>
          <a:p>
            <a:pPr algn="ctr">
              <a:spcBef>
                <a:spcPts val="1800"/>
              </a:spcBef>
            </a:pPr>
            <a:endParaRPr lang="en-US" altLang="zh-CN" sz="400" b="0" dirty="0"/>
          </a:p>
          <a:p>
            <a:pPr algn="ctr"/>
            <a:r>
              <a:rPr lang="en-US" altLang="zh-CN" sz="900" b="0" dirty="0"/>
              <a:t>2025</a:t>
            </a:r>
            <a:r>
              <a:rPr lang="zh-CN" altLang="en-US" sz="900" b="0" dirty="0"/>
              <a:t>年</a:t>
            </a:r>
            <a:r>
              <a:rPr lang="en-US" altLang="zh-CN" sz="900" b="0" dirty="0"/>
              <a:t>1-9</a:t>
            </a:r>
            <a:r>
              <a:rPr lang="zh-CN" altLang="en-US" sz="900" b="0" dirty="0"/>
              <a:t>月</a:t>
            </a:r>
            <a:r>
              <a:rPr lang="zh-CN" altLang="en-US" sz="900" b="0" u="sng" dirty="0"/>
              <a:t>商家内容热度</a:t>
            </a:r>
            <a:r>
              <a:rPr lang="en-US" altLang="zh-CN" sz="900" b="0" u="sng" dirty="0"/>
              <a:t>+</a:t>
            </a:r>
            <a:r>
              <a:rPr lang="zh-CN" altLang="en-US" sz="900" b="0" u="sng" dirty="0"/>
              <a:t>用户推荐热度</a:t>
            </a:r>
            <a:r>
              <a:rPr lang="en-US" altLang="zh-CN" sz="900" b="0" u="sng" dirty="0"/>
              <a:t>+</a:t>
            </a:r>
            <a:r>
              <a:rPr lang="zh-CN" altLang="en-US" sz="900" b="0" u="sng" dirty="0"/>
              <a:t>寻味人实地探访</a:t>
            </a:r>
            <a:endParaRPr lang="en-US" altLang="zh-CN" sz="900" b="0" u="sng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E9B4B9-AD49-4169-B2BC-0E3D27C20E08}"/>
              </a:ext>
            </a:extLst>
          </p:cNvPr>
          <p:cNvSpPr txBox="1"/>
          <p:nvPr/>
        </p:nvSpPr>
        <p:spPr>
          <a:xfrm>
            <a:off x="1558861" y="1065688"/>
            <a:ext cx="1467349" cy="216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pPr algn="ctr"/>
            <a:r>
              <a:rPr lang="zh-CN" altLang="en-US" b="1" dirty="0"/>
              <a:t>榜单评选机制</a:t>
            </a:r>
            <a:endParaRPr lang="en-US" altLang="zh-CN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0FC4DD-59C9-45A4-BD4F-FAA921D27A88}"/>
              </a:ext>
            </a:extLst>
          </p:cNvPr>
          <p:cNvSpPr txBox="1"/>
          <p:nvPr/>
        </p:nvSpPr>
        <p:spPr>
          <a:xfrm>
            <a:off x="378025" y="1489845"/>
            <a:ext cx="42379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1</a:t>
            </a:r>
            <a:r>
              <a:rPr lang="zh-CN" altLang="en-US" sz="1050" dirty="0"/>
              <a:t>、</a:t>
            </a:r>
            <a:r>
              <a:rPr lang="zh-CN" altLang="en-US" sz="1050" b="1" dirty="0"/>
              <a:t>内容热度</a:t>
            </a:r>
            <a:r>
              <a:rPr lang="zh-CN" altLang="en-US" sz="1050" dirty="0"/>
              <a:t>：</a:t>
            </a:r>
            <a:r>
              <a:rPr lang="en-US" altLang="zh-CN" sz="1050" dirty="0"/>
              <a:t>D+</a:t>
            </a:r>
            <a:r>
              <a:rPr lang="zh-CN" altLang="en-US" sz="1050" dirty="0"/>
              <a:t>用户浏览、点赞、搜索等</a:t>
            </a:r>
            <a:endParaRPr lang="en-US" altLang="zh-CN" sz="1050" dirty="0"/>
          </a:p>
          <a:p>
            <a:r>
              <a:rPr lang="en-US" altLang="zh-CN" sz="1050" dirty="0"/>
              <a:t>2</a:t>
            </a:r>
            <a:r>
              <a:rPr lang="zh-CN" altLang="en-US" sz="1050" dirty="0"/>
              <a:t>、</a:t>
            </a:r>
            <a:r>
              <a:rPr lang="zh-CN" altLang="en-US" sz="1050" b="1" dirty="0"/>
              <a:t>用户推荐热度</a:t>
            </a:r>
            <a:r>
              <a:rPr lang="zh-CN" altLang="en-US" sz="1050" dirty="0"/>
              <a:t>：“交出你的宝藏烟火小店”活动推荐次数等</a:t>
            </a:r>
            <a:endParaRPr lang="en-US" altLang="zh-CN" sz="1050" dirty="0"/>
          </a:p>
          <a:p>
            <a:r>
              <a:rPr lang="en-US" altLang="zh-CN" sz="1050" dirty="0"/>
              <a:t>3</a:t>
            </a:r>
            <a:r>
              <a:rPr lang="zh-CN" altLang="en-US" sz="1050" dirty="0"/>
              <a:t>、</a:t>
            </a:r>
            <a:r>
              <a:rPr lang="zh-CN" altLang="en-US" sz="1050" b="1" dirty="0"/>
              <a:t>实地探访</a:t>
            </a:r>
            <a:r>
              <a:rPr lang="en-US" altLang="zh-CN" sz="1050" b="1" baseline="30000" dirty="0">
                <a:solidFill>
                  <a:schemeClr val="accent3"/>
                </a:solidFill>
              </a:rPr>
              <a:t>New</a:t>
            </a:r>
            <a:r>
              <a:rPr lang="zh-CN" altLang="en-US" sz="1050" dirty="0"/>
              <a:t>：</a:t>
            </a:r>
            <a:r>
              <a:rPr lang="en-US" altLang="zh-CN" sz="105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248</a:t>
            </a:r>
            <a:r>
              <a:rPr lang="zh-CN" altLang="en-US" sz="105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位“民间寻味人”上阵，他们人均打卡超</a:t>
            </a:r>
            <a:r>
              <a:rPr lang="en-US" altLang="zh-CN" sz="105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500</a:t>
            </a:r>
            <a:r>
              <a:rPr lang="zh-CN" altLang="en-US" sz="105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家餐厅、写过</a:t>
            </a:r>
            <a:r>
              <a:rPr lang="en-US" altLang="zh-CN" sz="105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400</a:t>
            </a:r>
            <a:r>
              <a:rPr lang="zh-CN" altLang="en-US" sz="105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篇探店评价</a:t>
            </a:r>
            <a:endParaRPr lang="zh-CN" altLang="en-US" sz="105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8D73FD-C60C-4701-BA4E-C9AD5B36A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810" y="889230"/>
            <a:ext cx="1409359" cy="40625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C9D032-7E4D-48DB-9FC8-2B4D95D6F5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1986" y="2594400"/>
            <a:ext cx="1060815" cy="235736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7F23D3F9-A11A-4F90-9211-E894579D98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8849" y="2594399"/>
            <a:ext cx="1060815" cy="235736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CFEB5B1-906D-4B9B-B658-6315E4624317}"/>
              </a:ext>
            </a:extLst>
          </p:cNvPr>
          <p:cNvSpPr/>
          <p:nvPr/>
        </p:nvSpPr>
        <p:spPr>
          <a:xfrm>
            <a:off x="6077342" y="3428506"/>
            <a:ext cx="1098585" cy="350639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DD081C-9260-4EA4-B1BA-C174A293BCEB}"/>
              </a:ext>
            </a:extLst>
          </p:cNvPr>
          <p:cNvSpPr/>
          <p:nvPr/>
        </p:nvSpPr>
        <p:spPr>
          <a:xfrm>
            <a:off x="5713983" y="2812989"/>
            <a:ext cx="366842" cy="1718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5ED17966-5492-4A73-9574-23E9BB27FD93}"/>
              </a:ext>
            </a:extLst>
          </p:cNvPr>
          <p:cNvCxnSpPr>
            <a:cxnSpLocks/>
            <a:stCxn id="30" idx="2"/>
            <a:endCxn id="8" idx="1"/>
          </p:cNvCxnSpPr>
          <p:nvPr/>
        </p:nvCxnSpPr>
        <p:spPr>
          <a:xfrm rot="16200000" flipH="1">
            <a:off x="5677893" y="3204377"/>
            <a:ext cx="618960" cy="17993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35F76D51-75CC-49F5-BC7C-BE63C653730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742" b="72144"/>
          <a:stretch/>
        </p:blipFill>
        <p:spPr>
          <a:xfrm>
            <a:off x="5015868" y="1252512"/>
            <a:ext cx="2122947" cy="1025903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F14E126A-670A-43B1-8F65-29217E72A105}"/>
              </a:ext>
            </a:extLst>
          </p:cNvPr>
          <p:cNvSpPr/>
          <p:nvPr/>
        </p:nvSpPr>
        <p:spPr>
          <a:xfrm>
            <a:off x="6500448" y="1684904"/>
            <a:ext cx="593462" cy="499896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C940F03-760C-48A2-BDDC-DAF6C7EF4325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093910" y="1934852"/>
            <a:ext cx="1821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8757960-B532-4AAD-8DC7-954E45905CB2}"/>
              </a:ext>
            </a:extLst>
          </p:cNvPr>
          <p:cNvCxnSpPr>
            <a:cxnSpLocks/>
          </p:cNvCxnSpPr>
          <p:nvPr/>
        </p:nvCxnSpPr>
        <p:spPr>
          <a:xfrm>
            <a:off x="7175927" y="3602754"/>
            <a:ext cx="1718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E8EF56-B0B0-45B3-B8D9-70F143961C6F}"/>
              </a:ext>
            </a:extLst>
          </p:cNvPr>
          <p:cNvSpPr txBox="1"/>
          <p:nvPr/>
        </p:nvSpPr>
        <p:spPr>
          <a:xfrm>
            <a:off x="1558861" y="3428507"/>
            <a:ext cx="1358904" cy="2417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pPr algn="ctr"/>
            <a:r>
              <a:rPr lang="zh-CN" altLang="en-US" b="1" dirty="0"/>
              <a:t>烟火小店运营策略</a:t>
            </a:r>
            <a:endParaRPr lang="en-US" altLang="zh-CN" b="1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7739937-C495-4017-AF61-EE4FDD870570}"/>
              </a:ext>
            </a:extLst>
          </p:cNvPr>
          <p:cNvCxnSpPr>
            <a:cxnSpLocks/>
          </p:cNvCxnSpPr>
          <p:nvPr/>
        </p:nvCxnSpPr>
        <p:spPr>
          <a:xfrm>
            <a:off x="2271611" y="3804938"/>
            <a:ext cx="0" cy="972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807ADE85-9F40-41E1-9B34-C986BACAE7E3}"/>
              </a:ext>
            </a:extLst>
          </p:cNvPr>
          <p:cNvSpPr txBox="1"/>
          <p:nvPr/>
        </p:nvSpPr>
        <p:spPr>
          <a:xfrm>
            <a:off x="5023410" y="942803"/>
            <a:ext cx="20873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/>
              <a:t>入口一：抖音本地入口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B052582-9239-49DB-8B33-0B7974654314}"/>
              </a:ext>
            </a:extLst>
          </p:cNvPr>
          <p:cNvSpPr/>
          <p:nvPr/>
        </p:nvSpPr>
        <p:spPr>
          <a:xfrm>
            <a:off x="5889229" y="1259615"/>
            <a:ext cx="376224" cy="313851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F9DB81F8-1A68-408C-81DE-53115267FA28}"/>
              </a:ext>
            </a:extLst>
          </p:cNvPr>
          <p:cNvCxnSpPr>
            <a:stCxn id="44" idx="2"/>
          </p:cNvCxnSpPr>
          <p:nvPr/>
        </p:nvCxnSpPr>
        <p:spPr>
          <a:xfrm rot="16200000" flipH="1">
            <a:off x="6126998" y="1523808"/>
            <a:ext cx="323792" cy="42310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201D6187-482A-4B7D-B7D0-45B966F7A4CB}"/>
              </a:ext>
            </a:extLst>
          </p:cNvPr>
          <p:cNvSpPr txBox="1"/>
          <p:nvPr/>
        </p:nvSpPr>
        <p:spPr>
          <a:xfrm>
            <a:off x="5088528" y="2352411"/>
            <a:ext cx="20873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/>
              <a:t>入口二：美食榜单入口</a:t>
            </a:r>
          </a:p>
        </p:txBody>
      </p:sp>
    </p:spTree>
    <p:extLst>
      <p:ext uri="{BB962C8B-B14F-4D97-AF65-F5344CB8AC3E}">
        <p14:creationId xmlns:p14="http://schemas.microsoft.com/office/powerpoint/2010/main" val="391954233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1EA8-E8E9-AA33-385E-D93E2E3F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94A161A-F146-4D19-A3C2-9BE8DF04F1A3}"/>
              </a:ext>
            </a:extLst>
          </p:cNvPr>
          <p:cNvSpPr/>
          <p:nvPr/>
        </p:nvSpPr>
        <p:spPr>
          <a:xfrm>
            <a:off x="4857115" y="3560710"/>
            <a:ext cx="1707479" cy="31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84B0A0E-E88A-44CC-98B4-6CDADC80427F}"/>
              </a:ext>
            </a:extLst>
          </p:cNvPr>
          <p:cNvSpPr/>
          <p:nvPr/>
        </p:nvSpPr>
        <p:spPr>
          <a:xfrm>
            <a:off x="4853958" y="3935194"/>
            <a:ext cx="1707479" cy="31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CC6DB43-68B1-4604-9DE5-21B8B004E5FA}"/>
              </a:ext>
            </a:extLst>
          </p:cNvPr>
          <p:cNvSpPr/>
          <p:nvPr/>
        </p:nvSpPr>
        <p:spPr>
          <a:xfrm>
            <a:off x="4853957" y="4309678"/>
            <a:ext cx="1707479" cy="31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3196F56-1AE1-4FA7-8033-7F143BBB70D3}"/>
              </a:ext>
            </a:extLst>
          </p:cNvPr>
          <p:cNvSpPr/>
          <p:nvPr/>
        </p:nvSpPr>
        <p:spPr>
          <a:xfrm>
            <a:off x="6674040" y="3560710"/>
            <a:ext cx="1707479" cy="31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7F7C9F3-9655-47CA-B6B5-ED2F8A458C11}"/>
              </a:ext>
            </a:extLst>
          </p:cNvPr>
          <p:cNvSpPr/>
          <p:nvPr/>
        </p:nvSpPr>
        <p:spPr>
          <a:xfrm>
            <a:off x="6670883" y="3935194"/>
            <a:ext cx="1707479" cy="31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1707893-3B49-454A-ABBB-7DC2395C98BA}"/>
              </a:ext>
            </a:extLst>
          </p:cNvPr>
          <p:cNvSpPr/>
          <p:nvPr/>
        </p:nvSpPr>
        <p:spPr>
          <a:xfrm>
            <a:off x="6670882" y="4309678"/>
            <a:ext cx="1707479" cy="31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F15D66B-B2B9-428D-9D25-2FA9B4C25FF8}"/>
              </a:ext>
            </a:extLst>
          </p:cNvPr>
          <p:cNvSpPr txBox="1"/>
          <p:nvPr/>
        </p:nvSpPr>
        <p:spPr>
          <a:xfrm>
            <a:off x="6515740" y="3461227"/>
            <a:ext cx="2017761" cy="1117910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1200" dirty="0"/>
              <a:t>成都市文化广电旅游局</a:t>
            </a:r>
            <a:endParaRPr lang="en-US" altLang="zh-CN" sz="1200" dirty="0"/>
          </a:p>
          <a:p>
            <a:pPr algn="ctr">
              <a:lnSpc>
                <a:spcPct val="200000"/>
              </a:lnSpc>
            </a:pPr>
            <a:r>
              <a:rPr lang="zh-CN" altLang="en-US" sz="1200" dirty="0"/>
              <a:t>成都市市场监督管理局</a:t>
            </a:r>
            <a:endParaRPr lang="en-US" altLang="zh-CN" sz="1200" dirty="0"/>
          </a:p>
          <a:p>
            <a:pPr algn="ctr">
              <a:lnSpc>
                <a:spcPct val="200000"/>
              </a:lnSpc>
            </a:pPr>
            <a:r>
              <a:rPr lang="zh-CN" altLang="en-US" sz="1200" dirty="0"/>
              <a:t>全国个体工商户发展网</a:t>
            </a:r>
          </a:p>
        </p:txBody>
      </p:sp>
      <p:graphicFrame>
        <p:nvGraphicFramePr>
          <p:cNvPr id="67" name="think-cell data - do not delete" hidden="1">
            <a:extLst>
              <a:ext uri="{FF2B5EF4-FFF2-40B4-BE49-F238E27FC236}">
                <a16:creationId xmlns:a16="http://schemas.microsoft.com/office/drawing/2014/main" id="{FC8937F5-3BE4-CCF6-8845-C2DC98B5A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7235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03" imgH="503" progId="TCLayout.ActiveDocument.1">
                  <p:embed/>
                </p:oleObj>
              </mc:Choice>
              <mc:Fallback>
                <p:oleObj name="think-cell 幻灯片" r:id="rId4" imgW="503" imgH="503" progId="TCLayout.ActiveDocument.1">
                  <p:embed/>
                  <p:pic>
                    <p:nvPicPr>
                      <p:cNvPr id="6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8937F5-3BE4-CCF6-8845-C2DC98B5A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324F58-C08C-9F34-97B7-34869BEA5A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en-US" altLang="zh-CN" dirty="0"/>
              <a:t>D+</a:t>
            </a:r>
            <a:r>
              <a:rPr lang="zh-CN" altLang="en-US" dirty="0"/>
              <a:t>烟火榜调研分析</a:t>
            </a:r>
            <a:r>
              <a:rPr lang="en-US" altLang="zh-CN" dirty="0"/>
              <a:t>-</a:t>
            </a:r>
            <a:r>
              <a:rPr lang="zh-CN" altLang="en-US" dirty="0"/>
              <a:t>线下市集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2CCD82B-21E2-467F-BD23-B3DC35ED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altLang="zh-CN" b="0" dirty="0"/>
              <a:t>11</a:t>
            </a:r>
            <a:r>
              <a:rPr lang="zh-CN" altLang="en-US" b="0" dirty="0"/>
              <a:t>月</a:t>
            </a:r>
            <a:r>
              <a:rPr lang="en-US" altLang="zh-CN" b="0" dirty="0"/>
              <a:t>21</a:t>
            </a:r>
            <a:r>
              <a:rPr lang="zh-CN" altLang="en-US" b="0" dirty="0"/>
              <a:t>日到</a:t>
            </a:r>
            <a:r>
              <a:rPr lang="en-US" altLang="zh-CN" b="0" dirty="0"/>
              <a:t>23</a:t>
            </a:r>
            <a:r>
              <a:rPr lang="zh-CN" altLang="en-US" b="0" dirty="0"/>
              <a:t>日</a:t>
            </a:r>
            <a:r>
              <a:rPr lang="en-US" altLang="zh-CN" b="0" dirty="0"/>
              <a:t>D+</a:t>
            </a:r>
            <a:r>
              <a:rPr lang="zh-CN" altLang="en-US" b="0" dirty="0"/>
              <a:t>在成都麓客岛首次开展烟火市集活动，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聚集火出圈的“排队王”小店，联动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lt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lt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lt"/>
              </a:rPr>
              <a:t>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lt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lt"/>
              </a:rPr>
              <a:t>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三端共同形成“线上引流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线下体验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政策保障”闭环。</a:t>
            </a:r>
            <a:endParaRPr lang="zh-CN" altLang="en-US" b="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E544F31-F69A-4D2E-BD2E-C578CE184A8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9506" b="7513"/>
          <a:stretch/>
        </p:blipFill>
        <p:spPr>
          <a:xfrm>
            <a:off x="358917" y="3439365"/>
            <a:ext cx="2017761" cy="13714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73A357B-0BBF-4D16-B460-95397EB042B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506" t="-1" b="7636"/>
          <a:stretch/>
        </p:blipFill>
        <p:spPr>
          <a:xfrm>
            <a:off x="2423321" y="3439365"/>
            <a:ext cx="2017761" cy="13714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67CE7C7-1DF6-4A3F-A30D-368A9BC16096}"/>
              </a:ext>
            </a:extLst>
          </p:cNvPr>
          <p:cNvSpPr txBox="1"/>
          <p:nvPr/>
        </p:nvSpPr>
        <p:spPr>
          <a:xfrm>
            <a:off x="358917" y="3083531"/>
            <a:ext cx="4096987" cy="2894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 err="1"/>
              <a:t>ToC</a:t>
            </a:r>
            <a:r>
              <a:rPr lang="zh-CN" altLang="en-US" sz="1100" b="1" dirty="0"/>
              <a:t>：明星资源提供娱乐和情感价值，</a:t>
            </a:r>
            <a:r>
              <a:rPr lang="en-US" altLang="zh-CN" sz="1100" b="1" dirty="0"/>
              <a:t>0.1</a:t>
            </a:r>
            <a:r>
              <a:rPr lang="zh-CN" altLang="en-US" sz="1100" b="1" dirty="0"/>
              <a:t>元畅吃全国爆款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4B6204B-C4AB-45E7-B8FC-CEFEAD303B2C}"/>
              </a:ext>
            </a:extLst>
          </p:cNvPr>
          <p:cNvSpPr txBox="1"/>
          <p:nvPr/>
        </p:nvSpPr>
        <p:spPr>
          <a:xfrm>
            <a:off x="5404248" y="3083531"/>
            <a:ext cx="2337970" cy="2894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 err="1"/>
              <a:t>ToG</a:t>
            </a:r>
            <a:r>
              <a:rPr lang="zh-CN" altLang="en-US" sz="1100" b="1" dirty="0"/>
              <a:t>：联动各层政府及组织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6B1F2722-CD13-4F06-8863-9BB11A563DB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9045" r="-818" b="10285"/>
          <a:stretch/>
        </p:blipFill>
        <p:spPr>
          <a:xfrm>
            <a:off x="440681" y="1463161"/>
            <a:ext cx="1667702" cy="13624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648D1EDF-5114-4233-ACCE-06F56F0481F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0217" t="36672" r="11117" b="11288"/>
          <a:stretch/>
        </p:blipFill>
        <p:spPr>
          <a:xfrm>
            <a:off x="2153566" y="1443573"/>
            <a:ext cx="1139845" cy="13800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C4C54F7D-C7EC-4903-95DF-FEC7F04738D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8761" t="8544" r="27848"/>
          <a:stretch/>
        </p:blipFill>
        <p:spPr>
          <a:xfrm>
            <a:off x="5850591" y="1455266"/>
            <a:ext cx="978246" cy="13736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74717020-FA4E-4C30-ACA3-351D7F87F93B}"/>
              </a:ext>
            </a:extLst>
          </p:cNvPr>
          <p:cNvSpPr txBox="1"/>
          <p:nvPr/>
        </p:nvSpPr>
        <p:spPr>
          <a:xfrm>
            <a:off x="407895" y="1050377"/>
            <a:ext cx="3942421" cy="2894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 err="1"/>
              <a:t>ToB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0</a:t>
            </a:r>
            <a:r>
              <a:rPr lang="zh-CN" altLang="en-US" sz="1100" b="1" dirty="0"/>
              <a:t>成本商家个人</a:t>
            </a:r>
            <a:r>
              <a:rPr lang="en-US" altLang="zh-CN" sz="1100" b="1" dirty="0"/>
              <a:t>IP</a:t>
            </a:r>
            <a:r>
              <a:rPr lang="zh-CN" altLang="en-US" sz="1100" b="1" dirty="0"/>
              <a:t>打造，线上关注高效转化为线下客流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F286CFE-A4AC-416B-968F-E92F4621203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972" r="24750"/>
          <a:stretch/>
        </p:blipFill>
        <p:spPr>
          <a:xfrm>
            <a:off x="4804247" y="1458237"/>
            <a:ext cx="978246" cy="13785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00A73F8B-D3A7-48C3-A86D-0F8D56D5131D}"/>
              </a:ext>
            </a:extLst>
          </p:cNvPr>
          <p:cNvSpPr txBox="1"/>
          <p:nvPr/>
        </p:nvSpPr>
        <p:spPr>
          <a:xfrm>
            <a:off x="5482368" y="1050377"/>
            <a:ext cx="2337970" cy="2894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100" b="1" dirty="0" err="1"/>
              <a:t>ToB</a:t>
            </a:r>
            <a:r>
              <a:rPr lang="zh-CN" altLang="en-US" sz="1100" b="1" dirty="0"/>
              <a:t>：达人、媒体、商家奖项颁布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71D14A3-2DD7-401E-9F74-2BE3637523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2699" y="1439025"/>
            <a:ext cx="1028621" cy="13714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468D66A-2488-4C15-974F-621375B99DE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24976" t="5315" r="24045" b="28729"/>
          <a:stretch/>
        </p:blipFill>
        <p:spPr>
          <a:xfrm>
            <a:off x="6876536" y="1460189"/>
            <a:ext cx="1884568" cy="13714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27FCB41E-4AE5-4477-B4CE-5104661CCBC0}"/>
              </a:ext>
            </a:extLst>
          </p:cNvPr>
          <p:cNvSpPr txBox="1"/>
          <p:nvPr/>
        </p:nvSpPr>
        <p:spPr>
          <a:xfrm>
            <a:off x="4742023" y="3478739"/>
            <a:ext cx="1972916" cy="114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1200" dirty="0"/>
              <a:t>四川省商务厅</a:t>
            </a:r>
            <a:br>
              <a:rPr lang="en-US" altLang="zh-CN" sz="1200" dirty="0"/>
            </a:br>
            <a:r>
              <a:rPr lang="zh-CN" altLang="en-US" sz="1200" dirty="0"/>
              <a:t>四川天府新区管委会</a:t>
            </a:r>
            <a:endParaRPr lang="en-US" altLang="zh-CN" sz="1200" dirty="0"/>
          </a:p>
          <a:p>
            <a:pPr algn="ctr">
              <a:lnSpc>
                <a:spcPct val="200000"/>
              </a:lnSpc>
            </a:pPr>
            <a:r>
              <a:rPr lang="zh-CN" altLang="en-US" sz="1200" dirty="0"/>
              <a:t>成都市商务局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915625571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9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07544663700304043985E+00&quot;&gt;&lt;m_msothmcolidx val=&quot;0&quot;/&gt;&lt;m_rgb r=&quot;FF&quot; g=&quot;DD&quot; b=&quot;3C&quot;/&gt;&lt;/elem&gt;&lt;elem m_fUsage=&quot;1.73609892910000018773E+00&quot;&gt;&lt;m_msothmcolidx val=&quot;0&quot;/&gt;&lt;m_rgb r=&quot;5F&quot; g=&quot;D5&quot; b=&quot;DE&quot;/&gt;&lt;/elem&gt;&lt;elem m_fUsage=&quot;1.50112466084497420127E+00&quot;&gt;&lt;m_msothmcolidx val=&quot;0&quot;/&gt;&lt;m_rgb r=&quot;59&quot; g=&quot;8A&quot; b=&quot;39&quot;/&gt;&lt;/elem&gt;&lt;elem m_fUsage=&quot;1.18754100000000017978E+00&quot;&gt;&lt;m_msothmcolidx val=&quot;0&quot;/&gt;&lt;m_rgb r=&quot;81&quot; g=&quot;E1&quot; b=&quot;6B&quot;/&gt;&lt;/elem&gt;&lt;elem m_fUsage=&quot;1.08530201888518407216E+00&quot;&gt;&lt;m_msothmcolidx val=&quot;0&quot;/&gt;&lt;m_rgb r=&quot;F4&quot; g=&quot;80&quot; b=&quot;32&quot;/&gt;&lt;/elem&gt;&lt;elem m_fUsage=&quot;8.62991381777999277958E-01&quot;&gt;&lt;m_msothmcolidx val=&quot;0&quot;/&gt;&lt;m_rgb r=&quot;8D&quot; g=&quot;BA&quot; b=&quot;E2&quot;/&gt;&lt;/elem&gt;&lt;elem m_fUsage=&quot;8.13216422506567560013E-01&quot;&gt;&lt;m_msothmcolidx val=&quot;0&quot;/&gt;&lt;m_rgb r=&quot;FF&quot; g=&quot;E9&quot; b=&quot;7D&quot;/&gt;&lt;/elem&gt;&lt;elem m_fUsage=&quot;2.28767924549610118801E-01&quot;&gt;&lt;m_msothmcolidx val=&quot;0&quot;/&gt;&lt;m_rgb r=&quot;FF&quot; g=&quot;B6&quot; b=&quot;5B&quot;/&gt;&lt;/elem&gt;&lt;elem m_fUsage=&quot;1.66771816996665767086E-01&quot;&gt;&lt;m_msothmcolidx val=&quot;0&quot;/&gt;&lt;m_rgb r=&quot;94&quot; g=&quot;E2&quot; b=&quot;E9&quot;/&gt;&lt;/elem&gt;&lt;elem m_fUsage=&quot;6.46108188922667886489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087_1*i*1"/>
  <p:tag name="KSO_WM_TEMPLATE_CATEGORY" val="custom"/>
  <p:tag name="KSO_WM_TEMPLATE_INDEX" val="20235087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087_1*i*1"/>
  <p:tag name="KSO_WM_TEMPLATE_CATEGORY" val="custom"/>
  <p:tag name="KSO_WM_TEMPLATE_INDEX" val="20235087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23881</TotalTime>
  <Words>470</Words>
  <Application>Microsoft Macintosh PowerPoint</Application>
  <PresentationFormat>全屏显示(16:9)</PresentationFormat>
  <Paragraphs>35</Paragraphs>
  <Slides>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等线</vt:lpstr>
      <vt:lpstr>楷体</vt:lpstr>
      <vt:lpstr>微软雅黑</vt:lpstr>
      <vt:lpstr>PingFang SC</vt:lpstr>
      <vt:lpstr>Arial</vt:lpstr>
      <vt:lpstr>Calibri</vt:lpstr>
      <vt:lpstr>Wingdings</vt:lpstr>
      <vt:lpstr>Office 主题​​</vt:lpstr>
      <vt:lpstr>think-cell 幻灯片</vt:lpstr>
      <vt:lpstr>11月21日首次发布烟火榜运营榜单，发掘和扶持线下中小餐饮商家，主打明火现制、绝活好味，能让用户闭眼吃的烟火小店榜单；数据报告显示，25年有动销烟火小店数量超过458万，交易额同比增长34%，超2.2万个烟火小店D+年销售额超百万, 2025年烟火小店入驻增长66%，D+将在明年陆续扩城开榜，持续推动烟火经济；</vt:lpstr>
      <vt:lpstr>11月21日到23日D+在成都麓客岛首次开展烟火市集活动，聚集火出圈的“排队王”小店，联动B、C、G三端共同形成“线上引流+线下体验+政策保障”闭环。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xushuyu</dc:creator>
  <cp:lastModifiedBy>Vivi1031</cp:lastModifiedBy>
  <cp:revision>1391</cp:revision>
  <cp:lastPrinted>2025-03-25T02:11:00Z</cp:lastPrinted>
  <dcterms:created xsi:type="dcterms:W3CDTF">2025-03-25T02:11:00Z</dcterms:created>
  <dcterms:modified xsi:type="dcterms:W3CDTF">2025-12-02T08:10:13Z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烟火榜单信息.pptx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d3507c1b4cf121bf87784e5a8eb29f38d2d50a43</vt:lpwstr>
  </property>
  <property fmtid="{D5CDD505-2E9C-101B-9397-08002B2CF9AE}" pid="7" name="ICV">
    <vt:lpwstr/>
  </property>
  <property fmtid="{D5CDD505-2E9C-101B-9397-08002B2CF9AE}" pid="8" name="KSOProductBuildVer">
    <vt:lpwstr>2052-12.1.0.21915</vt:lpwstr>
  </property>
</Properties>
</file>