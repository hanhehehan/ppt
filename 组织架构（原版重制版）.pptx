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4999011" r:id="rId2"/>
    <p:sldId id="14999015" r:id="rId3"/>
    <p:sldId id="14999016" r:id="rId4"/>
    <p:sldId id="14999014" r:id="rId5"/>
    <p:sldId id="14999017" r:id="rId6"/>
    <p:sldId id="14999018" r:id="rId7"/>
    <p:sldId id="14999019" r:id="rId8"/>
    <p:sldId id="14999012" r:id="rId9"/>
    <p:sldId id="14999013" r:id="rId10"/>
  </p:sldIdLst>
  <p:sldSz cx="9144000" cy="5143500" type="screen16x9"/>
  <p:notesSz cx="6807200" cy="9939338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701">
          <p15:clr>
            <a:srgbClr val="A4A3A4"/>
          </p15:clr>
        </p15:guide>
        <p15:guide id="2" orient="horz" pos="2346">
          <p15:clr>
            <a:srgbClr val="A4A3A4"/>
          </p15:clr>
        </p15:guide>
        <p15:guide id="3" orient="horz" pos="1688">
          <p15:clr>
            <a:srgbClr val="A4A3A4"/>
          </p15:clr>
        </p15:guide>
        <p15:guide id="4" pos="5670">
          <p15:clr>
            <a:srgbClr val="A4A3A4"/>
          </p15:clr>
        </p15:guide>
        <p15:guide id="5" orient="horz" pos="14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7E6E6"/>
    <a:srgbClr val="FFF9DD"/>
    <a:srgbClr val="DDEBF7"/>
    <a:srgbClr val="70AD47"/>
    <a:srgbClr val="FFED99"/>
    <a:srgbClr val="CCE4FF"/>
    <a:srgbClr val="F2F2F2"/>
    <a:srgbClr val="FFD5D5"/>
    <a:srgbClr val="B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4" autoAdjust="0"/>
    <p:restoredTop sz="95028" autoAdjust="0"/>
  </p:normalViewPr>
  <p:slideViewPr>
    <p:cSldViewPr snapToGrid="0">
      <p:cViewPr>
        <p:scale>
          <a:sx n="100" d="100"/>
          <a:sy n="100" d="100"/>
        </p:scale>
        <p:origin x="52" y="856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1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1999" y="987425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5" y="288000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251999" y="298633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4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0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79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5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5" y="123825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0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79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6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3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0" imgH="0" progId="TCLayout.ActiveDocument.1">
                  <p:embed/>
                </p:oleObj>
              </mc:Choice>
              <mc:Fallback>
                <p:oleObj name="think-cell 幻灯片" r:id="rId7" imgW="0" imgH="0" progId="TCLayout.ActiveDocument.1">
                  <p:embed/>
                  <p:pic>
                    <p:nvPicPr>
                      <p:cNvPr id="5" name="对象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19" y="4739964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AE1A2C64-AA52-05C7-18C4-88F7038818BE}"/>
              </a:ext>
            </a:extLst>
          </p:cNvPr>
          <p:cNvSpPr/>
          <p:nvPr/>
        </p:nvSpPr>
        <p:spPr>
          <a:xfrm>
            <a:off x="1181946" y="3464260"/>
            <a:ext cx="7882304" cy="1513583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757EB605-0595-B964-100C-CF9BABB4F97B}"/>
              </a:ext>
            </a:extLst>
          </p:cNvPr>
          <p:cNvSpPr/>
          <p:nvPr/>
        </p:nvSpPr>
        <p:spPr>
          <a:xfrm>
            <a:off x="1298425" y="1580536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榜单规则策略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L7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90FDBAE4-DEE8-D1E0-5B75-BAC504330BB0}"/>
              </a:ext>
            </a:extLst>
          </p:cNvPr>
          <p:cNvSpPr/>
          <p:nvPr/>
        </p:nvSpPr>
        <p:spPr>
          <a:xfrm>
            <a:off x="1298425" y="1995934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资产管理策略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L6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9DD4ECA4-58A6-2BC1-07EC-235EF765D7A0}"/>
              </a:ext>
            </a:extLst>
          </p:cNvPr>
          <p:cNvSpPr/>
          <p:nvPr/>
        </p:nvSpPr>
        <p:spPr>
          <a:xfrm>
            <a:off x="1298424" y="2411332"/>
            <a:ext cx="1558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资产评测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外包：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O5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2FC2B155-EDD6-AA74-0F02-DA0CBA53B6D1}"/>
              </a:ext>
            </a:extLst>
          </p:cNvPr>
          <p:cNvSpPr/>
          <p:nvPr/>
        </p:nvSpPr>
        <p:spPr>
          <a:xfrm>
            <a:off x="1306891" y="384822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资产共建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平台、销售等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5D1FAD50-DFC2-D0E7-2EC9-89EA03969288}"/>
              </a:ext>
            </a:extLst>
          </p:cNvPr>
          <p:cNvSpPr/>
          <p:nvPr/>
        </p:nvSpPr>
        <p:spPr>
          <a:xfrm>
            <a:off x="1306891" y="4219412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爬取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挖掘产研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C4665D63-010F-DA56-AAB1-6AEDCDFDBCAB}"/>
              </a:ext>
            </a:extLst>
          </p:cNvPr>
          <p:cNvSpPr/>
          <p:nvPr/>
        </p:nvSpPr>
        <p:spPr>
          <a:xfrm>
            <a:off x="1306891" y="458803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资产数据治理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9" name="Rectangle 15">
            <a:extLst>
              <a:ext uri="{FF2B5EF4-FFF2-40B4-BE49-F238E27FC236}">
                <a16:creationId xmlns:a16="http://schemas.microsoft.com/office/drawing/2014/main" id="{67D7C959-13CD-8D53-4AAA-07C5BD820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131" y="1073223"/>
            <a:ext cx="1620665" cy="54310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BAA091CB-8B66-7D3A-B13E-827098FC7774}"/>
              </a:ext>
            </a:extLst>
          </p:cNvPr>
          <p:cNvSpPr/>
          <p:nvPr/>
        </p:nvSpPr>
        <p:spPr>
          <a:xfrm>
            <a:off x="4355109" y="1584640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1ADA3187-2F0D-782E-BDB5-58AB2FD34AC3}"/>
              </a:ext>
            </a:extLst>
          </p:cNvPr>
          <p:cNvSpPr/>
          <p:nvPr/>
        </p:nvSpPr>
        <p:spPr>
          <a:xfrm>
            <a:off x="4355109" y="2000099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L7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17B3EB29-39CB-2A13-8BE9-4C9B4644537F}"/>
              </a:ext>
            </a:extLst>
          </p:cNvPr>
          <p:cNvSpPr/>
          <p:nvPr/>
        </p:nvSpPr>
        <p:spPr>
          <a:xfrm>
            <a:off x="4355107" y="2414386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热点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内容运营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L7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A46B8DB9-E939-30F6-D192-87946F6F5359}"/>
              </a:ext>
            </a:extLst>
          </p:cNvPr>
          <p:cNvSpPr/>
          <p:nvPr/>
        </p:nvSpPr>
        <p:spPr>
          <a:xfrm>
            <a:off x="4355107" y="2843111"/>
            <a:ext cx="1558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资源配置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外包：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O5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C1048429-F14E-99DA-7CD0-882F07C09DA2}"/>
              </a:ext>
            </a:extLst>
          </p:cNvPr>
          <p:cNvSpPr/>
          <p:nvPr/>
        </p:nvSpPr>
        <p:spPr>
          <a:xfrm>
            <a:off x="4355107" y="384822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D752A8A0-0D9B-2543-8541-209C26334224}"/>
              </a:ext>
            </a:extLst>
          </p:cNvPr>
          <p:cNvSpPr/>
          <p:nvPr/>
        </p:nvSpPr>
        <p:spPr>
          <a:xfrm>
            <a:off x="7505450" y="1580536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L6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F95C7BDC-C06B-DAD1-1C9F-EFDE00514BCC}"/>
              </a:ext>
            </a:extLst>
          </p:cNvPr>
          <p:cNvSpPr/>
          <p:nvPr/>
        </p:nvSpPr>
        <p:spPr>
          <a:xfrm>
            <a:off x="7505450" y="2035156"/>
            <a:ext cx="1558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数据分析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外包：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O6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19423766-E714-80A1-940A-1A1CFD6F1612}"/>
              </a:ext>
            </a:extLst>
          </p:cNvPr>
          <p:cNvSpPr/>
          <p:nvPr/>
        </p:nvSpPr>
        <p:spPr>
          <a:xfrm>
            <a:off x="7356973" y="350411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销售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BD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CDBD12DD-4073-2116-6F44-3F1CD446F2E3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 rot="5400000">
            <a:off x="2588551" y="-633734"/>
            <a:ext cx="201208" cy="3014416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7913C34-E2B5-6CF3-9064-196880F112A9}"/>
              </a:ext>
            </a:extLst>
          </p:cNvPr>
          <p:cNvCxnSpPr>
            <a:cxnSpLocks/>
            <a:stCxn id="17" idx="2"/>
            <a:endCxn id="36" idx="0"/>
          </p:cNvCxnSpPr>
          <p:nvPr/>
        </p:nvCxnSpPr>
        <p:spPr>
          <a:xfrm rot="16200000" flipH="1">
            <a:off x="5605981" y="-636748"/>
            <a:ext cx="195182" cy="301441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E1600B8-23A3-79B5-B72C-174E678297CA}"/>
              </a:ext>
            </a:extLst>
          </p:cNvPr>
          <p:cNvSpPr/>
          <p:nvPr/>
        </p:nvSpPr>
        <p:spPr>
          <a:xfrm>
            <a:off x="3048743" y="225332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资产运营组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正式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+3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外包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34B1321-8F28-B78B-5F02-E794BBE5D483}"/>
              </a:ext>
            </a:extLst>
          </p:cNvPr>
          <p:cNvCxnSpPr>
            <a:cxnSpLocks/>
            <a:stCxn id="17" idx="2"/>
            <a:endCxn id="43" idx="0"/>
          </p:cNvCxnSpPr>
          <p:nvPr/>
        </p:nvCxnSpPr>
        <p:spPr>
          <a:xfrm rot="16200000" flipH="1">
            <a:off x="4095759" y="873473"/>
            <a:ext cx="201208" cy="1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1C2277C-8181-6A6F-F362-2781287153A8}"/>
              </a:ext>
            </a:extLst>
          </p:cNvPr>
          <p:cNvSpPr/>
          <p:nvPr/>
        </p:nvSpPr>
        <p:spPr>
          <a:xfrm>
            <a:off x="225670" y="974078"/>
            <a:ext cx="1912553" cy="547538"/>
          </a:xfrm>
          <a:prstGeom prst="roundRect">
            <a:avLst/>
          </a:prstGeom>
          <a:solidFill>
            <a:srgbClr val="E62A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资产管理及策略</a:t>
            </a:r>
            <a:endParaRPr lang="en-US" altLang="zh-CN" sz="16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4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04FFAFB-D5F0-C6DD-265A-427E61D9980D}"/>
              </a:ext>
            </a:extLst>
          </p:cNvPr>
          <p:cNvSpPr/>
          <p:nvPr/>
        </p:nvSpPr>
        <p:spPr>
          <a:xfrm>
            <a:off x="6254504" y="968052"/>
            <a:ext cx="1912553" cy="547538"/>
          </a:xfrm>
          <a:prstGeom prst="roundRect">
            <a:avLst/>
          </a:prstGeom>
          <a:solidFill>
            <a:srgbClr val="E62A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商家及供给运营</a:t>
            </a:r>
            <a:endParaRPr lang="en-US" altLang="zh-CN" sz="16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F6C1960-DA4B-ACF7-851C-EE54F8E94BEB}"/>
              </a:ext>
            </a:extLst>
          </p:cNvPr>
          <p:cNvSpPr/>
          <p:nvPr/>
        </p:nvSpPr>
        <p:spPr>
          <a:xfrm>
            <a:off x="3240087" y="974078"/>
            <a:ext cx="1912553" cy="547538"/>
          </a:xfrm>
          <a:prstGeom prst="roundRect">
            <a:avLst/>
          </a:prstGeom>
          <a:solidFill>
            <a:srgbClr val="E62A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6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74567D15-4D26-123D-6E4D-AFF76F558418}"/>
              </a:ext>
            </a:extLst>
          </p:cNvPr>
          <p:cNvCxnSpPr>
            <a:cxnSpLocks/>
            <a:stCxn id="29" idx="2"/>
            <a:endCxn id="308" idx="1"/>
          </p:cNvCxnSpPr>
          <p:nvPr/>
        </p:nvCxnSpPr>
        <p:spPr>
          <a:xfrm rot="16200000" flipH="1">
            <a:off x="1114683" y="1588880"/>
            <a:ext cx="25100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E9C471FE-ECBA-7966-D719-7318F8022E54}"/>
              </a:ext>
            </a:extLst>
          </p:cNvPr>
          <p:cNvCxnSpPr>
            <a:cxnSpLocks/>
            <a:stCxn id="29" idx="2"/>
            <a:endCxn id="311" idx="1"/>
          </p:cNvCxnSpPr>
          <p:nvPr/>
        </p:nvCxnSpPr>
        <p:spPr>
          <a:xfrm rot="16200000" flipH="1">
            <a:off x="906984" y="1796579"/>
            <a:ext cx="666405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15768B2-6FB2-84D6-84C7-DDA6A97DE3F4}"/>
              </a:ext>
            </a:extLst>
          </p:cNvPr>
          <p:cNvCxnSpPr>
            <a:cxnSpLocks/>
            <a:stCxn id="29" idx="2"/>
            <a:endCxn id="312" idx="1"/>
          </p:cNvCxnSpPr>
          <p:nvPr/>
        </p:nvCxnSpPr>
        <p:spPr>
          <a:xfrm rot="16200000" flipH="1">
            <a:off x="699284" y="2004278"/>
            <a:ext cx="1081803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8D0B0C7-F833-A1D1-836A-F3E12A42F3BB}"/>
              </a:ext>
            </a:extLst>
          </p:cNvPr>
          <p:cNvSpPr txBox="1"/>
          <p:nvPr/>
        </p:nvSpPr>
        <p:spPr>
          <a:xfrm>
            <a:off x="4275735" y="3328851"/>
            <a:ext cx="1558800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部分外部协同团队</a:t>
            </a:r>
            <a:endParaRPr lang="zh-CN" altLang="en-US" sz="1200" dirty="0"/>
          </a:p>
        </p:txBody>
      </p: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144E78B-821E-EAE2-1BCF-CB35FB081A29}"/>
              </a:ext>
            </a:extLst>
          </p:cNvPr>
          <p:cNvCxnSpPr>
            <a:cxnSpLocks/>
            <a:stCxn id="43" idx="2"/>
            <a:endCxn id="323" idx="1"/>
          </p:cNvCxnSpPr>
          <p:nvPr/>
        </p:nvCxnSpPr>
        <p:spPr>
          <a:xfrm rot="16200000" flipH="1">
            <a:off x="4148181" y="1569798"/>
            <a:ext cx="255111" cy="15874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02A806C5-7E3A-73EB-7CA5-97B18DB5789E}"/>
              </a:ext>
            </a:extLst>
          </p:cNvPr>
          <p:cNvCxnSpPr>
            <a:cxnSpLocks/>
            <a:stCxn id="43" idx="2"/>
            <a:endCxn id="324" idx="1"/>
          </p:cNvCxnSpPr>
          <p:nvPr/>
        </p:nvCxnSpPr>
        <p:spPr>
          <a:xfrm rot="16200000" flipH="1">
            <a:off x="3940451" y="1777528"/>
            <a:ext cx="670570" cy="15874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DB6A1274-270D-7367-59D2-671BBEE211C2}"/>
              </a:ext>
            </a:extLst>
          </p:cNvPr>
          <p:cNvCxnSpPr>
            <a:cxnSpLocks/>
            <a:stCxn id="43" idx="2"/>
            <a:endCxn id="325" idx="1"/>
          </p:cNvCxnSpPr>
          <p:nvPr/>
        </p:nvCxnSpPr>
        <p:spPr>
          <a:xfrm rot="16200000" flipH="1">
            <a:off x="3733307" y="1984672"/>
            <a:ext cx="1084857" cy="158743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4C48DF9F-B6AF-69A7-3CC2-48E53CEF4BA3}"/>
              </a:ext>
            </a:extLst>
          </p:cNvPr>
          <p:cNvCxnSpPr>
            <a:cxnSpLocks/>
            <a:stCxn id="43" idx="2"/>
            <a:endCxn id="326" idx="1"/>
          </p:cNvCxnSpPr>
          <p:nvPr/>
        </p:nvCxnSpPr>
        <p:spPr>
          <a:xfrm rot="16200000" flipH="1">
            <a:off x="3518944" y="2199035"/>
            <a:ext cx="1513582" cy="158743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08F3FAFC-B1EE-BB5A-1410-E54A513FBA45}"/>
              </a:ext>
            </a:extLst>
          </p:cNvPr>
          <p:cNvSpPr/>
          <p:nvPr/>
        </p:nvSpPr>
        <p:spPr>
          <a:xfrm>
            <a:off x="4355107" y="458368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78136906-6A81-591C-A36A-0C01F3638D7F}"/>
              </a:ext>
            </a:extLst>
          </p:cNvPr>
          <p:cNvCxnSpPr>
            <a:cxnSpLocks/>
            <a:stCxn id="36" idx="2"/>
            <a:endCxn id="329" idx="1"/>
          </p:cNvCxnSpPr>
          <p:nvPr/>
        </p:nvCxnSpPr>
        <p:spPr>
          <a:xfrm rot="16200000" flipH="1">
            <a:off x="7229599" y="1496771"/>
            <a:ext cx="257033" cy="29466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30DA6A7A-0F66-4F13-FCAE-099F04DDB480}"/>
              </a:ext>
            </a:extLst>
          </p:cNvPr>
          <p:cNvSpPr/>
          <p:nvPr/>
        </p:nvSpPr>
        <p:spPr>
          <a:xfrm>
            <a:off x="7356973" y="3863968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2653B35-A750-C144-15FC-4E37DB56C4AC}"/>
              </a:ext>
            </a:extLst>
          </p:cNvPr>
          <p:cNvSpPr/>
          <p:nvPr/>
        </p:nvSpPr>
        <p:spPr>
          <a:xfrm>
            <a:off x="7356973" y="4223826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工具产品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4C9E78B6-B858-F756-4041-33E94F6293B5}"/>
              </a:ext>
            </a:extLst>
          </p:cNvPr>
          <p:cNvSpPr/>
          <p:nvPr/>
        </p:nvSpPr>
        <p:spPr>
          <a:xfrm>
            <a:off x="7356973" y="458368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8913208D-CE22-670B-0210-66E854C5A033}"/>
              </a:ext>
            </a:extLst>
          </p:cNvPr>
          <p:cNvCxnSpPr>
            <a:cxnSpLocks/>
            <a:stCxn id="36" idx="2"/>
            <a:endCxn id="330" idx="1"/>
          </p:cNvCxnSpPr>
          <p:nvPr/>
        </p:nvCxnSpPr>
        <p:spPr>
          <a:xfrm rot="16200000" flipH="1">
            <a:off x="7002289" y="1724081"/>
            <a:ext cx="711653" cy="29466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矩形 185">
            <a:extLst>
              <a:ext uri="{FF2B5EF4-FFF2-40B4-BE49-F238E27FC236}">
                <a16:creationId xmlns:a16="http://schemas.microsoft.com/office/drawing/2014/main" id="{BF4C5604-F77D-6EE4-B94C-828AE573B095}"/>
              </a:ext>
            </a:extLst>
          </p:cNvPr>
          <p:cNvSpPr/>
          <p:nvPr/>
        </p:nvSpPr>
        <p:spPr>
          <a:xfrm>
            <a:off x="4355107" y="4208897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用增运营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015979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5CDFDE9-C737-5286-7440-51A220C0E417}"/>
              </a:ext>
            </a:extLst>
          </p:cNvPr>
          <p:cNvSpPr/>
          <p:nvPr/>
        </p:nvSpPr>
        <p:spPr>
          <a:xfrm>
            <a:off x="971501" y="160380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门店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菜品物理世界资产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DFB9C1-9146-BD00-985A-77F4A70A536D}"/>
              </a:ext>
            </a:extLst>
          </p:cNvPr>
          <p:cNvSpPr/>
          <p:nvPr/>
        </p:nvSpPr>
        <p:spPr>
          <a:xfrm>
            <a:off x="971501" y="201920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A1B39F-BB50-57F0-22D3-C1328AB0F9BF}"/>
              </a:ext>
            </a:extLst>
          </p:cNvPr>
          <p:cNvSpPr/>
          <p:nvPr/>
        </p:nvSpPr>
        <p:spPr>
          <a:xfrm>
            <a:off x="971500" y="2434598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DDD7FB5E-E994-A5E9-B811-7FAAA87F2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207" y="1096489"/>
            <a:ext cx="1620665" cy="3612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2F2EAD-3BE4-6290-C648-CDBEB65DD5AA}"/>
              </a:ext>
            </a:extLst>
          </p:cNvPr>
          <p:cNvSpPr/>
          <p:nvPr/>
        </p:nvSpPr>
        <p:spPr>
          <a:xfrm>
            <a:off x="3272225" y="161594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17D160-E0A1-88D2-783B-0BBB1A7E72DF}"/>
              </a:ext>
            </a:extLst>
          </p:cNvPr>
          <p:cNvSpPr/>
          <p:nvPr/>
        </p:nvSpPr>
        <p:spPr>
          <a:xfrm>
            <a:off x="3272225" y="203140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EEC588-AB22-9D39-5C3E-508FD9804B73}"/>
              </a:ext>
            </a:extLst>
          </p:cNvPr>
          <p:cNvSpPr/>
          <p:nvPr/>
        </p:nvSpPr>
        <p:spPr>
          <a:xfrm>
            <a:off x="7825832" y="158725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评价激励策略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1A22C3-7EAA-AD58-6180-F2DCC1A490BF}"/>
              </a:ext>
            </a:extLst>
          </p:cNvPr>
          <p:cNvSpPr/>
          <p:nvPr/>
        </p:nvSpPr>
        <p:spPr>
          <a:xfrm>
            <a:off x="7825832" y="204187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评价体验提升</a:t>
            </a: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EDBE33A-C8B7-4101-FD03-23F1F3DE61B7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rot="5400000">
            <a:off x="2294652" y="-656816"/>
            <a:ext cx="214531" cy="309378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8D8E49CF-F33A-1BBB-4A26-DFF8F64ED3D7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rot="16200000" flipH="1">
            <a:off x="4569176" y="162448"/>
            <a:ext cx="218474" cy="145920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0DF3A06-B825-9952-AE34-A2B813D43ED2}"/>
              </a:ext>
            </a:extLst>
          </p:cNvPr>
          <p:cNvSpPr/>
          <p:nvPr/>
        </p:nvSpPr>
        <p:spPr>
          <a:xfrm>
            <a:off x="2801191" y="235275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922C092F-61C2-46DA-C30F-566259326EE3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 rot="5400000">
            <a:off x="3432900" y="481432"/>
            <a:ext cx="214531" cy="8172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10104A4-21DD-3345-F499-2DACB16B2A22}"/>
              </a:ext>
            </a:extLst>
          </p:cNvPr>
          <p:cNvSpPr/>
          <p:nvPr/>
        </p:nvSpPr>
        <p:spPr>
          <a:xfrm>
            <a:off x="-101254" y="997344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CA66E0B-E94D-3E1A-E457-F238D1AB0CE1}"/>
              </a:ext>
            </a:extLst>
          </p:cNvPr>
          <p:cNvSpPr/>
          <p:nvPr/>
        </p:nvSpPr>
        <p:spPr>
          <a:xfrm>
            <a:off x="4451738" y="1001287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F112D84-E3DE-1481-1B80-4D7B9883C0D1}"/>
              </a:ext>
            </a:extLst>
          </p:cNvPr>
          <p:cNvSpPr/>
          <p:nvPr/>
        </p:nvSpPr>
        <p:spPr>
          <a:xfrm>
            <a:off x="2175242" y="997344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954B92AC-4E19-DC48-8464-ED66761C4F52}"/>
              </a:ext>
            </a:extLst>
          </p:cNvPr>
          <p:cNvCxnSpPr>
            <a:cxnSpLocks/>
            <a:stCxn id="23" idx="2"/>
            <a:endCxn id="11" idx="1"/>
          </p:cNvCxnSpPr>
          <p:nvPr/>
        </p:nvCxnSpPr>
        <p:spPr>
          <a:xfrm rot="16200000" flipH="1">
            <a:off x="696113" y="1520500"/>
            <a:ext cx="434299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CE8F61AA-AD5E-0397-8E49-727BCFBD44A0}"/>
              </a:ext>
            </a:extLst>
          </p:cNvPr>
          <p:cNvCxnSpPr>
            <a:cxnSpLocks/>
            <a:stCxn id="23" idx="2"/>
            <a:endCxn id="12" idx="1"/>
          </p:cNvCxnSpPr>
          <p:nvPr/>
        </p:nvCxnSpPr>
        <p:spPr>
          <a:xfrm rot="16200000" flipH="1">
            <a:off x="488414" y="1728199"/>
            <a:ext cx="84969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43C877BB-26FB-58B8-8CDF-312BF4A76F38}"/>
              </a:ext>
            </a:extLst>
          </p:cNvPr>
          <p:cNvCxnSpPr>
            <a:cxnSpLocks/>
            <a:stCxn id="23" idx="2"/>
            <a:endCxn id="13" idx="1"/>
          </p:cNvCxnSpPr>
          <p:nvPr/>
        </p:nvCxnSpPr>
        <p:spPr>
          <a:xfrm rot="16200000" flipH="1">
            <a:off x="280714" y="1935898"/>
            <a:ext cx="1265095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2B11DFE8-D4D9-5C3B-9CDD-85BF0C137174}"/>
              </a:ext>
            </a:extLst>
          </p:cNvPr>
          <p:cNvCxnSpPr>
            <a:cxnSpLocks/>
            <a:stCxn id="25" idx="2"/>
            <a:endCxn id="15" idx="1"/>
          </p:cNvCxnSpPr>
          <p:nvPr/>
        </p:nvCxnSpPr>
        <p:spPr>
          <a:xfrm rot="16200000" flipH="1">
            <a:off x="2978652" y="1514457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861DE34C-E3C3-13A7-1096-3D01C595FCB7}"/>
              </a:ext>
            </a:extLst>
          </p:cNvPr>
          <p:cNvCxnSpPr>
            <a:cxnSpLocks/>
            <a:stCxn id="25" idx="2"/>
            <a:endCxn id="16" idx="1"/>
          </p:cNvCxnSpPr>
          <p:nvPr/>
        </p:nvCxnSpPr>
        <p:spPr>
          <a:xfrm rot="16200000" flipH="1">
            <a:off x="2770923" y="1722186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59C2CD4-91EE-E1EE-2AD6-434A1C377849}"/>
              </a:ext>
            </a:extLst>
          </p:cNvPr>
          <p:cNvSpPr/>
          <p:nvPr/>
        </p:nvSpPr>
        <p:spPr>
          <a:xfrm>
            <a:off x="6728233" y="995656"/>
            <a:ext cx="1912553" cy="364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星级运营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86C32B90-CB55-4C83-2EA1-FA5E4F8AA1F3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rot="16200000" flipH="1">
            <a:off x="5710239" y="-978616"/>
            <a:ext cx="212843" cy="3735699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216F7E71-3B33-0E90-6A54-AA503BF842B0}"/>
              </a:ext>
            </a:extLst>
          </p:cNvPr>
          <p:cNvSpPr/>
          <p:nvPr/>
        </p:nvSpPr>
        <p:spPr>
          <a:xfrm>
            <a:off x="971500" y="286198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开放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联名榜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3A957608-0B5E-8F9C-F7A7-F89E2AF86DFB}"/>
              </a:ext>
            </a:extLst>
          </p:cNvPr>
          <p:cNvCxnSpPr>
            <a:cxnSpLocks/>
            <a:stCxn id="23" idx="2"/>
            <a:endCxn id="33" idx="1"/>
          </p:cNvCxnSpPr>
          <p:nvPr/>
        </p:nvCxnSpPr>
        <p:spPr>
          <a:xfrm rot="16200000" flipH="1">
            <a:off x="67021" y="2149591"/>
            <a:ext cx="1692481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48EEB21-06CD-D795-C1B7-E9F04FE35A6C}"/>
              </a:ext>
            </a:extLst>
          </p:cNvPr>
          <p:cNvSpPr/>
          <p:nvPr/>
        </p:nvSpPr>
        <p:spPr>
          <a:xfrm>
            <a:off x="5548720" y="160998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15C671-0545-249B-B75D-634BBFCD01A3}"/>
              </a:ext>
            </a:extLst>
          </p:cNvPr>
          <p:cNvSpPr/>
          <p:nvPr/>
        </p:nvSpPr>
        <p:spPr>
          <a:xfrm>
            <a:off x="5548720" y="204599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517EDFB6-EBDE-30E8-83F6-412EAFA4DC03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5255147" y="1508496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6B6FA7EC-5A5B-62BB-F8A3-A35DB8639523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5047418" y="1736778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30FEE32E-A4B7-E5A0-C5A2-72C97A1371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32261" y="1489702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69165BB7-9422-733E-429E-F0C82F6B3A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24532" y="1697431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29EBBE2A-4112-C393-3E99-28B82A10DECD}"/>
              </a:ext>
            </a:extLst>
          </p:cNvPr>
          <p:cNvSpPr/>
          <p:nvPr/>
        </p:nvSpPr>
        <p:spPr>
          <a:xfrm>
            <a:off x="7825832" y="249530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星评公信力协同</a:t>
            </a:r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F95724B5-8B9F-8E4D-DAB9-0A2A69C71BE4}"/>
              </a:ext>
            </a:extLst>
          </p:cNvPr>
          <p:cNvCxnSpPr>
            <a:cxnSpLocks/>
            <a:stCxn id="31" idx="2"/>
            <a:endCxn id="41" idx="1"/>
          </p:cNvCxnSpPr>
          <p:nvPr/>
        </p:nvCxnSpPr>
        <p:spPr>
          <a:xfrm rot="16200000" flipH="1">
            <a:off x="7091428" y="1952984"/>
            <a:ext cx="1327486" cy="141322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942FE22A-7B7A-26ED-8B73-F451E91F60C5}"/>
              </a:ext>
            </a:extLst>
          </p:cNvPr>
          <p:cNvSpPr/>
          <p:nvPr/>
        </p:nvSpPr>
        <p:spPr>
          <a:xfrm>
            <a:off x="1301829" y="5490395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门店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菜品物理世界资产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024D98-B39C-8AE4-B4CF-3885D57D8E93}"/>
              </a:ext>
            </a:extLst>
          </p:cNvPr>
          <p:cNvSpPr/>
          <p:nvPr/>
        </p:nvSpPr>
        <p:spPr>
          <a:xfrm>
            <a:off x="1301829" y="590579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454DFAA-305B-8549-AEA5-DBC297BB7313}"/>
              </a:ext>
            </a:extLst>
          </p:cNvPr>
          <p:cNvSpPr/>
          <p:nvPr/>
        </p:nvSpPr>
        <p:spPr>
          <a:xfrm>
            <a:off x="1301828" y="632119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7" name="Rectangle 15">
            <a:extLst>
              <a:ext uri="{FF2B5EF4-FFF2-40B4-BE49-F238E27FC236}">
                <a16:creationId xmlns:a16="http://schemas.microsoft.com/office/drawing/2014/main" id="{FD041420-5760-EBFF-4619-CE53BC617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5" y="4983082"/>
            <a:ext cx="1620665" cy="3612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077D842-4D48-0F8C-C9ED-CBF88B28FE6F}"/>
              </a:ext>
            </a:extLst>
          </p:cNvPr>
          <p:cNvSpPr/>
          <p:nvPr/>
        </p:nvSpPr>
        <p:spPr>
          <a:xfrm>
            <a:off x="3602553" y="5502536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1F867BB-EF27-7908-C410-09E4211B17BF}"/>
              </a:ext>
            </a:extLst>
          </p:cNvPr>
          <p:cNvSpPr/>
          <p:nvPr/>
        </p:nvSpPr>
        <p:spPr>
          <a:xfrm>
            <a:off x="3602553" y="5917995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587117-B8C8-B903-EA6A-03BE23B0773E}"/>
              </a:ext>
            </a:extLst>
          </p:cNvPr>
          <p:cNvSpPr/>
          <p:nvPr/>
        </p:nvSpPr>
        <p:spPr>
          <a:xfrm>
            <a:off x="8156160" y="547384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评价激励策略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C4DA2D0-7F7B-DE48-91D0-849614B0019C}"/>
              </a:ext>
            </a:extLst>
          </p:cNvPr>
          <p:cNvSpPr/>
          <p:nvPr/>
        </p:nvSpPr>
        <p:spPr>
          <a:xfrm>
            <a:off x="8156160" y="592846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评价体验提升</a:t>
            </a: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25EE2FEF-5AC1-2A3E-BC0F-142DCCA1F936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 rot="5400000">
            <a:off x="2624980" y="3229777"/>
            <a:ext cx="214531" cy="309378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5AF6527F-4887-0034-5B3D-6D2D4EFB0E8B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 rot="16200000" flipH="1">
            <a:off x="4899504" y="4049041"/>
            <a:ext cx="218474" cy="145920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B531318-FDA5-1267-4B5F-39ACC98E43C0}"/>
              </a:ext>
            </a:extLst>
          </p:cNvPr>
          <p:cNvSpPr/>
          <p:nvPr/>
        </p:nvSpPr>
        <p:spPr>
          <a:xfrm>
            <a:off x="3131519" y="4121868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AA9B7EBF-AC9F-CEBF-A0BA-29376FB00786}"/>
              </a:ext>
            </a:extLst>
          </p:cNvPr>
          <p:cNvCxnSpPr>
            <a:cxnSpLocks/>
            <a:stCxn id="54" idx="2"/>
            <a:endCxn id="58" idx="0"/>
          </p:cNvCxnSpPr>
          <p:nvPr/>
        </p:nvCxnSpPr>
        <p:spPr>
          <a:xfrm rot="5400000">
            <a:off x="3763228" y="4368025"/>
            <a:ext cx="214531" cy="8172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D1E652DC-A37B-3446-3208-A143CECA7A5F}"/>
              </a:ext>
            </a:extLst>
          </p:cNvPr>
          <p:cNvSpPr/>
          <p:nvPr/>
        </p:nvSpPr>
        <p:spPr>
          <a:xfrm>
            <a:off x="229074" y="4883937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72FCB5D8-0979-F57E-A4DF-6805BA75DC07}"/>
              </a:ext>
            </a:extLst>
          </p:cNvPr>
          <p:cNvSpPr/>
          <p:nvPr/>
        </p:nvSpPr>
        <p:spPr>
          <a:xfrm>
            <a:off x="4782066" y="4887880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D127B45-D07B-B314-B248-EC96D394F678}"/>
              </a:ext>
            </a:extLst>
          </p:cNvPr>
          <p:cNvSpPr/>
          <p:nvPr/>
        </p:nvSpPr>
        <p:spPr>
          <a:xfrm>
            <a:off x="2505570" y="4883937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59" name="连接符: 肘形 58">
            <a:extLst>
              <a:ext uri="{FF2B5EF4-FFF2-40B4-BE49-F238E27FC236}">
                <a16:creationId xmlns:a16="http://schemas.microsoft.com/office/drawing/2014/main" id="{F944833D-1BF9-9C5D-B120-15B41CC68B43}"/>
              </a:ext>
            </a:extLst>
          </p:cNvPr>
          <p:cNvCxnSpPr>
            <a:cxnSpLocks/>
            <a:stCxn id="56" idx="2"/>
            <a:endCxn id="44" idx="1"/>
          </p:cNvCxnSpPr>
          <p:nvPr/>
        </p:nvCxnSpPr>
        <p:spPr>
          <a:xfrm rot="16200000" flipH="1">
            <a:off x="1026441" y="5407093"/>
            <a:ext cx="434299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81DE3C80-E990-F0D4-6DF7-8E2A8272E5A1}"/>
              </a:ext>
            </a:extLst>
          </p:cNvPr>
          <p:cNvCxnSpPr>
            <a:cxnSpLocks/>
            <a:stCxn id="56" idx="2"/>
            <a:endCxn id="45" idx="1"/>
          </p:cNvCxnSpPr>
          <p:nvPr/>
        </p:nvCxnSpPr>
        <p:spPr>
          <a:xfrm rot="16200000" flipH="1">
            <a:off x="818742" y="5614792"/>
            <a:ext cx="84969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6591222-1D08-BE48-07B1-5B91F95E3F2F}"/>
              </a:ext>
            </a:extLst>
          </p:cNvPr>
          <p:cNvCxnSpPr>
            <a:cxnSpLocks/>
            <a:stCxn id="56" idx="2"/>
            <a:endCxn id="46" idx="1"/>
          </p:cNvCxnSpPr>
          <p:nvPr/>
        </p:nvCxnSpPr>
        <p:spPr>
          <a:xfrm rot="16200000" flipH="1">
            <a:off x="611042" y="5822491"/>
            <a:ext cx="1265095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AF81DCA7-3DE3-883C-C4A1-415A174C685D}"/>
              </a:ext>
            </a:extLst>
          </p:cNvPr>
          <p:cNvCxnSpPr>
            <a:cxnSpLocks/>
            <a:stCxn id="58" idx="2"/>
            <a:endCxn id="48" idx="1"/>
          </p:cNvCxnSpPr>
          <p:nvPr/>
        </p:nvCxnSpPr>
        <p:spPr>
          <a:xfrm rot="16200000" flipH="1">
            <a:off x="3308980" y="5401050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507A680E-075B-C8E8-630B-C9C55E515ED1}"/>
              </a:ext>
            </a:extLst>
          </p:cNvPr>
          <p:cNvCxnSpPr>
            <a:cxnSpLocks/>
            <a:stCxn id="58" idx="2"/>
            <a:endCxn id="49" idx="1"/>
          </p:cNvCxnSpPr>
          <p:nvPr/>
        </p:nvCxnSpPr>
        <p:spPr>
          <a:xfrm rot="16200000" flipH="1">
            <a:off x="3101251" y="5608779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D48DEE11-BD3F-CCEA-3A43-A999A7AF569F}"/>
              </a:ext>
            </a:extLst>
          </p:cNvPr>
          <p:cNvSpPr/>
          <p:nvPr/>
        </p:nvSpPr>
        <p:spPr>
          <a:xfrm>
            <a:off x="7058561" y="4882249"/>
            <a:ext cx="1912553" cy="364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星级运营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2BDE2A53-6093-74F5-B2AE-9DFBD9250937}"/>
              </a:ext>
            </a:extLst>
          </p:cNvPr>
          <p:cNvCxnSpPr>
            <a:cxnSpLocks/>
            <a:stCxn id="54" idx="2"/>
            <a:endCxn id="64" idx="0"/>
          </p:cNvCxnSpPr>
          <p:nvPr/>
        </p:nvCxnSpPr>
        <p:spPr>
          <a:xfrm rot="16200000" flipH="1">
            <a:off x="6040567" y="2907977"/>
            <a:ext cx="212843" cy="3735699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AB15829-C92D-CC3A-C26B-EC9AA549AAD6}"/>
              </a:ext>
            </a:extLst>
          </p:cNvPr>
          <p:cNvSpPr/>
          <p:nvPr/>
        </p:nvSpPr>
        <p:spPr>
          <a:xfrm>
            <a:off x="1301828" y="6748577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开放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联名榜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2271CB3-88C7-FD89-8D8F-BBB612F9ED73}"/>
              </a:ext>
            </a:extLst>
          </p:cNvPr>
          <p:cNvCxnSpPr>
            <a:cxnSpLocks/>
            <a:stCxn id="56" idx="2"/>
            <a:endCxn id="66" idx="1"/>
          </p:cNvCxnSpPr>
          <p:nvPr/>
        </p:nvCxnSpPr>
        <p:spPr>
          <a:xfrm rot="16200000" flipH="1">
            <a:off x="397349" y="6036184"/>
            <a:ext cx="1692481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DDE29C18-0FC0-3DB4-9B0B-93F708EC5356}"/>
              </a:ext>
            </a:extLst>
          </p:cNvPr>
          <p:cNvSpPr/>
          <p:nvPr/>
        </p:nvSpPr>
        <p:spPr>
          <a:xfrm>
            <a:off x="5879048" y="5496575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515FC02-0691-E39F-07CF-8A8E1E78BC38}"/>
              </a:ext>
            </a:extLst>
          </p:cNvPr>
          <p:cNvSpPr/>
          <p:nvPr/>
        </p:nvSpPr>
        <p:spPr>
          <a:xfrm>
            <a:off x="5879048" y="5932587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6C91F88E-E2B9-DE3A-C6D2-4CFB193D084A}"/>
              </a:ext>
            </a:extLst>
          </p:cNvPr>
          <p:cNvCxnSpPr>
            <a:cxnSpLocks/>
            <a:endCxn id="68" idx="1"/>
          </p:cNvCxnSpPr>
          <p:nvPr/>
        </p:nvCxnSpPr>
        <p:spPr>
          <a:xfrm rot="16200000" flipH="1">
            <a:off x="5585475" y="5395089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CD60B22E-C7C7-02AA-F1A8-327726C469E6}"/>
              </a:ext>
            </a:extLst>
          </p:cNvPr>
          <p:cNvCxnSpPr>
            <a:cxnSpLocks/>
            <a:endCxn id="69" idx="1"/>
          </p:cNvCxnSpPr>
          <p:nvPr/>
        </p:nvCxnSpPr>
        <p:spPr>
          <a:xfrm rot="16200000" flipH="1">
            <a:off x="5377746" y="5623371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C7DB7EB8-D610-F1C1-B3C0-9148352EB1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62589" y="5376295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2C8D3C96-FC0B-C0E0-FAD1-8F9C558E54A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54860" y="5584024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B007F819-345A-4CB2-0823-F6D532C30690}"/>
              </a:ext>
            </a:extLst>
          </p:cNvPr>
          <p:cNvSpPr/>
          <p:nvPr/>
        </p:nvSpPr>
        <p:spPr>
          <a:xfrm>
            <a:off x="8156160" y="638189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星评公信力协同</a:t>
            </a: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9BD48070-DAA8-B792-A592-21910B416A86}"/>
              </a:ext>
            </a:extLst>
          </p:cNvPr>
          <p:cNvCxnSpPr>
            <a:cxnSpLocks/>
            <a:stCxn id="64" idx="2"/>
            <a:endCxn id="74" idx="1"/>
          </p:cNvCxnSpPr>
          <p:nvPr/>
        </p:nvCxnSpPr>
        <p:spPr>
          <a:xfrm rot="16200000" flipH="1">
            <a:off x="7421756" y="5839577"/>
            <a:ext cx="1327486" cy="141322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63385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draw.io">
            <a:extLst>
              <a:ext uri="{FF2B5EF4-FFF2-40B4-BE49-F238E27FC236}">
                <a16:creationId xmlns:a16="http://schemas.microsoft.com/office/drawing/2014/main" id="{853F696F-1A9F-EB87-3813-586EF97DA4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2DD3611-E700-5737-F524-868CFFC5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80885" y="-344588"/>
            <a:ext cx="13683979" cy="58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024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AE1A2C64-AA52-05C7-18C4-88F7038818BE}"/>
              </a:ext>
            </a:extLst>
          </p:cNvPr>
          <p:cNvSpPr/>
          <p:nvPr/>
        </p:nvSpPr>
        <p:spPr>
          <a:xfrm>
            <a:off x="-8815878" y="5360038"/>
            <a:ext cx="7882304" cy="1513583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757EB605-0595-B964-100C-CF9BABB4F97B}"/>
              </a:ext>
            </a:extLst>
          </p:cNvPr>
          <p:cNvSpPr/>
          <p:nvPr/>
        </p:nvSpPr>
        <p:spPr>
          <a:xfrm>
            <a:off x="730869" y="62807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  <a:b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90FDBAE4-DEE8-D1E0-5B75-BAC504330BB0}"/>
              </a:ext>
            </a:extLst>
          </p:cNvPr>
          <p:cNvSpPr/>
          <p:nvPr/>
        </p:nvSpPr>
        <p:spPr>
          <a:xfrm>
            <a:off x="730869" y="1043468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b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</a:b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9DD4ECA4-58A6-2BC1-07EC-235EF765D7A0}"/>
              </a:ext>
            </a:extLst>
          </p:cNvPr>
          <p:cNvSpPr/>
          <p:nvPr/>
        </p:nvSpPr>
        <p:spPr>
          <a:xfrm>
            <a:off x="730868" y="1458866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2FC2B155-EDD6-AA74-0F02-DA0CBA53B6D1}"/>
              </a:ext>
            </a:extLst>
          </p:cNvPr>
          <p:cNvSpPr/>
          <p:nvPr/>
        </p:nvSpPr>
        <p:spPr>
          <a:xfrm>
            <a:off x="-8690933" y="5744001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资产共建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平台、销售等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5D1FAD50-DFC2-D0E7-2EC9-89EA03969288}"/>
              </a:ext>
            </a:extLst>
          </p:cNvPr>
          <p:cNvSpPr/>
          <p:nvPr/>
        </p:nvSpPr>
        <p:spPr>
          <a:xfrm>
            <a:off x="-8690933" y="611519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爬取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挖掘产研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C4665D63-010F-DA56-AAB1-6AEDCDFDBCAB}"/>
              </a:ext>
            </a:extLst>
          </p:cNvPr>
          <p:cNvSpPr/>
          <p:nvPr/>
        </p:nvSpPr>
        <p:spPr>
          <a:xfrm>
            <a:off x="-8690933" y="6483808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资产数据治理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9" name="Rectangle 15">
            <a:extLst>
              <a:ext uri="{FF2B5EF4-FFF2-40B4-BE49-F238E27FC236}">
                <a16:creationId xmlns:a16="http://schemas.microsoft.com/office/drawing/2014/main" id="{67D7C959-13CD-8D53-4AAA-07C5BD820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575" y="120757"/>
            <a:ext cx="1620665" cy="3612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BAA091CB-8B66-7D3A-B13E-827098FC7774}"/>
              </a:ext>
            </a:extLst>
          </p:cNvPr>
          <p:cNvSpPr/>
          <p:nvPr/>
        </p:nvSpPr>
        <p:spPr>
          <a:xfrm>
            <a:off x="3031593" y="64021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1ADA3187-2F0D-782E-BDB5-58AB2FD34AC3}"/>
              </a:ext>
            </a:extLst>
          </p:cNvPr>
          <p:cNvSpPr/>
          <p:nvPr/>
        </p:nvSpPr>
        <p:spPr>
          <a:xfrm>
            <a:off x="3031593" y="105567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C1048429-F14E-99DA-7CD0-882F07C09DA2}"/>
              </a:ext>
            </a:extLst>
          </p:cNvPr>
          <p:cNvSpPr/>
          <p:nvPr/>
        </p:nvSpPr>
        <p:spPr>
          <a:xfrm>
            <a:off x="-5642717" y="5744001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D752A8A0-0D9B-2543-8541-209C26334224}"/>
              </a:ext>
            </a:extLst>
          </p:cNvPr>
          <p:cNvSpPr/>
          <p:nvPr/>
        </p:nvSpPr>
        <p:spPr>
          <a:xfrm>
            <a:off x="7585200" y="611519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评价激励策略</a:t>
            </a: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F95C7BDC-C06B-DAD1-1C9F-EFDE00514BCC}"/>
              </a:ext>
            </a:extLst>
          </p:cNvPr>
          <p:cNvSpPr/>
          <p:nvPr/>
        </p:nvSpPr>
        <p:spPr>
          <a:xfrm>
            <a:off x="7585200" y="1066139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评价体验提升</a:t>
            </a: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19423766-E714-80A1-940A-1A1CFD6F1612}"/>
              </a:ext>
            </a:extLst>
          </p:cNvPr>
          <p:cNvSpPr/>
          <p:nvPr/>
        </p:nvSpPr>
        <p:spPr>
          <a:xfrm>
            <a:off x="-4311842" y="3411274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销售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BD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CDBD12DD-4073-2116-6F44-3F1CD446F2E3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 rot="5400000">
            <a:off x="2054020" y="-1632548"/>
            <a:ext cx="214531" cy="309378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7913C34-E2B5-6CF3-9064-196880F112A9}"/>
              </a:ext>
            </a:extLst>
          </p:cNvPr>
          <p:cNvCxnSpPr>
            <a:cxnSpLocks/>
            <a:stCxn id="17" idx="2"/>
            <a:endCxn id="36" idx="0"/>
          </p:cNvCxnSpPr>
          <p:nvPr/>
        </p:nvCxnSpPr>
        <p:spPr>
          <a:xfrm rot="16200000" flipH="1">
            <a:off x="4328544" y="-813284"/>
            <a:ext cx="218474" cy="145920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E1600B8-23A3-79B5-B72C-174E678297CA}"/>
              </a:ext>
            </a:extLst>
          </p:cNvPr>
          <p:cNvSpPr/>
          <p:nvPr/>
        </p:nvSpPr>
        <p:spPr>
          <a:xfrm>
            <a:off x="2560559" y="-740457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34B1321-8F28-B78B-5F02-E794BBE5D483}"/>
              </a:ext>
            </a:extLst>
          </p:cNvPr>
          <p:cNvCxnSpPr>
            <a:cxnSpLocks/>
            <a:stCxn id="17" idx="2"/>
            <a:endCxn id="43" idx="0"/>
          </p:cNvCxnSpPr>
          <p:nvPr/>
        </p:nvCxnSpPr>
        <p:spPr>
          <a:xfrm rot="5400000">
            <a:off x="3192268" y="-494300"/>
            <a:ext cx="214531" cy="8172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1C2277C-8181-6A6F-F362-2781287153A8}"/>
              </a:ext>
            </a:extLst>
          </p:cNvPr>
          <p:cNvSpPr/>
          <p:nvPr/>
        </p:nvSpPr>
        <p:spPr>
          <a:xfrm>
            <a:off x="-341886" y="21612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04FFAFB-D5F0-C6DD-265A-427E61D9980D}"/>
              </a:ext>
            </a:extLst>
          </p:cNvPr>
          <p:cNvSpPr/>
          <p:nvPr/>
        </p:nvSpPr>
        <p:spPr>
          <a:xfrm>
            <a:off x="4211106" y="25555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F6C1960-DA4B-ACF7-851C-EE54F8E94BEB}"/>
              </a:ext>
            </a:extLst>
          </p:cNvPr>
          <p:cNvSpPr/>
          <p:nvPr/>
        </p:nvSpPr>
        <p:spPr>
          <a:xfrm>
            <a:off x="1934610" y="21612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74567D15-4D26-123D-6E4D-AFF76F558418}"/>
              </a:ext>
            </a:extLst>
          </p:cNvPr>
          <p:cNvCxnSpPr>
            <a:cxnSpLocks/>
            <a:stCxn id="29" idx="2"/>
            <a:endCxn id="308" idx="1"/>
          </p:cNvCxnSpPr>
          <p:nvPr/>
        </p:nvCxnSpPr>
        <p:spPr>
          <a:xfrm rot="16200000" flipH="1">
            <a:off x="455481" y="544768"/>
            <a:ext cx="434299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E9C471FE-ECBA-7966-D719-7318F8022E54}"/>
              </a:ext>
            </a:extLst>
          </p:cNvPr>
          <p:cNvCxnSpPr>
            <a:cxnSpLocks/>
            <a:stCxn id="29" idx="2"/>
            <a:endCxn id="311" idx="1"/>
          </p:cNvCxnSpPr>
          <p:nvPr/>
        </p:nvCxnSpPr>
        <p:spPr>
          <a:xfrm rot="16200000" flipH="1">
            <a:off x="247782" y="752467"/>
            <a:ext cx="84969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F15768B2-6FB2-84D6-84C7-DDA6A97DE3F4}"/>
              </a:ext>
            </a:extLst>
          </p:cNvPr>
          <p:cNvCxnSpPr>
            <a:cxnSpLocks/>
            <a:stCxn id="29" idx="2"/>
            <a:endCxn id="312" idx="1"/>
          </p:cNvCxnSpPr>
          <p:nvPr/>
        </p:nvCxnSpPr>
        <p:spPr>
          <a:xfrm rot="16200000" flipH="1">
            <a:off x="40082" y="960166"/>
            <a:ext cx="1265095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8D0B0C7-F833-A1D1-836A-F3E12A42F3BB}"/>
              </a:ext>
            </a:extLst>
          </p:cNvPr>
          <p:cNvSpPr txBox="1"/>
          <p:nvPr/>
        </p:nvSpPr>
        <p:spPr>
          <a:xfrm>
            <a:off x="-5722089" y="5224629"/>
            <a:ext cx="1558800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部分外部协同团队</a:t>
            </a:r>
            <a:endParaRPr lang="zh-CN" altLang="en-US" sz="1200" dirty="0">
              <a:latin typeface="+mn-ea"/>
            </a:endParaRPr>
          </a:p>
        </p:txBody>
      </p: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144E78B-821E-EAE2-1BCF-CB35FB081A29}"/>
              </a:ext>
            </a:extLst>
          </p:cNvPr>
          <p:cNvCxnSpPr>
            <a:cxnSpLocks/>
            <a:stCxn id="43" idx="2"/>
            <a:endCxn id="323" idx="1"/>
          </p:cNvCxnSpPr>
          <p:nvPr/>
        </p:nvCxnSpPr>
        <p:spPr>
          <a:xfrm rot="16200000" flipH="1">
            <a:off x="2738020" y="538725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02A806C5-7E3A-73EB-7CA5-97B18DB5789E}"/>
              </a:ext>
            </a:extLst>
          </p:cNvPr>
          <p:cNvCxnSpPr>
            <a:cxnSpLocks/>
            <a:stCxn id="43" idx="2"/>
            <a:endCxn id="324" idx="1"/>
          </p:cNvCxnSpPr>
          <p:nvPr/>
        </p:nvCxnSpPr>
        <p:spPr>
          <a:xfrm rot="16200000" flipH="1">
            <a:off x="2530291" y="746454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08F3FAFC-B1EE-BB5A-1410-E54A513FBA45}"/>
              </a:ext>
            </a:extLst>
          </p:cNvPr>
          <p:cNvSpPr/>
          <p:nvPr/>
        </p:nvSpPr>
        <p:spPr>
          <a:xfrm>
            <a:off x="-5642717" y="6479461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30DA6A7A-0F66-4F13-FCAE-099F04DDB480}"/>
              </a:ext>
            </a:extLst>
          </p:cNvPr>
          <p:cNvSpPr/>
          <p:nvPr/>
        </p:nvSpPr>
        <p:spPr>
          <a:xfrm>
            <a:off x="-4311842" y="3771132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2653B35-A750-C144-15FC-4E37DB56C4AC}"/>
              </a:ext>
            </a:extLst>
          </p:cNvPr>
          <p:cNvSpPr/>
          <p:nvPr/>
        </p:nvSpPr>
        <p:spPr>
          <a:xfrm>
            <a:off x="-4311842" y="413099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工具产品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4C9E78B6-B858-F756-4041-33E94F6293B5}"/>
              </a:ext>
            </a:extLst>
          </p:cNvPr>
          <p:cNvSpPr/>
          <p:nvPr/>
        </p:nvSpPr>
        <p:spPr>
          <a:xfrm>
            <a:off x="-4311842" y="4490847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BF4C5604-F77D-6EE4-B94C-828AE573B095}"/>
              </a:ext>
            </a:extLst>
          </p:cNvPr>
          <p:cNvSpPr/>
          <p:nvPr/>
        </p:nvSpPr>
        <p:spPr>
          <a:xfrm>
            <a:off x="-5642717" y="6104675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用增运营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E8C287-3E7F-B671-1786-C7D3C352D77A}"/>
              </a:ext>
            </a:extLst>
          </p:cNvPr>
          <p:cNvSpPr/>
          <p:nvPr/>
        </p:nvSpPr>
        <p:spPr>
          <a:xfrm>
            <a:off x="6487601" y="19924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评价星级运营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753B8170-8FF2-3458-6BD6-2D70FEC21FCF}"/>
              </a:ext>
            </a:extLst>
          </p:cNvPr>
          <p:cNvCxnSpPr>
            <a:cxnSpLocks/>
            <a:stCxn id="17" idx="2"/>
            <a:endCxn id="2" idx="0"/>
          </p:cNvCxnSpPr>
          <p:nvPr/>
        </p:nvCxnSpPr>
        <p:spPr>
          <a:xfrm rot="16200000" flipH="1">
            <a:off x="5469607" y="-1954348"/>
            <a:ext cx="212843" cy="3735699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FC4C1998-CE24-2EE6-6136-48A0CB573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95624" y="376593"/>
            <a:ext cx="5606854" cy="2579249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9930ADF0-929F-9C05-CDDD-B8947EB0BCE1}"/>
              </a:ext>
            </a:extLst>
          </p:cNvPr>
          <p:cNvSpPr/>
          <p:nvPr/>
        </p:nvSpPr>
        <p:spPr>
          <a:xfrm>
            <a:off x="730868" y="188625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开放联名榜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29F46B1C-ED5D-87FF-4B1E-77CE1656AD8B}"/>
              </a:ext>
            </a:extLst>
          </p:cNvPr>
          <p:cNvCxnSpPr>
            <a:cxnSpLocks/>
            <a:stCxn id="29" idx="2"/>
            <a:endCxn id="46" idx="1"/>
          </p:cNvCxnSpPr>
          <p:nvPr/>
        </p:nvCxnSpPr>
        <p:spPr>
          <a:xfrm rot="16200000" flipH="1">
            <a:off x="-173611" y="1173859"/>
            <a:ext cx="1692481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3C468E9A-591A-A454-514D-C9C8C8C01B39}"/>
              </a:ext>
            </a:extLst>
          </p:cNvPr>
          <p:cNvSpPr/>
          <p:nvPr/>
        </p:nvSpPr>
        <p:spPr>
          <a:xfrm>
            <a:off x="5308088" y="63425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864EA430-2D97-A18B-D8B1-C6DA6F94D1DC}"/>
              </a:ext>
            </a:extLst>
          </p:cNvPr>
          <p:cNvSpPr/>
          <p:nvPr/>
        </p:nvSpPr>
        <p:spPr>
          <a:xfrm>
            <a:off x="5308088" y="107026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9CD2C573-6AD2-5EBD-10A1-1E8E0127BC1C}"/>
              </a:ext>
            </a:extLst>
          </p:cNvPr>
          <p:cNvCxnSpPr>
            <a:cxnSpLocks/>
            <a:endCxn id="132" idx="1"/>
          </p:cNvCxnSpPr>
          <p:nvPr/>
        </p:nvCxnSpPr>
        <p:spPr>
          <a:xfrm rot="16200000" flipH="1">
            <a:off x="5014515" y="532764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0AD8B040-5D10-171A-7159-4F878117E2E8}"/>
              </a:ext>
            </a:extLst>
          </p:cNvPr>
          <p:cNvCxnSpPr>
            <a:cxnSpLocks/>
            <a:endCxn id="133" idx="1"/>
          </p:cNvCxnSpPr>
          <p:nvPr/>
        </p:nvCxnSpPr>
        <p:spPr>
          <a:xfrm rot="16200000" flipH="1">
            <a:off x="4806786" y="761046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74105963-4FDC-93E0-3A9D-64DCE5F936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91629" y="513970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连接符: 肘形 142">
            <a:extLst>
              <a:ext uri="{FF2B5EF4-FFF2-40B4-BE49-F238E27FC236}">
                <a16:creationId xmlns:a16="http://schemas.microsoft.com/office/drawing/2014/main" id="{BF7381B2-5C29-2FE6-E787-6C5593FAFE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83900" y="721699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5B36DE2D-938C-E989-1D35-4CB2911B06E3}"/>
              </a:ext>
            </a:extLst>
          </p:cNvPr>
          <p:cNvSpPr/>
          <p:nvPr/>
        </p:nvSpPr>
        <p:spPr>
          <a:xfrm>
            <a:off x="7585200" y="1519569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星评公信力协同</a:t>
            </a:r>
          </a:p>
        </p:txBody>
      </p: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28FA9B26-258A-FD7F-16A5-19C3FFB39D94}"/>
              </a:ext>
            </a:extLst>
          </p:cNvPr>
          <p:cNvCxnSpPr>
            <a:cxnSpLocks/>
            <a:stCxn id="2" idx="2"/>
            <a:endCxn id="152" idx="1"/>
          </p:cNvCxnSpPr>
          <p:nvPr/>
        </p:nvCxnSpPr>
        <p:spPr>
          <a:xfrm rot="16200000" flipH="1">
            <a:off x="6850796" y="977252"/>
            <a:ext cx="1327486" cy="141322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矩形 163">
            <a:extLst>
              <a:ext uri="{FF2B5EF4-FFF2-40B4-BE49-F238E27FC236}">
                <a16:creationId xmlns:a16="http://schemas.microsoft.com/office/drawing/2014/main" id="{F8A2AE3C-6E5B-C159-B6FF-DF46454B4F23}"/>
              </a:ext>
            </a:extLst>
          </p:cNvPr>
          <p:cNvSpPr/>
          <p:nvPr/>
        </p:nvSpPr>
        <p:spPr>
          <a:xfrm>
            <a:off x="1161257" y="358227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7687C7B-7381-219D-A07C-2F6A8757AB43}"/>
              </a:ext>
            </a:extLst>
          </p:cNvPr>
          <p:cNvSpPr/>
          <p:nvPr/>
        </p:nvSpPr>
        <p:spPr>
          <a:xfrm>
            <a:off x="1161257" y="399767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967240B8-8E46-3173-9BE5-E76E4DC48F49}"/>
              </a:ext>
            </a:extLst>
          </p:cNvPr>
          <p:cNvSpPr/>
          <p:nvPr/>
        </p:nvSpPr>
        <p:spPr>
          <a:xfrm>
            <a:off x="1161256" y="441307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67" name="Rectangle 15">
            <a:extLst>
              <a:ext uri="{FF2B5EF4-FFF2-40B4-BE49-F238E27FC236}">
                <a16:creationId xmlns:a16="http://schemas.microsoft.com/office/drawing/2014/main" id="{CAE3FBCE-F3CB-A048-9C31-75660D22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963" y="3074961"/>
            <a:ext cx="1620665" cy="3612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16F48771-37C7-281D-8B74-CB21A3515732}"/>
              </a:ext>
            </a:extLst>
          </p:cNvPr>
          <p:cNvSpPr/>
          <p:nvPr/>
        </p:nvSpPr>
        <p:spPr>
          <a:xfrm>
            <a:off x="3461981" y="3594415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C6077548-574B-61A6-7D6A-90652C911294}"/>
              </a:ext>
            </a:extLst>
          </p:cNvPr>
          <p:cNvSpPr/>
          <p:nvPr/>
        </p:nvSpPr>
        <p:spPr>
          <a:xfrm>
            <a:off x="3461981" y="400987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247BF3F3-36CE-D4E3-0F4F-F316EFD06B4E}"/>
              </a:ext>
            </a:extLst>
          </p:cNvPr>
          <p:cNvSpPr/>
          <p:nvPr/>
        </p:nvSpPr>
        <p:spPr>
          <a:xfrm>
            <a:off x="8015588" y="356572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评价激励策略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AC59FFCD-AD69-394D-00D6-4B397AEE8D41}"/>
              </a:ext>
            </a:extLst>
          </p:cNvPr>
          <p:cNvSpPr/>
          <p:nvPr/>
        </p:nvSpPr>
        <p:spPr>
          <a:xfrm>
            <a:off x="8015588" y="402034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评价体验提升</a:t>
            </a:r>
          </a:p>
        </p:txBody>
      </p: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CB2D445B-83C0-25EB-B070-4EC9A70C55A9}"/>
              </a:ext>
            </a:extLst>
          </p:cNvPr>
          <p:cNvCxnSpPr>
            <a:cxnSpLocks/>
            <a:stCxn id="176" idx="2"/>
            <a:endCxn id="178" idx="0"/>
          </p:cNvCxnSpPr>
          <p:nvPr/>
        </p:nvCxnSpPr>
        <p:spPr>
          <a:xfrm rot="5400000">
            <a:off x="2484408" y="1321656"/>
            <a:ext cx="214531" cy="309378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0FA21255-712F-277B-F12D-EDEC0D9EDBBF}"/>
              </a:ext>
            </a:extLst>
          </p:cNvPr>
          <p:cNvCxnSpPr>
            <a:cxnSpLocks/>
            <a:stCxn id="176" idx="2"/>
            <a:endCxn id="179" idx="0"/>
          </p:cNvCxnSpPr>
          <p:nvPr/>
        </p:nvCxnSpPr>
        <p:spPr>
          <a:xfrm rot="16200000" flipH="1">
            <a:off x="4758932" y="2140920"/>
            <a:ext cx="218474" cy="145920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DAC87BA7-72DF-3380-F532-CB18DAF99FC7}"/>
              </a:ext>
            </a:extLst>
          </p:cNvPr>
          <p:cNvSpPr/>
          <p:nvPr/>
        </p:nvSpPr>
        <p:spPr>
          <a:xfrm>
            <a:off x="2990947" y="2213747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1EDCE36F-9528-FBE6-8D38-A75A19C207DE}"/>
              </a:ext>
            </a:extLst>
          </p:cNvPr>
          <p:cNvCxnSpPr>
            <a:cxnSpLocks/>
            <a:stCxn id="176" idx="2"/>
            <a:endCxn id="184" idx="0"/>
          </p:cNvCxnSpPr>
          <p:nvPr/>
        </p:nvCxnSpPr>
        <p:spPr>
          <a:xfrm rot="5400000">
            <a:off x="3622656" y="2459904"/>
            <a:ext cx="214531" cy="8172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9B319E93-F23C-EA37-CEF9-0B4F2B29332F}"/>
              </a:ext>
            </a:extLst>
          </p:cNvPr>
          <p:cNvSpPr/>
          <p:nvPr/>
        </p:nvSpPr>
        <p:spPr>
          <a:xfrm>
            <a:off x="88502" y="2975816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854E3E06-0B08-1E77-3C1F-F135F8321E37}"/>
              </a:ext>
            </a:extLst>
          </p:cNvPr>
          <p:cNvSpPr/>
          <p:nvPr/>
        </p:nvSpPr>
        <p:spPr>
          <a:xfrm>
            <a:off x="4641494" y="2979759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3930C0C4-1056-300E-3FD7-F5AFB2B97BDD}"/>
              </a:ext>
            </a:extLst>
          </p:cNvPr>
          <p:cNvSpPr/>
          <p:nvPr/>
        </p:nvSpPr>
        <p:spPr>
          <a:xfrm>
            <a:off x="2364998" y="2975816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85" name="连接符: 肘形 184">
            <a:extLst>
              <a:ext uri="{FF2B5EF4-FFF2-40B4-BE49-F238E27FC236}">
                <a16:creationId xmlns:a16="http://schemas.microsoft.com/office/drawing/2014/main" id="{F7C924F6-210E-0F06-5A69-6688B49A9716}"/>
              </a:ext>
            </a:extLst>
          </p:cNvPr>
          <p:cNvCxnSpPr>
            <a:cxnSpLocks/>
            <a:stCxn id="178" idx="2"/>
            <a:endCxn id="164" idx="1"/>
          </p:cNvCxnSpPr>
          <p:nvPr/>
        </p:nvCxnSpPr>
        <p:spPr>
          <a:xfrm rot="16200000" flipH="1">
            <a:off x="885869" y="3498972"/>
            <a:ext cx="434299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连接符: 肘形 186">
            <a:extLst>
              <a:ext uri="{FF2B5EF4-FFF2-40B4-BE49-F238E27FC236}">
                <a16:creationId xmlns:a16="http://schemas.microsoft.com/office/drawing/2014/main" id="{EAFFACE4-866B-CE8B-7D12-E42D82FB1326}"/>
              </a:ext>
            </a:extLst>
          </p:cNvPr>
          <p:cNvCxnSpPr>
            <a:cxnSpLocks/>
            <a:stCxn id="178" idx="2"/>
            <a:endCxn id="165" idx="1"/>
          </p:cNvCxnSpPr>
          <p:nvPr/>
        </p:nvCxnSpPr>
        <p:spPr>
          <a:xfrm rot="16200000" flipH="1">
            <a:off x="678170" y="3706671"/>
            <a:ext cx="84969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37A8558D-1032-2C9A-3C70-5A6D15DB4BB3}"/>
              </a:ext>
            </a:extLst>
          </p:cNvPr>
          <p:cNvCxnSpPr>
            <a:cxnSpLocks/>
            <a:stCxn id="178" idx="2"/>
            <a:endCxn id="166" idx="1"/>
          </p:cNvCxnSpPr>
          <p:nvPr/>
        </p:nvCxnSpPr>
        <p:spPr>
          <a:xfrm rot="16200000" flipH="1">
            <a:off x="470470" y="3914370"/>
            <a:ext cx="1265095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F43B0C3A-500E-7FF2-97DA-B2FD7FEDEA86}"/>
              </a:ext>
            </a:extLst>
          </p:cNvPr>
          <p:cNvCxnSpPr>
            <a:cxnSpLocks/>
            <a:stCxn id="184" idx="2"/>
            <a:endCxn id="168" idx="1"/>
          </p:cNvCxnSpPr>
          <p:nvPr/>
        </p:nvCxnSpPr>
        <p:spPr>
          <a:xfrm rot="16200000" flipH="1">
            <a:off x="3168408" y="3492929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连接符: 肘形 189">
            <a:extLst>
              <a:ext uri="{FF2B5EF4-FFF2-40B4-BE49-F238E27FC236}">
                <a16:creationId xmlns:a16="http://schemas.microsoft.com/office/drawing/2014/main" id="{B001BE91-7F97-0598-F9B7-BFE4C30ECC08}"/>
              </a:ext>
            </a:extLst>
          </p:cNvPr>
          <p:cNvCxnSpPr>
            <a:cxnSpLocks/>
            <a:stCxn id="184" idx="2"/>
            <a:endCxn id="169" idx="1"/>
          </p:cNvCxnSpPr>
          <p:nvPr/>
        </p:nvCxnSpPr>
        <p:spPr>
          <a:xfrm rot="16200000" flipH="1">
            <a:off x="2960679" y="3700658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9BDD17D5-DD35-226D-B360-45D941E93DB5}"/>
              </a:ext>
            </a:extLst>
          </p:cNvPr>
          <p:cNvSpPr/>
          <p:nvPr/>
        </p:nvSpPr>
        <p:spPr>
          <a:xfrm>
            <a:off x="6917989" y="2974128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评价星级运营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8B5D5017-CC67-BB68-7F62-8AD4D4564C88}"/>
              </a:ext>
            </a:extLst>
          </p:cNvPr>
          <p:cNvCxnSpPr>
            <a:cxnSpLocks/>
            <a:stCxn id="176" idx="2"/>
            <a:endCxn id="191" idx="0"/>
          </p:cNvCxnSpPr>
          <p:nvPr/>
        </p:nvCxnSpPr>
        <p:spPr>
          <a:xfrm rot="16200000" flipH="1">
            <a:off x="5899995" y="999856"/>
            <a:ext cx="212843" cy="3735699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7" name="矩形 256">
            <a:extLst>
              <a:ext uri="{FF2B5EF4-FFF2-40B4-BE49-F238E27FC236}">
                <a16:creationId xmlns:a16="http://schemas.microsoft.com/office/drawing/2014/main" id="{602A0EDF-6CBF-720D-3857-51789B295836}"/>
              </a:ext>
            </a:extLst>
          </p:cNvPr>
          <p:cNvSpPr/>
          <p:nvPr/>
        </p:nvSpPr>
        <p:spPr>
          <a:xfrm>
            <a:off x="1161256" y="4840456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开放联名榜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58" name="连接符: 肘形 257">
            <a:extLst>
              <a:ext uri="{FF2B5EF4-FFF2-40B4-BE49-F238E27FC236}">
                <a16:creationId xmlns:a16="http://schemas.microsoft.com/office/drawing/2014/main" id="{9D8A8A87-1B32-2B31-956C-4DB590668C1E}"/>
              </a:ext>
            </a:extLst>
          </p:cNvPr>
          <p:cNvCxnSpPr>
            <a:cxnSpLocks/>
            <a:stCxn id="178" idx="2"/>
            <a:endCxn id="257" idx="1"/>
          </p:cNvCxnSpPr>
          <p:nvPr/>
        </p:nvCxnSpPr>
        <p:spPr>
          <a:xfrm rot="16200000" flipH="1">
            <a:off x="256777" y="4128063"/>
            <a:ext cx="1692481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9" name="矩形 258">
            <a:extLst>
              <a:ext uri="{FF2B5EF4-FFF2-40B4-BE49-F238E27FC236}">
                <a16:creationId xmlns:a16="http://schemas.microsoft.com/office/drawing/2014/main" id="{8D03899B-8651-32B6-5715-7C70037282F7}"/>
              </a:ext>
            </a:extLst>
          </p:cNvPr>
          <p:cNvSpPr/>
          <p:nvPr/>
        </p:nvSpPr>
        <p:spPr>
          <a:xfrm>
            <a:off x="5738476" y="358845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1E76CA0-6638-8843-070D-F9B52C2FFE2A}"/>
              </a:ext>
            </a:extLst>
          </p:cNvPr>
          <p:cNvSpPr/>
          <p:nvPr/>
        </p:nvSpPr>
        <p:spPr>
          <a:xfrm>
            <a:off x="5738476" y="4024466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61" name="连接符: 肘形 260">
            <a:extLst>
              <a:ext uri="{FF2B5EF4-FFF2-40B4-BE49-F238E27FC236}">
                <a16:creationId xmlns:a16="http://schemas.microsoft.com/office/drawing/2014/main" id="{FECE38AD-B7B3-85E1-49C5-DD5821ED3367}"/>
              </a:ext>
            </a:extLst>
          </p:cNvPr>
          <p:cNvCxnSpPr>
            <a:cxnSpLocks/>
            <a:endCxn id="259" idx="1"/>
          </p:cNvCxnSpPr>
          <p:nvPr/>
        </p:nvCxnSpPr>
        <p:spPr>
          <a:xfrm rot="16200000" flipH="1">
            <a:off x="5444903" y="3486968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连接符: 肘形 261">
            <a:extLst>
              <a:ext uri="{FF2B5EF4-FFF2-40B4-BE49-F238E27FC236}">
                <a16:creationId xmlns:a16="http://schemas.microsoft.com/office/drawing/2014/main" id="{06D6528F-C303-7571-2FC4-3F60E631F3C5}"/>
              </a:ext>
            </a:extLst>
          </p:cNvPr>
          <p:cNvCxnSpPr>
            <a:cxnSpLocks/>
            <a:endCxn id="260" idx="1"/>
          </p:cNvCxnSpPr>
          <p:nvPr/>
        </p:nvCxnSpPr>
        <p:spPr>
          <a:xfrm rot="16200000" flipH="1">
            <a:off x="5237174" y="3715250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连接符: 肘形 262">
            <a:extLst>
              <a:ext uri="{FF2B5EF4-FFF2-40B4-BE49-F238E27FC236}">
                <a16:creationId xmlns:a16="http://schemas.microsoft.com/office/drawing/2014/main" id="{FD5E81DF-9B5C-BB9D-AE9F-C719D25D8F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22017" y="3468174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4" name="连接符: 肘形 263">
            <a:extLst>
              <a:ext uri="{FF2B5EF4-FFF2-40B4-BE49-F238E27FC236}">
                <a16:creationId xmlns:a16="http://schemas.microsoft.com/office/drawing/2014/main" id="{2DCFDBA0-2C67-056B-B2D3-96162FB93D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14288" y="3675903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矩形 264">
            <a:extLst>
              <a:ext uri="{FF2B5EF4-FFF2-40B4-BE49-F238E27FC236}">
                <a16:creationId xmlns:a16="http://schemas.microsoft.com/office/drawing/2014/main" id="{9E6B3CD1-BD7D-2718-D596-4973A894F6B8}"/>
              </a:ext>
            </a:extLst>
          </p:cNvPr>
          <p:cNvSpPr/>
          <p:nvPr/>
        </p:nvSpPr>
        <p:spPr>
          <a:xfrm>
            <a:off x="8015588" y="447377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星评公信力协同</a:t>
            </a:r>
          </a:p>
        </p:txBody>
      </p:sp>
      <p:cxnSp>
        <p:nvCxnSpPr>
          <p:cNvPr id="266" name="连接符: 肘形 265">
            <a:extLst>
              <a:ext uri="{FF2B5EF4-FFF2-40B4-BE49-F238E27FC236}">
                <a16:creationId xmlns:a16="http://schemas.microsoft.com/office/drawing/2014/main" id="{88EDBA1C-21FC-C0F1-0D97-D7FE9104C46B}"/>
              </a:ext>
            </a:extLst>
          </p:cNvPr>
          <p:cNvCxnSpPr>
            <a:cxnSpLocks/>
            <a:stCxn id="191" idx="2"/>
            <a:endCxn id="265" idx="1"/>
          </p:cNvCxnSpPr>
          <p:nvPr/>
        </p:nvCxnSpPr>
        <p:spPr>
          <a:xfrm rot="16200000" flipH="1">
            <a:off x="7281184" y="3931456"/>
            <a:ext cx="1327486" cy="141322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43327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 266">
            <a:extLst>
              <a:ext uri="{FF2B5EF4-FFF2-40B4-BE49-F238E27FC236}">
                <a16:creationId xmlns:a16="http://schemas.microsoft.com/office/drawing/2014/main" id="{3C772828-93AE-B349-EEC3-1546EEEF7F1A}"/>
              </a:ext>
            </a:extLst>
          </p:cNvPr>
          <p:cNvSpPr/>
          <p:nvPr/>
        </p:nvSpPr>
        <p:spPr>
          <a:xfrm>
            <a:off x="10952241" y="-2284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D4ADBA46-BB3B-04BE-60E7-71204EBB5C60}"/>
              </a:ext>
            </a:extLst>
          </p:cNvPr>
          <p:cNvSpPr/>
          <p:nvPr/>
        </p:nvSpPr>
        <p:spPr>
          <a:xfrm>
            <a:off x="10952241" y="392556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8E3BF89E-740C-84F7-1D6C-C7B367DE4F88}"/>
              </a:ext>
            </a:extLst>
          </p:cNvPr>
          <p:cNvSpPr/>
          <p:nvPr/>
        </p:nvSpPr>
        <p:spPr>
          <a:xfrm>
            <a:off x="10952240" y="807954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0" name="Rectangle 15">
            <a:extLst>
              <a:ext uri="{FF2B5EF4-FFF2-40B4-BE49-F238E27FC236}">
                <a16:creationId xmlns:a16="http://schemas.microsoft.com/office/drawing/2014/main" id="{F0D668CA-91C5-8C4B-0B97-4C4963C49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9947" y="-530155"/>
            <a:ext cx="1620665" cy="3612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4465036-FE19-6A7D-3967-2F7F514447CC}"/>
              </a:ext>
            </a:extLst>
          </p:cNvPr>
          <p:cNvSpPr/>
          <p:nvPr/>
        </p:nvSpPr>
        <p:spPr>
          <a:xfrm>
            <a:off x="13252965" y="-10701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1F32CB0E-40E6-1D29-C3CB-86E9AC153664}"/>
              </a:ext>
            </a:extLst>
          </p:cNvPr>
          <p:cNvSpPr/>
          <p:nvPr/>
        </p:nvSpPr>
        <p:spPr>
          <a:xfrm>
            <a:off x="13252965" y="404758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882873B-F12E-2AD0-3AF0-55216B00D28D}"/>
              </a:ext>
            </a:extLst>
          </p:cNvPr>
          <p:cNvSpPr/>
          <p:nvPr/>
        </p:nvSpPr>
        <p:spPr>
          <a:xfrm>
            <a:off x="17806572" y="-39393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评价激励策略</a:t>
            </a: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5F184965-609B-929D-C4D4-3EE9DD2621CD}"/>
              </a:ext>
            </a:extLst>
          </p:cNvPr>
          <p:cNvSpPr/>
          <p:nvPr/>
        </p:nvSpPr>
        <p:spPr>
          <a:xfrm>
            <a:off x="17806572" y="415227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评价体验提升</a:t>
            </a:r>
          </a:p>
        </p:txBody>
      </p: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9501F505-4364-AE72-9BE7-DEDB7FA37CD6}"/>
              </a:ext>
            </a:extLst>
          </p:cNvPr>
          <p:cNvCxnSpPr>
            <a:cxnSpLocks/>
            <a:stCxn id="277" idx="2"/>
            <a:endCxn id="279" idx="0"/>
          </p:cNvCxnSpPr>
          <p:nvPr/>
        </p:nvCxnSpPr>
        <p:spPr>
          <a:xfrm rot="5400000">
            <a:off x="12275392" y="-2283460"/>
            <a:ext cx="214531" cy="3093788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连接符: 肘形 275">
            <a:extLst>
              <a:ext uri="{FF2B5EF4-FFF2-40B4-BE49-F238E27FC236}">
                <a16:creationId xmlns:a16="http://schemas.microsoft.com/office/drawing/2014/main" id="{9070CA6E-969C-E893-3FA8-3CA85CC37F3D}"/>
              </a:ext>
            </a:extLst>
          </p:cNvPr>
          <p:cNvCxnSpPr>
            <a:cxnSpLocks/>
            <a:stCxn id="277" idx="2"/>
            <a:endCxn id="280" idx="0"/>
          </p:cNvCxnSpPr>
          <p:nvPr/>
        </p:nvCxnSpPr>
        <p:spPr>
          <a:xfrm rot="16200000" flipH="1">
            <a:off x="14549916" y="-1464196"/>
            <a:ext cx="218474" cy="1459204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E59A1131-56CC-847F-1476-41045396D169}"/>
              </a:ext>
            </a:extLst>
          </p:cNvPr>
          <p:cNvSpPr/>
          <p:nvPr/>
        </p:nvSpPr>
        <p:spPr>
          <a:xfrm>
            <a:off x="12781931" y="-1391369"/>
            <a:ext cx="2295240" cy="5475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8" name="连接符: 肘形 277">
            <a:extLst>
              <a:ext uri="{FF2B5EF4-FFF2-40B4-BE49-F238E27FC236}">
                <a16:creationId xmlns:a16="http://schemas.microsoft.com/office/drawing/2014/main" id="{F6AFB557-1BAA-D654-3F4D-669BF904D672}"/>
              </a:ext>
            </a:extLst>
          </p:cNvPr>
          <p:cNvCxnSpPr>
            <a:cxnSpLocks/>
            <a:stCxn id="277" idx="2"/>
            <a:endCxn id="281" idx="0"/>
          </p:cNvCxnSpPr>
          <p:nvPr/>
        </p:nvCxnSpPr>
        <p:spPr>
          <a:xfrm rot="5400000">
            <a:off x="13413640" y="-1145212"/>
            <a:ext cx="214531" cy="81729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F9252084-5FD6-0F00-3747-BB10D8A3D9AB}"/>
              </a:ext>
            </a:extLst>
          </p:cNvPr>
          <p:cNvSpPr/>
          <p:nvPr/>
        </p:nvSpPr>
        <p:spPr>
          <a:xfrm>
            <a:off x="9879486" y="-629300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399029AC-D4AE-4EE3-B103-9F05AF922B27}"/>
              </a:ext>
            </a:extLst>
          </p:cNvPr>
          <p:cNvSpPr/>
          <p:nvPr/>
        </p:nvSpPr>
        <p:spPr>
          <a:xfrm>
            <a:off x="14432478" y="-625357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1" name="矩形: 圆角 280">
            <a:extLst>
              <a:ext uri="{FF2B5EF4-FFF2-40B4-BE49-F238E27FC236}">
                <a16:creationId xmlns:a16="http://schemas.microsoft.com/office/drawing/2014/main" id="{A7AAED63-F0DA-5CD7-6ACD-4DE6B7A014DC}"/>
              </a:ext>
            </a:extLst>
          </p:cNvPr>
          <p:cNvSpPr/>
          <p:nvPr/>
        </p:nvSpPr>
        <p:spPr>
          <a:xfrm>
            <a:off x="12155982" y="-629300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82" name="连接符: 肘形 281">
            <a:extLst>
              <a:ext uri="{FF2B5EF4-FFF2-40B4-BE49-F238E27FC236}">
                <a16:creationId xmlns:a16="http://schemas.microsoft.com/office/drawing/2014/main" id="{D633F9A8-3429-6CFB-5CE9-48D3CDB6448A}"/>
              </a:ext>
            </a:extLst>
          </p:cNvPr>
          <p:cNvCxnSpPr>
            <a:cxnSpLocks/>
            <a:stCxn id="279" idx="2"/>
            <a:endCxn id="267" idx="1"/>
          </p:cNvCxnSpPr>
          <p:nvPr/>
        </p:nvCxnSpPr>
        <p:spPr>
          <a:xfrm rot="16200000" flipH="1">
            <a:off x="10676853" y="-106144"/>
            <a:ext cx="434299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连接符: 肘形 282">
            <a:extLst>
              <a:ext uri="{FF2B5EF4-FFF2-40B4-BE49-F238E27FC236}">
                <a16:creationId xmlns:a16="http://schemas.microsoft.com/office/drawing/2014/main" id="{EB071EA9-5C89-BB2D-D5B3-737DA02CB29B}"/>
              </a:ext>
            </a:extLst>
          </p:cNvPr>
          <p:cNvCxnSpPr>
            <a:cxnSpLocks/>
            <a:stCxn id="279" idx="2"/>
            <a:endCxn id="268" idx="1"/>
          </p:cNvCxnSpPr>
          <p:nvPr/>
        </p:nvCxnSpPr>
        <p:spPr>
          <a:xfrm rot="16200000" flipH="1">
            <a:off x="10469154" y="101555"/>
            <a:ext cx="849697" cy="116478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连接符: 肘形 283">
            <a:extLst>
              <a:ext uri="{FF2B5EF4-FFF2-40B4-BE49-F238E27FC236}">
                <a16:creationId xmlns:a16="http://schemas.microsoft.com/office/drawing/2014/main" id="{E111F909-BFD9-E76A-DF92-A316688EE7D0}"/>
              </a:ext>
            </a:extLst>
          </p:cNvPr>
          <p:cNvCxnSpPr>
            <a:cxnSpLocks/>
            <a:stCxn id="279" idx="2"/>
            <a:endCxn id="269" idx="1"/>
          </p:cNvCxnSpPr>
          <p:nvPr/>
        </p:nvCxnSpPr>
        <p:spPr>
          <a:xfrm rot="16200000" flipH="1">
            <a:off x="10261454" y="309254"/>
            <a:ext cx="1265095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连接符: 肘形 284">
            <a:extLst>
              <a:ext uri="{FF2B5EF4-FFF2-40B4-BE49-F238E27FC236}">
                <a16:creationId xmlns:a16="http://schemas.microsoft.com/office/drawing/2014/main" id="{DFCDEC9A-5E17-3AAF-BECC-57862484E178}"/>
              </a:ext>
            </a:extLst>
          </p:cNvPr>
          <p:cNvCxnSpPr>
            <a:cxnSpLocks/>
            <a:stCxn id="281" idx="2"/>
            <a:endCxn id="271" idx="1"/>
          </p:cNvCxnSpPr>
          <p:nvPr/>
        </p:nvCxnSpPr>
        <p:spPr>
          <a:xfrm rot="16200000" flipH="1">
            <a:off x="12959392" y="-112187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连接符: 肘形 285">
            <a:extLst>
              <a:ext uri="{FF2B5EF4-FFF2-40B4-BE49-F238E27FC236}">
                <a16:creationId xmlns:a16="http://schemas.microsoft.com/office/drawing/2014/main" id="{2D16C376-40B7-3162-F0CA-3AA8CCA81E06}"/>
              </a:ext>
            </a:extLst>
          </p:cNvPr>
          <p:cNvCxnSpPr>
            <a:cxnSpLocks/>
            <a:stCxn id="281" idx="2"/>
            <a:endCxn id="272" idx="1"/>
          </p:cNvCxnSpPr>
          <p:nvPr/>
        </p:nvCxnSpPr>
        <p:spPr>
          <a:xfrm rot="16200000" flipH="1">
            <a:off x="12751663" y="95542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7" name="矩形: 圆角 286">
            <a:extLst>
              <a:ext uri="{FF2B5EF4-FFF2-40B4-BE49-F238E27FC236}">
                <a16:creationId xmlns:a16="http://schemas.microsoft.com/office/drawing/2014/main" id="{817CD6BB-84B1-5AF1-59DD-CB06363E96F4}"/>
              </a:ext>
            </a:extLst>
          </p:cNvPr>
          <p:cNvSpPr/>
          <p:nvPr/>
        </p:nvSpPr>
        <p:spPr>
          <a:xfrm>
            <a:off x="16773714" y="-622809"/>
            <a:ext cx="1912553" cy="3642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评价星级运营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DE7450FE-62E5-2970-D7EC-C5220D1A205F}"/>
              </a:ext>
            </a:extLst>
          </p:cNvPr>
          <p:cNvSpPr/>
          <p:nvPr/>
        </p:nvSpPr>
        <p:spPr>
          <a:xfrm>
            <a:off x="10952240" y="123534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开放联名榜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290" name="连接符: 肘形 289">
            <a:extLst>
              <a:ext uri="{FF2B5EF4-FFF2-40B4-BE49-F238E27FC236}">
                <a16:creationId xmlns:a16="http://schemas.microsoft.com/office/drawing/2014/main" id="{71057803-A194-2361-D18A-3A7D0BA43719}"/>
              </a:ext>
            </a:extLst>
          </p:cNvPr>
          <p:cNvCxnSpPr>
            <a:cxnSpLocks/>
            <a:stCxn id="279" idx="2"/>
            <a:endCxn id="289" idx="1"/>
          </p:cNvCxnSpPr>
          <p:nvPr/>
        </p:nvCxnSpPr>
        <p:spPr>
          <a:xfrm rot="16200000" flipH="1">
            <a:off x="10047761" y="522947"/>
            <a:ext cx="1692481" cy="116477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矩形 290">
            <a:extLst>
              <a:ext uri="{FF2B5EF4-FFF2-40B4-BE49-F238E27FC236}">
                <a16:creationId xmlns:a16="http://schemas.microsoft.com/office/drawing/2014/main" id="{37A6B96F-BA65-C86F-2A0D-D4C8CB51F2F5}"/>
              </a:ext>
            </a:extLst>
          </p:cNvPr>
          <p:cNvSpPr/>
          <p:nvPr/>
        </p:nvSpPr>
        <p:spPr>
          <a:xfrm>
            <a:off x="15529460" y="-16662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FBDC3B95-C53A-9511-AE55-D540E6704860}"/>
              </a:ext>
            </a:extLst>
          </p:cNvPr>
          <p:cNvSpPr/>
          <p:nvPr/>
        </p:nvSpPr>
        <p:spPr>
          <a:xfrm>
            <a:off x="15529460" y="419350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93" name="连接符: 肘形 292">
            <a:extLst>
              <a:ext uri="{FF2B5EF4-FFF2-40B4-BE49-F238E27FC236}">
                <a16:creationId xmlns:a16="http://schemas.microsoft.com/office/drawing/2014/main" id="{36A648BF-D9A2-92E9-90EE-B61B06E769B9}"/>
              </a:ext>
            </a:extLst>
          </p:cNvPr>
          <p:cNvCxnSpPr>
            <a:cxnSpLocks/>
            <a:endCxn id="291" idx="1"/>
          </p:cNvCxnSpPr>
          <p:nvPr/>
        </p:nvCxnSpPr>
        <p:spPr>
          <a:xfrm rot="16200000" flipH="1">
            <a:off x="15235887" y="-118148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4" name="连接符: 肘形 293">
            <a:extLst>
              <a:ext uri="{FF2B5EF4-FFF2-40B4-BE49-F238E27FC236}">
                <a16:creationId xmlns:a16="http://schemas.microsoft.com/office/drawing/2014/main" id="{C0ECAAD7-6E03-D112-D74B-7E6DB67228C6}"/>
              </a:ext>
            </a:extLst>
          </p:cNvPr>
          <p:cNvCxnSpPr>
            <a:cxnSpLocks/>
            <a:endCxn id="292" idx="1"/>
          </p:cNvCxnSpPr>
          <p:nvPr/>
        </p:nvCxnSpPr>
        <p:spPr>
          <a:xfrm rot="16200000" flipH="1">
            <a:off x="15028158" y="110134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连接符: 肘形 294">
            <a:extLst>
              <a:ext uri="{FF2B5EF4-FFF2-40B4-BE49-F238E27FC236}">
                <a16:creationId xmlns:a16="http://schemas.microsoft.com/office/drawing/2014/main" id="{2B32D2B6-44BA-0D4E-F437-3425BACEA33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13001" y="-136942"/>
            <a:ext cx="446440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连接符: 肘形 295">
            <a:extLst>
              <a:ext uri="{FF2B5EF4-FFF2-40B4-BE49-F238E27FC236}">
                <a16:creationId xmlns:a16="http://schemas.microsoft.com/office/drawing/2014/main" id="{25A403B9-93D7-8CFA-CA7D-F759051ACA2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305272" y="70787"/>
            <a:ext cx="861899" cy="140706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矩形 296">
            <a:extLst>
              <a:ext uri="{FF2B5EF4-FFF2-40B4-BE49-F238E27FC236}">
                <a16:creationId xmlns:a16="http://schemas.microsoft.com/office/drawing/2014/main" id="{3AD6370B-2649-F303-EE6A-C08C74C63009}"/>
              </a:ext>
            </a:extLst>
          </p:cNvPr>
          <p:cNvSpPr/>
          <p:nvPr/>
        </p:nvSpPr>
        <p:spPr>
          <a:xfrm>
            <a:off x="17806572" y="868657"/>
            <a:ext cx="1558800" cy="384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星评公信力协同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78282D-6E01-3202-0C6F-8B4DBEB641C9}"/>
              </a:ext>
            </a:extLst>
          </p:cNvPr>
          <p:cNvSpPr/>
          <p:nvPr/>
        </p:nvSpPr>
        <p:spPr>
          <a:xfrm>
            <a:off x="596821" y="566370"/>
            <a:ext cx="8741603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到餐：成为用户到店餐饮重决策的首选和长效经营商户的陪伴者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403567-29CE-DD23-C4A9-B791114866F8}"/>
              </a:ext>
            </a:extLst>
          </p:cNvPr>
          <p:cNvSpPr/>
          <p:nvPr/>
        </p:nvSpPr>
        <p:spPr>
          <a:xfrm>
            <a:off x="1936179" y="915949"/>
            <a:ext cx="4789460" cy="3048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服务用户能力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74B520-9631-678F-9136-963D6D387C36}"/>
              </a:ext>
            </a:extLst>
          </p:cNvPr>
          <p:cNvSpPr/>
          <p:nvPr/>
        </p:nvSpPr>
        <p:spPr>
          <a:xfrm>
            <a:off x="611166" y="915949"/>
            <a:ext cx="1261463" cy="3048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服务商户能力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318D81-69DB-6346-2734-96FC699288FA}"/>
              </a:ext>
            </a:extLst>
          </p:cNvPr>
          <p:cNvSpPr/>
          <p:nvPr/>
        </p:nvSpPr>
        <p:spPr>
          <a:xfrm>
            <a:off x="6782243" y="909794"/>
            <a:ext cx="1261463" cy="3048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3.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平台经营提效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7A91B8-4A6B-98A1-D2C6-46439EEE293D}"/>
              </a:ext>
            </a:extLst>
          </p:cNvPr>
          <p:cNvSpPr/>
          <p:nvPr/>
        </p:nvSpPr>
        <p:spPr>
          <a:xfrm>
            <a:off x="596823" y="2615555"/>
            <a:ext cx="3208619" cy="1025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OGC/PGC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），看榜决策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融入用户决策动线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FontTx/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占位用户需求，完善榜单矩阵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FontTx/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强化榜单品味及核心资产信息表达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DC7735-8433-F0AF-88D5-2C6E864F4F2F}"/>
              </a:ext>
            </a:extLst>
          </p:cNvPr>
          <p:cNvSpPr/>
          <p:nvPr/>
        </p:nvSpPr>
        <p:spPr>
          <a:xfrm>
            <a:off x="3898900" y="2614872"/>
            <a:ext cx="2396394" cy="1027757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评价内容（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UGC)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，看评决策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提升量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质，优化分布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优化看评路径及体验，提转化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作者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商家生态及公信力建设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609778-C269-6C03-D09B-86D61AF07217}"/>
              </a:ext>
            </a:extLst>
          </p:cNvPr>
          <p:cNvSpPr/>
          <p:nvPr/>
        </p:nvSpPr>
        <p:spPr>
          <a:xfrm>
            <a:off x="1922471" y="1286918"/>
            <a:ext cx="1831322" cy="28886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/>
            <a:r>
              <a:rPr lang="en-US" altLang="zh-CN" sz="1200" dirty="0">
                <a:solidFill>
                  <a:schemeClr val="tx1"/>
                </a:solidFill>
                <a:effectLst/>
                <a:latin typeface="+mn-ea"/>
              </a:rPr>
              <a:t>PMF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 线上选店选品决策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33DF9-C0F7-944D-42B2-B06DF40CC970}"/>
              </a:ext>
            </a:extLst>
          </p:cNvPr>
          <p:cNvSpPr/>
          <p:nvPr/>
        </p:nvSpPr>
        <p:spPr>
          <a:xfrm>
            <a:off x="3809205" y="1278921"/>
            <a:ext cx="1067595" cy="30480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/>
            <a:r>
              <a:rPr lang="en-US" altLang="zh-CN" sz="1200" dirty="0">
                <a:solidFill>
                  <a:schemeClr val="tx1"/>
                </a:solidFill>
                <a:effectLst/>
                <a:latin typeface="+mn-ea"/>
              </a:rPr>
              <a:t>PMF2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 找优惠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68F2B5-AF29-4646-749C-1470EEBC5621}"/>
              </a:ext>
            </a:extLst>
          </p:cNvPr>
          <p:cNvSpPr/>
          <p:nvPr/>
        </p:nvSpPr>
        <p:spPr>
          <a:xfrm>
            <a:off x="4927643" y="1286918"/>
            <a:ext cx="1797995" cy="28886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/>
            <a:r>
              <a:rPr lang="en-US" altLang="zh-CN" sz="1200" dirty="0">
                <a:solidFill>
                  <a:schemeClr val="tx1"/>
                </a:solidFill>
                <a:effectLst/>
                <a:latin typeface="+mn-ea"/>
              </a:rPr>
              <a:t>PMF3 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线下到店交履体验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A124B7-C0A0-7405-C181-95D641D9B804}"/>
              </a:ext>
            </a:extLst>
          </p:cNvPr>
          <p:cNvSpPr/>
          <p:nvPr/>
        </p:nvSpPr>
        <p:spPr>
          <a:xfrm>
            <a:off x="585478" y="2186452"/>
            <a:ext cx="8741603" cy="369332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资产运营：强化长期积累的差异化数据资产，构建有壁垒的用户到店餐饮消费决策信任体系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6B0084B9-0D1B-3FEB-3D9A-C5A8DB2224B3}"/>
              </a:ext>
            </a:extLst>
          </p:cNvPr>
          <p:cNvSpPr/>
          <p:nvPr/>
        </p:nvSpPr>
        <p:spPr>
          <a:xfrm rot="10800000">
            <a:off x="2800501" y="1732472"/>
            <a:ext cx="428625" cy="32905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0F46C38A-F2D7-F3B4-C656-298334E25429}"/>
              </a:ext>
            </a:extLst>
          </p:cNvPr>
          <p:cNvSpPr/>
          <p:nvPr/>
        </p:nvSpPr>
        <p:spPr>
          <a:xfrm rot="10800000">
            <a:off x="8472005" y="1748498"/>
            <a:ext cx="428625" cy="3290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DE7CA5-B519-8F82-628C-EF0E409484CF}"/>
              </a:ext>
            </a:extLst>
          </p:cNvPr>
          <p:cNvSpPr/>
          <p:nvPr/>
        </p:nvSpPr>
        <p:spPr>
          <a:xfrm>
            <a:off x="0" y="566370"/>
            <a:ext cx="513620" cy="10387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到餐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1B799AF-EA33-95FE-517B-FF9DFAC05C3C}"/>
              </a:ext>
            </a:extLst>
          </p:cNvPr>
          <p:cNvSpPr/>
          <p:nvPr/>
        </p:nvSpPr>
        <p:spPr>
          <a:xfrm>
            <a:off x="3958" y="2192264"/>
            <a:ext cx="513620" cy="2294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业务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82360B-3534-284E-53BE-2D48BAEA9628}"/>
              </a:ext>
            </a:extLst>
          </p:cNvPr>
          <p:cNvSpPr/>
          <p:nvPr/>
        </p:nvSpPr>
        <p:spPr>
          <a:xfrm>
            <a:off x="6049" y="4967616"/>
            <a:ext cx="513620" cy="13165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组织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B3115F-3268-D169-1E19-136196AB36D1}"/>
              </a:ext>
            </a:extLst>
          </p:cNvPr>
          <p:cNvSpPr/>
          <p:nvPr/>
        </p:nvSpPr>
        <p:spPr>
          <a:xfrm>
            <a:off x="0" y="6389874"/>
            <a:ext cx="513620" cy="955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个人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A75017-558A-C391-2DBB-C993ED8809DA}"/>
              </a:ext>
            </a:extLst>
          </p:cNvPr>
          <p:cNvSpPr/>
          <p:nvPr/>
        </p:nvSpPr>
        <p:spPr>
          <a:xfrm>
            <a:off x="6385580" y="2614872"/>
            <a:ext cx="2051620" cy="1027757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星级（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UGC+OGC)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，看分决策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匹配品类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区域演进规则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完善投诉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处置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沟通机制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FontTx/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优化星级表达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5781E2-4471-A28C-1C95-8BB134080E67}"/>
              </a:ext>
            </a:extLst>
          </p:cNvPr>
          <p:cNvSpPr/>
          <p:nvPr/>
        </p:nvSpPr>
        <p:spPr>
          <a:xfrm>
            <a:off x="8530656" y="2619036"/>
            <a:ext cx="790405" cy="1022479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chemeClr val="tx1"/>
                </a:solidFill>
                <a:latin typeface="+mn-ea"/>
              </a:rPr>
              <a:t>……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8E5B7F-316D-AA2A-7021-BF117899E3C0}"/>
              </a:ext>
            </a:extLst>
          </p:cNvPr>
          <p:cNvSpPr/>
          <p:nvPr/>
        </p:nvSpPr>
        <p:spPr>
          <a:xfrm>
            <a:off x="620691" y="3975714"/>
            <a:ext cx="8716010" cy="510751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2094F7-7CD6-6FDE-8A79-A06C98B6D22C}"/>
              </a:ext>
            </a:extLst>
          </p:cNvPr>
          <p:cNvSpPr/>
          <p:nvPr/>
        </p:nvSpPr>
        <p:spPr>
          <a:xfrm>
            <a:off x="2830758" y="5409134"/>
            <a:ext cx="2088000" cy="911145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资产建设能力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榜单矩阵建设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评价等资产建设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资产动态运营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203FB-BFB6-2A3D-0D28-2E8C6C105348}"/>
              </a:ext>
            </a:extLst>
          </p:cNvPr>
          <p:cNvSpPr/>
          <p:nvPr/>
        </p:nvSpPr>
        <p:spPr>
          <a:xfrm>
            <a:off x="620691" y="5409134"/>
            <a:ext cx="2088000" cy="91114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用户决策心智服务能力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需求分析及分层策略设计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决策动线设计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流量动态运营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DDA5E6-25A3-31E4-274C-8D091D51324B}"/>
              </a:ext>
            </a:extLst>
          </p:cNvPr>
          <p:cNvSpPr/>
          <p:nvPr/>
        </p:nvSpPr>
        <p:spPr>
          <a:xfrm>
            <a:off x="5040825" y="5409135"/>
            <a:ext cx="2088000" cy="911144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品味及公信力表达能力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规则评估及改善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核心资产信息展示设计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市场营销及生态建设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069B3F-FE6F-23A7-11DA-C44CE0BCC3FC}"/>
              </a:ext>
            </a:extLst>
          </p:cNvPr>
          <p:cNvSpPr/>
          <p:nvPr/>
        </p:nvSpPr>
        <p:spPr>
          <a:xfrm>
            <a:off x="3304513" y="4090425"/>
            <a:ext cx="3321817" cy="304799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从选店到选品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B41C4B-B6A8-1350-9A06-9CD000F561FF}"/>
              </a:ext>
            </a:extLst>
          </p:cNvPr>
          <p:cNvSpPr/>
          <p:nvPr/>
        </p:nvSpPr>
        <p:spPr>
          <a:xfrm>
            <a:off x="6497180" y="4076212"/>
            <a:ext cx="2403450" cy="304800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+AI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99BC79C-B6E1-6D28-5E01-C95F3FCBB908}"/>
              </a:ext>
            </a:extLst>
          </p:cNvPr>
          <p:cNvSpPr/>
          <p:nvPr/>
        </p:nvSpPr>
        <p:spPr>
          <a:xfrm>
            <a:off x="757115" y="4079475"/>
            <a:ext cx="3321817" cy="304799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探索中低线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DBA772-A83E-C27D-22FD-1E662A05C17A}"/>
              </a:ext>
            </a:extLst>
          </p:cNvPr>
          <p:cNvSpPr/>
          <p:nvPr/>
        </p:nvSpPr>
        <p:spPr>
          <a:xfrm>
            <a:off x="610529" y="4976550"/>
            <a:ext cx="8726392" cy="369332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加快团队核心能力、协同机制建设及人岗匹配。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确保高效运作，支持组织价值及目标达成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AF9308-2F2C-74DC-D471-4768235E0227}"/>
              </a:ext>
            </a:extLst>
          </p:cNvPr>
          <p:cNvSpPr/>
          <p:nvPr/>
        </p:nvSpPr>
        <p:spPr>
          <a:xfrm>
            <a:off x="7250893" y="5409134"/>
            <a:ext cx="2088000" cy="908606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协同机制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换位想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项目练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marL="85725" indent="-85725">
              <a:buAutoNum type="arabicPeriod"/>
            </a:pP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定期聊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一起访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A29FDA-97FB-F9F0-A01B-8CD5AD88384A}"/>
              </a:ext>
            </a:extLst>
          </p:cNvPr>
          <p:cNvSpPr/>
          <p:nvPr/>
        </p:nvSpPr>
        <p:spPr>
          <a:xfrm>
            <a:off x="620691" y="6387955"/>
            <a:ext cx="8700370" cy="369331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 dirty="0">
                <a:solidFill>
                  <a:schemeClr val="tx1"/>
                </a:solidFill>
                <a:effectLst/>
                <a:latin typeface="苹方-简"/>
              </a:rPr>
              <a:t>进一步加强对美团供给生态、物理世界和餐饮产业链理解。进一步发展领导力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75C9342-2AD0-E4D3-B096-B61D97E36221}"/>
              </a:ext>
            </a:extLst>
          </p:cNvPr>
          <p:cNvSpPr/>
          <p:nvPr/>
        </p:nvSpPr>
        <p:spPr>
          <a:xfrm>
            <a:off x="8076961" y="909794"/>
            <a:ext cx="1261463" cy="3048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4.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商业化能力</a:t>
            </a: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D63B0EFE-96B1-A9EE-C965-E0D150E4FD79}"/>
              </a:ext>
            </a:extLst>
          </p:cNvPr>
          <p:cNvSpPr/>
          <p:nvPr/>
        </p:nvSpPr>
        <p:spPr>
          <a:xfrm rot="10800000">
            <a:off x="958996" y="1732471"/>
            <a:ext cx="428625" cy="3290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F468206D-8A5E-0D47-8041-5965DCB7B9BB}"/>
              </a:ext>
            </a:extLst>
          </p:cNvPr>
          <p:cNvSpPr/>
          <p:nvPr/>
        </p:nvSpPr>
        <p:spPr>
          <a:xfrm rot="10800000">
            <a:off x="4595877" y="4565523"/>
            <a:ext cx="428625" cy="32905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0634D30-5495-514F-11D0-3D2E028E40FE}"/>
              </a:ext>
            </a:extLst>
          </p:cNvPr>
          <p:cNvCxnSpPr>
            <a:cxnSpLocks/>
          </p:cNvCxnSpPr>
          <p:nvPr/>
        </p:nvCxnSpPr>
        <p:spPr>
          <a:xfrm flipV="1">
            <a:off x="628650" y="3701286"/>
            <a:ext cx="828675" cy="274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917C210-1F2F-6980-F1C5-899252352FBF}"/>
              </a:ext>
            </a:extLst>
          </p:cNvPr>
          <p:cNvCxnSpPr>
            <a:cxnSpLocks/>
          </p:cNvCxnSpPr>
          <p:nvPr/>
        </p:nvCxnSpPr>
        <p:spPr>
          <a:xfrm flipH="1" flipV="1">
            <a:off x="8707692" y="3662819"/>
            <a:ext cx="636968" cy="27871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A56F88E2-7B8C-FEB2-8AF7-B275D0D18289}"/>
              </a:ext>
            </a:extLst>
          </p:cNvPr>
          <p:cNvSpPr/>
          <p:nvPr/>
        </p:nvSpPr>
        <p:spPr>
          <a:xfrm>
            <a:off x="3231252" y="3641515"/>
            <a:ext cx="3321817" cy="304799"/>
          </a:xfrm>
          <a:prstGeom prst="rect">
            <a:avLst/>
          </a:prstGeom>
          <a:noFill/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演进方向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A024B94-6FC8-CDA7-59A6-5BA3B227819B}"/>
              </a:ext>
            </a:extLst>
          </p:cNvPr>
          <p:cNvSpPr/>
          <p:nvPr/>
        </p:nvSpPr>
        <p:spPr>
          <a:xfrm>
            <a:off x="631515" y="6833674"/>
            <a:ext cx="2851566" cy="5112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着眼业务整体，加强深潜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ED02814-9795-2771-3904-A063C3959D01}"/>
              </a:ext>
            </a:extLst>
          </p:cNvPr>
          <p:cNvSpPr/>
          <p:nvPr/>
        </p:nvSpPr>
        <p:spPr>
          <a:xfrm>
            <a:off x="3547295" y="6833674"/>
            <a:ext cx="2851566" cy="5112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完善运营管控体系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A3BC0A3-5D8C-D003-FD36-6B8D43D65F8F}"/>
              </a:ext>
            </a:extLst>
          </p:cNvPr>
          <p:cNvSpPr/>
          <p:nvPr/>
        </p:nvSpPr>
        <p:spPr>
          <a:xfrm>
            <a:off x="6469495" y="6833674"/>
            <a:ext cx="2851566" cy="511200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加强结构化思维与表达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064058C-1819-111C-7E1D-2743B46DB2F3}"/>
              </a:ext>
            </a:extLst>
          </p:cNvPr>
          <p:cNvSpPr/>
          <p:nvPr/>
        </p:nvSpPr>
        <p:spPr>
          <a:xfrm>
            <a:off x="11158658" y="2186452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CDCC4D5-13EB-3F3A-91F4-733571EF5C5D}"/>
              </a:ext>
            </a:extLst>
          </p:cNvPr>
          <p:cNvSpPr/>
          <p:nvPr/>
        </p:nvSpPr>
        <p:spPr>
          <a:xfrm>
            <a:off x="10577138" y="2192265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D582E3A-AF28-3BAD-4F15-DD02FEC4E46A}"/>
              </a:ext>
            </a:extLst>
          </p:cNvPr>
          <p:cNvCxnSpPr>
            <a:cxnSpLocks/>
          </p:cNvCxnSpPr>
          <p:nvPr/>
        </p:nvCxnSpPr>
        <p:spPr>
          <a:xfrm flipH="1" flipV="1">
            <a:off x="19280872" y="3662819"/>
            <a:ext cx="636968" cy="27871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箭头: 下 56">
            <a:extLst>
              <a:ext uri="{FF2B5EF4-FFF2-40B4-BE49-F238E27FC236}">
                <a16:creationId xmlns:a16="http://schemas.microsoft.com/office/drawing/2014/main" id="{12C1267D-D329-5034-E77A-E41B17E5F388}"/>
              </a:ext>
            </a:extLst>
          </p:cNvPr>
          <p:cNvSpPr/>
          <p:nvPr/>
        </p:nvSpPr>
        <p:spPr>
          <a:xfrm rot="16200000">
            <a:off x="9515097" y="3218668"/>
            <a:ext cx="428625" cy="3290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22594AF-6DC0-8EBC-AA6E-C0A77485868D}"/>
              </a:ext>
            </a:extLst>
          </p:cNvPr>
          <p:cNvSpPr/>
          <p:nvPr/>
        </p:nvSpPr>
        <p:spPr>
          <a:xfrm>
            <a:off x="10577138" y="2963134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资产应用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E0C05DA-6D7B-1F1C-50CE-AE89B544E84A}"/>
              </a:ext>
            </a:extLst>
          </p:cNvPr>
          <p:cNvSpPr/>
          <p:nvPr/>
        </p:nvSpPr>
        <p:spPr>
          <a:xfrm>
            <a:off x="10578385" y="3740880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资产挖掘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C7A3204-7EB0-C6F5-9E98-9C4E32AD9C07}"/>
              </a:ext>
            </a:extLst>
          </p:cNvPr>
          <p:cNvSpPr/>
          <p:nvPr/>
        </p:nvSpPr>
        <p:spPr>
          <a:xfrm>
            <a:off x="10577138" y="4545815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资产基建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1A20410-6E46-7ED4-7814-75BA2F485D52}"/>
              </a:ext>
            </a:extLst>
          </p:cNvPr>
          <p:cNvSpPr/>
          <p:nvPr/>
        </p:nvSpPr>
        <p:spPr>
          <a:xfrm>
            <a:off x="10007333" y="2186451"/>
            <a:ext cx="513620" cy="3068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AI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Work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59CC561-302F-D58B-D0FF-05D13F3661FE}"/>
              </a:ext>
            </a:extLst>
          </p:cNvPr>
          <p:cNvSpPr/>
          <p:nvPr/>
        </p:nvSpPr>
        <p:spPr>
          <a:xfrm>
            <a:off x="11163244" y="2506404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动线建设（搜、筛、发现、触达）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1C6CED9-28EA-2304-58BE-0EFFCAB2BAD7}"/>
              </a:ext>
            </a:extLst>
          </p:cNvPr>
          <p:cNvSpPr/>
          <p:nvPr/>
        </p:nvSpPr>
        <p:spPr>
          <a:xfrm>
            <a:off x="15559721" y="2506403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4B10BDFE-EEEF-BEBF-7E83-B8D1FC537AF2}"/>
              </a:ext>
            </a:extLst>
          </p:cNvPr>
          <p:cNvSpPr/>
          <p:nvPr/>
        </p:nvSpPr>
        <p:spPr>
          <a:xfrm>
            <a:off x="11173118" y="3285256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BD02CC7A-47C6-D6A5-8429-816A27FC2630}"/>
              </a:ext>
            </a:extLst>
          </p:cNvPr>
          <p:cNvSpPr/>
          <p:nvPr/>
        </p:nvSpPr>
        <p:spPr>
          <a:xfrm>
            <a:off x="12767720" y="3285256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7D56B843-9895-0236-1C34-284CD99F06C0}"/>
              </a:ext>
            </a:extLst>
          </p:cNvPr>
          <p:cNvSpPr/>
          <p:nvPr/>
        </p:nvSpPr>
        <p:spPr>
          <a:xfrm>
            <a:off x="14362322" y="3285256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AF49805D-8FCD-ADA2-9E1C-EE4FE75F9879}"/>
              </a:ext>
            </a:extLst>
          </p:cNvPr>
          <p:cNvSpPr/>
          <p:nvPr/>
        </p:nvSpPr>
        <p:spPr>
          <a:xfrm>
            <a:off x="15956925" y="3285256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开放联名榜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69D287F3-954E-A393-8B22-59F8D08893BB}"/>
              </a:ext>
            </a:extLst>
          </p:cNvPr>
          <p:cNvSpPr/>
          <p:nvPr/>
        </p:nvSpPr>
        <p:spPr>
          <a:xfrm>
            <a:off x="11176237" y="2963150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榜单矩阵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、评价列表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EFEEB527-5339-BC5A-3403-07BDD4831FCE}"/>
              </a:ext>
            </a:extLst>
          </p:cNvPr>
          <p:cNvSpPr/>
          <p:nvPr/>
        </p:nvSpPr>
        <p:spPr>
          <a:xfrm>
            <a:off x="11175749" y="3740880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6CF42831-6ADC-9650-4D65-B84028DF3880}"/>
              </a:ext>
            </a:extLst>
          </p:cNvPr>
          <p:cNvSpPr/>
          <p:nvPr/>
        </p:nvSpPr>
        <p:spPr>
          <a:xfrm>
            <a:off x="11163244" y="4052985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82F72CFB-E9C7-9760-2273-89AF1805D5D2}"/>
              </a:ext>
            </a:extLst>
          </p:cNvPr>
          <p:cNvSpPr/>
          <p:nvPr/>
        </p:nvSpPr>
        <p:spPr>
          <a:xfrm>
            <a:off x="15559720" y="4063815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C74238A8-0CA0-3CE1-20DE-F4768FB55391}"/>
              </a:ext>
            </a:extLst>
          </p:cNvPr>
          <p:cNvSpPr/>
          <p:nvPr/>
        </p:nvSpPr>
        <p:spPr>
          <a:xfrm>
            <a:off x="11176237" y="4541760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多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信息完善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1E277C5C-6E34-A8E4-675A-9896CAE2282E}"/>
              </a:ext>
            </a:extLst>
          </p:cNvPr>
          <p:cNvSpPr/>
          <p:nvPr/>
        </p:nvSpPr>
        <p:spPr>
          <a:xfrm>
            <a:off x="11191365" y="4925714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UGC——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评价激励（量、真实、信息量）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42494345-0549-3240-4828-0D799831F250}"/>
              </a:ext>
            </a:extLst>
          </p:cNvPr>
          <p:cNvSpPr/>
          <p:nvPr/>
        </p:nvSpPr>
        <p:spPr>
          <a:xfrm>
            <a:off x="17560140" y="3282651"/>
            <a:ext cx="2340121" cy="389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评价体验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列表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，星级计算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FE17C1E7-C56A-3B13-843A-77F39F9C7391}"/>
              </a:ext>
            </a:extLst>
          </p:cNvPr>
          <p:cNvSpPr/>
          <p:nvPr/>
        </p:nvSpPr>
        <p:spPr>
          <a:xfrm>
            <a:off x="15577300" y="4930657"/>
            <a:ext cx="4340540" cy="3950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其它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D)GC</a:t>
            </a:r>
          </a:p>
        </p:txBody>
      </p:sp>
    </p:spTree>
    <p:extLst>
      <p:ext uri="{BB962C8B-B14F-4D97-AF65-F5344CB8AC3E}">
        <p14:creationId xmlns:p14="http://schemas.microsoft.com/office/powerpoint/2010/main" val="399511166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634EB9D-D876-C91C-EBBA-551D38611092}"/>
              </a:ext>
            </a:extLst>
          </p:cNvPr>
          <p:cNvSpPr/>
          <p:nvPr/>
        </p:nvSpPr>
        <p:spPr>
          <a:xfrm>
            <a:off x="9427830" y="-447674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资产动线及流量运营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2C651A-BD90-0B82-5B78-6725365D71E0}"/>
              </a:ext>
            </a:extLst>
          </p:cNvPr>
          <p:cNvSpPr/>
          <p:nvPr/>
        </p:nvSpPr>
        <p:spPr>
          <a:xfrm>
            <a:off x="8846310" y="-441861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资产触达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DBF37DA-9971-F6CD-5CC5-56DEE06B4F5A}"/>
              </a:ext>
            </a:extLst>
          </p:cNvPr>
          <p:cNvCxnSpPr>
            <a:cxnSpLocks/>
          </p:cNvCxnSpPr>
          <p:nvPr/>
        </p:nvCxnSpPr>
        <p:spPr>
          <a:xfrm flipH="1" flipV="1">
            <a:off x="17550044" y="1028693"/>
            <a:ext cx="636968" cy="27871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B8CE5497-7BE9-2C5D-A2AE-1EA6BE4BDFDD}"/>
              </a:ext>
            </a:extLst>
          </p:cNvPr>
          <p:cNvSpPr/>
          <p:nvPr/>
        </p:nvSpPr>
        <p:spPr>
          <a:xfrm>
            <a:off x="8846310" y="329008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8288C2-F03B-6CBF-EE67-49C5C1ACA15A}"/>
              </a:ext>
            </a:extLst>
          </p:cNvPr>
          <p:cNvSpPr/>
          <p:nvPr/>
        </p:nvSpPr>
        <p:spPr>
          <a:xfrm>
            <a:off x="8847557" y="1106754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资产挖掘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617CA5-E83C-764F-C629-6C869653602A}"/>
              </a:ext>
            </a:extLst>
          </p:cNvPr>
          <p:cNvSpPr/>
          <p:nvPr/>
        </p:nvSpPr>
        <p:spPr>
          <a:xfrm>
            <a:off x="8846310" y="1911689"/>
            <a:ext cx="513620" cy="7091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资产基建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9E7C1-9DBA-1C9C-A1F9-DA7BDF88A93D}"/>
              </a:ext>
            </a:extLst>
          </p:cNvPr>
          <p:cNvSpPr/>
          <p:nvPr/>
        </p:nvSpPr>
        <p:spPr>
          <a:xfrm>
            <a:off x="8276505" y="-447675"/>
            <a:ext cx="513620" cy="3068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AI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At</a:t>
            </a:r>
          </a:p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Work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909AD9-FB4F-03A6-6D78-04078BB38B3D}"/>
              </a:ext>
            </a:extLst>
          </p:cNvPr>
          <p:cNvSpPr/>
          <p:nvPr/>
        </p:nvSpPr>
        <p:spPr>
          <a:xfrm>
            <a:off x="9432416" y="-127722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动线建设（搜、筛、发现、触达）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2D73C6-481E-5B17-76EA-15F40BDD3652}"/>
              </a:ext>
            </a:extLst>
          </p:cNvPr>
          <p:cNvSpPr/>
          <p:nvPr/>
        </p:nvSpPr>
        <p:spPr>
          <a:xfrm>
            <a:off x="13828893" y="-127723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营销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8A515E-CB39-86F5-0D7F-8B56E2B6B87A}"/>
              </a:ext>
            </a:extLst>
          </p:cNvPr>
          <p:cNvSpPr/>
          <p:nvPr/>
        </p:nvSpPr>
        <p:spPr>
          <a:xfrm>
            <a:off x="9442290" y="651130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9FBDB7-CD80-C4D8-B82E-0792D35B4536}"/>
              </a:ext>
            </a:extLst>
          </p:cNvPr>
          <p:cNvSpPr/>
          <p:nvPr/>
        </p:nvSpPr>
        <p:spPr>
          <a:xfrm>
            <a:off x="11036892" y="651130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主题榜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0CBD8B-2361-1107-D611-689ABD42D481}"/>
              </a:ext>
            </a:extLst>
          </p:cNvPr>
          <p:cNvSpPr/>
          <p:nvPr/>
        </p:nvSpPr>
        <p:spPr>
          <a:xfrm>
            <a:off x="12631494" y="651130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时令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菜品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/deal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94CD56-F090-A692-B88D-1D82D7F01CBB}"/>
              </a:ext>
            </a:extLst>
          </p:cNvPr>
          <p:cNvSpPr/>
          <p:nvPr/>
        </p:nvSpPr>
        <p:spPr>
          <a:xfrm>
            <a:off x="14226097" y="651130"/>
            <a:ext cx="1510821" cy="3899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开放联名榜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E7B1ED-8C0A-1350-6F4D-0B95BE89323A}"/>
              </a:ext>
            </a:extLst>
          </p:cNvPr>
          <p:cNvSpPr/>
          <p:nvPr/>
        </p:nvSpPr>
        <p:spPr>
          <a:xfrm>
            <a:off x="9445409" y="329024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  <a:latin typeface="+mn-ea"/>
              </a:rPr>
              <a:t>榜单矩阵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、评价列表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FE5C0C-6A61-CEFB-9DE4-E974AEBCDFE8}"/>
              </a:ext>
            </a:extLst>
          </p:cNvPr>
          <p:cNvSpPr/>
          <p:nvPr/>
        </p:nvSpPr>
        <p:spPr>
          <a:xfrm>
            <a:off x="9444921" y="1106754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资产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赋能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7FE843E-91A5-2419-40BE-5717D015A23A}"/>
              </a:ext>
            </a:extLst>
          </p:cNvPr>
          <p:cNvSpPr/>
          <p:nvPr/>
        </p:nvSpPr>
        <p:spPr>
          <a:xfrm>
            <a:off x="9432416" y="1418859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BFCCB1-4720-5B51-677F-544FCA056943}"/>
              </a:ext>
            </a:extLst>
          </p:cNvPr>
          <p:cNvSpPr/>
          <p:nvPr/>
        </p:nvSpPr>
        <p:spPr>
          <a:xfrm>
            <a:off x="13828892" y="1429689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供给理解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41584F-44B8-2169-6D9A-AA1F070BB6B0}"/>
              </a:ext>
            </a:extLst>
          </p:cNvPr>
          <p:cNvSpPr/>
          <p:nvPr/>
        </p:nvSpPr>
        <p:spPr>
          <a:xfrm>
            <a:off x="9445409" y="1907634"/>
            <a:ext cx="8741603" cy="287756"/>
          </a:xfrm>
          <a:prstGeom prst="rect">
            <a:avLst/>
          </a:prstGeom>
          <a:solidFill>
            <a:srgbClr val="FFE3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多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GC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信息完善</a:t>
            </a:r>
            <a:endParaRPr lang="en-US" altLang="zh-CN" sz="12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0306BB3-0145-6E39-4590-358114188406}"/>
              </a:ext>
            </a:extLst>
          </p:cNvPr>
          <p:cNvSpPr/>
          <p:nvPr/>
        </p:nvSpPr>
        <p:spPr>
          <a:xfrm>
            <a:off x="9460049" y="2227416"/>
            <a:ext cx="4340540" cy="39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UGC——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评价激励（量、真实、信息量）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58A369-2F18-054E-AA1A-670031F90ADE}"/>
              </a:ext>
            </a:extLst>
          </p:cNvPr>
          <p:cNvSpPr/>
          <p:nvPr/>
        </p:nvSpPr>
        <p:spPr>
          <a:xfrm>
            <a:off x="15829312" y="648525"/>
            <a:ext cx="2340121" cy="389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评价体验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列表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，星级计算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6065F2-C8BA-4891-0C65-5E829989DD6E}"/>
              </a:ext>
            </a:extLst>
          </p:cNvPr>
          <p:cNvSpPr/>
          <p:nvPr/>
        </p:nvSpPr>
        <p:spPr>
          <a:xfrm>
            <a:off x="13845984" y="2232359"/>
            <a:ext cx="4340540" cy="3950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其它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D)GC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92C9C4-3611-D86F-39F9-663ABF956BD6}"/>
              </a:ext>
            </a:extLst>
          </p:cNvPr>
          <p:cNvSpPr/>
          <p:nvPr/>
        </p:nvSpPr>
        <p:spPr>
          <a:xfrm>
            <a:off x="997742" y="3311851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基建、信息、经验共享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（减少内部层级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摩擦，减少外部摩擦）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927E2B-9DFE-3884-D1A4-EAF322094680}"/>
              </a:ext>
            </a:extLst>
          </p:cNvPr>
          <p:cNvSpPr/>
          <p:nvPr/>
        </p:nvSpPr>
        <p:spPr>
          <a:xfrm>
            <a:off x="990790" y="2418611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项目随时随地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165E60-C12A-3D42-435F-A90EE6B14FE5}"/>
              </a:ext>
            </a:extLst>
          </p:cNvPr>
          <p:cNvSpPr/>
          <p:nvPr/>
        </p:nvSpPr>
        <p:spPr>
          <a:xfrm>
            <a:off x="997742" y="1639718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横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纵项网络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STL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516582-4447-0B54-91A0-0461238239F3}"/>
              </a:ext>
            </a:extLst>
          </p:cNvPr>
          <p:cNvSpPr/>
          <p:nvPr/>
        </p:nvSpPr>
        <p:spPr>
          <a:xfrm>
            <a:off x="4712492" y="3068511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接口人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影响力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C669401-A4F5-EB6C-781B-3542F6AC76B4}"/>
              </a:ext>
            </a:extLst>
          </p:cNvPr>
          <p:cNvSpPr/>
          <p:nvPr/>
        </p:nvSpPr>
        <p:spPr>
          <a:xfrm>
            <a:off x="4429513" y="287757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Scale+IDeas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A44A3D2-C006-36FF-499E-D4243B8DFF34}"/>
              </a:ext>
            </a:extLst>
          </p:cNvPr>
          <p:cNvSpPr txBox="1"/>
          <p:nvPr/>
        </p:nvSpPr>
        <p:spPr>
          <a:xfrm>
            <a:off x="270103" y="-1637681"/>
            <a:ext cx="76875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减少：高度自动化风险①标准化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可切分，②客户不要求人类到场，③新增需求不足以吸收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重组：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接手更多</a:t>
            </a:r>
            <a:r>
              <a:rPr lang="en-US" altLang="zh-CN" sz="18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人类价值上移。如判断、把关、复杂协同、异常处理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dirty="0">
                <a:latin typeface="+mn-ea"/>
              </a:rPr>
              <a:t>增长：服务更多用户（如买得起）、更多频次、更多定制（个性化西非服务）、更高质量的客户（体验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产出）</a:t>
            </a:r>
            <a:endParaRPr lang="en-US" altLang="zh-CN" dirty="0">
              <a:latin typeface="+mn-ea"/>
            </a:endParaRPr>
          </a:p>
          <a:p>
            <a:pPr algn="ctr"/>
            <a:r>
              <a:rPr lang="zh-CN" altLang="en-US" sz="1800" dirty="0">
                <a:solidFill>
                  <a:schemeClr val="tx1"/>
                </a:solidFill>
                <a:latin typeface="+mn-ea"/>
              </a:rPr>
              <a:t>短期变化较小：武力值形成分高，现场照护等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AF067AA-D8DF-3873-12B2-5C0851ED900B}"/>
              </a:ext>
            </a:extLst>
          </p:cNvPr>
          <p:cNvSpPr/>
          <p:nvPr/>
        </p:nvSpPr>
        <p:spPr>
          <a:xfrm>
            <a:off x="9289943" y="3035025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智能体组织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D60643-0180-7BBF-9205-E3987FC51480}"/>
              </a:ext>
            </a:extLst>
          </p:cNvPr>
          <p:cNvSpPr/>
          <p:nvPr/>
        </p:nvSpPr>
        <p:spPr>
          <a:xfrm>
            <a:off x="9288726" y="3845878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人类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+AI Agent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混合协作网络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（人类目标与价值判断，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执行与优化）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039D1A5-9C27-BD31-9F4D-5FF74066CEBB}"/>
              </a:ext>
            </a:extLst>
          </p:cNvPr>
          <p:cNvSpPr/>
          <p:nvPr/>
        </p:nvSpPr>
        <p:spPr>
          <a:xfrm>
            <a:off x="9288726" y="4696882"/>
            <a:ext cx="3257770" cy="6238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扁平化、技能密度替代层级</a:t>
            </a:r>
            <a:r>
              <a:rPr lang="en-US" altLang="zh-CN" sz="1200" b="0" i="0" dirty="0">
                <a:solidFill>
                  <a:srgbClr val="0D0D0D"/>
                </a:solidFill>
                <a:effectLst/>
                <a:latin typeface="-apple-system"/>
              </a:rPr>
              <a:t>《The Agentic Organization》</a:t>
            </a:r>
            <a:endParaRPr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9E4581B4-D686-C90E-E9E2-D5BD4115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700" y="-2625761"/>
            <a:ext cx="29237746" cy="2641302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B4A234B-AC7E-ED4F-87D5-76122EEE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55" y="6127709"/>
            <a:ext cx="7398899" cy="51435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E35646C-B13E-0771-B584-F1079F598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168" y="1102354"/>
            <a:ext cx="9144000" cy="475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114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B738BF2-2979-CB89-B3B2-E73A051DD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91651" y="86673"/>
            <a:ext cx="11920277" cy="46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823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2F13DADF-79A4-3CCB-0DC4-6916397DAB79}"/>
              </a:ext>
            </a:extLst>
          </p:cNvPr>
          <p:cNvSpPr/>
          <p:nvPr/>
        </p:nvSpPr>
        <p:spPr>
          <a:xfrm>
            <a:off x="-57308" y="-76611"/>
            <a:ext cx="9269040" cy="1401025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6B2469A-10AB-6CD6-A028-B1BC6F465BDD}"/>
              </a:ext>
            </a:extLst>
          </p:cNvPr>
          <p:cNvSpPr/>
          <p:nvPr/>
        </p:nvSpPr>
        <p:spPr>
          <a:xfrm>
            <a:off x="6656865" y="126542"/>
            <a:ext cx="2447132" cy="111446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B31B7A52-1C9F-6B35-DD2D-84EA4CAC93D5}"/>
              </a:ext>
            </a:extLst>
          </p:cNvPr>
          <p:cNvSpPr/>
          <p:nvPr/>
        </p:nvSpPr>
        <p:spPr>
          <a:xfrm>
            <a:off x="57211" y="93132"/>
            <a:ext cx="2543486" cy="11478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63F8F85-596C-5C85-FBA8-3359792FEF75}"/>
              </a:ext>
            </a:extLst>
          </p:cNvPr>
          <p:cNvSpPr/>
          <p:nvPr/>
        </p:nvSpPr>
        <p:spPr>
          <a:xfrm>
            <a:off x="45830" y="1805715"/>
            <a:ext cx="9154521" cy="31078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8AA9545-9D20-C7D0-25DB-2314333A99EC}"/>
              </a:ext>
            </a:extLst>
          </p:cNvPr>
          <p:cNvSpPr/>
          <p:nvPr/>
        </p:nvSpPr>
        <p:spPr>
          <a:xfrm>
            <a:off x="146499" y="2111050"/>
            <a:ext cx="7101032" cy="689235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30F32E-467E-D8B4-1F2A-91E1E8C8B694}"/>
              </a:ext>
            </a:extLst>
          </p:cNvPr>
          <p:cNvSpPr/>
          <p:nvPr/>
        </p:nvSpPr>
        <p:spPr>
          <a:xfrm>
            <a:off x="180018" y="3597755"/>
            <a:ext cx="7101032" cy="1101816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757EB605-0595-B964-100C-CF9BABB4F97B}"/>
              </a:ext>
            </a:extLst>
          </p:cNvPr>
          <p:cNvSpPr/>
          <p:nvPr/>
        </p:nvSpPr>
        <p:spPr>
          <a:xfrm>
            <a:off x="419744" y="3738743"/>
            <a:ext cx="3277271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用户资产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C8F87F-3EE4-DAAA-61A3-803E09B46F12}"/>
              </a:ext>
            </a:extLst>
          </p:cNvPr>
          <p:cNvSpPr/>
          <p:nvPr/>
        </p:nvSpPr>
        <p:spPr>
          <a:xfrm>
            <a:off x="3850397" y="3738742"/>
            <a:ext cx="3296466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商家资产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B69E1A-BE7F-CE2C-E454-56747248B52C}"/>
              </a:ext>
            </a:extLst>
          </p:cNvPr>
          <p:cNvSpPr txBox="1"/>
          <p:nvPr/>
        </p:nvSpPr>
        <p:spPr>
          <a:xfrm>
            <a:off x="3029309" y="3396547"/>
            <a:ext cx="15588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/>
              <a:t>平台资产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515697-7C0F-EF1A-EC7F-2BAC1FA806F3}"/>
              </a:ext>
            </a:extLst>
          </p:cNvPr>
          <p:cNvSpPr/>
          <p:nvPr/>
        </p:nvSpPr>
        <p:spPr>
          <a:xfrm>
            <a:off x="419744" y="4213623"/>
            <a:ext cx="1073518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用户行为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（评、买等）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5EA187-5E90-AE2E-EF9C-7E875D2534EE}"/>
              </a:ext>
            </a:extLst>
          </p:cNvPr>
          <p:cNvSpPr/>
          <p:nvPr/>
        </p:nvSpPr>
        <p:spPr>
          <a:xfrm>
            <a:off x="1515797" y="4220082"/>
            <a:ext cx="1073518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用户沉淀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（会员等）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0F040D-8C54-5916-1370-9B7A6DBC6DD2}"/>
              </a:ext>
            </a:extLst>
          </p:cNvPr>
          <p:cNvSpPr/>
          <p:nvPr/>
        </p:nvSpPr>
        <p:spPr>
          <a:xfrm>
            <a:off x="3850397" y="4220082"/>
            <a:ext cx="1072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商家信息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（品类、标签等）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35825D-7FD0-1397-59E8-BCD46135ACE1}"/>
              </a:ext>
            </a:extLst>
          </p:cNvPr>
          <p:cNvSpPr/>
          <p:nvPr/>
        </p:nvSpPr>
        <p:spPr>
          <a:xfrm>
            <a:off x="4962230" y="4220082"/>
            <a:ext cx="1072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商家沉淀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（评价、交易等）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617293-C870-D52C-C0D5-DA74FADE64C7}"/>
              </a:ext>
            </a:extLst>
          </p:cNvPr>
          <p:cNvSpPr/>
          <p:nvPr/>
        </p:nvSpPr>
        <p:spPr>
          <a:xfrm>
            <a:off x="2623498" y="4213623"/>
            <a:ext cx="1073518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用户画像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（常驻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现在等）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55EE53-7DF8-5091-06DF-E3A1974E1056}"/>
              </a:ext>
            </a:extLst>
          </p:cNvPr>
          <p:cNvSpPr/>
          <p:nvPr/>
        </p:nvSpPr>
        <p:spPr>
          <a:xfrm>
            <a:off x="6074063" y="4213622"/>
            <a:ext cx="1072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商家行为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（运营、营销等）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E0A87F-E6B8-F349-5FA1-18F8B6D84BAD}"/>
              </a:ext>
            </a:extLst>
          </p:cNvPr>
          <p:cNvSpPr/>
          <p:nvPr/>
        </p:nvSpPr>
        <p:spPr>
          <a:xfrm>
            <a:off x="8186263" y="2111050"/>
            <a:ext cx="917734" cy="24580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点评等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210553AD-0DC3-78BF-9AB8-8DBAC3CE0150}"/>
              </a:ext>
            </a:extLst>
          </p:cNvPr>
          <p:cNvSpPr/>
          <p:nvPr/>
        </p:nvSpPr>
        <p:spPr>
          <a:xfrm>
            <a:off x="7576149" y="3923695"/>
            <a:ext cx="365347" cy="289927"/>
          </a:xfrm>
          <a:prstGeom prst="left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4E956F-2E44-55DA-F33A-F7E16186FA97}"/>
              </a:ext>
            </a:extLst>
          </p:cNvPr>
          <p:cNvSpPr/>
          <p:nvPr/>
        </p:nvSpPr>
        <p:spPr>
          <a:xfrm>
            <a:off x="419744" y="2277737"/>
            <a:ext cx="1558800" cy="4207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榜单矩阵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（榜单规则等）</a:t>
            </a:r>
          </a:p>
        </p:txBody>
      </p:sp>
      <p:sp>
        <p:nvSpPr>
          <p:cNvPr id="23" name="箭头: 上 22">
            <a:extLst>
              <a:ext uri="{FF2B5EF4-FFF2-40B4-BE49-F238E27FC236}">
                <a16:creationId xmlns:a16="http://schemas.microsoft.com/office/drawing/2014/main" id="{AFFD51AC-9490-BD55-EF64-9EF631011C22}"/>
              </a:ext>
            </a:extLst>
          </p:cNvPr>
          <p:cNvSpPr/>
          <p:nvPr/>
        </p:nvSpPr>
        <p:spPr>
          <a:xfrm>
            <a:off x="3636680" y="2941272"/>
            <a:ext cx="229576" cy="276999"/>
          </a:xfrm>
          <a:prstGeom prst="up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FE0D32-2538-322F-6EA3-261AD0026823}"/>
              </a:ext>
            </a:extLst>
          </p:cNvPr>
          <p:cNvSpPr txBox="1"/>
          <p:nvPr/>
        </p:nvSpPr>
        <p:spPr>
          <a:xfrm>
            <a:off x="7146863" y="4231386"/>
            <a:ext cx="1263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资产共建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A79E014-4F58-9077-95E1-0F3269C69D49}"/>
              </a:ext>
            </a:extLst>
          </p:cNvPr>
          <p:cNvSpPr/>
          <p:nvPr/>
        </p:nvSpPr>
        <p:spPr>
          <a:xfrm>
            <a:off x="2142517" y="2277737"/>
            <a:ext cx="1558800" cy="42075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合集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364342-DE63-D68A-35BB-EEEF754AB9E3}"/>
              </a:ext>
            </a:extLst>
          </p:cNvPr>
          <p:cNvSpPr/>
          <p:nvPr/>
        </p:nvSpPr>
        <p:spPr>
          <a:xfrm>
            <a:off x="3865290" y="2273799"/>
            <a:ext cx="1558800" cy="42075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5BB04B-B11C-ADB6-9E31-76BE6DDD7615}"/>
              </a:ext>
            </a:extLst>
          </p:cNvPr>
          <p:cNvSpPr/>
          <p:nvPr/>
        </p:nvSpPr>
        <p:spPr>
          <a:xfrm>
            <a:off x="5588063" y="2273799"/>
            <a:ext cx="1558800" cy="42075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……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40910F3-CC08-5963-CC29-395779C03B21}"/>
              </a:ext>
            </a:extLst>
          </p:cNvPr>
          <p:cNvSpPr txBox="1"/>
          <p:nvPr/>
        </p:nvSpPr>
        <p:spPr>
          <a:xfrm>
            <a:off x="3726956" y="2958256"/>
            <a:ext cx="917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资产应用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871EC5-9F05-2D4C-45EE-2A4728503705}"/>
              </a:ext>
            </a:extLst>
          </p:cNvPr>
          <p:cNvSpPr txBox="1"/>
          <p:nvPr/>
        </p:nvSpPr>
        <p:spPr>
          <a:xfrm>
            <a:off x="3147634" y="4731502"/>
            <a:ext cx="2585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资产管理及策略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7" name="箭头: 左右 36">
            <a:extLst>
              <a:ext uri="{FF2B5EF4-FFF2-40B4-BE49-F238E27FC236}">
                <a16:creationId xmlns:a16="http://schemas.microsoft.com/office/drawing/2014/main" id="{C512477B-25F2-2F6C-51F0-7F62F83B32DA}"/>
              </a:ext>
            </a:extLst>
          </p:cNvPr>
          <p:cNvSpPr/>
          <p:nvPr/>
        </p:nvSpPr>
        <p:spPr>
          <a:xfrm>
            <a:off x="7576149" y="2289384"/>
            <a:ext cx="365347" cy="289927"/>
          </a:xfrm>
          <a:prstGeom prst="left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F41DB9B-FF1D-C542-C1A1-E0C2144A5BD3}"/>
              </a:ext>
            </a:extLst>
          </p:cNvPr>
          <p:cNvSpPr txBox="1"/>
          <p:nvPr/>
        </p:nvSpPr>
        <p:spPr>
          <a:xfrm>
            <a:off x="7101832" y="2536405"/>
            <a:ext cx="1263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定位互补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9" name="箭头: 上 38">
            <a:extLst>
              <a:ext uri="{FF2B5EF4-FFF2-40B4-BE49-F238E27FC236}">
                <a16:creationId xmlns:a16="http://schemas.microsoft.com/office/drawing/2014/main" id="{76E0D6EA-0F1A-29BF-BA60-1B85EF6E2428}"/>
              </a:ext>
            </a:extLst>
          </p:cNvPr>
          <p:cNvSpPr/>
          <p:nvPr/>
        </p:nvSpPr>
        <p:spPr>
          <a:xfrm>
            <a:off x="3636680" y="1397177"/>
            <a:ext cx="229576" cy="276999"/>
          </a:xfrm>
          <a:prstGeom prst="up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400F11-D087-E0B4-98D8-1798202471A2}"/>
              </a:ext>
            </a:extLst>
          </p:cNvPr>
          <p:cNvSpPr txBox="1"/>
          <p:nvPr/>
        </p:nvSpPr>
        <p:spPr>
          <a:xfrm>
            <a:off x="3730534" y="1413142"/>
            <a:ext cx="917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需求满足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F17298-AC23-B199-B468-B79C13EEB197}"/>
              </a:ext>
            </a:extLst>
          </p:cNvPr>
          <p:cNvSpPr/>
          <p:nvPr/>
        </p:nvSpPr>
        <p:spPr>
          <a:xfrm>
            <a:off x="191399" y="327749"/>
            <a:ext cx="2204992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人群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1E7989-C054-8CF2-80BC-3F5704167BBB}"/>
              </a:ext>
            </a:extLst>
          </p:cNvPr>
          <p:cNvSpPr/>
          <p:nvPr/>
        </p:nvSpPr>
        <p:spPr>
          <a:xfrm>
            <a:off x="3125717" y="338107"/>
            <a:ext cx="1158159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品类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84A596-5452-141F-9481-1D59D40035EA}"/>
              </a:ext>
            </a:extLst>
          </p:cNvPr>
          <p:cNvSpPr/>
          <p:nvPr/>
        </p:nvSpPr>
        <p:spPr>
          <a:xfrm>
            <a:off x="5013202" y="333355"/>
            <a:ext cx="1158159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2CBEF24-F39C-A8C7-9A35-AE7E933097EC}"/>
              </a:ext>
            </a:extLst>
          </p:cNvPr>
          <p:cNvSpPr/>
          <p:nvPr/>
        </p:nvSpPr>
        <p:spPr>
          <a:xfrm>
            <a:off x="6824485" y="311680"/>
            <a:ext cx="2229409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供给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乘号 47">
            <a:extLst>
              <a:ext uri="{FF2B5EF4-FFF2-40B4-BE49-F238E27FC236}">
                <a16:creationId xmlns:a16="http://schemas.microsoft.com/office/drawing/2014/main" id="{3BDE75F0-0F97-12F7-6F84-183E7AF24F6D}"/>
              </a:ext>
            </a:extLst>
          </p:cNvPr>
          <p:cNvSpPr/>
          <p:nvPr/>
        </p:nvSpPr>
        <p:spPr>
          <a:xfrm>
            <a:off x="2660280" y="331952"/>
            <a:ext cx="384173" cy="384173"/>
          </a:xfrm>
          <a:prstGeom prst="mathMultiply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乘号 48">
            <a:extLst>
              <a:ext uri="{FF2B5EF4-FFF2-40B4-BE49-F238E27FC236}">
                <a16:creationId xmlns:a16="http://schemas.microsoft.com/office/drawing/2014/main" id="{3549C5BF-44E0-8483-A0FB-7530587B1579}"/>
              </a:ext>
            </a:extLst>
          </p:cNvPr>
          <p:cNvSpPr/>
          <p:nvPr/>
        </p:nvSpPr>
        <p:spPr>
          <a:xfrm>
            <a:off x="4491795" y="307609"/>
            <a:ext cx="384173" cy="384173"/>
          </a:xfrm>
          <a:prstGeom prst="mathMultiply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乘号 49">
            <a:extLst>
              <a:ext uri="{FF2B5EF4-FFF2-40B4-BE49-F238E27FC236}">
                <a16:creationId xmlns:a16="http://schemas.microsoft.com/office/drawing/2014/main" id="{AF891AE0-6332-EA99-E9B7-8472F7F21C40}"/>
              </a:ext>
            </a:extLst>
          </p:cNvPr>
          <p:cNvSpPr/>
          <p:nvPr/>
        </p:nvSpPr>
        <p:spPr>
          <a:xfrm>
            <a:off x="6213140" y="330587"/>
            <a:ext cx="384173" cy="384173"/>
          </a:xfrm>
          <a:prstGeom prst="mathMultiply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801ACA7-F695-3146-38F6-7F03105ED242}"/>
              </a:ext>
            </a:extLst>
          </p:cNvPr>
          <p:cNvSpPr/>
          <p:nvPr/>
        </p:nvSpPr>
        <p:spPr>
          <a:xfrm>
            <a:off x="188484" y="777119"/>
            <a:ext cx="108151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用户及流量</a:t>
            </a:r>
            <a:endParaRPr lang="en-US" altLang="zh-CN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策略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8016E6-737A-2638-9D58-11F38FFAFABE}"/>
              </a:ext>
            </a:extLst>
          </p:cNvPr>
          <p:cNvSpPr/>
          <p:nvPr/>
        </p:nvSpPr>
        <p:spPr>
          <a:xfrm>
            <a:off x="1314875" y="777119"/>
            <a:ext cx="108151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热点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内容运营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6D2BC72-0EF7-390E-A79D-940EAB8C61E6}"/>
              </a:ext>
            </a:extLst>
          </p:cNvPr>
          <p:cNvSpPr txBox="1"/>
          <p:nvPr/>
        </p:nvSpPr>
        <p:spPr>
          <a:xfrm>
            <a:off x="-36464" y="-42736"/>
            <a:ext cx="2585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用户运营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DCA2CAA-8B8C-7126-3601-6B99A684E1F2}"/>
              </a:ext>
            </a:extLst>
          </p:cNvPr>
          <p:cNvSpPr/>
          <p:nvPr/>
        </p:nvSpPr>
        <p:spPr>
          <a:xfrm>
            <a:off x="6838151" y="753115"/>
            <a:ext cx="108151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商家策略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761BC48-1179-5353-50A5-B5A933575D6E}"/>
              </a:ext>
            </a:extLst>
          </p:cNvPr>
          <p:cNvSpPr/>
          <p:nvPr/>
        </p:nvSpPr>
        <p:spPr>
          <a:xfrm>
            <a:off x="7972378" y="753115"/>
            <a:ext cx="1081516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商家教育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7BA7BE0E-3206-F98A-9AF5-0D1DDB01B223}"/>
              </a:ext>
            </a:extLst>
          </p:cNvPr>
          <p:cNvSpPr txBox="1"/>
          <p:nvPr/>
        </p:nvSpPr>
        <p:spPr>
          <a:xfrm>
            <a:off x="6635746" y="-85917"/>
            <a:ext cx="2585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商家运营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656664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AE1A2C64-AA52-05C7-18C4-88F7038818BE}"/>
              </a:ext>
            </a:extLst>
          </p:cNvPr>
          <p:cNvSpPr/>
          <p:nvPr/>
        </p:nvSpPr>
        <p:spPr>
          <a:xfrm>
            <a:off x="1479488" y="3464260"/>
            <a:ext cx="7882304" cy="1513583"/>
          </a:xfrm>
          <a:prstGeom prst="round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2FC2B155-EDD6-AA74-0F02-DA0CBA53B6D1}"/>
              </a:ext>
            </a:extLst>
          </p:cNvPr>
          <p:cNvSpPr/>
          <p:nvPr/>
        </p:nvSpPr>
        <p:spPr>
          <a:xfrm>
            <a:off x="1604433" y="384822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资产共建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点评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平台、销售等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5D1FAD50-DFC2-D0E7-2EC9-89EA03969288}"/>
              </a:ext>
            </a:extLst>
          </p:cNvPr>
          <p:cNvSpPr/>
          <p:nvPr/>
        </p:nvSpPr>
        <p:spPr>
          <a:xfrm>
            <a:off x="1604433" y="4219412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爬取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挖掘产研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C4665D63-010F-DA56-AAB1-6AEDCDFDBCAB}"/>
              </a:ext>
            </a:extLst>
          </p:cNvPr>
          <p:cNvSpPr/>
          <p:nvPr/>
        </p:nvSpPr>
        <p:spPr>
          <a:xfrm>
            <a:off x="1604433" y="458803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资产数据治理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19" name="Rectangle 15">
            <a:extLst>
              <a:ext uri="{FF2B5EF4-FFF2-40B4-BE49-F238E27FC236}">
                <a16:creationId xmlns:a16="http://schemas.microsoft.com/office/drawing/2014/main" id="{67D7C959-13CD-8D53-4AAA-07C5BD820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768" y="920398"/>
            <a:ext cx="1620665" cy="54310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用户运营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正式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+1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外包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BAA091CB-8B66-7D3A-B13E-827098FC7774}"/>
              </a:ext>
            </a:extLst>
          </p:cNvPr>
          <p:cNvSpPr/>
          <p:nvPr/>
        </p:nvSpPr>
        <p:spPr>
          <a:xfrm>
            <a:off x="-2004965" y="2114932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1ADA3187-2F0D-782E-BDB5-58AB2FD34AC3}"/>
              </a:ext>
            </a:extLst>
          </p:cNvPr>
          <p:cNvSpPr/>
          <p:nvPr/>
        </p:nvSpPr>
        <p:spPr>
          <a:xfrm>
            <a:off x="-2004965" y="2530391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流量策略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L7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17B3EB29-39CB-2A13-8BE9-4C9B4644537F}"/>
              </a:ext>
            </a:extLst>
          </p:cNvPr>
          <p:cNvSpPr/>
          <p:nvPr/>
        </p:nvSpPr>
        <p:spPr>
          <a:xfrm>
            <a:off x="-2004967" y="2944678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热点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活动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内容运营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L7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A46B8DB9-E939-30F6-D192-87946F6F5359}"/>
              </a:ext>
            </a:extLst>
          </p:cNvPr>
          <p:cNvSpPr/>
          <p:nvPr/>
        </p:nvSpPr>
        <p:spPr>
          <a:xfrm>
            <a:off x="687321" y="2167309"/>
            <a:ext cx="2435737" cy="48196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王辰辰（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，主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effectLst/>
              </a:rPr>
              <a:t>指数榜单矩阵规划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C1048429-F14E-99DA-7CD0-882F07C09DA2}"/>
              </a:ext>
            </a:extLst>
          </p:cNvPr>
          <p:cNvSpPr/>
          <p:nvPr/>
        </p:nvSpPr>
        <p:spPr>
          <a:xfrm>
            <a:off x="4652649" y="384822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D752A8A0-0D9B-2543-8541-209C26334224}"/>
              </a:ext>
            </a:extLst>
          </p:cNvPr>
          <p:cNvSpPr/>
          <p:nvPr/>
        </p:nvSpPr>
        <p:spPr>
          <a:xfrm>
            <a:off x="10241102" y="831790"/>
            <a:ext cx="1558800" cy="3841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正式：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、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L6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F95C7BDC-C06B-DAD1-1C9F-EFDE00514BCC}"/>
              </a:ext>
            </a:extLst>
          </p:cNvPr>
          <p:cNvSpPr/>
          <p:nvPr/>
        </p:nvSpPr>
        <p:spPr>
          <a:xfrm>
            <a:off x="10241102" y="1286410"/>
            <a:ext cx="1558800" cy="3841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数据分析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外包：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O6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19423766-E714-80A1-940A-1A1CFD6F1612}"/>
              </a:ext>
            </a:extLst>
          </p:cNvPr>
          <p:cNvSpPr/>
          <p:nvPr/>
        </p:nvSpPr>
        <p:spPr>
          <a:xfrm>
            <a:off x="7654515" y="3504110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销售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BD</a:t>
            </a: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CDBD12DD-4073-2116-6F44-3F1CD446F2E3}"/>
              </a:ext>
            </a:extLst>
          </p:cNvPr>
          <p:cNvCxnSpPr>
            <a:cxnSpLocks/>
            <a:stCxn id="17" idx="2"/>
            <a:endCxn id="29" idx="0"/>
          </p:cNvCxnSpPr>
          <p:nvPr/>
        </p:nvCxnSpPr>
        <p:spPr>
          <a:xfrm rot="5400000">
            <a:off x="2957556" y="-786953"/>
            <a:ext cx="306592" cy="2922297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77913C34-E2B5-6CF3-9064-196880F112A9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4571999" y="656308"/>
            <a:ext cx="2588599" cy="16494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E1600B8-23A3-79B5-B72C-174E678297CA}"/>
              </a:ext>
            </a:extLst>
          </p:cNvPr>
          <p:cNvSpPr/>
          <p:nvPr/>
        </p:nvSpPr>
        <p:spPr>
          <a:xfrm>
            <a:off x="3424380" y="87497"/>
            <a:ext cx="2295240" cy="43340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资产运营</a:t>
            </a:r>
            <a:endParaRPr lang="en-US" altLang="zh-CN" sz="16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834B1321-8F28-B78B-5F02-E794BBE5D483}"/>
              </a:ext>
            </a:extLst>
          </p:cNvPr>
          <p:cNvCxnSpPr>
            <a:cxnSpLocks/>
            <a:stCxn id="17" idx="2"/>
            <a:endCxn id="43" idx="0"/>
          </p:cNvCxnSpPr>
          <p:nvPr/>
        </p:nvCxnSpPr>
        <p:spPr>
          <a:xfrm rot="16200000" flipH="1">
            <a:off x="4421823" y="671075"/>
            <a:ext cx="300354" cy="1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1C2277C-8181-6A6F-F362-2781287153A8}"/>
              </a:ext>
            </a:extLst>
          </p:cNvPr>
          <p:cNvSpPr/>
          <p:nvPr/>
        </p:nvSpPr>
        <p:spPr>
          <a:xfrm>
            <a:off x="693426" y="827491"/>
            <a:ext cx="1912553" cy="3947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榜单矩阵建设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04FFAFB-D5F0-C6DD-265A-427E61D9980D}"/>
              </a:ext>
            </a:extLst>
          </p:cNvPr>
          <p:cNvSpPr/>
          <p:nvPr/>
        </p:nvSpPr>
        <p:spPr>
          <a:xfrm>
            <a:off x="6204321" y="821253"/>
            <a:ext cx="1912553" cy="3947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资产动态运营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F6C1960-DA4B-ACF7-851C-EE54F8E94BEB}"/>
              </a:ext>
            </a:extLst>
          </p:cNvPr>
          <p:cNvSpPr/>
          <p:nvPr/>
        </p:nvSpPr>
        <p:spPr>
          <a:xfrm>
            <a:off x="3615724" y="821253"/>
            <a:ext cx="1912553" cy="3947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资产结构化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8D0B0C7-F833-A1D1-836A-F3E12A42F3BB}"/>
              </a:ext>
            </a:extLst>
          </p:cNvPr>
          <p:cNvSpPr txBox="1"/>
          <p:nvPr/>
        </p:nvSpPr>
        <p:spPr>
          <a:xfrm>
            <a:off x="4573277" y="3328851"/>
            <a:ext cx="1558800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部分外部协同团队</a:t>
            </a:r>
            <a:endParaRPr lang="zh-CN" altLang="en-US" sz="1200" dirty="0"/>
          </a:p>
        </p:txBody>
      </p:sp>
      <p:cxnSp>
        <p:nvCxnSpPr>
          <p:cNvPr id="148" name="连接符: 肘形 147">
            <a:extLst>
              <a:ext uri="{FF2B5EF4-FFF2-40B4-BE49-F238E27FC236}">
                <a16:creationId xmlns:a16="http://schemas.microsoft.com/office/drawing/2014/main" id="{9144E78B-821E-EAE2-1BCF-CB35FB081A29}"/>
              </a:ext>
            </a:extLst>
          </p:cNvPr>
          <p:cNvCxnSpPr>
            <a:cxnSpLocks/>
            <a:endCxn id="323" idx="1"/>
          </p:cNvCxnSpPr>
          <p:nvPr/>
        </p:nvCxnSpPr>
        <p:spPr>
          <a:xfrm rot="16200000" flipH="1">
            <a:off x="-2211893" y="2100090"/>
            <a:ext cx="255111" cy="15874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02A806C5-7E3A-73EB-7CA5-97B18DB5789E}"/>
              </a:ext>
            </a:extLst>
          </p:cNvPr>
          <p:cNvCxnSpPr>
            <a:cxnSpLocks/>
            <a:endCxn id="324" idx="1"/>
          </p:cNvCxnSpPr>
          <p:nvPr/>
        </p:nvCxnSpPr>
        <p:spPr>
          <a:xfrm rot="16200000" flipH="1">
            <a:off x="-2419623" y="2307820"/>
            <a:ext cx="670570" cy="158745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DB6A1274-270D-7367-59D2-671BBEE211C2}"/>
              </a:ext>
            </a:extLst>
          </p:cNvPr>
          <p:cNvCxnSpPr>
            <a:cxnSpLocks/>
            <a:endCxn id="325" idx="1"/>
          </p:cNvCxnSpPr>
          <p:nvPr/>
        </p:nvCxnSpPr>
        <p:spPr>
          <a:xfrm rot="16200000" flipH="1">
            <a:off x="-2626767" y="2514964"/>
            <a:ext cx="1084857" cy="158743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连接符: 肘形 161">
            <a:extLst>
              <a:ext uri="{FF2B5EF4-FFF2-40B4-BE49-F238E27FC236}">
                <a16:creationId xmlns:a16="http://schemas.microsoft.com/office/drawing/2014/main" id="{4C48DF9F-B6AF-69A7-3CC2-48E53CEF4BA3}"/>
              </a:ext>
            </a:extLst>
          </p:cNvPr>
          <p:cNvCxnSpPr>
            <a:cxnSpLocks/>
            <a:stCxn id="13" idx="2"/>
            <a:endCxn id="326" idx="1"/>
          </p:cNvCxnSpPr>
          <p:nvPr/>
        </p:nvCxnSpPr>
        <p:spPr>
          <a:xfrm rot="16200000" flipH="1">
            <a:off x="456575" y="2177546"/>
            <a:ext cx="376393" cy="8509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08F3FAFC-B1EE-BB5A-1410-E54A513FBA45}"/>
              </a:ext>
            </a:extLst>
          </p:cNvPr>
          <p:cNvSpPr/>
          <p:nvPr/>
        </p:nvSpPr>
        <p:spPr>
          <a:xfrm>
            <a:off x="4652649" y="458368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用户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71" name="连接符: 肘形 170">
            <a:extLst>
              <a:ext uri="{FF2B5EF4-FFF2-40B4-BE49-F238E27FC236}">
                <a16:creationId xmlns:a16="http://schemas.microsoft.com/office/drawing/2014/main" id="{78136906-6A81-591C-A36A-0C01F3638D7F}"/>
              </a:ext>
            </a:extLst>
          </p:cNvPr>
          <p:cNvCxnSpPr>
            <a:cxnSpLocks/>
            <a:endCxn id="329" idx="1"/>
          </p:cNvCxnSpPr>
          <p:nvPr/>
        </p:nvCxnSpPr>
        <p:spPr>
          <a:xfrm rot="16200000" flipH="1">
            <a:off x="9755354" y="538128"/>
            <a:ext cx="251007" cy="72048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30DA6A7A-0F66-4F13-FCAE-099F04DDB480}"/>
              </a:ext>
            </a:extLst>
          </p:cNvPr>
          <p:cNvSpPr/>
          <p:nvPr/>
        </p:nvSpPr>
        <p:spPr>
          <a:xfrm>
            <a:off x="7654515" y="3863968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端产品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2653B35-A750-C144-15FC-4E37DB56C4AC}"/>
              </a:ext>
            </a:extLst>
          </p:cNvPr>
          <p:cNvSpPr/>
          <p:nvPr/>
        </p:nvSpPr>
        <p:spPr>
          <a:xfrm>
            <a:off x="7654515" y="4223826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工具产品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4C9E78B6-B858-F756-4041-33E94F6293B5}"/>
              </a:ext>
            </a:extLst>
          </p:cNvPr>
          <p:cNvSpPr/>
          <p:nvPr/>
        </p:nvSpPr>
        <p:spPr>
          <a:xfrm>
            <a:off x="7654515" y="4583683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设计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商家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83" name="连接符: 肘形 182">
            <a:extLst>
              <a:ext uri="{FF2B5EF4-FFF2-40B4-BE49-F238E27FC236}">
                <a16:creationId xmlns:a16="http://schemas.microsoft.com/office/drawing/2014/main" id="{8913208D-CE22-670B-0210-66E854C5A033}"/>
              </a:ext>
            </a:extLst>
          </p:cNvPr>
          <p:cNvCxnSpPr>
            <a:cxnSpLocks/>
            <a:endCxn id="330" idx="1"/>
          </p:cNvCxnSpPr>
          <p:nvPr/>
        </p:nvCxnSpPr>
        <p:spPr>
          <a:xfrm rot="16200000" flipH="1">
            <a:off x="9528044" y="765438"/>
            <a:ext cx="705627" cy="72048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矩形 185">
            <a:extLst>
              <a:ext uri="{FF2B5EF4-FFF2-40B4-BE49-F238E27FC236}">
                <a16:creationId xmlns:a16="http://schemas.microsoft.com/office/drawing/2014/main" id="{BF4C5604-F77D-6EE4-B94C-828AE573B095}"/>
              </a:ext>
            </a:extLst>
          </p:cNvPr>
          <p:cNvSpPr/>
          <p:nvPr/>
        </p:nvSpPr>
        <p:spPr>
          <a:xfrm>
            <a:off x="4652649" y="4208897"/>
            <a:ext cx="1558800" cy="34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用增运营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ABFF667-A924-A6A3-5432-DED77A4EA25A}"/>
              </a:ext>
            </a:extLst>
          </p:cNvPr>
          <p:cNvSpPr/>
          <p:nvPr/>
        </p:nvSpPr>
        <p:spPr>
          <a:xfrm>
            <a:off x="160226" y="1476600"/>
            <a:ext cx="883992" cy="5553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指数榜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2C3EBFD-0AF8-5B8C-E51F-D25A626D45C1}"/>
              </a:ext>
            </a:extLst>
          </p:cNvPr>
          <p:cNvSpPr/>
          <p:nvPr/>
        </p:nvSpPr>
        <p:spPr>
          <a:xfrm>
            <a:off x="1211516" y="1481885"/>
            <a:ext cx="883992" cy="5553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场景榜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8EC711B-46BF-662E-EEA6-8C81DC3AAA74}"/>
              </a:ext>
            </a:extLst>
          </p:cNvPr>
          <p:cNvSpPr/>
          <p:nvPr/>
        </p:nvSpPr>
        <p:spPr>
          <a:xfrm>
            <a:off x="2239067" y="1473228"/>
            <a:ext cx="883992" cy="5553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…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C2D5857A-EBF0-AEB9-001C-AD02352D5766}"/>
              </a:ext>
            </a:extLst>
          </p:cNvPr>
          <p:cNvCxnSpPr>
            <a:cxnSpLocks/>
            <a:stCxn id="29" idx="2"/>
            <a:endCxn id="13" idx="0"/>
          </p:cNvCxnSpPr>
          <p:nvPr/>
        </p:nvCxnSpPr>
        <p:spPr>
          <a:xfrm rot="5400000">
            <a:off x="998764" y="825660"/>
            <a:ext cx="254399" cy="1047481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64BF3122-A447-1F7B-B03C-A2CA080032AC}"/>
              </a:ext>
            </a:extLst>
          </p:cNvPr>
          <p:cNvCxnSpPr>
            <a:cxnSpLocks/>
            <a:stCxn id="29" idx="2"/>
            <a:endCxn id="14" idx="0"/>
          </p:cNvCxnSpPr>
          <p:nvPr/>
        </p:nvCxnSpPr>
        <p:spPr>
          <a:xfrm rot="16200000" flipH="1">
            <a:off x="1521765" y="1350138"/>
            <a:ext cx="259684" cy="3809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4DB691AC-4FC6-0C35-5FB3-E47A8AAB1B10}"/>
              </a:ext>
            </a:extLst>
          </p:cNvPr>
          <p:cNvCxnSpPr>
            <a:cxnSpLocks/>
            <a:stCxn id="29" idx="2"/>
            <a:endCxn id="15" idx="0"/>
          </p:cNvCxnSpPr>
          <p:nvPr/>
        </p:nvCxnSpPr>
        <p:spPr>
          <a:xfrm rot="16200000" flipH="1">
            <a:off x="2039870" y="832034"/>
            <a:ext cx="251027" cy="1031360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91FB06E3-2A64-34CD-0486-D0E61CD2E030}"/>
              </a:ext>
            </a:extLst>
          </p:cNvPr>
          <p:cNvSpPr/>
          <p:nvPr/>
        </p:nvSpPr>
        <p:spPr>
          <a:xfrm>
            <a:off x="694491" y="2700890"/>
            <a:ext cx="1048388" cy="48196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王辰辰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L8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，主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F4CEB79D-AE0D-33F7-0256-8FDFCB9B792B}"/>
              </a:ext>
            </a:extLst>
          </p:cNvPr>
          <p:cNvCxnSpPr>
            <a:cxnSpLocks/>
            <a:stCxn id="13" idx="2"/>
            <a:endCxn id="132" idx="1"/>
          </p:cNvCxnSpPr>
          <p:nvPr/>
        </p:nvCxnSpPr>
        <p:spPr>
          <a:xfrm rot="16200000" flipH="1">
            <a:off x="193369" y="2440752"/>
            <a:ext cx="909974" cy="92269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52564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130783</TotalTime>
  <Words>1440</Words>
  <Application>Microsoft Office PowerPoint</Application>
  <PresentationFormat>全屏显示(16:9)</PresentationFormat>
  <Paragraphs>326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-apple-system</vt:lpstr>
      <vt:lpstr>等线</vt:lpstr>
      <vt:lpstr>苹方-简</vt:lpstr>
      <vt:lpstr>微软雅黑</vt:lpstr>
      <vt:lpstr>Arial</vt:lpstr>
      <vt:lpstr>Calibri</vt:lpstr>
      <vt:lpstr>Wingdings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642</cp:revision>
  <cp:lastPrinted>2025-01-13T07:58:22Z</cp:lastPrinted>
  <dcterms:created xsi:type="dcterms:W3CDTF">2025-01-13T07:58:22Z</dcterms:created>
  <dcterms:modified xsi:type="dcterms:W3CDTF">2026-05-20T16:34:44Z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组织架构.pptx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533821c112a81920e98d6f94a8d7949e13505e59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